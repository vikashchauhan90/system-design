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60" r:id="rId4"/>
    <p:sldId id="262" r:id="rId5"/>
    <p:sldId id="261" r:id="rId6"/>
    <p:sldId id="263" r:id="rId7"/>
    <p:sldId id="264" r:id="rId8"/>
    <p:sldId id="265" r:id="rId9"/>
    <p:sldId id="266" r:id="rId10"/>
    <p:sldId id="267" r:id="rId11"/>
    <p:sldId id="269" r:id="rId12"/>
    <p:sldId id="270" r:id="rId13"/>
    <p:sldId id="271" r:id="rId14"/>
    <p:sldId id="272" r:id="rId15"/>
    <p:sldId id="274" r:id="rId16"/>
    <p:sldId id="273" r:id="rId17"/>
    <p:sldId id="279" r:id="rId18"/>
    <p:sldId id="278" r:id="rId19"/>
    <p:sldId id="275" r:id="rId20"/>
    <p:sldId id="276" r:id="rId21"/>
    <p:sldId id="280" r:id="rId22"/>
    <p:sldId id="282" r:id="rId23"/>
    <p:sldId id="283" r:id="rId24"/>
    <p:sldId id="284" r:id="rId25"/>
    <p:sldId id="292" r:id="rId26"/>
    <p:sldId id="285" r:id="rId27"/>
    <p:sldId id="287" r:id="rId28"/>
    <p:sldId id="288" r:id="rId29"/>
    <p:sldId id="289" r:id="rId30"/>
    <p:sldId id="290" r:id="rId31"/>
    <p:sldId id="291" r:id="rId32"/>
    <p:sldId id="293" r:id="rId33"/>
    <p:sldId id="294" r:id="rId34"/>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601" autoAdjust="0"/>
  </p:normalViewPr>
  <p:slideViewPr>
    <p:cSldViewPr>
      <p:cViewPr varScale="1">
        <p:scale>
          <a:sx n="83" d="100"/>
          <a:sy n="83" d="100"/>
        </p:scale>
        <p:origin x="1450" y="72"/>
      </p:cViewPr>
      <p:guideLst>
        <p:guide orient="horz" pos="2880"/>
        <p:guide pos="2160"/>
      </p:guideLst>
    </p:cSldViewPr>
  </p:slideViewPr>
  <p:notesTextViewPr>
    <p:cViewPr>
      <p:scale>
        <a:sx n="100" d="100"/>
        <a:sy n="100" d="100"/>
      </p:scale>
      <p:origin x="0" y="-571"/>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E0FC2B5-BEBA-4547-9143-EECB12969261}" type="datetimeFigureOut">
              <a:rPr lang="en-IN" smtClean="0"/>
              <a:t>03-01-2026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72853293-4F00-4813-B74A-3945ABE0C2FC}" type="slidenum">
              <a:rPr lang="en-IN" smtClean="0"/>
              <a:t>‹#›</a:t>
            </a:fld>
            <a:endParaRPr lang="en-IN"/>
          </a:p>
        </p:txBody>
      </p:sp>
    </p:spTree>
    <p:extLst>
      <p:ext uri="{BB962C8B-B14F-4D97-AF65-F5344CB8AC3E}">
        <p14:creationId xmlns:p14="http://schemas.microsoft.com/office/powerpoint/2010/main" val="350939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we understand the </a:t>
            </a:r>
            <a:r>
              <a:rPr lang="en-US" sz="1200" b="0" i="1"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and the </a:t>
            </a:r>
            <a:r>
              <a:rPr lang="en-US" sz="1200" b="0" i="1" kern="1200" dirty="0">
                <a:solidFill>
                  <a:schemeClr val="tx1"/>
                </a:solidFill>
                <a:effectLst/>
                <a:latin typeface="+mn-lt"/>
                <a:ea typeface="+mn-ea"/>
                <a:cs typeface="+mn-cs"/>
              </a:rPr>
              <a:t>why</a:t>
            </a:r>
            <a:r>
              <a:rPr lang="en-US" sz="1200" b="0" i="0" kern="1200" dirty="0">
                <a:solidFill>
                  <a:schemeClr val="tx1"/>
                </a:solidFill>
                <a:effectLst/>
                <a:latin typeface="+mn-lt"/>
                <a:ea typeface="+mn-ea"/>
                <a:cs typeface="+mn-cs"/>
              </a:rPr>
              <a:t> of system design. We know we're focusing on High-Level Design for distributed systems.</a:t>
            </a:r>
          </a:p>
          <a:p>
            <a:r>
              <a:rPr lang="en-US" sz="1200" b="0" i="0" kern="1200" dirty="0">
                <a:solidFill>
                  <a:schemeClr val="tx1"/>
                </a:solidFill>
                <a:effectLst/>
                <a:latin typeface="+mn-lt"/>
                <a:ea typeface="+mn-ea"/>
                <a:cs typeface="+mn-cs"/>
              </a:rPr>
              <a:t>But this raises a critical question: </a:t>
            </a:r>
            <a:r>
              <a:rPr lang="en-US" sz="1200" b="1" i="0" kern="1200" dirty="0">
                <a:solidFill>
                  <a:schemeClr val="tx1"/>
                </a:solidFill>
                <a:effectLst/>
                <a:latin typeface="+mn-lt"/>
                <a:ea typeface="+mn-ea"/>
                <a:cs typeface="+mn-cs"/>
              </a:rPr>
              <a:t>What makes a distributed system </a:t>
            </a:r>
            <a:r>
              <a:rPr lang="en-US" sz="1200" b="1" i="1" kern="1200" dirty="0">
                <a:solidFill>
                  <a:schemeClr val="tx1"/>
                </a:solidFill>
                <a:effectLst/>
                <a:latin typeface="+mn-lt"/>
                <a:ea typeface="+mn-ea"/>
                <a:cs typeface="+mn-cs"/>
              </a:rPr>
              <a:t>good</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What are the actual goals we are designing </a:t>
            </a:r>
            <a:r>
              <a:rPr lang="en-US" sz="1200" b="0" i="1" kern="1200" dirty="0">
                <a:solidFill>
                  <a:schemeClr val="tx1"/>
                </a:solidFill>
                <a:effectLst/>
                <a:latin typeface="+mn-lt"/>
                <a:ea typeface="+mn-ea"/>
                <a:cs typeface="+mn-cs"/>
              </a:rPr>
              <a:t>for</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 single, simple application, success might be 'it works.' But in a distributed world, 'working' isn't enough. The system must work </a:t>
            </a:r>
            <a:r>
              <a:rPr lang="en-US" sz="1200" b="1" i="0" kern="1200" dirty="0">
                <a:solidFill>
                  <a:schemeClr val="tx1"/>
                </a:solidFill>
                <a:effectLst/>
                <a:latin typeface="+mn-lt"/>
                <a:ea typeface="+mn-ea"/>
                <a:cs typeface="+mn-cs"/>
              </a:rPr>
              <a:t>when millions of users hit it at once</a:t>
            </a:r>
            <a:r>
              <a:rPr lang="en-US" sz="1200" b="0" i="0" kern="1200" dirty="0">
                <a:solidFill>
                  <a:schemeClr val="tx1"/>
                </a:solidFill>
                <a:effectLst/>
                <a:latin typeface="+mn-lt"/>
                <a:ea typeface="+mn-ea"/>
                <a:cs typeface="+mn-cs"/>
              </a:rPr>
              <a:t>. It must work </a:t>
            </a:r>
            <a:r>
              <a:rPr lang="en-US" sz="1200" b="1" i="0" kern="1200" dirty="0">
                <a:solidFill>
                  <a:schemeClr val="tx1"/>
                </a:solidFill>
                <a:effectLst/>
                <a:latin typeface="+mn-lt"/>
                <a:ea typeface="+mn-ea"/>
                <a:cs typeface="+mn-cs"/>
              </a:rPr>
              <a:t>when a critical server catches fire</a:t>
            </a:r>
            <a:r>
              <a:rPr lang="en-US" sz="1200" b="0" i="0" kern="1200" dirty="0">
                <a:solidFill>
                  <a:schemeClr val="tx1"/>
                </a:solidFill>
                <a:effectLst/>
                <a:latin typeface="+mn-lt"/>
                <a:ea typeface="+mn-ea"/>
                <a:cs typeface="+mn-cs"/>
              </a:rPr>
              <a:t>. It must work </a:t>
            </a:r>
            <a:r>
              <a:rPr lang="en-US" sz="1200" b="1" i="0" kern="1200" dirty="0">
                <a:solidFill>
                  <a:schemeClr val="tx1"/>
                </a:solidFill>
                <a:effectLst/>
                <a:latin typeface="+mn-lt"/>
                <a:ea typeface="+mn-ea"/>
                <a:cs typeface="+mn-cs"/>
              </a:rPr>
              <a:t>for a user halfway across the globe</a:t>
            </a:r>
            <a:r>
              <a:rPr lang="en-US" sz="1200" b="0" i="0" kern="1200" dirty="0">
                <a:solidFill>
                  <a:schemeClr val="tx1"/>
                </a:solidFill>
                <a:effectLst/>
                <a:latin typeface="+mn-lt"/>
                <a:ea typeface="+mn-ea"/>
                <a:cs typeface="+mn-cs"/>
              </a:rPr>
              <a:t>. And it must continue to work </a:t>
            </a:r>
            <a:r>
              <a:rPr lang="en-US" sz="1200" b="1" i="0" kern="1200" dirty="0">
                <a:solidFill>
                  <a:schemeClr val="tx1"/>
                </a:solidFill>
                <a:effectLst/>
                <a:latin typeface="+mn-lt"/>
                <a:ea typeface="+mn-ea"/>
                <a:cs typeface="+mn-cs"/>
              </a:rPr>
              <a:t>as our team constantly changes and improves it</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These aren't nice-to-haves. They are the </a:t>
            </a:r>
            <a:r>
              <a:rPr lang="en-US" sz="1200" b="1" i="0" kern="1200" dirty="0">
                <a:solidFill>
                  <a:schemeClr val="tx1"/>
                </a:solidFill>
                <a:effectLst/>
                <a:latin typeface="+mn-lt"/>
                <a:ea typeface="+mn-ea"/>
                <a:cs typeface="+mn-cs"/>
              </a:rPr>
              <a:t>non-functional requirements</a:t>
            </a:r>
            <a:r>
              <a:rPr lang="en-US" sz="1200" b="0" i="0" kern="1200" dirty="0">
                <a:solidFill>
                  <a:schemeClr val="tx1"/>
                </a:solidFill>
                <a:effectLst/>
                <a:latin typeface="+mn-lt"/>
                <a:ea typeface="+mn-ea"/>
                <a:cs typeface="+mn-cs"/>
              </a:rPr>
              <a:t> that become our primary design drivers. They are the qualities we measure, argue about, and optimize for in every architecture meeting.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design effectively, we need a shared vocabulary for these qualities. We need to define what we mean by a system that is robust, fast, and future-proof.</a:t>
            </a:r>
          </a:p>
          <a:p>
            <a:r>
              <a:rPr lang="en-US" sz="1200" b="0" i="0" kern="1200" dirty="0">
                <a:solidFill>
                  <a:schemeClr val="tx1"/>
                </a:solidFill>
                <a:effectLst/>
                <a:latin typeface="+mn-lt"/>
                <a:ea typeface="+mn-ea"/>
                <a:cs typeface="+mn-cs"/>
              </a:rPr>
              <a:t>This brings us to the core </a:t>
            </a:r>
            <a:r>
              <a:rPr lang="en-US" sz="1200" b="1" i="0" kern="1200" dirty="0">
                <a:solidFill>
                  <a:schemeClr val="tx1"/>
                </a:solidFill>
                <a:effectLst/>
                <a:latin typeface="+mn-lt"/>
                <a:ea typeface="+mn-ea"/>
                <a:cs typeface="+mn-cs"/>
              </a:rPr>
              <a:t>Attributes of Distributed Systems</a:t>
            </a:r>
            <a:r>
              <a:rPr lang="en-US" sz="1200" b="0" i="0" kern="1200" dirty="0">
                <a:solidFill>
                  <a:schemeClr val="tx1"/>
                </a:solidFill>
                <a:effectLst/>
                <a:latin typeface="+mn-lt"/>
                <a:ea typeface="+mn-ea"/>
                <a:cs typeface="+mn-cs"/>
              </a:rPr>
              <a:t>. Think of these not as a checklist, but as a </a:t>
            </a:r>
            <a:r>
              <a:rPr lang="en-US" sz="1200" b="1" i="0" kern="1200" dirty="0">
                <a:solidFill>
                  <a:schemeClr val="tx1"/>
                </a:solidFill>
                <a:effectLst/>
                <a:latin typeface="+mn-lt"/>
                <a:ea typeface="+mn-ea"/>
                <a:cs typeface="+mn-cs"/>
              </a:rPr>
              <a:t>framework for thought</a:t>
            </a:r>
            <a:r>
              <a:rPr lang="en-US" sz="1200" b="0" i="0" kern="1200" dirty="0">
                <a:solidFill>
                  <a:schemeClr val="tx1"/>
                </a:solidFill>
                <a:effectLst/>
                <a:latin typeface="+mn-lt"/>
                <a:ea typeface="+mn-ea"/>
                <a:cs typeface="+mn-cs"/>
              </a:rPr>
              <a:t>—a set of interconnected, and sometimes competing, goals that will guide every single decision we make from here on out.</a:t>
            </a: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1</a:t>
            </a:fld>
            <a:endParaRPr lang="en-IN"/>
          </a:p>
        </p:txBody>
      </p:sp>
    </p:spTree>
    <p:extLst>
      <p:ext uri="{BB962C8B-B14F-4D97-AF65-F5344CB8AC3E}">
        <p14:creationId xmlns:p14="http://schemas.microsoft.com/office/powerpoint/2010/main" val="2100567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begin with the first and most fundamental challenge in any distributed system: </a:t>
            </a:r>
            <a:r>
              <a:rPr lang="en-US" sz="1200" b="1" i="0" kern="1200" dirty="0">
                <a:solidFill>
                  <a:schemeClr val="tx1"/>
                </a:solidFill>
                <a:effectLst/>
                <a:latin typeface="+mn-lt"/>
                <a:ea typeface="+mn-ea"/>
                <a:cs typeface="+mn-cs"/>
              </a:rPr>
              <a:t>communication</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Every distributed system is, at its heart, a group of nodes—servers, services, devices—that need to talk to each other. And they do this over a network, which is not a perfect, reliable pipe. It's a complex, sometimes chaotic, shared medium.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Think of a simple web request. Your browser takes a URL, finds the server's address, and sends an HTTP request. The server processes it and sends back a response with the webpage. This seems straightforward, but a lot can go wrong between that request and response.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forces us to ask some critical design questions:</a:t>
            </a:r>
          </a:p>
          <a:p>
            <a:r>
              <a:rPr lang="en-US" sz="1200" b="1" i="0" kern="1200" dirty="0">
                <a:solidFill>
                  <a:schemeClr val="tx1"/>
                </a:solidFill>
                <a:effectLst/>
                <a:latin typeface="+mn-lt"/>
                <a:ea typeface="+mn-ea"/>
                <a:cs typeface="+mn-cs"/>
              </a:rPr>
              <a:t>First, representation:</a:t>
            </a:r>
            <a:r>
              <a:rPr lang="en-US" sz="1200" b="0" i="0" kern="1200" dirty="0">
                <a:solidFill>
                  <a:schemeClr val="tx1"/>
                </a:solidFill>
                <a:effectLst/>
                <a:latin typeface="+mn-lt"/>
                <a:ea typeface="+mn-ea"/>
                <a:cs typeface="+mn-cs"/>
              </a:rPr>
              <a:t> How are these messages—the request and the response—actually encoded into bits and bytes on the network wire?</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Second, reliability:</a:t>
            </a:r>
            <a:r>
              <a:rPr lang="en-US" sz="1200" b="0" i="0" kern="1200" dirty="0">
                <a:solidFill>
                  <a:schemeClr val="tx1"/>
                </a:solidFill>
                <a:effectLst/>
                <a:latin typeface="+mn-lt"/>
                <a:ea typeface="+mn-ea"/>
                <a:cs typeface="+mn-cs"/>
              </a:rPr>
              <a:t> What happens during a temporary network blip, or if a faulty router corrupts part of our message? How does our system detect and recover from that?</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Third, security:</a:t>
            </a:r>
            <a:r>
              <a:rPr lang="en-US" sz="1200" b="0" i="0" kern="1200" dirty="0">
                <a:solidFill>
                  <a:schemeClr val="tx1"/>
                </a:solidFill>
                <a:effectLst/>
                <a:latin typeface="+mn-lt"/>
                <a:ea typeface="+mn-ea"/>
                <a:cs typeface="+mn-cs"/>
              </a:rPr>
              <a:t> How do we guarantee that no one in the middle can eavesdrop on or tamper with this conversation?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Now, you might think, 'This is what my networking library handles for me.' And that's true to an extent. Libraries provide crucial abstractions.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But here's the key insight for system designers: </a:t>
            </a:r>
            <a:r>
              <a:rPr lang="en-US" sz="1200" b="1" i="0" kern="1200" dirty="0">
                <a:solidFill>
                  <a:schemeClr val="tx1"/>
                </a:solidFill>
                <a:effectLst/>
                <a:latin typeface="+mn-lt"/>
                <a:ea typeface="+mn-ea"/>
                <a:cs typeface="+mn-cs"/>
              </a:rPr>
              <a:t>abstractions leak</a:t>
            </a:r>
            <a:r>
              <a:rPr lang="en-US" sz="1200" b="0" i="0" kern="1200" dirty="0">
                <a:solidFill>
                  <a:schemeClr val="tx1"/>
                </a:solidFill>
                <a:effectLst/>
                <a:latin typeface="+mn-lt"/>
                <a:ea typeface="+mn-ea"/>
                <a:cs typeface="+mn-cs"/>
              </a:rPr>
              <a:t>. When a network partition happens or a strange timeout occurs, that underlying complexity bubbles up to your application layer. To debug it, to design for it, and to choose the right protocols and libraries, you need a solid understanding of how the network stack actually works.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communication isn't just about calling an API. It's about understanding the fragile, uncertain path your data takes and building your system's logic to survive the journey.</a:t>
            </a: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3</a:t>
            </a:fld>
            <a:endParaRPr lang="en-IN"/>
          </a:p>
        </p:txBody>
      </p:sp>
    </p:spTree>
    <p:extLst>
      <p:ext uri="{BB962C8B-B14F-4D97-AF65-F5344CB8AC3E}">
        <p14:creationId xmlns:p14="http://schemas.microsoft.com/office/powerpoint/2010/main" val="2552046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4458-6F1A-71CF-CBEE-E2075CF3B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FAE3D-48C8-B80B-5D85-72B728E34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57544-7D94-BC21-F155-D3D4912E1AF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a key design choice we must make is </a:t>
            </a:r>
            <a:r>
              <a:rPr lang="en-US" sz="1200" b="1" i="0"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components communicate. We have two fundamental patterns:</a:t>
            </a:r>
          </a:p>
          <a:p>
            <a:r>
              <a:rPr lang="en-US" sz="1200" b="1" i="0" kern="1200" dirty="0">
                <a:solidFill>
                  <a:schemeClr val="tx1"/>
                </a:solidFill>
                <a:effectLst/>
                <a:latin typeface="+mn-lt"/>
                <a:ea typeface="+mn-ea"/>
                <a:cs typeface="+mn-cs"/>
              </a:rPr>
              <a:t>Synchronous communication</a:t>
            </a:r>
            <a:r>
              <a:rPr lang="en-US" sz="1200" b="0" i="0" kern="1200" dirty="0">
                <a:solidFill>
                  <a:schemeClr val="tx1"/>
                </a:solidFill>
                <a:effectLst/>
                <a:latin typeface="+mn-lt"/>
                <a:ea typeface="+mn-ea"/>
                <a:cs typeface="+mn-cs"/>
              </a:rPr>
              <a:t>, like the HTTP call I just described, where the sender waits—blocks—until it gets a response. It's direct and simple, but fragile: if the server is slow or down, the caller is stuck waiting.</a:t>
            </a:r>
          </a:p>
          <a:p>
            <a:r>
              <a:rPr lang="en-US" sz="1200" b="1" i="0" kern="1200" dirty="0">
                <a:solidFill>
                  <a:schemeClr val="tx1"/>
                </a:solidFill>
                <a:effectLst/>
                <a:latin typeface="+mn-lt"/>
                <a:ea typeface="+mn-ea"/>
                <a:cs typeface="+mn-cs"/>
              </a:rPr>
              <a:t>Asynchronous communication</a:t>
            </a:r>
            <a:r>
              <a:rPr lang="en-US" sz="1200" b="0" i="0" kern="1200" dirty="0">
                <a:solidFill>
                  <a:schemeClr val="tx1"/>
                </a:solidFill>
                <a:effectLst/>
                <a:latin typeface="+mn-lt"/>
                <a:ea typeface="+mn-ea"/>
                <a:cs typeface="+mn-cs"/>
              </a:rPr>
              <a:t>, where a service sends a message—say, to a queue—and immediately continues its work. Another service picks up that message later and processes it. This decouples the components, making the system more resilient, but it adds complexity in tracking and guaranteeing message delivery.</a:t>
            </a:r>
          </a:p>
          <a:p>
            <a:r>
              <a:rPr lang="en-US" sz="1200" b="0" i="0" kern="1200" dirty="0">
                <a:solidFill>
                  <a:schemeClr val="tx1"/>
                </a:solidFill>
                <a:effectLst/>
                <a:latin typeface="+mn-lt"/>
                <a:ea typeface="+mn-ea"/>
                <a:cs typeface="+mn-cs"/>
              </a:rPr>
              <a:t>Now, you might think, 'This is what my networking library handles for me.' And that's true to an extent. Libraries provide crucial abstractions for both synchronous and async patterns.</a:t>
            </a:r>
          </a:p>
          <a:p>
            <a:endParaRPr lang="en-IN" dirty="0"/>
          </a:p>
        </p:txBody>
      </p:sp>
      <p:sp>
        <p:nvSpPr>
          <p:cNvPr id="4" name="Slide Number Placeholder 3">
            <a:extLst>
              <a:ext uri="{FF2B5EF4-FFF2-40B4-BE49-F238E27FC236}">
                <a16:creationId xmlns:a16="http://schemas.microsoft.com/office/drawing/2014/main" id="{93635B61-DD46-4407-D18B-4D9F32B5C580}"/>
              </a:ext>
            </a:extLst>
          </p:cNvPr>
          <p:cNvSpPr>
            <a:spLocks noGrp="1"/>
          </p:cNvSpPr>
          <p:nvPr>
            <p:ph type="sldNum" sz="quarter" idx="5"/>
          </p:nvPr>
        </p:nvSpPr>
        <p:spPr/>
        <p:txBody>
          <a:bodyPr/>
          <a:lstStyle/>
          <a:p>
            <a:fld id="{72853293-4F00-4813-B74A-3945ABE0C2FC}" type="slidenum">
              <a:rPr lang="en-IN" smtClean="0"/>
              <a:t>4</a:t>
            </a:fld>
            <a:endParaRPr lang="en-IN"/>
          </a:p>
        </p:txBody>
      </p:sp>
    </p:spTree>
    <p:extLst>
      <p:ext uri="{BB962C8B-B14F-4D97-AF65-F5344CB8AC3E}">
        <p14:creationId xmlns:p14="http://schemas.microsoft.com/office/powerpoint/2010/main" val="488556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27E3C-2533-B6AA-ADF6-E562E17A7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A57B-B568-105C-67F1-416E4093A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331F9-CCC4-01B6-4544-6D12921AEA9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Beyond just communicating, distributed systems face a second, even trickier challenge: </a:t>
            </a:r>
            <a:r>
              <a:rPr lang="en-US" sz="1200" b="1" i="0" kern="1200" dirty="0">
                <a:solidFill>
                  <a:schemeClr val="tx1"/>
                </a:solidFill>
                <a:effectLst/>
                <a:latin typeface="+mn-lt"/>
                <a:ea typeface="+mn-ea"/>
                <a:cs typeface="+mn-cs"/>
              </a:rPr>
              <a:t>coordination</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While communication is about </a:t>
            </a:r>
            <a:r>
              <a:rPr lang="en-US" sz="1200" b="0" i="1" kern="1200" dirty="0">
                <a:solidFill>
                  <a:schemeClr val="tx1"/>
                </a:solidFill>
                <a:effectLst/>
                <a:latin typeface="+mn-lt"/>
                <a:ea typeface="+mn-ea"/>
                <a:cs typeface="+mn-cs"/>
              </a:rPr>
              <a:t>exchanging</a:t>
            </a:r>
            <a:r>
              <a:rPr lang="en-US" sz="1200" b="0" i="0" kern="1200" dirty="0">
                <a:solidFill>
                  <a:schemeClr val="tx1"/>
                </a:solidFill>
                <a:effectLst/>
                <a:latin typeface="+mn-lt"/>
                <a:ea typeface="+mn-ea"/>
                <a:cs typeface="+mn-cs"/>
              </a:rPr>
              <a:t> messages, coordination is about </a:t>
            </a:r>
            <a:r>
              <a:rPr lang="en-US" sz="1200" b="0" i="1" kern="1200" dirty="0">
                <a:solidFill>
                  <a:schemeClr val="tx1"/>
                </a:solidFill>
                <a:effectLst/>
                <a:latin typeface="+mn-lt"/>
                <a:ea typeface="+mn-ea"/>
                <a:cs typeface="+mn-cs"/>
              </a:rPr>
              <a:t>agreeing</a:t>
            </a:r>
            <a:r>
              <a:rPr lang="en-US" sz="1200" b="0" i="0" kern="1200" dirty="0">
                <a:solidFill>
                  <a:schemeClr val="tx1"/>
                </a:solidFill>
                <a:effectLst/>
                <a:latin typeface="+mn-lt"/>
                <a:ea typeface="+mn-ea"/>
                <a:cs typeface="+mn-cs"/>
              </a:rPr>
              <a:t> on what those messages mean and making collective decisions. This is the mechanism that allows a distributed system to act as one coherent unit rather than a collection of independent parts.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Why is coordination so critical?</a:t>
            </a:r>
            <a:r>
              <a:rPr lang="en-US" sz="1200" b="0" i="0" kern="1200" dirty="0">
                <a:solidFill>
                  <a:schemeClr val="tx1"/>
                </a:solidFill>
                <a:effectLst/>
                <a:latin typeface="+mn-lt"/>
                <a:ea typeface="+mn-ea"/>
                <a:cs typeface="+mn-cs"/>
              </a:rPr>
              <a:t> Because it directly enables </a:t>
            </a:r>
            <a:r>
              <a:rPr lang="en-US" sz="1200" b="1" i="0" kern="1200" dirty="0">
                <a:solidFill>
                  <a:schemeClr val="tx1"/>
                </a:solidFill>
                <a:effectLst/>
                <a:latin typeface="+mn-lt"/>
                <a:ea typeface="+mn-ea"/>
                <a:cs typeface="+mn-cs"/>
              </a:rPr>
              <a:t>Reliability</a:t>
            </a:r>
            <a:r>
              <a:rPr lang="en-US" sz="1200" b="0" i="0" kern="1200" dirty="0">
                <a:solidFill>
                  <a:schemeClr val="tx1"/>
                </a:solidFill>
                <a:effectLst/>
                <a:latin typeface="+mn-lt"/>
                <a:ea typeface="+mn-ea"/>
                <a:cs typeface="+mn-cs"/>
              </a:rPr>
              <a:t>—the system working correctly over time. Without coordination, nodes might make conflicting decisions, corrupt data, or create inconsistent states. Think about a distributed database: if two nodes try to update the same record simultaneously without coordinating, you get data corruption.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But here's the crucial tension: </a:t>
            </a:r>
            <a:r>
              <a:rPr lang="en-US" sz="1200" b="1" i="0" kern="1200" dirty="0">
                <a:solidFill>
                  <a:schemeClr val="tx1"/>
                </a:solidFill>
                <a:effectLst/>
                <a:latin typeface="+mn-lt"/>
                <a:ea typeface="+mn-ea"/>
                <a:cs typeface="+mn-cs"/>
              </a:rPr>
              <a:t>coordination often comes at the cost of Scalability.</a:t>
            </a:r>
            <a:r>
              <a:rPr lang="en-US" sz="1200" b="0" i="0" kern="1200" dirty="0">
                <a:solidFill>
                  <a:schemeClr val="tx1"/>
                </a:solidFill>
                <a:effectLst/>
                <a:latin typeface="+mn-lt"/>
                <a:ea typeface="+mn-ea"/>
                <a:cs typeface="+mn-cs"/>
              </a:rPr>
              <a:t> The more nodes need to coordinate, the more they need to communicate and wait for each other, creating bottlenecks. This is why you'll hear about the CAP theorem later—you often have to choose between strong Consistency (requiring coordination) and Availability/Scalability.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understand why, let’s look at a famous thought experiment: </a:t>
            </a:r>
            <a:r>
              <a:rPr lang="en-US" sz="1200" b="1" i="0" kern="1200" dirty="0">
                <a:solidFill>
                  <a:schemeClr val="tx1"/>
                </a:solidFill>
                <a:effectLst/>
                <a:latin typeface="+mn-lt"/>
                <a:ea typeface="+mn-ea"/>
                <a:cs typeface="+mn-cs"/>
              </a:rPr>
              <a:t>The Two Generals Problem</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Imagine two armies, each led by a general, positioned on two hills overlooking a city. To succeed, they must attack at the exact same time. The only way to coordinate is by sending messengers through the valley between them—and any messenger can be captured by the enemy.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General 1 sends a messenger: 'Let’s attack at dawn.' But did the message get through? General 1 doesn’t know. To be sure, General 2 could send a confirmation: 'Got it, dawn it is.' But now, did </a:t>
            </a:r>
            <a:r>
              <a:rPr lang="en-US" sz="1200" b="0" i="1" kern="1200" dirty="0">
                <a:solidFill>
                  <a:schemeClr val="tx1"/>
                </a:solidFill>
                <a:effectLst/>
                <a:latin typeface="+mn-lt"/>
                <a:ea typeface="+mn-ea"/>
                <a:cs typeface="+mn-cs"/>
              </a:rPr>
              <a:t>that</a:t>
            </a:r>
            <a:r>
              <a:rPr lang="en-US" sz="1200" b="0" i="0" kern="1200" dirty="0">
                <a:solidFill>
                  <a:schemeClr val="tx1"/>
                </a:solidFill>
                <a:effectLst/>
                <a:latin typeface="+mn-lt"/>
                <a:ea typeface="+mn-ea"/>
                <a:cs typeface="+mn-cs"/>
              </a:rPr>
              <a:t> confirmation arrive? General 2 doesn’t know. You see the trap: every acknowledgment itself needs an acknowledgment.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 matter how many rounds of confirmation you add, </a:t>
            </a:r>
            <a:r>
              <a:rPr lang="en-US" sz="1200" b="1" i="0" kern="1200" dirty="0">
                <a:solidFill>
                  <a:schemeClr val="tx1"/>
                </a:solidFill>
                <a:effectLst/>
                <a:latin typeface="+mn-lt"/>
                <a:ea typeface="+mn-ea"/>
                <a:cs typeface="+mn-cs"/>
              </a:rPr>
              <a:t>you can never achieve absolute certainty</a:t>
            </a:r>
            <a:r>
              <a:rPr lang="en-US" sz="1200" b="0" i="0" kern="1200" dirty="0">
                <a:solidFill>
                  <a:schemeClr val="tx1"/>
                </a:solidFill>
                <a:effectLst/>
                <a:latin typeface="+mn-lt"/>
                <a:ea typeface="+mn-ea"/>
                <a:cs typeface="+mn-cs"/>
              </a:rPr>
              <a:t> that both generals will attack together. This isn’t just a story—it’s a mathematical proof that perfect coordination over an unreliable network is </a:t>
            </a:r>
            <a:r>
              <a:rPr lang="en-US" sz="1200" b="0" i="1" kern="1200" dirty="0">
                <a:solidFill>
                  <a:schemeClr val="tx1"/>
                </a:solidFill>
                <a:effectLst/>
                <a:latin typeface="+mn-lt"/>
                <a:ea typeface="+mn-ea"/>
                <a:cs typeface="+mn-cs"/>
              </a:rPr>
              <a:t>impossible</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reveals the profound difficulty of coordination in real systems. It’s why we need sophisticated algorithms—like consensus protocols—to reach practical, if not perfect, agreement.</a:t>
            </a:r>
          </a:p>
          <a:p>
            <a:r>
              <a:rPr lang="en-US" sz="1200" b="0" i="0" kern="1200" dirty="0">
                <a:solidFill>
                  <a:schemeClr val="tx1"/>
                </a:solidFill>
                <a:effectLst/>
                <a:latin typeface="+mn-lt"/>
                <a:ea typeface="+mn-ea"/>
                <a:cs typeface="+mn-cs"/>
              </a:rPr>
              <a:t>Because this topic is so foundational, </a:t>
            </a:r>
            <a:r>
              <a:rPr lang="en-US" sz="1200" b="1" i="0" kern="1200" dirty="0">
                <a:solidFill>
                  <a:schemeClr val="tx1"/>
                </a:solidFill>
                <a:effectLst/>
                <a:latin typeface="+mn-lt"/>
                <a:ea typeface="+mn-ea"/>
                <a:cs typeface="+mn-cs"/>
              </a:rPr>
              <a:t>the entire second part of this book is dedicated to the distributed algorithms that make coordination possible</a:t>
            </a:r>
            <a:r>
              <a:rPr lang="en-US" sz="1200" b="0" i="0" kern="1200" dirty="0">
                <a:solidFill>
                  <a:schemeClr val="tx1"/>
                </a:solidFill>
                <a:effectLst/>
                <a:latin typeface="+mn-lt"/>
                <a:ea typeface="+mn-ea"/>
                <a:cs typeface="+mn-cs"/>
              </a:rPr>
              <a:t> in the imperfect world we build in.</a:t>
            </a:r>
          </a:p>
          <a:p>
            <a:endParaRPr lang="en-IN" dirty="0"/>
          </a:p>
        </p:txBody>
      </p:sp>
      <p:sp>
        <p:nvSpPr>
          <p:cNvPr id="4" name="Slide Number Placeholder 3">
            <a:extLst>
              <a:ext uri="{FF2B5EF4-FFF2-40B4-BE49-F238E27FC236}">
                <a16:creationId xmlns:a16="http://schemas.microsoft.com/office/drawing/2014/main" id="{9D3C12D5-0BBB-866F-0E8A-5EFE0990E46A}"/>
              </a:ext>
            </a:extLst>
          </p:cNvPr>
          <p:cNvSpPr>
            <a:spLocks noGrp="1"/>
          </p:cNvSpPr>
          <p:nvPr>
            <p:ph type="sldNum" sz="quarter" idx="5"/>
          </p:nvPr>
        </p:nvSpPr>
        <p:spPr/>
        <p:txBody>
          <a:bodyPr/>
          <a:lstStyle/>
          <a:p>
            <a:fld id="{72853293-4F00-4813-B74A-3945ABE0C2FC}" type="slidenum">
              <a:rPr lang="en-IN" smtClean="0"/>
              <a:t>5</a:t>
            </a:fld>
            <a:endParaRPr lang="en-IN"/>
          </a:p>
        </p:txBody>
      </p:sp>
    </p:spTree>
    <p:extLst>
      <p:ext uri="{BB962C8B-B14F-4D97-AF65-F5344CB8AC3E}">
        <p14:creationId xmlns:p14="http://schemas.microsoft.com/office/powerpoint/2010/main" val="726547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A1BFE-9B1D-2922-D05B-B7BD79BF3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25E71-D048-BFA6-3404-F1B2D8D03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B34BF-5F7D-FDF0-FBCF-A86EC46F362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After communication and coordination, we come to one of the most discussed attributes: </a:t>
            </a:r>
            <a:r>
              <a:rPr lang="en-US" sz="1200" b="1" i="0" kern="1200" dirty="0">
                <a:solidFill>
                  <a:schemeClr val="tx1"/>
                </a:solidFill>
                <a:effectLst/>
                <a:latin typeface="+mn-lt"/>
                <a:ea typeface="+mn-ea"/>
                <a:cs typeface="+mn-cs"/>
              </a:rPr>
              <a:t>Consistency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 simple terms, consistency is the promise that </a:t>
            </a:r>
            <a:r>
              <a:rPr lang="en-US" sz="1200" b="1" i="0" kern="1200" dirty="0">
                <a:solidFill>
                  <a:schemeClr val="tx1"/>
                </a:solidFill>
                <a:effectLst/>
                <a:latin typeface="+mn-lt"/>
                <a:ea typeface="+mn-ea"/>
                <a:cs typeface="+mn-cs"/>
              </a:rPr>
              <a:t>everyone sees the same thing at the same time</a:t>
            </a:r>
            <a:r>
              <a:rPr lang="en-US" sz="1200" b="0" i="0" kern="1200" dirty="0">
                <a:solidFill>
                  <a:schemeClr val="tx1"/>
                </a:solidFill>
                <a:effectLst/>
                <a:latin typeface="+mn-lt"/>
                <a:ea typeface="+mn-ea"/>
                <a:cs typeface="+mn-cs"/>
              </a:rPr>
              <a:t>. Imagine you and a friend are both looking at the same social media post on your phones. If you refresh and see 10 likes, but your friend sees 11, that's an </a:t>
            </a:r>
            <a:r>
              <a:rPr lang="en-US" sz="1200" b="1" i="0" kern="1200" dirty="0">
                <a:solidFill>
                  <a:schemeClr val="tx1"/>
                </a:solidFill>
                <a:effectLst/>
                <a:latin typeface="+mn-lt"/>
                <a:ea typeface="+mn-ea"/>
                <a:cs typeface="+mn-cs"/>
              </a:rPr>
              <a:t>inconsistency</a:t>
            </a:r>
            <a:r>
              <a:rPr lang="en-US" sz="1200" b="0" i="0" kern="1200" dirty="0">
                <a:solidFill>
                  <a:schemeClr val="tx1"/>
                </a:solidFill>
                <a:effectLst/>
                <a:latin typeface="+mn-lt"/>
                <a:ea typeface="+mn-ea"/>
                <a:cs typeface="+mn-cs"/>
              </a:rPr>
              <a:t>. For a social post, maybe that's okay. But for your bank account balance? That inconsistency is completely unacceptable.</a:t>
            </a:r>
          </a:p>
          <a:p>
            <a:r>
              <a:rPr lang="en-US" sz="1200" b="0" i="0" kern="1200" dirty="0">
                <a:solidFill>
                  <a:schemeClr val="tx1"/>
                </a:solidFill>
                <a:effectLst/>
                <a:latin typeface="+mn-lt"/>
                <a:ea typeface="+mn-ea"/>
                <a:cs typeface="+mn-cs"/>
              </a:rPr>
              <a:t>So, we define consistency as the guarantee that data is </a:t>
            </a:r>
            <a:r>
              <a:rPr lang="en-US" sz="1200" b="1" i="0" kern="1200" dirty="0">
                <a:solidFill>
                  <a:schemeClr val="tx1"/>
                </a:solidFill>
                <a:effectLst/>
                <a:latin typeface="+mn-lt"/>
                <a:ea typeface="+mn-ea"/>
                <a:cs typeface="+mn-cs"/>
              </a:rPr>
              <a:t>uniform and accurate</a:t>
            </a:r>
            <a:r>
              <a:rPr lang="en-US" sz="1200" b="0" i="0" kern="1200" dirty="0">
                <a:solidFill>
                  <a:schemeClr val="tx1"/>
                </a:solidFill>
                <a:effectLst/>
                <a:latin typeface="+mn-lt"/>
                <a:ea typeface="+mn-ea"/>
                <a:cs typeface="+mn-cs"/>
              </a:rPr>
              <a:t> across all parts of a distributed system. The goal is to make a system with many copies of data behave as if there's just </a:t>
            </a:r>
            <a:r>
              <a:rPr lang="en-US" sz="1200" b="1" i="0" kern="1200" dirty="0">
                <a:solidFill>
                  <a:schemeClr val="tx1"/>
                </a:solidFill>
                <a:effectLst/>
                <a:latin typeface="+mn-lt"/>
                <a:ea typeface="+mn-ea"/>
                <a:cs typeface="+mn-cs"/>
              </a:rPr>
              <a:t>one single source of truth</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Why is this so hard? Because in a distributed system, we </a:t>
            </a:r>
            <a:r>
              <a:rPr lang="en-US" sz="1200" b="0" i="1" kern="1200" dirty="0">
                <a:solidFill>
                  <a:schemeClr val="tx1"/>
                </a:solidFill>
                <a:effectLst/>
                <a:latin typeface="+mn-lt"/>
                <a:ea typeface="+mn-ea"/>
                <a:cs typeface="+mn-cs"/>
              </a:rPr>
              <a:t>replicate</a:t>
            </a:r>
            <a:r>
              <a:rPr lang="en-US" sz="1200" b="0" i="0" kern="1200" dirty="0">
                <a:solidFill>
                  <a:schemeClr val="tx1"/>
                </a:solidFill>
                <a:effectLst/>
                <a:latin typeface="+mn-lt"/>
                <a:ea typeface="+mn-ea"/>
                <a:cs typeface="+mn-cs"/>
              </a:rPr>
              <a:t> data across different servers for reliability and speed. When an update happens—say, you add a 'like'—the system must now </a:t>
            </a:r>
            <a:r>
              <a:rPr lang="en-US" sz="1200" b="1" i="0" kern="1200" dirty="0">
                <a:solidFill>
                  <a:schemeClr val="tx1"/>
                </a:solidFill>
                <a:effectLst/>
                <a:latin typeface="+mn-lt"/>
                <a:ea typeface="+mn-ea"/>
                <a:cs typeface="+mn-cs"/>
              </a:rPr>
              <a:t>update all those copies</a:t>
            </a:r>
            <a:r>
              <a:rPr lang="en-US" sz="1200" b="0" i="0" kern="1200" dirty="0">
                <a:solidFill>
                  <a:schemeClr val="tx1"/>
                </a:solidFill>
                <a:effectLst/>
                <a:latin typeface="+mn-lt"/>
                <a:ea typeface="+mn-ea"/>
                <a:cs typeface="+mn-cs"/>
              </a:rPr>
              <a:t>. Doing this instantly and perfectly requires a lot of </a:t>
            </a:r>
            <a:r>
              <a:rPr lang="en-US" sz="1200" b="1" i="0" kern="1200" dirty="0">
                <a:solidFill>
                  <a:schemeClr val="tx1"/>
                </a:solidFill>
                <a:effectLst/>
                <a:latin typeface="+mn-lt"/>
                <a:ea typeface="+mn-ea"/>
                <a:cs typeface="+mn-cs"/>
              </a:rPr>
              <a:t>coordination</a:t>
            </a:r>
            <a:r>
              <a:rPr lang="en-US" sz="1200" b="0" i="0" kern="1200" dirty="0">
                <a:solidFill>
                  <a:schemeClr val="tx1"/>
                </a:solidFill>
                <a:effectLst/>
                <a:latin typeface="+mn-lt"/>
                <a:ea typeface="+mn-ea"/>
                <a:cs typeface="+mn-cs"/>
              </a:rPr>
              <a:t> and communication, which we just learned is difficult and slow.</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But achieving this perfect consistency comes with trade-offs that force us to make design choices. This brings us to the different types of consistency models we can implement.</a:t>
            </a: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0EC5A27-CBFF-CF89-B9E4-F1104B398CEC}"/>
              </a:ext>
            </a:extLst>
          </p:cNvPr>
          <p:cNvSpPr>
            <a:spLocks noGrp="1"/>
          </p:cNvSpPr>
          <p:nvPr>
            <p:ph type="sldNum" sz="quarter" idx="5"/>
          </p:nvPr>
        </p:nvSpPr>
        <p:spPr/>
        <p:txBody>
          <a:bodyPr/>
          <a:lstStyle/>
          <a:p>
            <a:fld id="{72853293-4F00-4813-B74A-3945ABE0C2FC}" type="slidenum">
              <a:rPr lang="en-IN" smtClean="0"/>
              <a:t>6</a:t>
            </a:fld>
            <a:endParaRPr lang="en-IN"/>
          </a:p>
        </p:txBody>
      </p:sp>
    </p:spTree>
    <p:extLst>
      <p:ext uri="{BB962C8B-B14F-4D97-AF65-F5344CB8AC3E}">
        <p14:creationId xmlns:p14="http://schemas.microsoft.com/office/powerpoint/2010/main" val="2003346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3B3FF-FFC8-FE08-8666-651667716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744C4-97C9-6C9D-7B15-AEFDBB867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93D0F-CBBB-6D43-F786-2B6CB97EC4F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Because perfect consistency is so costly, we've developed different </a:t>
            </a:r>
            <a:r>
              <a:rPr lang="en-US" sz="1200" b="1" i="0" kern="1200" dirty="0">
                <a:solidFill>
                  <a:schemeClr val="tx1"/>
                </a:solidFill>
                <a:effectLst/>
                <a:latin typeface="+mn-lt"/>
                <a:ea typeface="+mn-ea"/>
                <a:cs typeface="+mn-cs"/>
              </a:rPr>
              <a:t>consistency models</a:t>
            </a:r>
            <a:r>
              <a:rPr lang="en-US" sz="1200" b="0" i="0" kern="1200" dirty="0">
                <a:solidFill>
                  <a:schemeClr val="tx1"/>
                </a:solidFill>
                <a:effectLst/>
                <a:latin typeface="+mn-lt"/>
                <a:ea typeface="+mn-ea"/>
                <a:cs typeface="+mn-cs"/>
              </a:rPr>
              <a:t> that let us make intelligent trade-offs based on our application's needs.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leads to the fundamental trade-off. </a:t>
            </a:r>
            <a:r>
              <a:rPr lang="en-US" sz="1200" b="1" i="0" kern="1200" dirty="0">
                <a:solidFill>
                  <a:schemeClr val="tx1"/>
                </a:solidFill>
                <a:effectLst/>
                <a:latin typeface="+mn-lt"/>
                <a:ea typeface="+mn-ea"/>
                <a:cs typeface="+mn-cs"/>
              </a:rPr>
              <a:t>Strong Consistency</a:t>
            </a:r>
            <a:r>
              <a:rPr lang="en-US" sz="1200" b="0" i="0" kern="1200" dirty="0">
                <a:solidFill>
                  <a:schemeClr val="tx1"/>
                </a:solidFill>
                <a:effectLst/>
                <a:latin typeface="+mn-lt"/>
                <a:ea typeface="+mn-ea"/>
                <a:cs typeface="+mn-cs"/>
              </a:rPr>
              <a:t>—where every user always sees the latest data—can make the system feel slower or even become unavailable if a node fails. Sometimes, we consciously choose </a:t>
            </a:r>
            <a:r>
              <a:rPr lang="en-US" sz="1200" b="1" i="0" kern="1200" dirty="0">
                <a:solidFill>
                  <a:schemeClr val="tx1"/>
                </a:solidFill>
                <a:effectLst/>
                <a:latin typeface="+mn-lt"/>
                <a:ea typeface="+mn-ea"/>
                <a:cs typeface="+mn-cs"/>
              </a:rPr>
              <a:t>weaker Consistency</a:t>
            </a:r>
            <a:r>
              <a:rPr lang="en-US" sz="1200" b="0" i="0" kern="1200" dirty="0">
                <a:solidFill>
                  <a:schemeClr val="tx1"/>
                </a:solidFill>
                <a:effectLst/>
                <a:latin typeface="+mn-lt"/>
                <a:ea typeface="+mn-ea"/>
                <a:cs typeface="+mn-cs"/>
              </a:rPr>
              <a:t> for the sake of better availability and speed, accepting that users might briefly see stale data.</a:t>
            </a:r>
          </a:p>
          <a:p>
            <a:r>
              <a:rPr lang="en-US" sz="1200" b="0" i="0" kern="1200" dirty="0">
                <a:solidFill>
                  <a:schemeClr val="tx1"/>
                </a:solidFill>
                <a:effectLst/>
                <a:latin typeface="+mn-lt"/>
                <a:ea typeface="+mn-ea"/>
                <a:cs typeface="+mn-cs"/>
              </a:rPr>
              <a:t>Think of it this way:</a:t>
            </a:r>
          </a:p>
          <a:p>
            <a:r>
              <a:rPr lang="en-US" sz="1200" b="1" i="0" kern="1200" dirty="0">
                <a:solidFill>
                  <a:schemeClr val="tx1"/>
                </a:solidFill>
                <a:effectLst/>
                <a:latin typeface="+mn-lt"/>
                <a:ea typeface="+mn-ea"/>
                <a:cs typeface="+mn-cs"/>
              </a:rPr>
              <a:t>Your bank account requires strong consistency.</a:t>
            </a:r>
            <a:r>
              <a:rPr lang="en-US" sz="1200" b="0" i="0" kern="1200" dirty="0">
                <a:solidFill>
                  <a:schemeClr val="tx1"/>
                </a:solidFill>
                <a:effectLst/>
                <a:latin typeface="+mn-lt"/>
                <a:ea typeface="+mn-ea"/>
                <a:cs typeface="+mn-cs"/>
              </a:rPr>
              <a:t> Every transaction must be instantly reflected everywhere.</a:t>
            </a:r>
          </a:p>
          <a:p>
            <a:r>
              <a:rPr lang="en-US" sz="1200" b="1" i="0" kern="1200" dirty="0">
                <a:solidFill>
                  <a:schemeClr val="tx1"/>
                </a:solidFill>
                <a:effectLst/>
                <a:latin typeface="+mn-lt"/>
                <a:ea typeface="+mn-ea"/>
                <a:cs typeface="+mn-cs"/>
              </a:rPr>
              <a:t>A social media 'like' counter can often use weaker consistency.</a:t>
            </a:r>
            <a:r>
              <a:rPr lang="en-US" sz="1200" b="0" i="0" kern="1200" dirty="0">
                <a:solidFill>
                  <a:schemeClr val="tx1"/>
                </a:solidFill>
                <a:effectLst/>
                <a:latin typeface="+mn-lt"/>
                <a:ea typeface="+mn-ea"/>
                <a:cs typeface="+mn-cs"/>
              </a:rPr>
              <a:t> It's acceptable if the number is slightly off for a second.</a:t>
            </a:r>
          </a:p>
          <a:p>
            <a:r>
              <a:rPr lang="en-US" sz="1200" b="0" i="0" kern="1200" dirty="0">
                <a:solidFill>
                  <a:schemeClr val="tx1"/>
                </a:solidFill>
                <a:effectLst/>
                <a:latin typeface="+mn-lt"/>
                <a:ea typeface="+mn-ea"/>
                <a:cs typeface="+mn-cs"/>
              </a:rPr>
              <a:t>Getting this trade-off right is at the heart of designing data systems. </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 one end, we have </a:t>
            </a:r>
            <a:r>
              <a:rPr lang="en-US" sz="1200" b="1" i="0" kern="1200" dirty="0">
                <a:solidFill>
                  <a:schemeClr val="tx1"/>
                </a:solidFill>
                <a:effectLst/>
                <a:latin typeface="+mn-lt"/>
                <a:ea typeface="+mn-ea"/>
                <a:cs typeface="+mn-cs"/>
              </a:rPr>
              <a:t>Strong Consistency</a:t>
            </a:r>
            <a:r>
              <a:rPr lang="en-US" sz="1200" b="0" i="0" kern="1200" dirty="0">
                <a:solidFill>
                  <a:schemeClr val="tx1"/>
                </a:solidFill>
                <a:effectLst/>
                <a:latin typeface="+mn-lt"/>
                <a:ea typeface="+mn-ea"/>
                <a:cs typeface="+mn-cs"/>
              </a:rPr>
              <a:t>. This is the strictest model. Here, the system guarantees that any read operation will return the most recent write. It makes the entire distributed database feel like a single, up-to-date server. This is non-negotiable for systems like banking or stock trading. The cost? It can be slower, as the system must coordinate to update all copies before confirming a write, and it might become unavailable if parts of the system fail.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 the other end, we have </a:t>
            </a:r>
            <a:r>
              <a:rPr lang="en-US" sz="1200" b="1" i="0" kern="1200" dirty="0">
                <a:solidFill>
                  <a:schemeClr val="tx1"/>
                </a:solidFill>
                <a:effectLst/>
                <a:latin typeface="+mn-lt"/>
                <a:ea typeface="+mn-ea"/>
                <a:cs typeface="+mn-cs"/>
              </a:rPr>
              <a:t>Eventual Consistency</a:t>
            </a:r>
            <a:r>
              <a:rPr lang="en-US" sz="1200" b="0" i="0" kern="1200" dirty="0">
                <a:solidFill>
                  <a:schemeClr val="tx1"/>
                </a:solidFill>
                <a:effectLst/>
                <a:latin typeface="+mn-lt"/>
                <a:ea typeface="+mn-ea"/>
                <a:cs typeface="+mn-cs"/>
              </a:rPr>
              <a:t>. This model prioritizes availability and speed. It allows different nodes to have slightly different data for a short period. The guarantee is simple: if you stop making updates, eventually all nodes will settle on the same value. This is perfectly acceptable for features like social media likes, comments, or a non-critical product catalog. You get a faster, more resilient system in exchange for temporary inconsistency.</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IN" dirty="0"/>
          </a:p>
        </p:txBody>
      </p:sp>
      <p:sp>
        <p:nvSpPr>
          <p:cNvPr id="4" name="Slide Number Placeholder 3">
            <a:extLst>
              <a:ext uri="{FF2B5EF4-FFF2-40B4-BE49-F238E27FC236}">
                <a16:creationId xmlns:a16="http://schemas.microsoft.com/office/drawing/2014/main" id="{58F3068B-54BB-74E8-D2AD-81F12B3A5BD8}"/>
              </a:ext>
            </a:extLst>
          </p:cNvPr>
          <p:cNvSpPr>
            <a:spLocks noGrp="1"/>
          </p:cNvSpPr>
          <p:nvPr>
            <p:ph type="sldNum" sz="quarter" idx="5"/>
          </p:nvPr>
        </p:nvSpPr>
        <p:spPr/>
        <p:txBody>
          <a:bodyPr/>
          <a:lstStyle/>
          <a:p>
            <a:fld id="{72853293-4F00-4813-B74A-3945ABE0C2FC}" type="slidenum">
              <a:rPr lang="en-IN" smtClean="0"/>
              <a:t>7</a:t>
            </a:fld>
            <a:endParaRPr lang="en-IN"/>
          </a:p>
        </p:txBody>
      </p:sp>
    </p:spTree>
    <p:extLst>
      <p:ext uri="{BB962C8B-B14F-4D97-AF65-F5344CB8AC3E}">
        <p14:creationId xmlns:p14="http://schemas.microsoft.com/office/powerpoint/2010/main" val="980007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9F8D9-7CB7-F04B-BCF0-FEFD60E26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86795-BABC-3EFF-781B-690D6C3A2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ED4BD-536B-2244-7FC0-E4FBDBC3C7F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Let's talk about </a:t>
            </a:r>
            <a:r>
              <a:rPr lang="en-US" sz="1200" b="1" i="0" kern="1200" dirty="0">
                <a:solidFill>
                  <a:schemeClr val="tx1"/>
                </a:solidFill>
                <a:effectLst/>
                <a:latin typeface="+mn-lt"/>
                <a:ea typeface="+mn-ea"/>
                <a:cs typeface="+mn-cs"/>
              </a:rPr>
              <a:t>Availability</a:t>
            </a:r>
            <a:r>
              <a:rPr lang="en-US" sz="1200" b="0" i="0" kern="1200" dirty="0">
                <a:solidFill>
                  <a:schemeClr val="tx1"/>
                </a:solidFill>
                <a:effectLst/>
                <a:latin typeface="+mn-lt"/>
                <a:ea typeface="+mn-ea"/>
                <a:cs typeface="+mn-cs"/>
              </a:rPr>
              <a:t> - one of the most user-visible attributes of any system.</a:t>
            </a:r>
          </a:p>
          <a:p>
            <a:r>
              <a:rPr lang="en-US" sz="1200" b="0" i="0" kern="1200" dirty="0">
                <a:solidFill>
                  <a:schemeClr val="tx1"/>
                </a:solidFill>
                <a:effectLst/>
                <a:latin typeface="+mn-lt"/>
                <a:ea typeface="+mn-ea"/>
                <a:cs typeface="+mn-cs"/>
              </a:rPr>
              <a:t>At its core, availability is about </a:t>
            </a:r>
            <a:r>
              <a:rPr lang="en-US" sz="1200" b="1" i="0" kern="1200" dirty="0">
                <a:solidFill>
                  <a:schemeClr val="tx1"/>
                </a:solidFill>
                <a:effectLst/>
                <a:latin typeface="+mn-lt"/>
                <a:ea typeface="+mn-ea"/>
                <a:cs typeface="+mn-cs"/>
              </a:rPr>
              <a:t>accessibility</a:t>
            </a:r>
            <a:r>
              <a:rPr lang="en-US" sz="1200" b="0" i="0" kern="1200" dirty="0">
                <a:solidFill>
                  <a:schemeClr val="tx1"/>
                </a:solidFill>
                <a:effectLst/>
                <a:latin typeface="+mn-lt"/>
                <a:ea typeface="+mn-ea"/>
                <a:cs typeface="+mn-cs"/>
              </a:rPr>
              <a:t>. It answers the question: 'Can users reach and use the service right now?' When you click on an app icon, availability determines whether you get a working interface or an error message.</a:t>
            </a:r>
          </a:p>
          <a:p>
            <a:r>
              <a:rPr lang="en-US" sz="1200" b="0" i="0" kern="1200" dirty="0">
                <a:solidFill>
                  <a:schemeClr val="tx1"/>
                </a:solidFill>
                <a:effectLst/>
                <a:latin typeface="+mn-lt"/>
                <a:ea typeface="+mn-ea"/>
                <a:cs typeface="+mn-cs"/>
              </a:rPr>
              <a:t>Think of it like a store's opening hours. A 24/7 convenience store has near-perfect availability - you can almost always get in. A bank with 9-to-5 hours has lower availability - there are times when you simply cannot access the service.</a:t>
            </a:r>
          </a:p>
          <a:p>
            <a:endParaRPr lang="en-IN" dirty="0"/>
          </a:p>
          <a:p>
            <a:endParaRPr lang="en-IN" dirty="0"/>
          </a:p>
        </p:txBody>
      </p:sp>
      <p:sp>
        <p:nvSpPr>
          <p:cNvPr id="4" name="Slide Number Placeholder 3">
            <a:extLst>
              <a:ext uri="{FF2B5EF4-FFF2-40B4-BE49-F238E27FC236}">
                <a16:creationId xmlns:a16="http://schemas.microsoft.com/office/drawing/2014/main" id="{3E54D30E-D6CF-9879-1109-D0763984E865}"/>
              </a:ext>
            </a:extLst>
          </p:cNvPr>
          <p:cNvSpPr>
            <a:spLocks noGrp="1"/>
          </p:cNvSpPr>
          <p:nvPr>
            <p:ph type="sldNum" sz="quarter" idx="5"/>
          </p:nvPr>
        </p:nvSpPr>
        <p:spPr/>
        <p:txBody>
          <a:bodyPr/>
          <a:lstStyle/>
          <a:p>
            <a:fld id="{72853293-4F00-4813-B74A-3945ABE0C2FC}" type="slidenum">
              <a:rPr lang="en-IN" smtClean="0"/>
              <a:t>8</a:t>
            </a:fld>
            <a:endParaRPr lang="en-IN"/>
          </a:p>
        </p:txBody>
      </p:sp>
    </p:spTree>
    <p:extLst>
      <p:ext uri="{BB962C8B-B14F-4D97-AF65-F5344CB8AC3E}">
        <p14:creationId xmlns:p14="http://schemas.microsoft.com/office/powerpoint/2010/main" val="2667916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B3935-8224-AC58-BAAA-72C03BD35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AF8DB-4FBB-8567-E8C5-65865FE06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EBAE9-4F23-D033-EBBD-0F108FD75FF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In distributed systems, we measure availability in '</a:t>
            </a:r>
            <a:r>
              <a:rPr lang="en-US" sz="1200" b="1" i="0" kern="1200" dirty="0">
                <a:solidFill>
                  <a:schemeClr val="tx1"/>
                </a:solidFill>
                <a:effectLst/>
                <a:latin typeface="+mn-lt"/>
                <a:ea typeface="+mn-ea"/>
                <a:cs typeface="+mn-cs"/>
              </a:rPr>
              <a:t>Nines</a:t>
            </a:r>
            <a:r>
              <a:rPr lang="en-US" sz="1200" b="0" i="0" kern="1200" dirty="0">
                <a:solidFill>
                  <a:schemeClr val="tx1"/>
                </a:solidFill>
                <a:effectLst/>
                <a:latin typeface="+mn-lt"/>
                <a:ea typeface="+mn-ea"/>
                <a:cs typeface="+mn-cs"/>
              </a:rPr>
              <a:t>' - and each additional nine represents a quantum leap in reliability engineering.</a:t>
            </a:r>
          </a:p>
          <a:p>
            <a:r>
              <a:rPr lang="en-US" sz="1200" b="0" i="0" kern="1200" dirty="0">
                <a:solidFill>
                  <a:schemeClr val="tx1"/>
                </a:solidFill>
                <a:effectLst/>
                <a:latin typeface="+mn-lt"/>
                <a:ea typeface="+mn-ea"/>
                <a:cs typeface="+mn-cs"/>
              </a:rPr>
              <a:t>Look at this table. </a:t>
            </a:r>
            <a:r>
              <a:rPr lang="en-US" sz="1200" b="1" i="0" kern="1200" dirty="0">
                <a:solidFill>
                  <a:schemeClr val="tx1"/>
                </a:solidFill>
                <a:effectLst/>
                <a:latin typeface="+mn-lt"/>
                <a:ea typeface="+mn-ea"/>
                <a:cs typeface="+mn-cs"/>
              </a:rPr>
              <a:t>99% availability</a:t>
            </a:r>
            <a:r>
              <a:rPr lang="en-US" sz="1200" b="0" i="0" kern="1200" dirty="0">
                <a:solidFill>
                  <a:schemeClr val="tx1"/>
                </a:solidFill>
                <a:effectLst/>
                <a:latin typeface="+mn-lt"/>
                <a:ea typeface="+mn-ea"/>
                <a:cs typeface="+mn-cs"/>
              </a:rPr>
              <a:t> - that's 'two nines' - sounds pretty good, right? But it means </a:t>
            </a:r>
            <a:r>
              <a:rPr lang="en-US" sz="1200" b="1" i="0" kern="1200" dirty="0">
                <a:solidFill>
                  <a:schemeClr val="tx1"/>
                </a:solidFill>
                <a:effectLst/>
                <a:latin typeface="+mn-lt"/>
                <a:ea typeface="+mn-ea"/>
                <a:cs typeface="+mn-cs"/>
              </a:rPr>
              <a:t>3.65 DAYS of downtime per year</a:t>
            </a:r>
            <a:r>
              <a:rPr lang="en-US" sz="1200" b="0" i="0" kern="1200" dirty="0">
                <a:solidFill>
                  <a:schemeClr val="tx1"/>
                </a:solidFill>
                <a:effectLst/>
                <a:latin typeface="+mn-lt"/>
                <a:ea typeface="+mn-ea"/>
                <a:cs typeface="+mn-cs"/>
              </a:rPr>
              <a:t>. For most online businesses today, that's completely unacceptable.</a:t>
            </a:r>
          </a:p>
          <a:p>
            <a:r>
              <a:rPr lang="en-US" sz="1200" b="0" i="0" kern="1200" dirty="0">
                <a:solidFill>
                  <a:schemeClr val="tx1"/>
                </a:solidFill>
                <a:effectLst/>
                <a:latin typeface="+mn-lt"/>
                <a:ea typeface="+mn-ea"/>
                <a:cs typeface="+mn-cs"/>
              </a:rPr>
              <a:t>Now look at </a:t>
            </a:r>
            <a:r>
              <a:rPr lang="en-US" sz="1200" b="1" i="0" kern="1200" dirty="0">
                <a:solidFill>
                  <a:schemeClr val="tx1"/>
                </a:solidFill>
                <a:effectLst/>
                <a:latin typeface="+mn-lt"/>
                <a:ea typeface="+mn-ea"/>
                <a:cs typeface="+mn-cs"/>
              </a:rPr>
              <a:t>99.99%</a:t>
            </a:r>
            <a:r>
              <a:rPr lang="en-US" sz="1200" b="0" i="0" kern="1200" dirty="0">
                <a:solidFill>
                  <a:schemeClr val="tx1"/>
                </a:solidFill>
                <a:effectLst/>
                <a:latin typeface="+mn-lt"/>
                <a:ea typeface="+mn-ea"/>
                <a:cs typeface="+mn-cs"/>
              </a:rPr>
              <a:t> - 'four nines'. That's just </a:t>
            </a:r>
            <a:r>
              <a:rPr lang="en-US" sz="1200" b="1" i="0" kern="1200" dirty="0">
                <a:solidFill>
                  <a:schemeClr val="tx1"/>
                </a:solidFill>
                <a:effectLst/>
                <a:latin typeface="+mn-lt"/>
                <a:ea typeface="+mn-ea"/>
                <a:cs typeface="+mn-cs"/>
              </a:rPr>
              <a:t>52 minutes of downtime per year</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99.999%</a:t>
            </a:r>
            <a:r>
              <a:rPr lang="en-US" sz="1200" b="0" i="0" kern="1200" dirty="0">
                <a:solidFill>
                  <a:schemeClr val="tx1"/>
                </a:solidFill>
                <a:effectLst/>
                <a:latin typeface="+mn-lt"/>
                <a:ea typeface="+mn-ea"/>
                <a:cs typeface="+mn-cs"/>
              </a:rPr>
              <a:t> - 'five nines' - is only </a:t>
            </a:r>
            <a:r>
              <a:rPr lang="en-US" sz="1200" b="1" i="0" kern="1200" dirty="0">
                <a:solidFill>
                  <a:schemeClr val="tx1"/>
                </a:solidFill>
                <a:effectLst/>
                <a:latin typeface="+mn-lt"/>
                <a:ea typeface="+mn-ea"/>
                <a:cs typeface="+mn-cs"/>
              </a:rPr>
              <a:t>5 minutes per year</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progression isn't linear - it's exponential. Going from 99% to 99.9% means reducing downtime from 87.6 hours to 8.76 hours per year. That's a </a:t>
            </a:r>
            <a:r>
              <a:rPr lang="en-US" sz="1200" b="1" i="0" kern="1200" dirty="0">
                <a:solidFill>
                  <a:schemeClr val="tx1"/>
                </a:solidFill>
                <a:effectLst/>
                <a:latin typeface="+mn-lt"/>
                <a:ea typeface="+mn-ea"/>
                <a:cs typeface="+mn-cs"/>
              </a:rPr>
              <a:t>90% improvement</a:t>
            </a:r>
            <a:r>
              <a:rPr lang="en-US" sz="1200" b="0" i="0" kern="1200" dirty="0">
                <a:solidFill>
                  <a:schemeClr val="tx1"/>
                </a:solidFill>
                <a:effectLst/>
                <a:latin typeface="+mn-lt"/>
                <a:ea typeface="+mn-ea"/>
                <a:cs typeface="+mn-cs"/>
              </a:rPr>
              <a:t> with just one additional nine.</a:t>
            </a:r>
          </a:p>
          <a:p>
            <a:endParaRPr lang="en-IN" dirty="0"/>
          </a:p>
          <a:p>
            <a:r>
              <a:rPr lang="en-US" sz="1200" b="0" i="0" kern="1200" dirty="0">
                <a:solidFill>
                  <a:schemeClr val="tx1"/>
                </a:solidFill>
                <a:effectLst/>
                <a:latin typeface="+mn-lt"/>
                <a:ea typeface="+mn-ea"/>
                <a:cs typeface="+mn-cs"/>
              </a:rPr>
              <a:t>But here's the catch: each additional nine typically costs </a:t>
            </a:r>
            <a:r>
              <a:rPr lang="en-US" sz="1200" b="1" i="0" kern="1200" dirty="0">
                <a:solidFill>
                  <a:schemeClr val="tx1"/>
                </a:solidFill>
                <a:effectLst/>
                <a:latin typeface="+mn-lt"/>
                <a:ea typeface="+mn-ea"/>
                <a:cs typeface="+mn-cs"/>
              </a:rPr>
              <a:t>10 times more</a:t>
            </a:r>
            <a:r>
              <a:rPr lang="en-US" sz="1200" b="0" i="0" kern="1200" dirty="0">
                <a:solidFill>
                  <a:schemeClr val="tx1"/>
                </a:solidFill>
                <a:effectLst/>
                <a:latin typeface="+mn-lt"/>
                <a:ea typeface="+mn-ea"/>
                <a:cs typeface="+mn-cs"/>
              </a:rPr>
              <a:t> to achieve. The infrastructure, redundancy, monitoring, and engineering effort required for five nines versus three nines is enormous.</a:t>
            </a:r>
          </a:p>
          <a:p>
            <a:r>
              <a:rPr lang="en-US" sz="1200" b="0" i="0" kern="1200" dirty="0">
                <a:solidFill>
                  <a:schemeClr val="tx1"/>
                </a:solidFill>
                <a:effectLst/>
                <a:latin typeface="+mn-lt"/>
                <a:ea typeface="+mn-ea"/>
                <a:cs typeface="+mn-cs"/>
              </a:rPr>
              <a:t>Most consumer web services aim for three to four nines. Mission-critical systems like financial exchanges or emergency services might target five nines. Very few systems truly achieve six or seven nines - we're talking about seconds of downtime per year.</a:t>
            </a:r>
          </a:p>
          <a:p>
            <a:endParaRPr lang="en-IN" dirty="0"/>
          </a:p>
        </p:txBody>
      </p:sp>
      <p:sp>
        <p:nvSpPr>
          <p:cNvPr id="4" name="Slide Number Placeholder 3">
            <a:extLst>
              <a:ext uri="{FF2B5EF4-FFF2-40B4-BE49-F238E27FC236}">
                <a16:creationId xmlns:a16="http://schemas.microsoft.com/office/drawing/2014/main" id="{7304ADA1-BB25-BE27-9F1A-3A6D4044FFE2}"/>
              </a:ext>
            </a:extLst>
          </p:cNvPr>
          <p:cNvSpPr>
            <a:spLocks noGrp="1"/>
          </p:cNvSpPr>
          <p:nvPr>
            <p:ph type="sldNum" sz="quarter" idx="5"/>
          </p:nvPr>
        </p:nvSpPr>
        <p:spPr/>
        <p:txBody>
          <a:bodyPr/>
          <a:lstStyle/>
          <a:p>
            <a:fld id="{72853293-4F00-4813-B74A-3945ABE0C2FC}" type="slidenum">
              <a:rPr lang="en-IN" smtClean="0"/>
              <a:t>9</a:t>
            </a:fld>
            <a:endParaRPr lang="en-IN"/>
          </a:p>
        </p:txBody>
      </p:sp>
    </p:spTree>
    <p:extLst>
      <p:ext uri="{BB962C8B-B14F-4D97-AF65-F5344CB8AC3E}">
        <p14:creationId xmlns:p14="http://schemas.microsoft.com/office/powerpoint/2010/main" val="279533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0358F-0B49-CDE8-0A4B-FA0D763F6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43110-A647-3D92-172C-E726B2CDC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29F1F2-6F90-678F-625C-AFEA41481615}"/>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understand how system architecture affects availability. Consider two fundamental arrangements: </a:t>
            </a:r>
            <a:r>
              <a:rPr lang="en-US" sz="1200" b="1" i="0" kern="1200" dirty="0">
                <a:solidFill>
                  <a:schemeClr val="tx1"/>
                </a:solidFill>
                <a:effectLst/>
                <a:latin typeface="+mn-lt"/>
                <a:ea typeface="+mn-ea"/>
                <a:cs typeface="+mn-cs"/>
              </a:rPr>
              <a:t>Sequence </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Parallel</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 a </a:t>
            </a:r>
            <a:r>
              <a:rPr lang="en-US" sz="1200" b="1" i="0" kern="1200" dirty="0">
                <a:solidFill>
                  <a:schemeClr val="tx1"/>
                </a:solidFill>
                <a:effectLst/>
                <a:latin typeface="+mn-lt"/>
                <a:ea typeface="+mn-ea"/>
                <a:cs typeface="+mn-cs"/>
              </a:rPr>
              <a:t>sequence  system</a:t>
            </a:r>
            <a:r>
              <a:rPr lang="en-US" sz="1200" b="0" i="0" kern="1200" dirty="0">
                <a:solidFill>
                  <a:schemeClr val="tx1"/>
                </a:solidFill>
                <a:effectLst/>
                <a:latin typeface="+mn-lt"/>
                <a:ea typeface="+mn-ea"/>
                <a:cs typeface="+mn-cs"/>
              </a:rPr>
              <a:t>, components are chained together like links in a chain. The user's request must pass through </a:t>
            </a:r>
            <a:r>
              <a:rPr lang="en-US" sz="1200" b="1" i="0" kern="1200" dirty="0">
                <a:solidFill>
                  <a:schemeClr val="tx1"/>
                </a:solidFill>
                <a:effectLst/>
                <a:latin typeface="+mn-lt"/>
                <a:ea typeface="+mn-ea"/>
                <a:cs typeface="+mn-cs"/>
              </a:rPr>
              <a:t>every component</a:t>
            </a:r>
            <a:r>
              <a:rPr lang="en-US" sz="1200" b="0" i="0" kern="1200" dirty="0">
                <a:solidFill>
                  <a:schemeClr val="tx1"/>
                </a:solidFill>
                <a:effectLst/>
                <a:latin typeface="+mn-lt"/>
                <a:ea typeface="+mn-ea"/>
                <a:cs typeface="+mn-cs"/>
              </a:rPr>
              <a:t> successfully. Think: web server → application server → database. If any one fails, the whole system fails.</a:t>
            </a:r>
          </a:p>
          <a:p>
            <a:r>
              <a:rPr lang="en-US" sz="1200" b="0" i="0" kern="1200" dirty="0">
                <a:solidFill>
                  <a:schemeClr val="tx1"/>
                </a:solidFill>
                <a:effectLst/>
                <a:latin typeface="+mn-lt"/>
                <a:ea typeface="+mn-ea"/>
                <a:cs typeface="+mn-cs"/>
              </a:rPr>
              <a:t>The math here is brutal: </a:t>
            </a:r>
            <a:r>
              <a:rPr lang="en-US" sz="1200" b="1" i="0" kern="1200" dirty="0">
                <a:solidFill>
                  <a:schemeClr val="tx1"/>
                </a:solidFill>
                <a:effectLst/>
                <a:latin typeface="+mn-lt"/>
                <a:ea typeface="+mn-ea"/>
                <a:cs typeface="+mn-cs"/>
              </a:rPr>
              <a:t>You MULTIPLY the availabilities</a:t>
            </a:r>
            <a:r>
              <a:rPr lang="en-US" sz="1200" b="0" i="0" kern="1200" dirty="0">
                <a:solidFill>
                  <a:schemeClr val="tx1"/>
                </a:solidFill>
                <a:effectLst/>
                <a:latin typeface="+mn-lt"/>
                <a:ea typeface="+mn-ea"/>
                <a:cs typeface="+mn-cs"/>
              </a:rPr>
              <a:t>. If you have three components, each with 99% availability (0.99), your overall system availability is 0.99 × 0.99 × 0.99 = 0.97, or 97%. Three components reduced your system's availability!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 </a:t>
            </a:r>
            <a:r>
              <a:rPr lang="en-US" sz="1200" b="1" i="0" kern="1200" dirty="0">
                <a:solidFill>
                  <a:schemeClr val="tx1"/>
                </a:solidFill>
                <a:effectLst/>
                <a:latin typeface="+mn-lt"/>
                <a:ea typeface="+mn-ea"/>
                <a:cs typeface="+mn-cs"/>
              </a:rPr>
              <a:t>parallel system</a:t>
            </a:r>
            <a:r>
              <a:rPr lang="en-US" sz="1200" b="0" i="0" kern="1200" dirty="0">
                <a:solidFill>
                  <a:schemeClr val="tx1"/>
                </a:solidFill>
                <a:effectLst/>
                <a:latin typeface="+mn-lt"/>
                <a:ea typeface="+mn-ea"/>
                <a:cs typeface="+mn-cs"/>
              </a:rPr>
              <a:t>, components are redundant. The system works if </a:t>
            </a:r>
            <a:r>
              <a:rPr lang="en-US" sz="1200" b="1" i="0" kern="1200" dirty="0">
                <a:solidFill>
                  <a:schemeClr val="tx1"/>
                </a:solidFill>
                <a:effectLst/>
                <a:latin typeface="+mn-lt"/>
                <a:ea typeface="+mn-ea"/>
                <a:cs typeface="+mn-cs"/>
              </a:rPr>
              <a:t>ANY of the components</a:t>
            </a:r>
            <a:r>
              <a:rPr lang="en-US" sz="1200" b="0" i="0" kern="1200" dirty="0">
                <a:solidFill>
                  <a:schemeClr val="tx1"/>
                </a:solidFill>
                <a:effectLst/>
                <a:latin typeface="+mn-lt"/>
                <a:ea typeface="+mn-ea"/>
                <a:cs typeface="+mn-cs"/>
              </a:rPr>
              <a:t> work. Think: multiple web servers behind a load balancer. If one fails, others handle the traffic.</a:t>
            </a:r>
          </a:p>
          <a:p>
            <a:r>
              <a:rPr lang="en-US" sz="1200" b="0" i="0" kern="1200" dirty="0">
                <a:solidFill>
                  <a:schemeClr val="tx1"/>
                </a:solidFill>
                <a:effectLst/>
                <a:latin typeface="+mn-lt"/>
                <a:ea typeface="+mn-ea"/>
                <a:cs typeface="+mn-cs"/>
              </a:rPr>
              <a:t>The math here is much friendlier: </a:t>
            </a:r>
            <a:r>
              <a:rPr lang="en-US" sz="1200" b="1" i="0" kern="1200" dirty="0">
                <a:solidFill>
                  <a:schemeClr val="tx1"/>
                </a:solidFill>
                <a:effectLst/>
                <a:latin typeface="+mn-lt"/>
                <a:ea typeface="+mn-ea"/>
                <a:cs typeface="+mn-cs"/>
              </a:rPr>
              <a:t>Availability = 1 - (probability ALL fail)</a:t>
            </a:r>
            <a:r>
              <a:rPr lang="en-US" sz="1200" b="0" i="0" kern="1200" dirty="0">
                <a:solidFill>
                  <a:schemeClr val="tx1"/>
                </a:solidFill>
                <a:effectLst/>
                <a:latin typeface="+mn-lt"/>
                <a:ea typeface="+mn-ea"/>
                <a:cs typeface="+mn-cs"/>
              </a:rPr>
              <a:t>. With two components each at 99%, the probability both fail is 0.01 × 0.01 = 0.0001. So system availability is 1 - 0.0001 = 0.9999, or 99.99%!</a:t>
            </a:r>
          </a:p>
          <a:p>
            <a:r>
              <a:rPr lang="en-US" sz="1200" b="0" i="0" kern="1200" dirty="0">
                <a:solidFill>
                  <a:schemeClr val="tx1"/>
                </a:solidFill>
                <a:effectLst/>
                <a:latin typeface="+mn-lt"/>
                <a:ea typeface="+mn-ea"/>
                <a:cs typeface="+mn-cs"/>
              </a:rPr>
              <a:t>This is why we build redundancy into critical paths. We transform series dependencies into parallel ones wherever possible. Load balancers with multiple servers, database replicas, multiple network providers - these all create parallel paths that dramatically boost availability.</a:t>
            </a:r>
          </a:p>
          <a:p>
            <a:endParaRPr lang="en-IN" dirty="0"/>
          </a:p>
        </p:txBody>
      </p:sp>
      <p:sp>
        <p:nvSpPr>
          <p:cNvPr id="4" name="Slide Number Placeholder 3">
            <a:extLst>
              <a:ext uri="{FF2B5EF4-FFF2-40B4-BE49-F238E27FC236}">
                <a16:creationId xmlns:a16="http://schemas.microsoft.com/office/drawing/2014/main" id="{A86FFB30-60EC-8288-7FB5-7F9AD7C31685}"/>
              </a:ext>
            </a:extLst>
          </p:cNvPr>
          <p:cNvSpPr>
            <a:spLocks noGrp="1"/>
          </p:cNvSpPr>
          <p:nvPr>
            <p:ph type="sldNum" sz="quarter" idx="5"/>
          </p:nvPr>
        </p:nvSpPr>
        <p:spPr/>
        <p:txBody>
          <a:bodyPr/>
          <a:lstStyle/>
          <a:p>
            <a:fld id="{72853293-4F00-4813-B74A-3945ABE0C2FC}" type="slidenum">
              <a:rPr lang="en-IN" smtClean="0"/>
              <a:t>10</a:t>
            </a:fld>
            <a:endParaRPr lang="en-IN"/>
          </a:p>
        </p:txBody>
      </p:sp>
    </p:spTree>
    <p:extLst>
      <p:ext uri="{BB962C8B-B14F-4D97-AF65-F5344CB8AC3E}">
        <p14:creationId xmlns:p14="http://schemas.microsoft.com/office/powerpoint/2010/main" val="2436870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C446-D9DB-8F7E-4067-C52ABC328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0010F-1AD3-841A-9810-CB4E74556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B7C75-B26B-CFA8-E472-6A3F65DEED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033616-C27F-AE0F-4833-7D99177C2B9A}"/>
              </a:ext>
            </a:extLst>
          </p:cNvPr>
          <p:cNvSpPr>
            <a:spLocks noGrp="1"/>
          </p:cNvSpPr>
          <p:nvPr>
            <p:ph type="sldNum" sz="quarter" idx="5"/>
          </p:nvPr>
        </p:nvSpPr>
        <p:spPr/>
        <p:txBody>
          <a:bodyPr/>
          <a:lstStyle/>
          <a:p>
            <a:fld id="{72853293-4F00-4813-B74A-3945ABE0C2FC}" type="slidenum">
              <a:rPr lang="en-IN" smtClean="0"/>
              <a:t>11</a:t>
            </a:fld>
            <a:endParaRPr lang="en-IN"/>
          </a:p>
        </p:txBody>
      </p:sp>
    </p:spTree>
    <p:extLst>
      <p:ext uri="{BB962C8B-B14F-4D97-AF65-F5344CB8AC3E}">
        <p14:creationId xmlns:p14="http://schemas.microsoft.com/office/powerpoint/2010/main" val="2341877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C68E-0736-0E7A-FDDB-C21E78F14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AE1CC-635E-D7FA-C834-D530680B6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BB982-A7D0-2564-FD3E-330B77BE1A45}"/>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Before diving into specific patterns, let's understand the fundamental concept of </a:t>
            </a:r>
            <a:r>
              <a:rPr lang="en-US" sz="1200" b="1" i="0" kern="1200" dirty="0">
                <a:solidFill>
                  <a:schemeClr val="tx1"/>
                </a:solidFill>
                <a:effectLst/>
                <a:latin typeface="+mn-lt"/>
                <a:ea typeface="+mn-ea"/>
                <a:cs typeface="+mn-cs"/>
              </a:rPr>
              <a:t>Failover</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Failover is the </a:t>
            </a:r>
            <a:r>
              <a:rPr lang="en-US" sz="1200" b="1" i="0" kern="1200" dirty="0">
                <a:solidFill>
                  <a:schemeClr val="tx1"/>
                </a:solidFill>
                <a:effectLst/>
                <a:latin typeface="+mn-lt"/>
                <a:ea typeface="+mn-ea"/>
                <a:cs typeface="+mn-cs"/>
              </a:rPr>
              <a:t>automatic process</a:t>
            </a:r>
            <a:r>
              <a:rPr lang="en-US" sz="1200" b="0" i="0" kern="1200" dirty="0">
                <a:solidFill>
                  <a:schemeClr val="tx1"/>
                </a:solidFill>
                <a:effectLst/>
                <a:latin typeface="+mn-lt"/>
                <a:ea typeface="+mn-ea"/>
                <a:cs typeface="+mn-cs"/>
              </a:rPr>
              <a:t> of switching to a backup or standby system when the primary system fails. The goal is simple: keep the service running even when individual components fail.</a:t>
            </a:r>
          </a:p>
          <a:p>
            <a:r>
              <a:rPr lang="en-US" sz="1200" b="0" i="0" kern="1200" dirty="0">
                <a:solidFill>
                  <a:schemeClr val="tx1"/>
                </a:solidFill>
                <a:effectLst/>
                <a:latin typeface="+mn-lt"/>
                <a:ea typeface="+mn-ea"/>
                <a:cs typeface="+mn-cs"/>
              </a:rPr>
              <a:t>Think of it like a spare tire in your car. When your main tire gets a flat, you don't abandon the car - you switch to the spare and continue driving. In systems, when our primary server fails, we automatically switch to a standby server so users can continue using the service.</a:t>
            </a:r>
          </a:p>
          <a:p>
            <a:r>
              <a:rPr lang="en-US" sz="1200" b="0" i="0" kern="1200" dirty="0">
                <a:solidFill>
                  <a:schemeClr val="tx1"/>
                </a:solidFill>
                <a:effectLst/>
                <a:latin typeface="+mn-lt"/>
                <a:ea typeface="+mn-ea"/>
                <a:cs typeface="+mn-cs"/>
              </a:rPr>
              <a:t>The process has four key steps: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First, </a:t>
            </a:r>
            <a:r>
              <a:rPr lang="en-US" sz="1200" b="1" i="0" kern="1200" dirty="0">
                <a:solidFill>
                  <a:schemeClr val="tx1"/>
                </a:solidFill>
                <a:effectLst/>
                <a:latin typeface="+mn-lt"/>
                <a:ea typeface="+mn-ea"/>
                <a:cs typeface="+mn-cs"/>
              </a:rPr>
              <a:t>continuous monitoring</a:t>
            </a:r>
            <a:r>
              <a:rPr lang="en-US" sz="1200" b="0" i="0" kern="1200" dirty="0">
                <a:solidFill>
                  <a:schemeClr val="tx1"/>
                </a:solidFill>
                <a:effectLst/>
                <a:latin typeface="+mn-lt"/>
                <a:ea typeface="+mn-ea"/>
                <a:cs typeface="+mn-cs"/>
              </a:rPr>
              <a:t> - we're constantly checking if the primary system is healthy.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Second, </a:t>
            </a:r>
            <a:r>
              <a:rPr lang="en-US" sz="1200" b="1" i="0" kern="1200" dirty="0">
                <a:solidFill>
                  <a:schemeClr val="tx1"/>
                </a:solidFill>
                <a:effectLst/>
                <a:latin typeface="+mn-lt"/>
                <a:ea typeface="+mn-ea"/>
                <a:cs typeface="+mn-cs"/>
              </a:rPr>
              <a:t>failure detection</a:t>
            </a:r>
            <a:r>
              <a:rPr lang="en-US" sz="1200" b="0" i="0" kern="1200" dirty="0">
                <a:solidFill>
                  <a:schemeClr val="tx1"/>
                </a:solidFill>
                <a:effectLst/>
                <a:latin typeface="+mn-lt"/>
                <a:ea typeface="+mn-ea"/>
                <a:cs typeface="+mn-cs"/>
              </a:rPr>
              <a:t> - we identify when something is wrong.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Third, </a:t>
            </a:r>
            <a:r>
              <a:rPr lang="en-US" sz="1200" b="1" i="0" kern="1200" dirty="0">
                <a:solidFill>
                  <a:schemeClr val="tx1"/>
                </a:solidFill>
                <a:effectLst/>
                <a:latin typeface="+mn-lt"/>
                <a:ea typeface="+mn-ea"/>
                <a:cs typeface="+mn-cs"/>
              </a:rPr>
              <a:t>automatic switchover</a:t>
            </a:r>
            <a:r>
              <a:rPr lang="en-US" sz="1200" b="0" i="0" kern="1200" dirty="0">
                <a:solidFill>
                  <a:schemeClr val="tx1"/>
                </a:solidFill>
                <a:effectLst/>
                <a:latin typeface="+mn-lt"/>
                <a:ea typeface="+mn-ea"/>
                <a:cs typeface="+mn-cs"/>
              </a:rPr>
              <a:t> - we redirect traffic to the standby system.</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Fourth, </a:t>
            </a:r>
            <a:r>
              <a:rPr lang="en-US" sz="1200" b="1" i="0" kern="1200" dirty="0">
                <a:solidFill>
                  <a:schemeClr val="tx1"/>
                </a:solidFill>
                <a:effectLst/>
                <a:latin typeface="+mn-lt"/>
                <a:ea typeface="+mn-ea"/>
                <a:cs typeface="+mn-cs"/>
              </a:rPr>
              <a:t>recovery</a:t>
            </a:r>
            <a:r>
              <a:rPr lang="en-US" sz="1200" b="0" i="0" kern="1200" dirty="0">
                <a:solidFill>
                  <a:schemeClr val="tx1"/>
                </a:solidFill>
                <a:effectLst/>
                <a:latin typeface="+mn-lt"/>
                <a:ea typeface="+mn-ea"/>
                <a:cs typeface="+mn-cs"/>
              </a:rPr>
              <a:t> - we can fix the primary and bring it back online.</a:t>
            </a:r>
          </a:p>
          <a:p>
            <a:r>
              <a:rPr lang="en-US" sz="1200" b="0" i="0" kern="1200" dirty="0">
                <a:solidFill>
                  <a:schemeClr val="tx1"/>
                </a:solidFill>
                <a:effectLst/>
                <a:latin typeface="+mn-lt"/>
                <a:ea typeface="+mn-ea"/>
                <a:cs typeface="+mn-cs"/>
              </a:rPr>
              <a:t>This automatic detection and switching is what distinguishes failover from manual recovery. Without failover, every failure requires human intervention, causing longer outages.</a:t>
            </a:r>
          </a:p>
          <a:p>
            <a:r>
              <a:rPr lang="en-US" sz="1200" b="0" i="0" kern="1200" dirty="0">
                <a:solidFill>
                  <a:schemeClr val="tx1"/>
                </a:solidFill>
                <a:effectLst/>
                <a:latin typeface="+mn-lt"/>
                <a:ea typeface="+mn-ea"/>
                <a:cs typeface="+mn-cs"/>
              </a:rPr>
              <a:t>Failover addresses one of our core availability principles: </a:t>
            </a:r>
            <a:r>
              <a:rPr lang="en-US" sz="1200" b="1" i="0" kern="1200" dirty="0">
                <a:solidFill>
                  <a:schemeClr val="tx1"/>
                </a:solidFill>
                <a:effectLst/>
                <a:latin typeface="+mn-lt"/>
                <a:ea typeface="+mn-ea"/>
                <a:cs typeface="+mn-cs"/>
              </a:rPr>
              <a:t>eliminating single points of failure</a:t>
            </a:r>
            <a:r>
              <a:rPr lang="en-US" sz="1200" b="0" i="0" kern="1200" dirty="0">
                <a:solidFill>
                  <a:schemeClr val="tx1"/>
                </a:solidFill>
                <a:effectLst/>
                <a:latin typeface="+mn-lt"/>
                <a:ea typeface="+mn-ea"/>
                <a:cs typeface="+mn-cs"/>
              </a:rPr>
              <a:t>. If one component can take down your entire service, you need failover."</a:t>
            </a:r>
          </a:p>
          <a:p>
            <a:endParaRPr lang="en-IN" dirty="0"/>
          </a:p>
        </p:txBody>
      </p:sp>
      <p:sp>
        <p:nvSpPr>
          <p:cNvPr id="4" name="Slide Number Placeholder 3">
            <a:extLst>
              <a:ext uri="{FF2B5EF4-FFF2-40B4-BE49-F238E27FC236}">
                <a16:creationId xmlns:a16="http://schemas.microsoft.com/office/drawing/2014/main" id="{9A9024AD-9C6E-F144-F50B-57DABC5A80E5}"/>
              </a:ext>
            </a:extLst>
          </p:cNvPr>
          <p:cNvSpPr>
            <a:spLocks noGrp="1"/>
          </p:cNvSpPr>
          <p:nvPr>
            <p:ph type="sldNum" sz="quarter" idx="5"/>
          </p:nvPr>
        </p:nvSpPr>
        <p:spPr/>
        <p:txBody>
          <a:bodyPr/>
          <a:lstStyle/>
          <a:p>
            <a:fld id="{72853293-4F00-4813-B74A-3945ABE0C2FC}" type="slidenum">
              <a:rPr lang="en-IN" smtClean="0"/>
              <a:t>12</a:t>
            </a:fld>
            <a:endParaRPr lang="en-IN"/>
          </a:p>
        </p:txBody>
      </p:sp>
    </p:spTree>
    <p:extLst>
      <p:ext uri="{BB962C8B-B14F-4D97-AF65-F5344CB8AC3E}">
        <p14:creationId xmlns:p14="http://schemas.microsoft.com/office/powerpoint/2010/main" val="349363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63359-4E2C-E25A-C953-56971E871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73A55-D738-54ED-8E82-FB1A4E042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C1B59-F889-2937-0570-57C68383AE3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Failover comes in different flavors depending on what's failing over and how.</a:t>
            </a:r>
          </a:p>
          <a:p>
            <a:r>
              <a:rPr lang="en-US" sz="1200" b="0" i="0" kern="1200" dirty="0">
                <a:solidFill>
                  <a:schemeClr val="tx1"/>
                </a:solidFill>
                <a:effectLst/>
                <a:latin typeface="+mn-lt"/>
                <a:ea typeface="+mn-ea"/>
                <a:cs typeface="+mn-cs"/>
              </a:rPr>
              <a:t>First, by </a:t>
            </a:r>
            <a:r>
              <a:rPr lang="en-US" sz="1200" b="1" i="0" kern="1200" dirty="0">
                <a:solidFill>
                  <a:schemeClr val="tx1"/>
                </a:solidFill>
                <a:effectLst/>
                <a:latin typeface="+mn-lt"/>
                <a:ea typeface="+mn-ea"/>
                <a:cs typeface="+mn-cs"/>
              </a:rPr>
              <a:t>scope</a:t>
            </a:r>
            <a:r>
              <a:rPr lang="en-US" sz="1200" b="0" i="0" kern="1200" dirty="0">
                <a:solidFill>
                  <a:schemeClr val="tx1"/>
                </a:solidFill>
                <a:effectLst/>
                <a:latin typeface="+mn-lt"/>
                <a:ea typeface="+mn-ea"/>
                <a:cs typeface="+mn-cs"/>
              </a:rPr>
              <a:t>: We have </a:t>
            </a:r>
            <a:r>
              <a:rPr lang="en-US" sz="1200" b="1" i="0" kern="1200" dirty="0">
                <a:solidFill>
                  <a:schemeClr val="tx1"/>
                </a:solidFill>
                <a:effectLst/>
                <a:latin typeface="+mn-lt"/>
                <a:ea typeface="+mn-ea"/>
                <a:cs typeface="+mn-cs"/>
              </a:rPr>
              <a:t>system-level</a:t>
            </a:r>
            <a:r>
              <a:rPr lang="en-US" sz="1200" b="0" i="0" kern="1200" dirty="0">
                <a:solidFill>
                  <a:schemeClr val="tx1"/>
                </a:solidFill>
                <a:effectLst/>
                <a:latin typeface="+mn-lt"/>
                <a:ea typeface="+mn-ea"/>
                <a:cs typeface="+mn-cs"/>
              </a:rPr>
              <a:t> failover where an entire server or virtual machine moves to backup hardware. This is common in virtualization platforms. Then </a:t>
            </a:r>
            <a:r>
              <a:rPr lang="en-US" sz="1200" b="1" i="0" kern="1200" dirty="0">
                <a:solidFill>
                  <a:schemeClr val="tx1"/>
                </a:solidFill>
                <a:effectLst/>
                <a:latin typeface="+mn-lt"/>
                <a:ea typeface="+mn-ea"/>
                <a:cs typeface="+mn-cs"/>
              </a:rPr>
              <a:t>service-level</a:t>
            </a:r>
            <a:r>
              <a:rPr lang="en-US" sz="1200" b="0" i="0" kern="1200" dirty="0">
                <a:solidFill>
                  <a:schemeClr val="tx1"/>
                </a:solidFill>
                <a:effectLst/>
                <a:latin typeface="+mn-lt"/>
                <a:ea typeface="+mn-ea"/>
                <a:cs typeface="+mn-cs"/>
              </a:rPr>
              <a:t> failover where just a specific service - like our database - moves to another node while other services stay put. And </a:t>
            </a:r>
            <a:r>
              <a:rPr lang="en-US" sz="1200" b="1" i="0" kern="1200" dirty="0">
                <a:solidFill>
                  <a:schemeClr val="tx1"/>
                </a:solidFill>
                <a:effectLst/>
                <a:latin typeface="+mn-lt"/>
                <a:ea typeface="+mn-ea"/>
                <a:cs typeface="+mn-cs"/>
              </a:rPr>
              <a:t>component-level</a:t>
            </a:r>
            <a:r>
              <a:rPr lang="en-US" sz="1200" b="0" i="0" kern="1200" dirty="0">
                <a:solidFill>
                  <a:schemeClr val="tx1"/>
                </a:solidFill>
                <a:effectLst/>
                <a:latin typeface="+mn-lt"/>
                <a:ea typeface="+mn-ea"/>
                <a:cs typeface="+mn-cs"/>
              </a:rPr>
              <a:t> failover for individual hardware pieces like network cards or storage arrays.</a:t>
            </a:r>
          </a:p>
          <a:p>
            <a:r>
              <a:rPr lang="en-US" sz="1200" b="0" i="0" kern="1200" dirty="0">
                <a:solidFill>
                  <a:schemeClr val="tx1"/>
                </a:solidFill>
                <a:effectLst/>
                <a:latin typeface="+mn-lt"/>
                <a:ea typeface="+mn-ea"/>
                <a:cs typeface="+mn-cs"/>
              </a:rPr>
              <a:t>Second, by </a:t>
            </a:r>
            <a:r>
              <a:rPr lang="en-US" sz="1200" b="1" i="0" kern="1200" dirty="0">
                <a:solidFill>
                  <a:schemeClr val="tx1"/>
                </a:solidFill>
                <a:effectLst/>
                <a:latin typeface="+mn-lt"/>
                <a:ea typeface="+mn-ea"/>
                <a:cs typeface="+mn-cs"/>
              </a:rPr>
              <a:t>timing</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Automatic</a:t>
            </a:r>
            <a:r>
              <a:rPr lang="en-US" sz="1200" b="0" i="0" kern="1200" dirty="0">
                <a:solidFill>
                  <a:schemeClr val="tx1"/>
                </a:solidFill>
                <a:effectLst/>
                <a:latin typeface="+mn-lt"/>
                <a:ea typeface="+mn-ea"/>
                <a:cs typeface="+mn-cs"/>
              </a:rPr>
              <a:t> failover happens immediately when failure is detected - no human needed. </a:t>
            </a:r>
            <a:r>
              <a:rPr lang="en-US" sz="1200" b="1" i="0" kern="1200" dirty="0">
                <a:solidFill>
                  <a:schemeClr val="tx1"/>
                </a:solidFill>
                <a:effectLst/>
                <a:latin typeface="+mn-lt"/>
                <a:ea typeface="+mn-ea"/>
                <a:cs typeface="+mn-cs"/>
              </a:rPr>
              <a:t>Manual</a:t>
            </a:r>
            <a:r>
              <a:rPr lang="en-US" sz="1200" b="0" i="0" kern="1200" dirty="0">
                <a:solidFill>
                  <a:schemeClr val="tx1"/>
                </a:solidFill>
                <a:effectLst/>
                <a:latin typeface="+mn-lt"/>
                <a:ea typeface="+mn-ea"/>
                <a:cs typeface="+mn-cs"/>
              </a:rPr>
              <a:t> failover requires an administrator to initiate the switch. </a:t>
            </a:r>
            <a:r>
              <a:rPr lang="en-US" sz="1200" b="1" i="0" kern="1200" dirty="0">
                <a:solidFill>
                  <a:schemeClr val="tx1"/>
                </a:solidFill>
                <a:effectLst/>
                <a:latin typeface="+mn-lt"/>
                <a:ea typeface="+mn-ea"/>
                <a:cs typeface="+mn-cs"/>
              </a:rPr>
              <a:t>Semi-automatic</a:t>
            </a:r>
            <a:r>
              <a:rPr lang="en-US" sz="1200" b="0" i="0" kern="1200" dirty="0">
                <a:solidFill>
                  <a:schemeClr val="tx1"/>
                </a:solidFill>
                <a:effectLst/>
                <a:latin typeface="+mn-lt"/>
                <a:ea typeface="+mn-ea"/>
                <a:cs typeface="+mn-cs"/>
              </a:rPr>
              <a:t> is a hybrid - the system detects the failure and suggests failover, but a human confirms.</a:t>
            </a:r>
          </a:p>
          <a:p>
            <a:r>
              <a:rPr lang="en-US" sz="1200" b="0" i="0" kern="1200" dirty="0">
                <a:solidFill>
                  <a:schemeClr val="tx1"/>
                </a:solidFill>
                <a:effectLst/>
                <a:latin typeface="+mn-lt"/>
                <a:ea typeface="+mn-ea"/>
                <a:cs typeface="+mn-cs"/>
              </a:rPr>
              <a:t>Third, by </a:t>
            </a:r>
            <a:r>
              <a:rPr lang="en-US" sz="1200" b="1" i="0" kern="1200" dirty="0">
                <a:solidFill>
                  <a:schemeClr val="tx1"/>
                </a:solidFill>
                <a:effectLst/>
                <a:latin typeface="+mn-lt"/>
                <a:ea typeface="+mn-ea"/>
                <a:cs typeface="+mn-cs"/>
              </a:rPr>
              <a:t>direction</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Unidirectional</a:t>
            </a:r>
            <a:r>
              <a:rPr lang="en-US" sz="1200" b="0" i="0" kern="1200" dirty="0">
                <a:solidFill>
                  <a:schemeClr val="tx1"/>
                </a:solidFill>
                <a:effectLst/>
                <a:latin typeface="+mn-lt"/>
                <a:ea typeface="+mn-ea"/>
                <a:cs typeface="+mn-cs"/>
              </a:rPr>
              <a:t> failover goes one way - from primary to backup. </a:t>
            </a:r>
            <a:r>
              <a:rPr lang="en-US" sz="1200" b="1" i="0" kern="1200" dirty="0">
                <a:solidFill>
                  <a:schemeClr val="tx1"/>
                </a:solidFill>
                <a:effectLst/>
                <a:latin typeface="+mn-lt"/>
                <a:ea typeface="+mn-ea"/>
                <a:cs typeface="+mn-cs"/>
              </a:rPr>
              <a:t>Bidirectional</a:t>
            </a:r>
            <a:r>
              <a:rPr lang="en-US" sz="1200" b="0" i="0" kern="1200" dirty="0">
                <a:solidFill>
                  <a:schemeClr val="tx1"/>
                </a:solidFill>
                <a:effectLst/>
                <a:latin typeface="+mn-lt"/>
                <a:ea typeface="+mn-ea"/>
                <a:cs typeface="+mn-cs"/>
              </a:rPr>
              <a:t> means we can fail back to the original once it's repaired.</a:t>
            </a:r>
          </a:p>
          <a:p>
            <a:r>
              <a:rPr lang="en-US" sz="1200" b="0" i="0" kern="1200" dirty="0">
                <a:solidFill>
                  <a:schemeClr val="tx1"/>
                </a:solidFill>
                <a:effectLst/>
                <a:latin typeface="+mn-lt"/>
                <a:ea typeface="+mn-ea"/>
                <a:cs typeface="+mn-cs"/>
              </a:rPr>
              <a:t>The choice depends on your requirements: How fast must recovery be? How critical is the service? What resources are available for monitoring and automation?</a:t>
            </a:r>
          </a:p>
          <a:p>
            <a:endParaRPr lang="en-IN" dirty="0"/>
          </a:p>
        </p:txBody>
      </p:sp>
      <p:sp>
        <p:nvSpPr>
          <p:cNvPr id="4" name="Slide Number Placeholder 3">
            <a:extLst>
              <a:ext uri="{FF2B5EF4-FFF2-40B4-BE49-F238E27FC236}">
                <a16:creationId xmlns:a16="http://schemas.microsoft.com/office/drawing/2014/main" id="{5E9792E3-5CD7-373D-320A-C83BBB47FE6F}"/>
              </a:ext>
            </a:extLst>
          </p:cNvPr>
          <p:cNvSpPr>
            <a:spLocks noGrp="1"/>
          </p:cNvSpPr>
          <p:nvPr>
            <p:ph type="sldNum" sz="quarter" idx="5"/>
          </p:nvPr>
        </p:nvSpPr>
        <p:spPr/>
        <p:txBody>
          <a:bodyPr/>
          <a:lstStyle/>
          <a:p>
            <a:fld id="{72853293-4F00-4813-B74A-3945ABE0C2FC}" type="slidenum">
              <a:rPr lang="en-IN" smtClean="0"/>
              <a:t>13</a:t>
            </a:fld>
            <a:endParaRPr lang="en-IN"/>
          </a:p>
        </p:txBody>
      </p:sp>
    </p:spTree>
    <p:extLst>
      <p:ext uri="{BB962C8B-B14F-4D97-AF65-F5344CB8AC3E}">
        <p14:creationId xmlns:p14="http://schemas.microsoft.com/office/powerpoint/2010/main" val="58952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that we understand failover basics, let's examine the two fundamental architectures: </a:t>
            </a:r>
            <a:r>
              <a:rPr lang="en-US" sz="1200" b="1" i="0" kern="1200" dirty="0">
                <a:solidFill>
                  <a:schemeClr val="tx1"/>
                </a:solidFill>
                <a:effectLst/>
                <a:latin typeface="+mn-lt"/>
                <a:ea typeface="+mn-ea"/>
                <a:cs typeface="+mn-cs"/>
              </a:rPr>
              <a:t>Active-Passive</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Active-Active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Think of them like a sports team. In </a:t>
            </a:r>
            <a:r>
              <a:rPr lang="en-US" sz="1200" b="1" i="0" kern="1200" dirty="0">
                <a:solidFill>
                  <a:schemeClr val="tx1"/>
                </a:solidFill>
                <a:effectLst/>
                <a:latin typeface="+mn-lt"/>
                <a:ea typeface="+mn-ea"/>
                <a:cs typeface="+mn-cs"/>
              </a:rPr>
              <a:t>Active-Passive</a:t>
            </a:r>
            <a:r>
              <a:rPr lang="en-US" sz="1200" b="0" i="0" kern="1200" dirty="0">
                <a:solidFill>
                  <a:schemeClr val="tx1"/>
                </a:solidFill>
                <a:effectLst/>
                <a:latin typeface="+mn-lt"/>
                <a:ea typeface="+mn-ea"/>
                <a:cs typeface="+mn-cs"/>
              </a:rPr>
              <a:t>, you have a starting player and a substitute on the bench. The starter plays the whole game unless injured, then the substitute jumps in. One is active, one is passive.</a:t>
            </a:r>
          </a:p>
          <a:p>
            <a:r>
              <a:rPr lang="en-US" sz="1200" b="0" i="0" kern="1200" dirty="0">
                <a:solidFill>
                  <a:schemeClr val="tx1"/>
                </a:solidFill>
                <a:effectLst/>
                <a:latin typeface="+mn-lt"/>
                <a:ea typeface="+mn-ea"/>
                <a:cs typeface="+mn-cs"/>
              </a:rPr>
              <a:t>In </a:t>
            </a:r>
            <a:r>
              <a:rPr lang="en-US" sz="1200" b="1" i="0" kern="1200" dirty="0">
                <a:solidFill>
                  <a:schemeClr val="tx1"/>
                </a:solidFill>
                <a:effectLst/>
                <a:latin typeface="+mn-lt"/>
                <a:ea typeface="+mn-ea"/>
                <a:cs typeface="+mn-cs"/>
              </a:rPr>
              <a:t>Active-Active</a:t>
            </a:r>
            <a:r>
              <a:rPr lang="en-US" sz="1200" b="0" i="0" kern="1200" dirty="0">
                <a:solidFill>
                  <a:schemeClr val="tx1"/>
                </a:solidFill>
                <a:effectLst/>
                <a:latin typeface="+mn-lt"/>
                <a:ea typeface="+mn-ea"/>
                <a:cs typeface="+mn-cs"/>
              </a:rPr>
              <a:t>, you have multiple players on the court simultaneously, all contributing. If one gets tired or injured, the others cover and take on more load. All are active.</a:t>
            </a:r>
          </a:p>
          <a:p>
            <a:r>
              <a:rPr lang="en-US" sz="1200" b="0" i="0" kern="1200" dirty="0">
                <a:solidFill>
                  <a:schemeClr val="tx1"/>
                </a:solidFill>
                <a:effectLst/>
                <a:latin typeface="+mn-lt"/>
                <a:ea typeface="+mn-ea"/>
                <a:cs typeface="+mn-cs"/>
              </a:rPr>
              <a:t>Both achieve failover but with different approaches and trade-offs. </a:t>
            </a:r>
            <a:r>
              <a:rPr lang="en-US" sz="1200" b="0" i="0" kern="1200">
                <a:solidFill>
                  <a:schemeClr val="tx1"/>
                </a:solidFill>
                <a:effectLst/>
                <a:latin typeface="+mn-lt"/>
                <a:ea typeface="+mn-ea"/>
                <a:cs typeface="+mn-cs"/>
              </a:rPr>
              <a:t>Let's explore each in detail.</a:t>
            </a:r>
          </a:p>
          <a:p>
            <a:endParaRPr lang="en-IN"/>
          </a:p>
        </p:txBody>
      </p:sp>
      <p:sp>
        <p:nvSpPr>
          <p:cNvPr id="4" name="Slide Number Placeholder 3"/>
          <p:cNvSpPr>
            <a:spLocks noGrp="1"/>
          </p:cNvSpPr>
          <p:nvPr>
            <p:ph type="sldNum" sz="quarter" idx="5"/>
          </p:nvPr>
        </p:nvSpPr>
        <p:spPr/>
        <p:txBody>
          <a:bodyPr/>
          <a:lstStyle/>
          <a:p>
            <a:fld id="{72853293-4F00-4813-B74A-3945ABE0C2FC}" type="slidenum">
              <a:rPr lang="en-IN" smtClean="0"/>
              <a:t>14</a:t>
            </a:fld>
            <a:endParaRPr lang="en-IN"/>
          </a:p>
        </p:txBody>
      </p:sp>
    </p:spTree>
    <p:extLst>
      <p:ext uri="{BB962C8B-B14F-4D97-AF65-F5344CB8AC3E}">
        <p14:creationId xmlns:p14="http://schemas.microsoft.com/office/powerpoint/2010/main" val="1361816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E5EDF-F1B4-2782-0DE4-7BC64A76B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AC38A-C110-C679-A9FB-763274ABD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1F962-E8BC-AD7C-B87B-8FEB0A4754A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How do you choose between these patterns? Let's compare them head-to-head.</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Active-Passive</a:t>
            </a:r>
            <a:r>
              <a:rPr lang="en-US" sz="1200" b="0" i="0" kern="1200" dirty="0">
                <a:solidFill>
                  <a:schemeClr val="tx1"/>
                </a:solidFill>
                <a:effectLst/>
                <a:latin typeface="+mn-lt"/>
                <a:ea typeface="+mn-ea"/>
                <a:cs typeface="+mn-cs"/>
              </a:rPr>
              <a:t> is simpler to implement, especially for stateful systems like databases. It's easier to maintain data consistency since only one node writes at a time. But you pay for resources that sit idle, and failover takes time for the standby to 'wake up’.</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Active-Active</a:t>
            </a:r>
            <a:r>
              <a:rPr lang="en-US" sz="1200" b="0" i="0" kern="1200" dirty="0">
                <a:solidFill>
                  <a:schemeClr val="tx1"/>
                </a:solidFill>
                <a:effectLst/>
                <a:latin typeface="+mn-lt"/>
                <a:ea typeface="+mn-ea"/>
                <a:cs typeface="+mn-cs"/>
              </a:rPr>
              <a:t> uses resources efficiently - every server contributes. Failover is instant since other servers are already running. It enables horizontal scaling - just add more servers. But it's more complex: you need to manage shared state, session persistence, and data synchronization.</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For stateful systems</a:t>
            </a:r>
            <a:r>
              <a:rPr lang="en-US" sz="1200" b="0" i="0" kern="1200" dirty="0">
                <a:solidFill>
                  <a:schemeClr val="tx1"/>
                </a:solidFill>
                <a:effectLst/>
                <a:latin typeface="+mn-lt"/>
                <a:ea typeface="+mn-ea"/>
                <a:cs typeface="+mn-cs"/>
              </a:rPr>
              <a:t> (databases, file servers), Active-Passive is often preferred because managing concurrent writes to the same data is complex.</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For stateless services</a:t>
            </a:r>
            <a:r>
              <a:rPr lang="en-US" sz="1200" b="0" i="0" kern="1200" dirty="0">
                <a:solidFill>
                  <a:schemeClr val="tx1"/>
                </a:solidFill>
                <a:effectLst/>
                <a:latin typeface="+mn-lt"/>
                <a:ea typeface="+mn-ea"/>
                <a:cs typeface="+mn-cs"/>
              </a:rPr>
              <a:t> (web servers, APIs, microservices), Active-Active is ideal because any server can handle any request.</a:t>
            </a:r>
          </a:p>
          <a:p>
            <a:r>
              <a:rPr lang="en-US" sz="1200" b="0" i="0" kern="1200" dirty="0">
                <a:solidFill>
                  <a:schemeClr val="tx1"/>
                </a:solidFill>
                <a:effectLst/>
                <a:latin typeface="+mn-lt"/>
                <a:ea typeface="+mn-ea"/>
                <a:cs typeface="+mn-cs"/>
              </a:rPr>
              <a:t>Many organizations use </a:t>
            </a:r>
            <a:r>
              <a:rPr lang="en-US" sz="1200" b="1" i="0" kern="1200" dirty="0">
                <a:solidFill>
                  <a:schemeClr val="tx1"/>
                </a:solidFill>
                <a:effectLst/>
                <a:latin typeface="+mn-lt"/>
                <a:ea typeface="+mn-ea"/>
                <a:cs typeface="+mn-cs"/>
              </a:rPr>
              <a:t>both</a:t>
            </a:r>
            <a:r>
              <a:rPr lang="en-US" sz="1200" b="0" i="0" kern="1200" dirty="0">
                <a:solidFill>
                  <a:schemeClr val="tx1"/>
                </a:solidFill>
                <a:effectLst/>
                <a:latin typeface="+mn-lt"/>
                <a:ea typeface="+mn-ea"/>
                <a:cs typeface="+mn-cs"/>
              </a:rPr>
              <a:t>: Active-Active for the stateless web tier, Active-Passive for the stateful database tier.</a:t>
            </a:r>
          </a:p>
          <a:p>
            <a:endParaRPr lang="en-IN" dirty="0"/>
          </a:p>
        </p:txBody>
      </p:sp>
      <p:sp>
        <p:nvSpPr>
          <p:cNvPr id="4" name="Slide Number Placeholder 3">
            <a:extLst>
              <a:ext uri="{FF2B5EF4-FFF2-40B4-BE49-F238E27FC236}">
                <a16:creationId xmlns:a16="http://schemas.microsoft.com/office/drawing/2014/main" id="{B4D72C28-06AF-9D59-0C6C-1AF5581EA1EA}"/>
              </a:ext>
            </a:extLst>
          </p:cNvPr>
          <p:cNvSpPr>
            <a:spLocks noGrp="1"/>
          </p:cNvSpPr>
          <p:nvPr>
            <p:ph type="sldNum" sz="quarter" idx="5"/>
          </p:nvPr>
        </p:nvSpPr>
        <p:spPr/>
        <p:txBody>
          <a:bodyPr/>
          <a:lstStyle/>
          <a:p>
            <a:fld id="{72853293-4F00-4813-B74A-3945ABE0C2FC}" type="slidenum">
              <a:rPr lang="en-IN" smtClean="0"/>
              <a:t>15</a:t>
            </a:fld>
            <a:endParaRPr lang="en-IN"/>
          </a:p>
        </p:txBody>
      </p:sp>
    </p:spTree>
    <p:extLst>
      <p:ext uri="{BB962C8B-B14F-4D97-AF65-F5344CB8AC3E}">
        <p14:creationId xmlns:p14="http://schemas.microsoft.com/office/powerpoint/2010/main" val="1016799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2E1F2-7C22-62F8-0BCA-E7E54B12D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21955-710E-F676-18B9-2738DE3DD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36DC99-A568-E163-D6D0-B86F0ED371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6F000FD-52E9-54A6-9249-402D6E789D52}"/>
              </a:ext>
            </a:extLst>
          </p:cNvPr>
          <p:cNvSpPr>
            <a:spLocks noGrp="1"/>
          </p:cNvSpPr>
          <p:nvPr>
            <p:ph type="sldNum" sz="quarter" idx="5"/>
          </p:nvPr>
        </p:nvSpPr>
        <p:spPr/>
        <p:txBody>
          <a:bodyPr/>
          <a:lstStyle/>
          <a:p>
            <a:fld id="{72853293-4F00-4813-B74A-3945ABE0C2FC}" type="slidenum">
              <a:rPr lang="en-IN" smtClean="0"/>
              <a:t>16</a:t>
            </a:fld>
            <a:endParaRPr lang="en-IN"/>
          </a:p>
        </p:txBody>
      </p:sp>
    </p:spTree>
    <p:extLst>
      <p:ext uri="{BB962C8B-B14F-4D97-AF65-F5344CB8AC3E}">
        <p14:creationId xmlns:p14="http://schemas.microsoft.com/office/powerpoint/2010/main" val="2007859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Replication strategies primarily differ in their synchronization method: </a:t>
            </a:r>
            <a:r>
              <a:rPr lang="en-US" sz="1200" b="1" i="0" kern="1200" dirty="0">
                <a:solidFill>
                  <a:schemeClr val="tx1"/>
                </a:solidFill>
                <a:effectLst/>
                <a:latin typeface="+mn-lt"/>
                <a:ea typeface="+mn-ea"/>
                <a:cs typeface="+mn-cs"/>
              </a:rPr>
              <a:t>Synchronous vs Asynchronous</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Synchronous Replication</a:t>
            </a:r>
            <a:r>
              <a:rPr lang="en-US" sz="1200" b="0" i="0" kern="1200" dirty="0">
                <a:solidFill>
                  <a:schemeClr val="tx1"/>
                </a:solidFill>
                <a:effectLst/>
                <a:latin typeface="+mn-lt"/>
                <a:ea typeface="+mn-ea"/>
                <a:cs typeface="+mn-cs"/>
              </a:rPr>
              <a:t> means: when you write data, the primary waits until all replicas confirm they've received it before acknowledging success to the client. This guarantees all copies are identical. Great for consistency! But it adds latency (must wait for slowest replica) and reduces availability (if any replica is down, writes fail).</a:t>
            </a:r>
          </a:p>
          <a:p>
            <a:r>
              <a:rPr lang="en-US" sz="1200" b="1" i="0" kern="1200" dirty="0">
                <a:solidFill>
                  <a:schemeClr val="tx1"/>
                </a:solidFill>
                <a:effectLst/>
                <a:latin typeface="+mn-lt"/>
                <a:ea typeface="+mn-ea"/>
                <a:cs typeface="+mn-cs"/>
              </a:rPr>
              <a:t>Asynchronous Replication</a:t>
            </a:r>
            <a:r>
              <a:rPr lang="en-US" sz="1200" b="0" i="0" kern="1200" dirty="0">
                <a:solidFill>
                  <a:schemeClr val="tx1"/>
                </a:solidFill>
                <a:effectLst/>
                <a:latin typeface="+mn-lt"/>
                <a:ea typeface="+mn-ea"/>
                <a:cs typeface="+mn-cs"/>
              </a:rPr>
              <a:t> means: the primary acknowledges writes immediately, then replicates to replicas in the background. This gives better performance and availability (writes succeed even if replicas are down). But there's risk: if the primary fails before replicating, that data is lost. And replicas might have stale data.</a:t>
            </a:r>
          </a:p>
          <a:p>
            <a:r>
              <a:rPr lang="en-US" sz="1200" b="0" i="0" kern="1200" dirty="0">
                <a:solidFill>
                  <a:schemeClr val="tx1"/>
                </a:solidFill>
                <a:effectLst/>
                <a:latin typeface="+mn-lt"/>
                <a:ea typeface="+mn-ea"/>
                <a:cs typeface="+mn-cs"/>
              </a:rPr>
              <a:t>This is a classic trade-off: </a:t>
            </a:r>
            <a:r>
              <a:rPr lang="en-US" sz="1200" b="1" i="0" kern="1200" dirty="0">
                <a:solidFill>
                  <a:schemeClr val="tx1"/>
                </a:solidFill>
                <a:effectLst/>
                <a:latin typeface="+mn-lt"/>
                <a:ea typeface="+mn-ea"/>
                <a:cs typeface="+mn-cs"/>
              </a:rPr>
              <a:t>strong consistency</a:t>
            </a:r>
            <a:r>
              <a:rPr lang="en-US" sz="1200" b="0" i="0" kern="1200" dirty="0">
                <a:solidFill>
                  <a:schemeClr val="tx1"/>
                </a:solidFill>
                <a:effectLst/>
                <a:latin typeface="+mn-lt"/>
                <a:ea typeface="+mn-ea"/>
                <a:cs typeface="+mn-cs"/>
              </a:rPr>
              <a:t> (synchronous) vs </a:t>
            </a:r>
            <a:r>
              <a:rPr lang="en-US" sz="1200" b="1" i="0" kern="1200" dirty="0">
                <a:solidFill>
                  <a:schemeClr val="tx1"/>
                </a:solidFill>
                <a:effectLst/>
                <a:latin typeface="+mn-lt"/>
                <a:ea typeface="+mn-ea"/>
                <a:cs typeface="+mn-cs"/>
              </a:rPr>
              <a:t>high performance and availability</a:t>
            </a:r>
            <a:r>
              <a:rPr lang="en-US" sz="1200" b="0" i="0" kern="1200" dirty="0">
                <a:solidFill>
                  <a:schemeClr val="tx1"/>
                </a:solidFill>
                <a:effectLst/>
                <a:latin typeface="+mn-lt"/>
                <a:ea typeface="+mn-ea"/>
                <a:cs typeface="+mn-cs"/>
              </a:rPr>
              <a:t> (asynchronous). Financial systems often choose synchronous for data integrity. Social media might choose asynchronous for better user experience.</a:t>
            </a: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17</a:t>
            </a:fld>
            <a:endParaRPr lang="en-IN"/>
          </a:p>
        </p:txBody>
      </p:sp>
    </p:spTree>
    <p:extLst>
      <p:ext uri="{BB962C8B-B14F-4D97-AF65-F5344CB8AC3E}">
        <p14:creationId xmlns:p14="http://schemas.microsoft.com/office/powerpoint/2010/main" val="3519820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8078F-90C1-0D07-2120-C229D0569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2C75C-ADA6-CCE9-2758-AE58DEDC1C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CD981F-8AC8-B4EE-A59A-A91612E3EB3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Different replication topologies suit different needs:</a:t>
            </a:r>
          </a:p>
          <a:p>
            <a:r>
              <a:rPr lang="en-US" sz="1200" b="1" i="0" kern="1200" dirty="0">
                <a:solidFill>
                  <a:schemeClr val="tx1"/>
                </a:solidFill>
                <a:effectLst/>
                <a:latin typeface="+mn-lt"/>
                <a:ea typeface="+mn-ea"/>
                <a:cs typeface="+mn-cs"/>
              </a:rPr>
              <a:t>Single Leader</a:t>
            </a:r>
            <a:r>
              <a:rPr lang="en-US" sz="1200" b="0" i="0" kern="1200" dirty="0">
                <a:solidFill>
                  <a:schemeClr val="tx1"/>
                </a:solidFill>
                <a:effectLst/>
                <a:latin typeface="+mn-lt"/>
                <a:ea typeface="+mn-ea"/>
                <a:cs typeface="+mn-cs"/>
              </a:rPr>
              <a:t> (also called Master-Slave): One node handles all writes, multiple nodes handle reads. This is simple and maintains write consistency. But the leader is a single point of failure for writes. MySQL, PostgreSQL often use this.</a:t>
            </a:r>
          </a:p>
          <a:p>
            <a:r>
              <a:rPr lang="en-US" sz="1200" b="1" i="0" kern="1200" dirty="0">
                <a:solidFill>
                  <a:schemeClr val="tx1"/>
                </a:solidFill>
                <a:effectLst/>
                <a:latin typeface="+mn-lt"/>
                <a:ea typeface="+mn-ea"/>
                <a:cs typeface="+mn-cs"/>
              </a:rPr>
              <a:t>Multi-Leader</a:t>
            </a:r>
            <a:r>
              <a:rPr lang="en-US" sz="1200" b="0" i="0" kern="1200" dirty="0">
                <a:solidFill>
                  <a:schemeClr val="tx1"/>
                </a:solidFill>
                <a:effectLst/>
                <a:latin typeface="+mn-lt"/>
                <a:ea typeface="+mn-ea"/>
                <a:cs typeface="+mn-cs"/>
              </a:rPr>
              <a:t>: Multiple nodes can accept writes, they synchronize with each other. This improves write availability - users in different regions can write to local leaders. But now we need </a:t>
            </a:r>
            <a:r>
              <a:rPr lang="en-US" sz="1200" b="1" i="0" kern="1200" dirty="0">
                <a:solidFill>
                  <a:schemeClr val="tx1"/>
                </a:solidFill>
                <a:effectLst/>
                <a:latin typeface="+mn-lt"/>
                <a:ea typeface="+mn-ea"/>
                <a:cs typeface="+mn-cs"/>
              </a:rPr>
              <a:t>conflict resolution</a:t>
            </a:r>
            <a:r>
              <a:rPr lang="en-US" sz="1200" b="0" i="0" kern="1200" dirty="0">
                <a:solidFill>
                  <a:schemeClr val="tx1"/>
                </a:solidFill>
                <a:effectLst/>
                <a:latin typeface="+mn-lt"/>
                <a:ea typeface="+mn-ea"/>
                <a:cs typeface="+mn-cs"/>
              </a:rPr>
              <a:t>: what if two leaders modify the same data? Systems must detect and resolve these conflicts.</a:t>
            </a:r>
          </a:p>
          <a:p>
            <a:r>
              <a:rPr lang="en-US" sz="1200" b="1" i="0" kern="1200" dirty="0">
                <a:solidFill>
                  <a:schemeClr val="tx1"/>
                </a:solidFill>
                <a:effectLst/>
                <a:latin typeface="+mn-lt"/>
                <a:ea typeface="+mn-ea"/>
                <a:cs typeface="+mn-cs"/>
              </a:rPr>
              <a:t>Leaderless</a:t>
            </a:r>
            <a:r>
              <a:rPr lang="en-US" sz="1200" b="0" i="0" kern="1200" dirty="0">
                <a:solidFill>
                  <a:schemeClr val="tx1"/>
                </a:solidFill>
                <a:effectLst/>
                <a:latin typeface="+mn-lt"/>
                <a:ea typeface="+mn-ea"/>
                <a:cs typeface="+mn-cs"/>
              </a:rPr>
              <a:t> (Peer-to-Peer): All nodes are equal. When writing, you write to N nodes. When reading, you read from N nodes and reconcile versions. Cassandra and DynamoDB use this. It offers maximum availability and partition tolerance but is eventually consistent.</a:t>
            </a:r>
          </a:p>
          <a:p>
            <a:r>
              <a:rPr lang="en-US" sz="1200" b="0" i="0" kern="1200" dirty="0">
                <a:solidFill>
                  <a:schemeClr val="tx1"/>
                </a:solidFill>
                <a:effectLst/>
                <a:latin typeface="+mn-lt"/>
                <a:ea typeface="+mn-ea"/>
                <a:cs typeface="+mn-cs"/>
              </a:rPr>
              <a:t>The choice depends on your requirements: How critical is write consistency? How important is write availability? How will you handle conflicts?</a:t>
            </a:r>
          </a:p>
          <a:p>
            <a:endParaRPr lang="en-IN" dirty="0"/>
          </a:p>
        </p:txBody>
      </p:sp>
      <p:sp>
        <p:nvSpPr>
          <p:cNvPr id="4" name="Slide Number Placeholder 3">
            <a:extLst>
              <a:ext uri="{FF2B5EF4-FFF2-40B4-BE49-F238E27FC236}">
                <a16:creationId xmlns:a16="http://schemas.microsoft.com/office/drawing/2014/main" id="{4A13AF2E-4444-135A-0A5F-3C415362673B}"/>
              </a:ext>
            </a:extLst>
          </p:cNvPr>
          <p:cNvSpPr>
            <a:spLocks noGrp="1"/>
          </p:cNvSpPr>
          <p:nvPr>
            <p:ph type="sldNum" sz="quarter" idx="5"/>
          </p:nvPr>
        </p:nvSpPr>
        <p:spPr/>
        <p:txBody>
          <a:bodyPr/>
          <a:lstStyle/>
          <a:p>
            <a:fld id="{72853293-4F00-4813-B74A-3945ABE0C2FC}" type="slidenum">
              <a:rPr lang="en-IN" smtClean="0"/>
              <a:t>18</a:t>
            </a:fld>
            <a:endParaRPr lang="en-IN"/>
          </a:p>
        </p:txBody>
      </p:sp>
    </p:spTree>
    <p:extLst>
      <p:ext uri="{BB962C8B-B14F-4D97-AF65-F5344CB8AC3E}">
        <p14:creationId xmlns:p14="http://schemas.microsoft.com/office/powerpoint/2010/main" val="15816666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2E9C8-7AEF-1811-D171-79B63FD12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058E9-F486-6344-7586-56F2CB720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42C6F8-66AA-C0C6-FC42-494C861B5C2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a critical pattern for preventing system-wide failures: the </a:t>
            </a:r>
            <a:r>
              <a:rPr lang="en-US" sz="1200" b="1" i="0" kern="1200" dirty="0">
                <a:solidFill>
                  <a:schemeClr val="tx1"/>
                </a:solidFill>
                <a:effectLst/>
                <a:latin typeface="+mn-lt"/>
                <a:ea typeface="+mn-ea"/>
                <a:cs typeface="+mn-cs"/>
              </a:rPr>
              <a:t>Circuit Breaker</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pattern takes its name from electrical systems. Just as an electrical circuit breaker trips when there's too much current, preventing fires, our software circuit breaker trips when a service dependency is failing too often, preventing </a:t>
            </a:r>
            <a:r>
              <a:rPr lang="en-US" sz="1200" b="1" i="0" kern="1200" dirty="0">
                <a:solidFill>
                  <a:schemeClr val="tx1"/>
                </a:solidFill>
                <a:effectLst/>
                <a:latin typeface="+mn-lt"/>
                <a:ea typeface="+mn-ea"/>
                <a:cs typeface="+mn-cs"/>
              </a:rPr>
              <a:t>cascade failures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circuit has three states:</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CLOSED</a:t>
            </a:r>
            <a:r>
              <a:rPr lang="en-US" sz="1200" b="0" i="0" kern="1200" dirty="0">
                <a:solidFill>
                  <a:schemeClr val="tx1"/>
                </a:solidFill>
                <a:effectLst/>
                <a:latin typeface="+mn-lt"/>
                <a:ea typeface="+mn-ea"/>
                <a:cs typeface="+mn-cs"/>
              </a:rPr>
              <a:t> - normal operation, requests flow to the service.</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OPEN</a:t>
            </a:r>
            <a:r>
              <a:rPr lang="en-US" sz="1200" b="0" i="0" kern="1200" dirty="0">
                <a:solidFill>
                  <a:schemeClr val="tx1"/>
                </a:solidFill>
                <a:effectLst/>
                <a:latin typeface="+mn-lt"/>
                <a:ea typeface="+mn-ea"/>
                <a:cs typeface="+mn-cs"/>
              </a:rPr>
              <a:t> - the circuit is broken. Instead of calling the failing service and timing out, we immediately return an error or fallback response. This is </a:t>
            </a:r>
            <a:r>
              <a:rPr lang="en-US" sz="1200" b="1" i="0" kern="1200" dirty="0">
                <a:solidFill>
                  <a:schemeClr val="tx1"/>
                </a:solidFill>
                <a:effectLst/>
                <a:latin typeface="+mn-lt"/>
                <a:ea typeface="+mn-ea"/>
                <a:cs typeface="+mn-cs"/>
              </a:rPr>
              <a:t>failing fast</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HALF-OPEN</a:t>
            </a:r>
            <a:r>
              <a:rPr lang="en-US" sz="1200" b="0" i="0" kern="1200" dirty="0">
                <a:solidFill>
                  <a:schemeClr val="tx1"/>
                </a:solidFill>
                <a:effectLst/>
                <a:latin typeface="+mn-lt"/>
                <a:ea typeface="+mn-ea"/>
                <a:cs typeface="+mn-cs"/>
              </a:rPr>
              <a:t> - after a timeout period, we allow limited test requests through to see if the service has recovered.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Here's why this matters: Without a circuit breaker, if Service A calls Service B which is failing, Service A waits... and waits... and eventually times out. Meanwhile, Service A's resources are tied up, it can't serve other requests, and it might fail too. This cascade can take down your entire application.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circuit breaker </a:t>
            </a:r>
            <a:r>
              <a:rPr lang="en-US" sz="1200" b="1" i="0" kern="1200" dirty="0">
                <a:solidFill>
                  <a:schemeClr val="tx1"/>
                </a:solidFill>
                <a:effectLst/>
                <a:latin typeface="+mn-lt"/>
                <a:ea typeface="+mn-ea"/>
                <a:cs typeface="+mn-cs"/>
              </a:rPr>
              <a:t>breaks this chain</a:t>
            </a:r>
            <a:r>
              <a:rPr lang="en-US" sz="1200" b="0" i="0" kern="1200" dirty="0">
                <a:solidFill>
                  <a:schemeClr val="tx1"/>
                </a:solidFill>
                <a:effectLst/>
                <a:latin typeface="+mn-lt"/>
                <a:ea typeface="+mn-ea"/>
                <a:cs typeface="+mn-cs"/>
              </a:rPr>
              <a:t>. It says: 'Service B is failing, stop calling it, fail fast instead.' This gives Service B time to recover without being bombarded by retry attempts.</a:t>
            </a:r>
          </a:p>
          <a:p>
            <a:endParaRPr lang="en-IN" dirty="0"/>
          </a:p>
        </p:txBody>
      </p:sp>
      <p:sp>
        <p:nvSpPr>
          <p:cNvPr id="4" name="Slide Number Placeholder 3">
            <a:extLst>
              <a:ext uri="{FF2B5EF4-FFF2-40B4-BE49-F238E27FC236}">
                <a16:creationId xmlns:a16="http://schemas.microsoft.com/office/drawing/2014/main" id="{9591A66B-556D-2A52-B316-11A36DC1606E}"/>
              </a:ext>
            </a:extLst>
          </p:cNvPr>
          <p:cNvSpPr>
            <a:spLocks noGrp="1"/>
          </p:cNvSpPr>
          <p:nvPr>
            <p:ph type="sldNum" sz="quarter" idx="5"/>
          </p:nvPr>
        </p:nvSpPr>
        <p:spPr/>
        <p:txBody>
          <a:bodyPr/>
          <a:lstStyle/>
          <a:p>
            <a:fld id="{72853293-4F00-4813-B74A-3945ABE0C2FC}" type="slidenum">
              <a:rPr lang="en-IN" smtClean="0"/>
              <a:t>19</a:t>
            </a:fld>
            <a:endParaRPr lang="en-IN"/>
          </a:p>
        </p:txBody>
      </p:sp>
    </p:spTree>
    <p:extLst>
      <p:ext uri="{BB962C8B-B14F-4D97-AF65-F5344CB8AC3E}">
        <p14:creationId xmlns:p14="http://schemas.microsoft.com/office/powerpoint/2010/main" val="32095512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DE6F3-14DB-82E6-3EC0-D78CB48A9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DAA2B-7C73-2CA6-AC3E-2FEA1D939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F82CE-927A-4B86-E8AF-A7FFE091E66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Complementing the circuit breaker is the </a:t>
            </a:r>
            <a:r>
              <a:rPr lang="en-US" sz="1200" b="1" i="0" kern="1200" dirty="0">
                <a:solidFill>
                  <a:schemeClr val="tx1"/>
                </a:solidFill>
                <a:effectLst/>
                <a:latin typeface="+mn-lt"/>
                <a:ea typeface="+mn-ea"/>
                <a:cs typeface="+mn-cs"/>
              </a:rPr>
              <a:t>Retry with Backoff</a:t>
            </a:r>
            <a:r>
              <a:rPr lang="en-US" sz="1200" b="0" i="0" kern="1200" dirty="0">
                <a:solidFill>
                  <a:schemeClr val="tx1"/>
                </a:solidFill>
                <a:effectLst/>
                <a:latin typeface="+mn-lt"/>
                <a:ea typeface="+mn-ea"/>
                <a:cs typeface="+mn-cs"/>
              </a:rPr>
              <a:t> pattern.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Transient failures happen: a network hiccup, a brief overload, a garbage collection pause. Retrying can often succeed. But </a:t>
            </a:r>
            <a:r>
              <a:rPr lang="en-US" sz="1200" b="1" i="0" kern="1200" dirty="0">
                <a:solidFill>
                  <a:schemeClr val="tx1"/>
                </a:solidFill>
                <a:effectLst/>
                <a:latin typeface="+mn-lt"/>
                <a:ea typeface="+mn-ea"/>
                <a:cs typeface="+mn-cs"/>
              </a:rPr>
              <a:t>naive retries</a:t>
            </a:r>
            <a:r>
              <a:rPr lang="en-US" sz="1200" b="0" i="0" kern="1200" dirty="0">
                <a:solidFill>
                  <a:schemeClr val="tx1"/>
                </a:solidFill>
                <a:effectLst/>
                <a:latin typeface="+mn-lt"/>
                <a:ea typeface="+mn-ea"/>
                <a:cs typeface="+mn-cs"/>
              </a:rPr>
              <a:t> make things worse.</a:t>
            </a:r>
          </a:p>
          <a:p>
            <a:r>
              <a:rPr lang="en-US" sz="1200" b="0" i="0" kern="1200" dirty="0">
                <a:solidFill>
                  <a:schemeClr val="tx1"/>
                </a:solidFill>
                <a:effectLst/>
                <a:latin typeface="+mn-lt"/>
                <a:ea typeface="+mn-ea"/>
                <a:cs typeface="+mn-cs"/>
              </a:rPr>
              <a:t>Imagine 1000 clients all experiencing a timeout. If they all retry immediately, they create a </a:t>
            </a:r>
            <a:r>
              <a:rPr lang="en-US" sz="1200" b="1" i="0" kern="1200" dirty="0">
                <a:solidFill>
                  <a:schemeClr val="tx1"/>
                </a:solidFill>
                <a:effectLst/>
                <a:latin typeface="+mn-lt"/>
                <a:ea typeface="+mn-ea"/>
                <a:cs typeface="+mn-cs"/>
              </a:rPr>
              <a:t>thundering herd</a:t>
            </a:r>
            <a:r>
              <a:rPr lang="en-US" sz="1200" b="0" i="0" kern="1200" dirty="0">
                <a:solidFill>
                  <a:schemeClr val="tx1"/>
                </a:solidFill>
                <a:effectLst/>
                <a:latin typeface="+mn-lt"/>
                <a:ea typeface="+mn-ea"/>
                <a:cs typeface="+mn-cs"/>
              </a:rPr>
              <a:t> that overwhelms the already struggling service.</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Smart retrying</a:t>
            </a:r>
            <a:r>
              <a:rPr lang="en-US" sz="1200" b="0" i="0" kern="1200" dirty="0">
                <a:solidFill>
                  <a:schemeClr val="tx1"/>
                </a:solidFill>
                <a:effectLst/>
                <a:latin typeface="+mn-lt"/>
                <a:ea typeface="+mn-ea"/>
                <a:cs typeface="+mn-cs"/>
              </a:rPr>
              <a:t> adds delays between attempts. The most common strategy is </a:t>
            </a:r>
            <a:r>
              <a:rPr lang="en-US" sz="1200" b="1" i="0" kern="1200" dirty="0">
                <a:solidFill>
                  <a:schemeClr val="tx1"/>
                </a:solidFill>
                <a:effectLst/>
                <a:latin typeface="+mn-lt"/>
                <a:ea typeface="+mn-ea"/>
                <a:cs typeface="+mn-cs"/>
              </a:rPr>
              <a:t>Exponential Backoff</a:t>
            </a:r>
            <a:r>
              <a:rPr lang="en-US" sz="1200" b="0" i="0" kern="1200" dirty="0">
                <a:solidFill>
                  <a:schemeClr val="tx1"/>
                </a:solidFill>
                <a:effectLst/>
                <a:latin typeface="+mn-lt"/>
                <a:ea typeface="+mn-ea"/>
                <a:cs typeface="+mn-cs"/>
              </a:rPr>
              <a:t>: wait 1 second, then 2, then 4, then 8. Each failed attempt waits twice as long.</a:t>
            </a:r>
          </a:p>
          <a:p>
            <a:r>
              <a:rPr lang="en-US" sz="1200" b="1" i="0" kern="1200" dirty="0">
                <a:solidFill>
                  <a:schemeClr val="tx1"/>
                </a:solidFill>
                <a:effectLst/>
                <a:latin typeface="+mn-lt"/>
                <a:ea typeface="+mn-ea"/>
                <a:cs typeface="+mn-cs"/>
              </a:rPr>
              <a:t>Jitter</a:t>
            </a:r>
            <a:r>
              <a:rPr lang="en-US" sz="1200" b="0" i="0" kern="1200" dirty="0">
                <a:solidFill>
                  <a:schemeClr val="tx1"/>
                </a:solidFill>
                <a:effectLst/>
                <a:latin typeface="+mn-lt"/>
                <a:ea typeface="+mn-ea"/>
                <a:cs typeface="+mn-cs"/>
              </a:rPr>
              <a:t> adds randomness: wait 1.3 seconds, not exactly 1.0. This prevents synchronized retries from many clients.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Critical rule</a:t>
            </a:r>
            <a:r>
              <a:rPr lang="en-US" sz="1200" b="0" i="0" kern="1200" dirty="0">
                <a:solidFill>
                  <a:schemeClr val="tx1"/>
                </a:solidFill>
                <a:effectLst/>
                <a:latin typeface="+mn-lt"/>
                <a:ea typeface="+mn-ea"/>
                <a:cs typeface="+mn-cs"/>
              </a:rPr>
              <a:t>: Only retry </a:t>
            </a:r>
            <a:r>
              <a:rPr lang="en-US" sz="1200" b="1" i="0" kern="1200" dirty="0">
                <a:solidFill>
                  <a:schemeClr val="tx1"/>
                </a:solidFill>
                <a:effectLst/>
                <a:latin typeface="+mn-lt"/>
                <a:ea typeface="+mn-ea"/>
                <a:cs typeface="+mn-cs"/>
              </a:rPr>
              <a:t>transient failures</a:t>
            </a:r>
            <a:r>
              <a:rPr lang="en-US" sz="1200" b="0" i="0" kern="1200" dirty="0">
                <a:solidFill>
                  <a:schemeClr val="tx1"/>
                </a:solidFill>
                <a:effectLst/>
                <a:latin typeface="+mn-lt"/>
                <a:ea typeface="+mn-ea"/>
                <a:cs typeface="+mn-cs"/>
              </a:rPr>
              <a:t> - timeouts, connection errors, 503 Service Unavailable. Don't retry </a:t>
            </a:r>
            <a:r>
              <a:rPr lang="en-US" sz="1200" b="1" i="0" kern="1200" dirty="0">
                <a:solidFill>
                  <a:schemeClr val="tx1"/>
                </a:solidFill>
                <a:effectLst/>
                <a:latin typeface="+mn-lt"/>
                <a:ea typeface="+mn-ea"/>
                <a:cs typeface="+mn-cs"/>
              </a:rPr>
              <a:t>permanent failures</a:t>
            </a:r>
            <a:r>
              <a:rPr lang="en-US" sz="1200" b="0" i="0" kern="1200" dirty="0">
                <a:solidFill>
                  <a:schemeClr val="tx1"/>
                </a:solidFill>
                <a:effectLst/>
                <a:latin typeface="+mn-lt"/>
                <a:ea typeface="+mn-ea"/>
                <a:cs typeface="+mn-cs"/>
              </a:rPr>
              <a:t> like 404 Not Found or validation errors - they'll never succeed on retry.</a:t>
            </a:r>
          </a:p>
          <a:p>
            <a:endParaRPr lang="en-IN" dirty="0"/>
          </a:p>
          <a:p>
            <a:r>
              <a:rPr lang="en-US" sz="1200" b="0" i="0" kern="1200" dirty="0">
                <a:solidFill>
                  <a:schemeClr val="tx1"/>
                </a:solidFill>
                <a:effectLst/>
                <a:latin typeface="+mn-lt"/>
                <a:ea typeface="+mn-ea"/>
                <a:cs typeface="+mn-cs"/>
              </a:rPr>
              <a:t>And ensure operations are </a:t>
            </a:r>
            <a:r>
              <a:rPr lang="en-US" sz="1200" b="1" i="0" kern="1200" dirty="0">
                <a:solidFill>
                  <a:schemeClr val="tx1"/>
                </a:solidFill>
                <a:effectLst/>
                <a:latin typeface="+mn-lt"/>
                <a:ea typeface="+mn-ea"/>
                <a:cs typeface="+mn-cs"/>
              </a:rPr>
              <a:t>idempotent</a:t>
            </a:r>
            <a:r>
              <a:rPr lang="en-US" sz="1200" b="0" i="0" kern="1200" dirty="0">
                <a:solidFill>
                  <a:schemeClr val="tx1"/>
                </a:solidFill>
                <a:effectLst/>
                <a:latin typeface="+mn-lt"/>
                <a:ea typeface="+mn-ea"/>
                <a:cs typeface="+mn-cs"/>
              </a:rPr>
              <a:t> - safe to retry. Adding $10 to an account twice shouldn't add $20.</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DO retry transient failures</a:t>
            </a:r>
            <a:r>
              <a:rPr lang="en-US" sz="1200" b="0" i="0" kern="1200" dirty="0">
                <a:solidFill>
                  <a:schemeClr val="tx1"/>
                </a:solidFill>
                <a:effectLst/>
                <a:latin typeface="+mn-lt"/>
                <a:ea typeface="+mn-ea"/>
                <a:cs typeface="+mn-cs"/>
              </a:rPr>
              <a:t>: network timeouts, connection errors, HTTP 503 Service Unavailable, HTTP 429 Too Many Requests. These are often temporary.</a:t>
            </a:r>
          </a:p>
          <a:p>
            <a:r>
              <a:rPr lang="en-US" sz="1200" b="1" i="0" kern="1200" dirty="0">
                <a:solidFill>
                  <a:schemeClr val="tx1"/>
                </a:solidFill>
                <a:effectLst/>
                <a:latin typeface="+mn-lt"/>
                <a:ea typeface="+mn-ea"/>
                <a:cs typeface="+mn-cs"/>
              </a:rPr>
              <a:t>DON'T retry permanent failures</a:t>
            </a:r>
            <a:r>
              <a:rPr lang="en-US" sz="1200" b="0" i="0" kern="1200" dirty="0">
                <a:solidFill>
                  <a:schemeClr val="tx1"/>
                </a:solidFill>
                <a:effectLst/>
                <a:latin typeface="+mn-lt"/>
                <a:ea typeface="+mn-ea"/>
                <a:cs typeface="+mn-cs"/>
              </a:rPr>
              <a:t>: HTTP 404 Not Found, 400 Bad Request, 403 Forbidden. If the request is invalid or unauthorized, retrying won't help.</a:t>
            </a:r>
          </a:p>
          <a:p>
            <a:r>
              <a:rPr lang="en-US" sz="1200" b="1" i="0" kern="1200" dirty="0">
                <a:solidFill>
                  <a:schemeClr val="tx1"/>
                </a:solidFill>
                <a:effectLst/>
                <a:latin typeface="+mn-lt"/>
                <a:ea typeface="+mn-ea"/>
                <a:cs typeface="+mn-cs"/>
              </a:rPr>
              <a:t>Critical rule #1</a:t>
            </a:r>
            <a:r>
              <a:rPr lang="en-US" sz="1200" b="0" i="0" kern="1200" dirty="0">
                <a:solidFill>
                  <a:schemeClr val="tx1"/>
                </a:solidFill>
                <a:effectLst/>
                <a:latin typeface="+mn-lt"/>
                <a:ea typeface="+mn-ea"/>
                <a:cs typeface="+mn-cs"/>
              </a:rPr>
              <a:t>: Only retry </a:t>
            </a:r>
            <a:r>
              <a:rPr lang="en-US" sz="1200" b="1" i="0" kern="1200" dirty="0">
                <a:solidFill>
                  <a:schemeClr val="tx1"/>
                </a:solidFill>
                <a:effectLst/>
                <a:latin typeface="+mn-lt"/>
                <a:ea typeface="+mn-ea"/>
                <a:cs typeface="+mn-cs"/>
              </a:rPr>
              <a:t>idempotent operations</a:t>
            </a:r>
            <a:r>
              <a:rPr lang="en-US" sz="1200" b="0" i="0" kern="1200" dirty="0">
                <a:solidFill>
                  <a:schemeClr val="tx1"/>
                </a:solidFill>
                <a:effectLst/>
                <a:latin typeface="+mn-lt"/>
                <a:ea typeface="+mn-ea"/>
                <a:cs typeface="+mn-cs"/>
              </a:rPr>
              <a:t>. GET requests are safe to retry. PUT and DELETE can be idempotent if they always produce the same result. But POST requests that create resources? Retry those and you might create duplicates.</a:t>
            </a:r>
          </a:p>
          <a:p>
            <a:r>
              <a:rPr lang="en-US" sz="1200" b="1" i="0" kern="1200" dirty="0">
                <a:solidFill>
                  <a:schemeClr val="tx1"/>
                </a:solidFill>
                <a:effectLst/>
                <a:latin typeface="+mn-lt"/>
                <a:ea typeface="+mn-ea"/>
                <a:cs typeface="+mn-cs"/>
              </a:rPr>
              <a:t>Critical rule #2</a:t>
            </a:r>
            <a:r>
              <a:rPr lang="en-US" sz="1200" b="0" i="0" kern="1200" dirty="0">
                <a:solidFill>
                  <a:schemeClr val="tx1"/>
                </a:solidFill>
                <a:effectLst/>
                <a:latin typeface="+mn-lt"/>
                <a:ea typeface="+mn-ea"/>
                <a:cs typeface="+mn-cs"/>
              </a:rPr>
              <a:t>: Set maximum retry limits. Usually 3-5 attempts is sufficient. Consider your overall timeout: if your service must respond in 2 seconds, don't set up retries that could take 10 seconds.</a:t>
            </a:r>
          </a:p>
          <a:p>
            <a:r>
              <a:rPr lang="en-US" sz="1200" b="1" i="0" kern="1200" dirty="0">
                <a:solidFill>
                  <a:schemeClr val="tx1"/>
                </a:solidFill>
                <a:effectLst/>
                <a:latin typeface="+mn-lt"/>
                <a:ea typeface="+mn-ea"/>
                <a:cs typeface="+mn-cs"/>
              </a:rPr>
              <a:t>Critical rule #3</a:t>
            </a:r>
            <a:r>
              <a:rPr lang="en-US" sz="1200" b="0" i="0" kern="1200" dirty="0">
                <a:solidFill>
                  <a:schemeClr val="tx1"/>
                </a:solidFill>
                <a:effectLst/>
                <a:latin typeface="+mn-lt"/>
                <a:ea typeface="+mn-ea"/>
                <a:cs typeface="+mn-cs"/>
              </a:rPr>
              <a:t>: Use idempotency keys for non-idempotent operations. Include a unique ID with requests so the server can detect and ignore duplicates.</a:t>
            </a:r>
          </a:p>
          <a:p>
            <a:endParaRPr lang="en-IN" dirty="0"/>
          </a:p>
        </p:txBody>
      </p:sp>
      <p:sp>
        <p:nvSpPr>
          <p:cNvPr id="4" name="Slide Number Placeholder 3">
            <a:extLst>
              <a:ext uri="{FF2B5EF4-FFF2-40B4-BE49-F238E27FC236}">
                <a16:creationId xmlns:a16="http://schemas.microsoft.com/office/drawing/2014/main" id="{EDAA7398-230B-2FB2-B883-DF121759FB19}"/>
              </a:ext>
            </a:extLst>
          </p:cNvPr>
          <p:cNvSpPr>
            <a:spLocks noGrp="1"/>
          </p:cNvSpPr>
          <p:nvPr>
            <p:ph type="sldNum" sz="quarter" idx="5"/>
          </p:nvPr>
        </p:nvSpPr>
        <p:spPr/>
        <p:txBody>
          <a:bodyPr/>
          <a:lstStyle/>
          <a:p>
            <a:fld id="{72853293-4F00-4813-B74A-3945ABE0C2FC}" type="slidenum">
              <a:rPr lang="en-IN" smtClean="0"/>
              <a:t>20</a:t>
            </a:fld>
            <a:endParaRPr lang="en-IN"/>
          </a:p>
        </p:txBody>
      </p:sp>
    </p:spTree>
    <p:extLst>
      <p:ext uri="{BB962C8B-B14F-4D97-AF65-F5344CB8AC3E}">
        <p14:creationId xmlns:p14="http://schemas.microsoft.com/office/powerpoint/2010/main" val="2646978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D6DB3-FCAE-097E-248A-D686DD923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1AEB4-7F1B-A4F9-60D1-85BEBFF337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541F-DFDC-2BC5-16E9-8B63BD38C29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we come to a crucial distinction: </a:t>
            </a:r>
            <a:r>
              <a:rPr lang="en-US" sz="1200" b="1" i="0" kern="1200" dirty="0">
                <a:solidFill>
                  <a:schemeClr val="tx1"/>
                </a:solidFill>
                <a:effectLst/>
                <a:latin typeface="+mn-lt"/>
                <a:ea typeface="+mn-ea"/>
                <a:cs typeface="+mn-cs"/>
              </a:rPr>
              <a:t>Reliability</a:t>
            </a:r>
            <a:r>
              <a:rPr lang="en-US" sz="1200" b="0" i="0" kern="1200" dirty="0">
                <a:solidFill>
                  <a:schemeClr val="tx1"/>
                </a:solidFill>
                <a:effectLst/>
                <a:latin typeface="+mn-lt"/>
                <a:ea typeface="+mn-ea"/>
                <a:cs typeface="+mn-cs"/>
              </a:rPr>
              <a:t> versus Availability.</a:t>
            </a:r>
          </a:p>
          <a:p>
            <a:r>
              <a:rPr lang="en-US" sz="1200" b="0" i="0" kern="1200" dirty="0">
                <a:solidFill>
                  <a:schemeClr val="tx1"/>
                </a:solidFill>
                <a:effectLst/>
                <a:latin typeface="+mn-lt"/>
                <a:ea typeface="+mn-ea"/>
                <a:cs typeface="+mn-cs"/>
              </a:rPr>
              <a:t>While availability asks 'Is the system reachable?', reliability asks 'Does it work </a:t>
            </a:r>
            <a:r>
              <a:rPr lang="en-US" sz="1200" b="1" i="0" kern="1200" dirty="0">
                <a:solidFill>
                  <a:schemeClr val="tx1"/>
                </a:solidFill>
                <a:effectLst/>
                <a:latin typeface="+mn-lt"/>
                <a:ea typeface="+mn-ea"/>
                <a:cs typeface="+mn-cs"/>
              </a:rPr>
              <a:t>correctly</a:t>
            </a:r>
            <a:r>
              <a:rPr lang="en-US" sz="1200" b="0" i="0" kern="1200" dirty="0">
                <a:solidFill>
                  <a:schemeClr val="tx1"/>
                </a:solidFill>
                <a:effectLst/>
                <a:latin typeface="+mn-lt"/>
                <a:ea typeface="+mn-ea"/>
                <a:cs typeface="+mn-cs"/>
              </a:rPr>
              <a:t> when you reach it?'</a:t>
            </a:r>
          </a:p>
          <a:p>
            <a:r>
              <a:rPr lang="en-US" sz="1200" b="0" i="0" kern="1200" dirty="0">
                <a:solidFill>
                  <a:schemeClr val="tx1"/>
                </a:solidFill>
                <a:effectLst/>
                <a:latin typeface="+mn-lt"/>
                <a:ea typeface="+mn-ea"/>
                <a:cs typeface="+mn-cs"/>
              </a:rPr>
              <a:t>Think of a restaurant that's always open (high availability) but frequently gets orders wrong (low reliability). Or a restaurant that's sometimes closed (lower availability) but always perfect when open (high reliability).</a:t>
            </a:r>
          </a:p>
          <a:p>
            <a:r>
              <a:rPr lang="en-US" sz="1200" b="0" i="0" kern="1200" dirty="0">
                <a:solidFill>
                  <a:schemeClr val="tx1"/>
                </a:solidFill>
                <a:effectLst/>
                <a:latin typeface="+mn-lt"/>
                <a:ea typeface="+mn-ea"/>
                <a:cs typeface="+mn-cs"/>
              </a:rPr>
              <a:t>Reliability is the probability that a system performs its intended function </a:t>
            </a:r>
            <a:r>
              <a:rPr lang="en-US" sz="1200" b="1" i="0" kern="1200" dirty="0">
                <a:solidFill>
                  <a:schemeClr val="tx1"/>
                </a:solidFill>
                <a:effectLst/>
                <a:latin typeface="+mn-lt"/>
                <a:ea typeface="+mn-ea"/>
                <a:cs typeface="+mn-cs"/>
              </a:rPr>
              <a:t>correctly</a:t>
            </a:r>
            <a:r>
              <a:rPr lang="en-US" sz="1200" b="0" i="0" kern="1200" dirty="0">
                <a:solidFill>
                  <a:schemeClr val="tx1"/>
                </a:solidFill>
                <a:effectLst/>
                <a:latin typeface="+mn-lt"/>
                <a:ea typeface="+mn-ea"/>
                <a:cs typeface="+mn-cs"/>
              </a:rPr>
              <a:t> over time. If you request data, do you get the right data? If you submit a transaction, does it process correctly?</a:t>
            </a:r>
          </a:p>
          <a:p>
            <a:r>
              <a:rPr lang="en-US" sz="1200" b="0" i="0" kern="1200" dirty="0">
                <a:solidFill>
                  <a:schemeClr val="tx1"/>
                </a:solidFill>
                <a:effectLst/>
                <a:latin typeface="+mn-lt"/>
                <a:ea typeface="+mn-ea"/>
                <a:cs typeface="+mn-cs"/>
              </a:rPr>
              <a:t>Availability and reliability often go together, but they're different. A system can be:</a:t>
            </a:r>
          </a:p>
          <a:p>
            <a:r>
              <a:rPr lang="en-US" sz="1200" b="1" i="0" kern="1200" dirty="0">
                <a:solidFill>
                  <a:schemeClr val="tx1"/>
                </a:solidFill>
                <a:effectLst/>
                <a:latin typeface="+mn-lt"/>
                <a:ea typeface="+mn-ea"/>
                <a:cs typeface="+mn-cs"/>
              </a:rPr>
              <a:t>Available but unreliable</a:t>
            </a:r>
            <a:r>
              <a:rPr lang="en-US" sz="1200" b="0" i="0" kern="1200" dirty="0">
                <a:solidFill>
                  <a:schemeClr val="tx1"/>
                </a:solidFill>
                <a:effectLst/>
                <a:latin typeface="+mn-lt"/>
                <a:ea typeface="+mn-ea"/>
                <a:cs typeface="+mn-cs"/>
              </a:rPr>
              <a:t> (responding with errors or wrong data)</a:t>
            </a:r>
          </a:p>
          <a:p>
            <a:r>
              <a:rPr lang="en-US" sz="1200" b="1" i="0" kern="1200" dirty="0">
                <a:solidFill>
                  <a:schemeClr val="tx1"/>
                </a:solidFill>
                <a:effectLst/>
                <a:latin typeface="+mn-lt"/>
                <a:ea typeface="+mn-ea"/>
                <a:cs typeface="+mn-cs"/>
              </a:rPr>
              <a:t>Unavailable but reliable</a:t>
            </a:r>
            <a:r>
              <a:rPr lang="en-US" sz="1200" b="0" i="0" kern="1200" dirty="0">
                <a:solidFill>
                  <a:schemeClr val="tx1"/>
                </a:solidFill>
                <a:effectLst/>
                <a:latin typeface="+mn-lt"/>
                <a:ea typeface="+mn-ea"/>
                <a:cs typeface="+mn-cs"/>
              </a:rPr>
              <a:t> (when it does work, it works perfectly)</a:t>
            </a:r>
          </a:p>
          <a:p>
            <a:r>
              <a:rPr lang="en-US" sz="1200" b="0" i="0" kern="1200" dirty="0">
                <a:solidFill>
                  <a:schemeClr val="tx1"/>
                </a:solidFill>
                <a:effectLst/>
                <a:latin typeface="+mn-lt"/>
                <a:ea typeface="+mn-ea"/>
                <a:cs typeface="+mn-cs"/>
              </a:rPr>
              <a:t>Ideally: </a:t>
            </a:r>
            <a:r>
              <a:rPr lang="en-US" sz="1200" b="1" i="0" kern="1200" dirty="0">
                <a:solidFill>
                  <a:schemeClr val="tx1"/>
                </a:solidFill>
                <a:effectLst/>
                <a:latin typeface="+mn-lt"/>
                <a:ea typeface="+mn-ea"/>
                <a:cs typeface="+mn-cs"/>
              </a:rPr>
              <a:t>Both available and reliable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perfect system is both highly available AND highly reliable.</a:t>
            </a:r>
          </a:p>
          <a:p>
            <a:endParaRPr lang="en-IN" dirty="0"/>
          </a:p>
        </p:txBody>
      </p:sp>
      <p:sp>
        <p:nvSpPr>
          <p:cNvPr id="4" name="Slide Number Placeholder 3">
            <a:extLst>
              <a:ext uri="{FF2B5EF4-FFF2-40B4-BE49-F238E27FC236}">
                <a16:creationId xmlns:a16="http://schemas.microsoft.com/office/drawing/2014/main" id="{C4FA89C6-D3F1-F629-D4D9-16F3B12E490E}"/>
              </a:ext>
            </a:extLst>
          </p:cNvPr>
          <p:cNvSpPr>
            <a:spLocks noGrp="1"/>
          </p:cNvSpPr>
          <p:nvPr>
            <p:ph type="sldNum" sz="quarter" idx="5"/>
          </p:nvPr>
        </p:nvSpPr>
        <p:spPr/>
        <p:txBody>
          <a:bodyPr/>
          <a:lstStyle/>
          <a:p>
            <a:fld id="{72853293-4F00-4813-B74A-3945ABE0C2FC}" type="slidenum">
              <a:rPr lang="en-IN" smtClean="0"/>
              <a:t>21</a:t>
            </a:fld>
            <a:endParaRPr lang="en-IN"/>
          </a:p>
        </p:txBody>
      </p:sp>
    </p:spTree>
    <p:extLst>
      <p:ext uri="{BB962C8B-B14F-4D97-AF65-F5344CB8AC3E}">
        <p14:creationId xmlns:p14="http://schemas.microsoft.com/office/powerpoint/2010/main" val="19556799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measure reliability quantitatively, we use two key metrics: </a:t>
            </a:r>
            <a:r>
              <a:rPr lang="en-US" sz="1200" b="1" i="0" kern="1200" dirty="0">
                <a:solidFill>
                  <a:schemeClr val="tx1"/>
                </a:solidFill>
                <a:effectLst/>
                <a:latin typeface="+mn-lt"/>
                <a:ea typeface="+mn-ea"/>
                <a:cs typeface="+mn-cs"/>
              </a:rPr>
              <a:t>MTBF</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MTTR</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MTBF - Mean Time Between Failures</a:t>
            </a:r>
            <a:r>
              <a:rPr lang="en-US" sz="1200" b="0" i="0" kern="1200" dirty="0">
                <a:solidFill>
                  <a:schemeClr val="tx1"/>
                </a:solidFill>
                <a:effectLst/>
                <a:latin typeface="+mn-lt"/>
                <a:ea typeface="+mn-ea"/>
                <a:cs typeface="+mn-cs"/>
              </a:rPr>
              <a:t>: This tells us how long the system typically runs before failing. If MTBF is 1000 hours, the system fails about every 42 days on average. Higher MTBF means more reliable - failures are rare.</a:t>
            </a:r>
          </a:p>
          <a:p>
            <a:r>
              <a:rPr lang="en-US" sz="1200" b="1" i="0" kern="1200" dirty="0">
                <a:solidFill>
                  <a:schemeClr val="tx1"/>
                </a:solidFill>
                <a:effectLst/>
                <a:latin typeface="+mn-lt"/>
                <a:ea typeface="+mn-ea"/>
                <a:cs typeface="+mn-cs"/>
              </a:rPr>
              <a:t>MTTR - Mean Time To Repair</a:t>
            </a:r>
            <a:r>
              <a:rPr lang="en-US" sz="1200" b="0" i="0" kern="1200" dirty="0">
                <a:solidFill>
                  <a:schemeClr val="tx1"/>
                </a:solidFill>
                <a:effectLst/>
                <a:latin typeface="+mn-lt"/>
                <a:ea typeface="+mn-ea"/>
                <a:cs typeface="+mn-cs"/>
              </a:rPr>
              <a:t>: This measures how quickly we recover from failures. If MTTR is 2 hours, it takes about 2 hours to fix things when they break. Lower MTTR means faster recovery.</a:t>
            </a:r>
          </a:p>
          <a:p>
            <a:r>
              <a:rPr lang="en-US" sz="1200" b="0" i="0" kern="1200" dirty="0">
                <a:solidFill>
                  <a:schemeClr val="tx1"/>
                </a:solidFill>
                <a:effectLst/>
                <a:latin typeface="+mn-lt"/>
                <a:ea typeface="+mn-ea"/>
                <a:cs typeface="+mn-cs"/>
              </a:rPr>
              <a:t>Here's the crucial insight: </a:t>
            </a:r>
            <a:r>
              <a:rPr lang="en-US" sz="1200" b="1" i="0" kern="1200" dirty="0">
                <a:solidFill>
                  <a:schemeClr val="tx1"/>
                </a:solidFill>
                <a:effectLst/>
                <a:latin typeface="+mn-lt"/>
                <a:ea typeface="+mn-ea"/>
                <a:cs typeface="+mn-cs"/>
              </a:rPr>
              <a:t>Both metrics matter for availability</a:t>
            </a:r>
            <a:r>
              <a:rPr lang="en-US" sz="1200" b="0" i="0" kern="1200" dirty="0">
                <a:solidFill>
                  <a:schemeClr val="tx1"/>
                </a:solidFill>
                <a:effectLst/>
                <a:latin typeface="+mn-lt"/>
                <a:ea typeface="+mn-ea"/>
                <a:cs typeface="+mn-cs"/>
              </a:rPr>
              <a:t>. You can calculate availability from them:</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Availability = MTBF divided by (MTBF + MTTR).</a:t>
            </a:r>
          </a:p>
          <a:p>
            <a:r>
              <a:rPr lang="en-US" sz="1200" b="0" i="0" kern="1200" dirty="0">
                <a:solidFill>
                  <a:schemeClr val="tx1"/>
                </a:solidFill>
                <a:effectLst/>
                <a:latin typeface="+mn-lt"/>
                <a:ea typeface="+mn-ea"/>
                <a:cs typeface="+mn-cs"/>
              </a:rPr>
              <a:t>A system with high MTBF (rare failures) but high MTTR (slow recovery) might have poor availability. A system with moderate MTBF but very low MTTR (quick recovery) can have excellent availability.</a:t>
            </a:r>
          </a:p>
          <a:p>
            <a:r>
              <a:rPr lang="en-US" sz="1200" b="0" i="0" kern="1200" dirty="0">
                <a:solidFill>
                  <a:schemeClr val="tx1"/>
                </a:solidFill>
                <a:effectLst/>
                <a:latin typeface="+mn-lt"/>
                <a:ea typeface="+mn-ea"/>
                <a:cs typeface="+mn-cs"/>
              </a:rPr>
              <a:t>This is why we invest in both: </a:t>
            </a:r>
            <a:r>
              <a:rPr lang="en-US" sz="1200" b="1" i="0" kern="1200" dirty="0">
                <a:solidFill>
                  <a:schemeClr val="tx1"/>
                </a:solidFill>
                <a:effectLst/>
                <a:latin typeface="+mn-lt"/>
                <a:ea typeface="+mn-ea"/>
                <a:cs typeface="+mn-cs"/>
              </a:rPr>
              <a:t>preventing failures</a:t>
            </a:r>
            <a:r>
              <a:rPr lang="en-US" sz="1200" b="0" i="0" kern="1200" dirty="0">
                <a:solidFill>
                  <a:schemeClr val="tx1"/>
                </a:solidFill>
                <a:effectLst/>
                <a:latin typeface="+mn-lt"/>
                <a:ea typeface="+mn-ea"/>
                <a:cs typeface="+mn-cs"/>
              </a:rPr>
              <a:t> (increasing MTBF) and </a:t>
            </a:r>
            <a:r>
              <a:rPr lang="en-US" sz="1200" b="1" i="0" kern="1200" dirty="0">
                <a:solidFill>
                  <a:schemeClr val="tx1"/>
                </a:solidFill>
                <a:effectLst/>
                <a:latin typeface="+mn-lt"/>
                <a:ea typeface="+mn-ea"/>
                <a:cs typeface="+mn-cs"/>
              </a:rPr>
              <a:t>improving recovery</a:t>
            </a:r>
            <a:r>
              <a:rPr lang="en-US" sz="1200" b="0" i="0" kern="1200" dirty="0">
                <a:solidFill>
                  <a:schemeClr val="tx1"/>
                </a:solidFill>
                <a:effectLst/>
                <a:latin typeface="+mn-lt"/>
                <a:ea typeface="+mn-ea"/>
                <a:cs typeface="+mn-cs"/>
              </a:rPr>
              <a:t> (decreasing MTTR).</a:t>
            </a:r>
          </a:p>
          <a:p>
            <a:endParaRPr lang="en-IN" dirty="0"/>
          </a:p>
          <a:p>
            <a:endParaRPr lang="en-IN" dirty="0"/>
          </a:p>
          <a:p>
            <a:r>
              <a:rPr lang="en-US" sz="1200" b="0" i="0" kern="1200" dirty="0">
                <a:solidFill>
                  <a:schemeClr val="tx1"/>
                </a:solidFill>
                <a:effectLst/>
                <a:latin typeface="+mn-lt"/>
                <a:ea typeface="+mn-ea"/>
                <a:cs typeface="+mn-cs"/>
              </a:rPr>
              <a:t>In practice, we measure reliability using several metrics:</a:t>
            </a:r>
          </a:p>
          <a:p>
            <a:r>
              <a:rPr lang="en-US" sz="1200" b="0" i="0" kern="1200" dirty="0">
                <a:solidFill>
                  <a:schemeClr val="tx1"/>
                </a:solidFill>
                <a:effectLst/>
                <a:latin typeface="+mn-lt"/>
                <a:ea typeface="+mn-ea"/>
                <a:cs typeface="+mn-cs"/>
              </a:rPr>
              <a:t>First, </a:t>
            </a:r>
            <a:r>
              <a:rPr lang="en-US" sz="1200" b="1" i="0" kern="1200" dirty="0">
                <a:solidFill>
                  <a:schemeClr val="tx1"/>
                </a:solidFill>
                <a:effectLst/>
                <a:latin typeface="+mn-lt"/>
                <a:ea typeface="+mn-ea"/>
                <a:cs typeface="+mn-cs"/>
              </a:rPr>
              <a:t>Error Rate</a:t>
            </a:r>
            <a:r>
              <a:rPr lang="en-US" sz="1200" b="0" i="0" kern="1200" dirty="0">
                <a:solidFill>
                  <a:schemeClr val="tx1"/>
                </a:solidFill>
                <a:effectLst/>
                <a:latin typeface="+mn-lt"/>
                <a:ea typeface="+mn-ea"/>
                <a:cs typeface="+mn-cs"/>
              </a:rPr>
              <a:t> - what percentage of requests fail? If 999 out of 1000 requests succeed, that's 0.1% error rate, or 99.9% reliability. This is often tracked per API endpoint, per service.</a:t>
            </a:r>
          </a:p>
          <a:p>
            <a:r>
              <a:rPr lang="en-US" sz="1200" b="0" i="0" kern="1200" dirty="0">
                <a:solidFill>
                  <a:schemeClr val="tx1"/>
                </a:solidFill>
                <a:effectLst/>
                <a:latin typeface="+mn-lt"/>
                <a:ea typeface="+mn-ea"/>
                <a:cs typeface="+mn-cs"/>
              </a:rPr>
              <a:t>Second, </a:t>
            </a:r>
            <a:r>
              <a:rPr lang="en-US" sz="1200" b="1" i="0" kern="1200" dirty="0">
                <a:solidFill>
                  <a:schemeClr val="tx1"/>
                </a:solidFill>
                <a:effectLst/>
                <a:latin typeface="+mn-lt"/>
                <a:ea typeface="+mn-ea"/>
                <a:cs typeface="+mn-cs"/>
              </a:rPr>
              <a:t>SLA/SLO Compliance</a:t>
            </a:r>
            <a:r>
              <a:rPr lang="en-US" sz="1200" b="0" i="0" kern="1200" dirty="0">
                <a:solidFill>
                  <a:schemeClr val="tx1"/>
                </a:solidFill>
                <a:effectLst/>
                <a:latin typeface="+mn-lt"/>
                <a:ea typeface="+mn-ea"/>
                <a:cs typeface="+mn-cs"/>
              </a:rPr>
              <a:t> - we set Service Level Objectives like "99.9% of requests must succeed" and measure if we're meeting them. We track this daily, weekly, monthly.</a:t>
            </a:r>
          </a:p>
          <a:p>
            <a:r>
              <a:rPr lang="en-US" sz="1200" b="0" i="0" kern="1200" dirty="0">
                <a:solidFill>
                  <a:schemeClr val="tx1"/>
                </a:solidFill>
                <a:effectLst/>
                <a:latin typeface="+mn-lt"/>
                <a:ea typeface="+mn-ea"/>
                <a:cs typeface="+mn-cs"/>
              </a:rPr>
              <a:t>Third, </a:t>
            </a:r>
            <a:r>
              <a:rPr lang="en-US" sz="1200" b="1" i="0" kern="1200" dirty="0">
                <a:solidFill>
                  <a:schemeClr val="tx1"/>
                </a:solidFill>
                <a:effectLst/>
                <a:latin typeface="+mn-lt"/>
                <a:ea typeface="+mn-ea"/>
                <a:cs typeface="+mn-cs"/>
              </a:rPr>
              <a:t>Failure patterns</a:t>
            </a:r>
            <a:r>
              <a:rPr lang="en-US" sz="1200" b="0" i="0" kern="1200" dirty="0">
                <a:solidFill>
                  <a:schemeClr val="tx1"/>
                </a:solidFill>
                <a:effectLst/>
                <a:latin typeface="+mn-lt"/>
                <a:ea typeface="+mn-ea"/>
                <a:cs typeface="+mn-cs"/>
              </a:rPr>
              <a:t> - when do failures occur? During peak load? After deployments? At certain times of day? This helps us understand root causes.</a:t>
            </a:r>
          </a:p>
          <a:p>
            <a:r>
              <a:rPr lang="en-US" sz="1200" b="0" i="0" kern="1200" dirty="0">
                <a:solidFill>
                  <a:schemeClr val="tx1"/>
                </a:solidFill>
                <a:effectLst/>
                <a:latin typeface="+mn-lt"/>
                <a:ea typeface="+mn-ea"/>
                <a:cs typeface="+mn-cs"/>
              </a:rPr>
              <a:t>Fourth, </a:t>
            </a:r>
            <a:r>
              <a:rPr lang="en-US" sz="1200" b="1" i="0" kern="1200" dirty="0">
                <a:solidFill>
                  <a:schemeClr val="tx1"/>
                </a:solidFill>
                <a:effectLst/>
                <a:latin typeface="+mn-lt"/>
                <a:ea typeface="+mn-ea"/>
                <a:cs typeface="+mn-cs"/>
              </a:rPr>
              <a:t>User impact</a:t>
            </a:r>
            <a:r>
              <a:rPr lang="en-US" sz="1200" b="0" i="0" kern="1200" dirty="0">
                <a:solidFill>
                  <a:schemeClr val="tx1"/>
                </a:solidFill>
                <a:effectLst/>
                <a:latin typeface="+mn-lt"/>
                <a:ea typeface="+mn-ea"/>
                <a:cs typeface="+mn-cs"/>
              </a:rPr>
              <a:t> - bug reports, support tickets, user satisfaction. The most important reliability metric is: are users getting what they need?</a:t>
            </a:r>
          </a:p>
          <a:p>
            <a:r>
              <a:rPr lang="en-US" sz="1200" b="0" i="0" kern="1200" dirty="0">
                <a:solidFill>
                  <a:schemeClr val="tx1"/>
                </a:solidFill>
                <a:effectLst/>
                <a:latin typeface="+mn-lt"/>
                <a:ea typeface="+mn-ea"/>
                <a:cs typeface="+mn-cs"/>
              </a:rPr>
              <a:t>We often set different reliability targets for different operations. A login might need 99.99% reliability (users must be able to log in). A recommendation engine might accept 99% reliability (occasional wrong suggestions are okay).</a:t>
            </a:r>
          </a:p>
          <a:p>
            <a:r>
              <a:rPr lang="en-US" sz="1200" b="0" i="0" kern="1200" dirty="0">
                <a:solidFill>
                  <a:schemeClr val="tx1"/>
                </a:solidFill>
                <a:effectLst/>
                <a:latin typeface="+mn-lt"/>
                <a:ea typeface="+mn-ea"/>
                <a:cs typeface="+mn-cs"/>
              </a:rPr>
              <a:t>The key is to measure what matters to users, not just what's easy to measure.</a:t>
            </a: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22</a:t>
            </a:fld>
            <a:endParaRPr lang="en-IN"/>
          </a:p>
        </p:txBody>
      </p:sp>
    </p:spTree>
    <p:extLst>
      <p:ext uri="{BB962C8B-B14F-4D97-AF65-F5344CB8AC3E}">
        <p14:creationId xmlns:p14="http://schemas.microsoft.com/office/powerpoint/2010/main" val="18607459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45C06-C2D3-4E48-E223-11D94A2BC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076EC-C357-C428-3E50-CB42700D0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D912F-40C5-9690-1DE9-901E346A8D8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we come to a critical capability: </a:t>
            </a:r>
            <a:r>
              <a:rPr lang="en-US" sz="1200" b="1" i="0" kern="1200" dirty="0">
                <a:solidFill>
                  <a:schemeClr val="tx1"/>
                </a:solidFill>
                <a:effectLst/>
                <a:latin typeface="+mn-lt"/>
                <a:ea typeface="+mn-ea"/>
                <a:cs typeface="+mn-cs"/>
              </a:rPr>
              <a:t>Fault Tolerance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While reliability is about working correctly under normal conditions, fault tolerance is about </a:t>
            </a:r>
            <a:r>
              <a:rPr lang="en-US" sz="1200" b="1" i="0" kern="1200" dirty="0">
                <a:solidFill>
                  <a:schemeClr val="tx1"/>
                </a:solidFill>
                <a:effectLst/>
                <a:latin typeface="+mn-lt"/>
                <a:ea typeface="+mn-ea"/>
                <a:cs typeface="+mn-cs"/>
              </a:rPr>
              <a:t>continuing to work when things go wrong</a:t>
            </a:r>
            <a:r>
              <a:rPr lang="en-US" sz="1200" b="0" i="0" kern="1200" dirty="0">
                <a:solidFill>
                  <a:schemeClr val="tx1"/>
                </a:solidFill>
                <a:effectLst/>
                <a:latin typeface="+mn-lt"/>
                <a:ea typeface="+mn-ea"/>
                <a:cs typeface="+mn-cs"/>
              </a:rPr>
              <a:t>. It's the system's ability to survive failures without impacting users.</a:t>
            </a:r>
          </a:p>
          <a:p>
            <a:r>
              <a:rPr lang="en-US" sz="1200" b="0" i="0" kern="1200" dirty="0">
                <a:solidFill>
                  <a:schemeClr val="tx1"/>
                </a:solidFill>
                <a:effectLst/>
                <a:latin typeface="+mn-lt"/>
                <a:ea typeface="+mn-ea"/>
                <a:cs typeface="+mn-cs"/>
              </a:rPr>
              <a:t>Let's clarify terms: A </a:t>
            </a:r>
            <a:r>
              <a:rPr lang="en-US" sz="1200" b="1" i="0" kern="1200" dirty="0">
                <a:solidFill>
                  <a:schemeClr val="tx1"/>
                </a:solidFill>
                <a:effectLst/>
                <a:latin typeface="+mn-lt"/>
                <a:ea typeface="+mn-ea"/>
                <a:cs typeface="+mn-cs"/>
              </a:rPr>
              <a:t>fault</a:t>
            </a:r>
            <a:r>
              <a:rPr lang="en-US" sz="1200" b="0" i="0" kern="1200" dirty="0">
                <a:solidFill>
                  <a:schemeClr val="tx1"/>
                </a:solidFill>
                <a:effectLst/>
                <a:latin typeface="+mn-lt"/>
                <a:ea typeface="+mn-ea"/>
                <a:cs typeface="+mn-cs"/>
              </a:rPr>
              <a:t> is a defect - a bug, a hardware problem, a network issue. A </a:t>
            </a:r>
            <a:r>
              <a:rPr lang="en-US" sz="1200" b="1" i="0" kern="1200" dirty="0">
                <a:solidFill>
                  <a:schemeClr val="tx1"/>
                </a:solidFill>
                <a:effectLst/>
                <a:latin typeface="+mn-lt"/>
                <a:ea typeface="+mn-ea"/>
                <a:cs typeface="+mn-cs"/>
              </a:rPr>
              <a:t>failure</a:t>
            </a:r>
            <a:r>
              <a:rPr lang="en-US" sz="1200" b="0" i="0" kern="1200" dirty="0">
                <a:solidFill>
                  <a:schemeClr val="tx1"/>
                </a:solidFill>
                <a:effectLst/>
                <a:latin typeface="+mn-lt"/>
                <a:ea typeface="+mn-ea"/>
                <a:cs typeface="+mn-cs"/>
              </a:rPr>
              <a:t> is when the system stops delivering its expected service. Fault tolerance is what prevents faults from becoming failures.</a:t>
            </a:r>
          </a:p>
          <a:p>
            <a:r>
              <a:rPr lang="en-US" sz="1200" b="0" i="0" kern="1200" dirty="0">
                <a:solidFill>
                  <a:schemeClr val="tx1"/>
                </a:solidFill>
                <a:effectLst/>
                <a:latin typeface="+mn-lt"/>
                <a:ea typeface="+mn-ea"/>
                <a:cs typeface="+mn-cs"/>
              </a:rPr>
              <a:t>Think of an airplane with multiple engines. If one engine fails (a fault), the plane can still fly (no failure to passengers). Or your body with two kidneys - if one fails, you continue living.</a:t>
            </a:r>
          </a:p>
          <a:p>
            <a:r>
              <a:rPr lang="en-US" sz="1200" b="0" i="0" kern="1200" dirty="0">
                <a:solidFill>
                  <a:schemeClr val="tx1"/>
                </a:solidFill>
                <a:effectLst/>
                <a:latin typeface="+mn-lt"/>
                <a:ea typeface="+mn-ea"/>
                <a:cs typeface="+mn-cs"/>
              </a:rPr>
              <a:t>The goal of fault tolerance is simple but ambitious: </a:t>
            </a:r>
            <a:r>
              <a:rPr lang="en-US" sz="1200" b="1" i="0" kern="1200" dirty="0">
                <a:solidFill>
                  <a:schemeClr val="tx1"/>
                </a:solidFill>
                <a:effectLst/>
                <a:latin typeface="+mn-lt"/>
                <a:ea typeface="+mn-ea"/>
                <a:cs typeface="+mn-cs"/>
              </a:rPr>
              <a:t>Make failures invisible to users</a:t>
            </a:r>
            <a:r>
              <a:rPr lang="en-US" sz="1200" b="0" i="0" kern="1200" dirty="0">
                <a:solidFill>
                  <a:schemeClr val="tx1"/>
                </a:solidFill>
                <a:effectLst/>
                <a:latin typeface="+mn-lt"/>
                <a:ea typeface="+mn-ea"/>
                <a:cs typeface="+mn-cs"/>
              </a:rPr>
              <a:t>. When a component fails, the system should automatically work around it, recover from it, or degrade gracefully - without users even noticing.</a:t>
            </a:r>
          </a:p>
          <a:p>
            <a:endParaRPr lang="en-IN" dirty="0"/>
          </a:p>
        </p:txBody>
      </p:sp>
      <p:sp>
        <p:nvSpPr>
          <p:cNvPr id="4" name="Slide Number Placeholder 3">
            <a:extLst>
              <a:ext uri="{FF2B5EF4-FFF2-40B4-BE49-F238E27FC236}">
                <a16:creationId xmlns:a16="http://schemas.microsoft.com/office/drawing/2014/main" id="{965D6EFB-2ADD-ACB7-E794-5F3DBD9DBB0A}"/>
              </a:ext>
            </a:extLst>
          </p:cNvPr>
          <p:cNvSpPr>
            <a:spLocks noGrp="1"/>
          </p:cNvSpPr>
          <p:nvPr>
            <p:ph type="sldNum" sz="quarter" idx="5"/>
          </p:nvPr>
        </p:nvSpPr>
        <p:spPr/>
        <p:txBody>
          <a:bodyPr/>
          <a:lstStyle/>
          <a:p>
            <a:fld id="{72853293-4F00-4813-B74A-3945ABE0C2FC}" type="slidenum">
              <a:rPr lang="en-IN" smtClean="0"/>
              <a:t>23</a:t>
            </a:fld>
            <a:endParaRPr lang="en-IN"/>
          </a:p>
        </p:txBody>
      </p:sp>
    </p:spTree>
    <p:extLst>
      <p:ext uri="{BB962C8B-B14F-4D97-AF65-F5344CB8AC3E}">
        <p14:creationId xmlns:p14="http://schemas.microsoft.com/office/powerpoint/2010/main" val="36781422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63104-FCCD-FACF-B1AA-DAB92BDA4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0E5DC-A0DC-2D3D-9EE7-8FC0CF0BB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A43FF-2609-0B82-8587-D8686CA8728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So how do we actually build fault tolerance? Here are key techniques:</a:t>
            </a:r>
          </a:p>
          <a:p>
            <a:r>
              <a:rPr lang="en-US" sz="1200" b="1" i="0" kern="1200" dirty="0">
                <a:solidFill>
                  <a:schemeClr val="tx1"/>
                </a:solidFill>
                <a:effectLst/>
                <a:latin typeface="+mn-lt"/>
                <a:ea typeface="+mn-ea"/>
                <a:cs typeface="+mn-cs"/>
              </a:rPr>
              <a:t>Redundancy</a:t>
            </a:r>
            <a:r>
              <a:rPr lang="en-US" sz="1200" b="0" i="0" kern="1200" dirty="0">
                <a:solidFill>
                  <a:schemeClr val="tx1"/>
                </a:solidFill>
                <a:effectLst/>
                <a:latin typeface="+mn-lt"/>
                <a:ea typeface="+mn-ea"/>
                <a:cs typeface="+mn-cs"/>
              </a:rPr>
              <a:t> is fundamental: have multiple copies of critical components. If one fails, others take over. This can be active-active (all working together) or active-passive (standbys ready).</a:t>
            </a:r>
          </a:p>
          <a:p>
            <a:r>
              <a:rPr lang="en-US" sz="1200" b="1" i="0" kern="1200" dirty="0">
                <a:solidFill>
                  <a:schemeClr val="tx1"/>
                </a:solidFill>
                <a:effectLst/>
                <a:latin typeface="+mn-lt"/>
                <a:ea typeface="+mn-ea"/>
                <a:cs typeface="+mn-cs"/>
              </a:rPr>
              <a:t>Failover</a:t>
            </a:r>
            <a:r>
              <a:rPr lang="en-US" sz="1200" b="0" i="0" kern="1200" dirty="0">
                <a:solidFill>
                  <a:schemeClr val="tx1"/>
                </a:solidFill>
                <a:effectLst/>
                <a:latin typeface="+mn-lt"/>
                <a:ea typeface="+mn-ea"/>
                <a:cs typeface="+mn-cs"/>
              </a:rPr>
              <a:t> makes redundancy useful: automatic detection of failures and switching to backups. Health checks constantly monitor components, and when one fails, traffic is redirected.</a:t>
            </a:r>
          </a:p>
          <a:p>
            <a:r>
              <a:rPr lang="en-US" sz="1200" b="1" i="0" kern="1200" dirty="0">
                <a:solidFill>
                  <a:schemeClr val="tx1"/>
                </a:solidFill>
                <a:effectLst/>
                <a:latin typeface="+mn-lt"/>
                <a:ea typeface="+mn-ea"/>
                <a:cs typeface="+mn-cs"/>
              </a:rPr>
              <a:t>Checkpointing</a:t>
            </a:r>
            <a:r>
              <a:rPr lang="en-US" sz="1200" b="0" i="0" kern="1200" dirty="0">
                <a:solidFill>
                  <a:schemeClr val="tx1"/>
                </a:solidFill>
                <a:effectLst/>
                <a:latin typeface="+mn-lt"/>
                <a:ea typeface="+mn-ea"/>
                <a:cs typeface="+mn-cs"/>
              </a:rPr>
              <a:t> - our new addition: Periodically save complete system state. Like save points in a video game. If something goes wrong, restart from the last good checkpoint rather than from scratch.</a:t>
            </a:r>
          </a:p>
          <a:p>
            <a:r>
              <a:rPr lang="en-US" sz="1200" b="1" i="0" kern="1200" dirty="0">
                <a:solidFill>
                  <a:schemeClr val="tx1"/>
                </a:solidFill>
                <a:effectLst/>
                <a:latin typeface="+mn-lt"/>
                <a:ea typeface="+mn-ea"/>
                <a:cs typeface="+mn-cs"/>
              </a:rPr>
              <a:t>Isolation</a:t>
            </a:r>
            <a:r>
              <a:rPr lang="en-US" sz="1200" b="0" i="0" kern="1200" dirty="0">
                <a:solidFill>
                  <a:schemeClr val="tx1"/>
                </a:solidFill>
                <a:effectLst/>
                <a:latin typeface="+mn-lt"/>
                <a:ea typeface="+mn-ea"/>
                <a:cs typeface="+mn-cs"/>
              </a:rPr>
              <a:t> prevents cascade failures. The bulkhead pattern separates resources so failure in one area doesn't drain resources from others. Microservices architecture creates independent failure domains.</a:t>
            </a:r>
          </a:p>
          <a:p>
            <a:r>
              <a:rPr lang="en-US" sz="1200" b="1" i="0" kern="1200" dirty="0">
                <a:solidFill>
                  <a:schemeClr val="tx1"/>
                </a:solidFill>
                <a:effectLst/>
                <a:latin typeface="+mn-lt"/>
                <a:ea typeface="+mn-ea"/>
                <a:cs typeface="+mn-cs"/>
              </a:rPr>
              <a:t>Graceful Degradation</a:t>
            </a:r>
            <a:r>
              <a:rPr lang="en-US" sz="1200" b="0" i="0" kern="1200" dirty="0">
                <a:solidFill>
                  <a:schemeClr val="tx1"/>
                </a:solidFill>
                <a:effectLst/>
                <a:latin typeface="+mn-lt"/>
                <a:ea typeface="+mn-ea"/>
                <a:cs typeface="+mn-cs"/>
              </a:rPr>
              <a:t> is crucial: when parts fail, reduce functionality rather than crash completely. Show cached data, default responses, or hide non-critical features.</a:t>
            </a:r>
          </a:p>
          <a:p>
            <a:r>
              <a:rPr lang="en-US" sz="1200" b="1" i="0" kern="1200" dirty="0">
                <a:solidFill>
                  <a:schemeClr val="tx1"/>
                </a:solidFill>
                <a:effectLst/>
                <a:latin typeface="+mn-lt"/>
                <a:ea typeface="+mn-ea"/>
                <a:cs typeface="+mn-cs"/>
              </a:rPr>
              <a:t>Self-Healing</a:t>
            </a:r>
            <a:r>
              <a:rPr lang="en-US" sz="1200" b="0" i="0" kern="1200" dirty="0">
                <a:solidFill>
                  <a:schemeClr val="tx1"/>
                </a:solidFill>
                <a:effectLst/>
                <a:latin typeface="+mn-lt"/>
                <a:ea typeface="+mn-ea"/>
                <a:cs typeface="+mn-cs"/>
              </a:rPr>
              <a:t> automates recovery: automatically restart failed processes, replace failed nodes, or adjust system parameters. Modern platforms like Kubernetes excel at this.</a:t>
            </a:r>
          </a:p>
          <a:p>
            <a:r>
              <a:rPr lang="en-US" sz="1200" b="0" i="0" kern="1200" dirty="0">
                <a:solidFill>
                  <a:schemeClr val="tx1"/>
                </a:solidFill>
                <a:effectLst/>
                <a:latin typeface="+mn-lt"/>
                <a:ea typeface="+mn-ea"/>
                <a:cs typeface="+mn-cs"/>
              </a:rPr>
              <a:t>These techniques work together. Redundancy without failover is useless. Failover without graceful degradation might switch to a system that can't handle the load. You need the full toolkit.</a:t>
            </a:r>
          </a:p>
          <a:p>
            <a:endParaRPr lang="en-IN" dirty="0"/>
          </a:p>
        </p:txBody>
      </p:sp>
      <p:sp>
        <p:nvSpPr>
          <p:cNvPr id="4" name="Slide Number Placeholder 3">
            <a:extLst>
              <a:ext uri="{FF2B5EF4-FFF2-40B4-BE49-F238E27FC236}">
                <a16:creationId xmlns:a16="http://schemas.microsoft.com/office/drawing/2014/main" id="{4FE11DA5-187E-B95D-A5FF-31724CBB7D7E}"/>
              </a:ext>
            </a:extLst>
          </p:cNvPr>
          <p:cNvSpPr>
            <a:spLocks noGrp="1"/>
          </p:cNvSpPr>
          <p:nvPr>
            <p:ph type="sldNum" sz="quarter" idx="5"/>
          </p:nvPr>
        </p:nvSpPr>
        <p:spPr/>
        <p:txBody>
          <a:bodyPr/>
          <a:lstStyle/>
          <a:p>
            <a:fld id="{72853293-4F00-4813-B74A-3945ABE0C2FC}" type="slidenum">
              <a:rPr lang="en-IN" smtClean="0"/>
              <a:t>24</a:t>
            </a:fld>
            <a:endParaRPr lang="en-IN"/>
          </a:p>
        </p:txBody>
      </p:sp>
    </p:spTree>
    <p:extLst>
      <p:ext uri="{BB962C8B-B14F-4D97-AF65-F5344CB8AC3E}">
        <p14:creationId xmlns:p14="http://schemas.microsoft.com/office/powerpoint/2010/main" val="3483764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let's discuss how we measure the effectiveness of our fault tolerance: through </a:t>
            </a:r>
            <a:r>
              <a:rPr lang="en-US" sz="1200" b="1" i="0" kern="1200" dirty="0">
                <a:solidFill>
                  <a:schemeClr val="tx1"/>
                </a:solidFill>
                <a:effectLst/>
                <a:latin typeface="+mn-lt"/>
                <a:ea typeface="+mn-ea"/>
                <a:cs typeface="+mn-cs"/>
              </a:rPr>
              <a:t>RTO and RPO</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RTO - Recovery Time Objective</a:t>
            </a:r>
            <a:r>
              <a:rPr lang="en-US" sz="1200" b="0" i="0" kern="1200" dirty="0">
                <a:solidFill>
                  <a:schemeClr val="tx1"/>
                </a:solidFill>
                <a:effectLst/>
                <a:latin typeface="+mn-lt"/>
                <a:ea typeface="+mn-ea"/>
                <a:cs typeface="+mn-cs"/>
              </a:rPr>
              <a:t> measures </a:t>
            </a:r>
            <a:r>
              <a:rPr lang="en-US" sz="1200" b="1" i="0" kern="1200" dirty="0">
                <a:solidFill>
                  <a:schemeClr val="tx1"/>
                </a:solidFill>
                <a:effectLst/>
                <a:latin typeface="+mn-lt"/>
                <a:ea typeface="+mn-ea"/>
                <a:cs typeface="+mn-cs"/>
              </a:rPr>
              <a:t>downtime</a:t>
            </a:r>
            <a:r>
              <a:rPr lang="en-US" sz="1200" b="0" i="0" kern="1200" dirty="0">
                <a:solidFill>
                  <a:schemeClr val="tx1"/>
                </a:solidFill>
                <a:effectLst/>
                <a:latin typeface="+mn-lt"/>
                <a:ea typeface="+mn-ea"/>
                <a:cs typeface="+mn-cs"/>
              </a:rPr>
              <a:t>. If your RTO is 4 hours, you're saying "The system can be down for up to 4 hours after a failure." This drives how fast your recovery must be. Need 5-minute RTO? You need instant automated failover to hot standbys. OK with 8-hour RTO? Manual recovery processes might suffice.</a:t>
            </a:r>
          </a:p>
          <a:p>
            <a:r>
              <a:rPr lang="en-US" sz="1200" b="1" i="0" kern="1200" dirty="0">
                <a:solidFill>
                  <a:schemeClr val="tx1"/>
                </a:solidFill>
                <a:effectLst/>
                <a:latin typeface="+mn-lt"/>
                <a:ea typeface="+mn-ea"/>
                <a:cs typeface="+mn-cs"/>
              </a:rPr>
              <a:t>RPO - Recovery Point Objective</a:t>
            </a:r>
            <a:r>
              <a:rPr lang="en-US" sz="1200" b="0" i="0" kern="1200" dirty="0">
                <a:solidFill>
                  <a:schemeClr val="tx1"/>
                </a:solidFill>
                <a:effectLst/>
                <a:latin typeface="+mn-lt"/>
                <a:ea typeface="+mn-ea"/>
                <a:cs typeface="+mn-cs"/>
              </a:rPr>
              <a:t> measures </a:t>
            </a:r>
            <a:r>
              <a:rPr lang="en-US" sz="1200" b="1" i="0" kern="1200" dirty="0">
                <a:solidFill>
                  <a:schemeClr val="tx1"/>
                </a:solidFill>
                <a:effectLst/>
                <a:latin typeface="+mn-lt"/>
                <a:ea typeface="+mn-ea"/>
                <a:cs typeface="+mn-cs"/>
              </a:rPr>
              <a:t>data loss</a:t>
            </a:r>
            <a:r>
              <a:rPr lang="en-US" sz="1200" b="0" i="0" kern="1200" dirty="0">
                <a:solidFill>
                  <a:schemeClr val="tx1"/>
                </a:solidFill>
                <a:effectLst/>
                <a:latin typeface="+mn-lt"/>
                <a:ea typeface="+mn-ea"/>
                <a:cs typeface="+mn-cs"/>
              </a:rPr>
              <a:t>. RPO of 1 hour means "Losing up to 1 hour of data is acceptable." This drives backup frequency. Want RPO of 0? You need synchronous replication - every write confirmed on backup before acknowledging to user. OK with 24-hour RPO? Daily backups might work.</a:t>
            </a:r>
          </a:p>
          <a:p>
            <a:r>
              <a:rPr lang="en-US" sz="1200" b="0" i="0" kern="1200" dirty="0">
                <a:solidFill>
                  <a:schemeClr val="tx1"/>
                </a:solidFill>
                <a:effectLst/>
                <a:latin typeface="+mn-lt"/>
                <a:ea typeface="+mn-ea"/>
                <a:cs typeface="+mn-cs"/>
              </a:rPr>
              <a:t>These metrics directly connect to our fault tolerance techniques:</a:t>
            </a:r>
          </a:p>
          <a:p>
            <a:r>
              <a:rPr lang="en-US" sz="1200" b="1" i="0" kern="1200" dirty="0">
                <a:solidFill>
                  <a:schemeClr val="tx1"/>
                </a:solidFill>
                <a:effectLst/>
                <a:latin typeface="+mn-lt"/>
                <a:ea typeface="+mn-ea"/>
                <a:cs typeface="+mn-cs"/>
              </a:rPr>
              <a:t>For low RTO</a:t>
            </a:r>
            <a:r>
              <a:rPr lang="en-US" sz="1200" b="0" i="0" kern="1200" dirty="0">
                <a:solidFill>
                  <a:schemeClr val="tx1"/>
                </a:solidFill>
                <a:effectLst/>
                <a:latin typeface="+mn-lt"/>
                <a:ea typeface="+mn-ea"/>
                <a:cs typeface="+mn-cs"/>
              </a:rPr>
              <a:t> (fast recovery), you need: Fast failover mechanisms, hot standby systems ready instantly, automated recovery procedures.</a:t>
            </a:r>
          </a:p>
          <a:p>
            <a:r>
              <a:rPr lang="en-US" sz="1200" b="1" i="0" kern="1200" dirty="0">
                <a:solidFill>
                  <a:schemeClr val="tx1"/>
                </a:solidFill>
                <a:effectLst/>
                <a:latin typeface="+mn-lt"/>
                <a:ea typeface="+mn-ea"/>
                <a:cs typeface="+mn-cs"/>
              </a:rPr>
              <a:t>For low RPO</a:t>
            </a:r>
            <a:r>
              <a:rPr lang="en-US" sz="1200" b="0" i="0" kern="1200" dirty="0">
                <a:solidFill>
                  <a:schemeClr val="tx1"/>
                </a:solidFill>
                <a:effectLst/>
                <a:latin typeface="+mn-lt"/>
                <a:ea typeface="+mn-ea"/>
                <a:cs typeface="+mn-cs"/>
              </a:rPr>
              <a:t> (minimal data loss), you need: Frequent checkpoints, synchronous replication, continuous data protection.</a:t>
            </a:r>
          </a:p>
          <a:p>
            <a:r>
              <a:rPr lang="en-US" sz="1200" b="0" i="0" kern="1200" dirty="0">
                <a:solidFill>
                  <a:schemeClr val="tx1"/>
                </a:solidFill>
                <a:effectLst/>
                <a:latin typeface="+mn-lt"/>
                <a:ea typeface="+mn-ea"/>
                <a:cs typeface="+mn-cs"/>
              </a:rPr>
              <a:t>The business decides what RTO/RPO they need based on cost of downtime and data loss. Technology delivers architecture to meet those targets. There's always a trade-off: better RTO/RPO means higher cost and complexity.</a:t>
            </a:r>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25</a:t>
            </a:fld>
            <a:endParaRPr lang="en-IN"/>
          </a:p>
        </p:txBody>
      </p:sp>
    </p:spTree>
    <p:extLst>
      <p:ext uri="{BB962C8B-B14F-4D97-AF65-F5344CB8AC3E}">
        <p14:creationId xmlns:p14="http://schemas.microsoft.com/office/powerpoint/2010/main" val="32664419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7FDFB-5E31-74CB-9BB2-B54769C916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E2D4C-3456-959E-480F-DDD2A1042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0A8D4-7438-10B4-41F9-6FEEAA2A2F1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we come to a crucial attribute for any growing system: </a:t>
            </a:r>
            <a:r>
              <a:rPr lang="en-US" sz="1200" b="1" i="0" kern="1200" dirty="0">
                <a:solidFill>
                  <a:schemeClr val="tx1"/>
                </a:solidFill>
                <a:effectLst/>
                <a:latin typeface="+mn-lt"/>
                <a:ea typeface="+mn-ea"/>
                <a:cs typeface="+mn-cs"/>
              </a:rPr>
              <a:t>Scalability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Scalability is about handling growth gracefully. What happens when your user base grows 10x? When you get featured on Hacker News and traffic spikes? When you expand to new markets?</a:t>
            </a:r>
          </a:p>
          <a:p>
            <a:r>
              <a:rPr lang="en-US" sz="1200" b="0" i="0" kern="1200" dirty="0">
                <a:solidFill>
                  <a:schemeClr val="tx1"/>
                </a:solidFill>
                <a:effectLst/>
                <a:latin typeface="+mn-lt"/>
                <a:ea typeface="+mn-ea"/>
                <a:cs typeface="+mn-cs"/>
              </a:rPr>
              <a:t>A scalable system can handle increased load by adding resources - servers, databases, network capacity. The goal isn't just to handle more load, but to maintain </a:t>
            </a:r>
            <a:r>
              <a:rPr lang="en-US" sz="1200" b="1" i="0" kern="1200" dirty="0">
                <a:solidFill>
                  <a:schemeClr val="tx1"/>
                </a:solidFill>
                <a:effectLst/>
                <a:latin typeface="+mn-lt"/>
                <a:ea typeface="+mn-ea"/>
                <a:cs typeface="+mn-cs"/>
              </a:rPr>
              <a:t>performance</a:t>
            </a:r>
            <a:r>
              <a:rPr lang="en-US" sz="1200" b="0" i="0" kern="1200" dirty="0">
                <a:solidFill>
                  <a:schemeClr val="tx1"/>
                </a:solidFill>
                <a:effectLst/>
                <a:latin typeface="+mn-lt"/>
                <a:ea typeface="+mn-ea"/>
                <a:cs typeface="+mn-cs"/>
              </a:rPr>
              <a:t> as load increases.</a:t>
            </a:r>
          </a:p>
          <a:p>
            <a:r>
              <a:rPr lang="en-US" sz="1200" b="0" i="0" kern="1200" dirty="0">
                <a:solidFill>
                  <a:schemeClr val="tx1"/>
                </a:solidFill>
                <a:effectLst/>
                <a:latin typeface="+mn-lt"/>
                <a:ea typeface="+mn-ea"/>
                <a:cs typeface="+mn-cs"/>
              </a:rPr>
              <a:t>Think of a highway. A single-lane road handles limited traffic. Add more lanes, and you handle more cars. That's scalability.</a:t>
            </a:r>
          </a:p>
          <a:p>
            <a:r>
              <a:rPr lang="en-US" sz="1200" b="0" i="0" kern="1200" dirty="0">
                <a:solidFill>
                  <a:schemeClr val="tx1"/>
                </a:solidFill>
                <a:effectLst/>
                <a:latin typeface="+mn-lt"/>
                <a:ea typeface="+mn-ea"/>
                <a:cs typeface="+mn-cs"/>
              </a:rPr>
              <a:t>Or a restaurant. A small cafe serves 50 customers. To serve 500, you need more tables, more kitchen staff, more everything. But ideally, you want to maintain the same quality and speed of service.</a:t>
            </a:r>
          </a:p>
          <a:p>
            <a:r>
              <a:rPr lang="en-US" sz="1200" b="0" i="0" kern="1200" dirty="0">
                <a:solidFill>
                  <a:schemeClr val="tx1"/>
                </a:solidFill>
                <a:effectLst/>
                <a:latin typeface="+mn-lt"/>
                <a:ea typeface="+mn-ea"/>
                <a:cs typeface="+mn-cs"/>
              </a:rPr>
              <a:t>The fundamental challenge: </a:t>
            </a:r>
            <a:r>
              <a:rPr lang="en-US" sz="1200" b="1" i="0" kern="1200" dirty="0">
                <a:solidFill>
                  <a:schemeClr val="tx1"/>
                </a:solidFill>
                <a:effectLst/>
                <a:latin typeface="+mn-lt"/>
                <a:ea typeface="+mn-ea"/>
                <a:cs typeface="+mn-cs"/>
              </a:rPr>
              <a:t>Scaling without proper architecture is expensive and limited</a:t>
            </a:r>
            <a:r>
              <a:rPr lang="en-US" sz="1200" b="0" i="0" kern="1200" dirty="0">
                <a:solidFill>
                  <a:schemeClr val="tx1"/>
                </a:solidFill>
                <a:effectLst/>
                <a:latin typeface="+mn-lt"/>
                <a:ea typeface="+mn-ea"/>
                <a:cs typeface="+mn-cs"/>
              </a:rPr>
              <a:t>. You can't just keep buying bigger servers forever. Eventually, you need to change how the system works.</a:t>
            </a:r>
          </a:p>
          <a:p>
            <a:endParaRPr lang="en-IN" dirty="0"/>
          </a:p>
        </p:txBody>
      </p:sp>
      <p:sp>
        <p:nvSpPr>
          <p:cNvPr id="4" name="Slide Number Placeholder 3">
            <a:extLst>
              <a:ext uri="{FF2B5EF4-FFF2-40B4-BE49-F238E27FC236}">
                <a16:creationId xmlns:a16="http://schemas.microsoft.com/office/drawing/2014/main" id="{BA92DA6D-D96A-EDD8-D5BE-CC55841A817A}"/>
              </a:ext>
            </a:extLst>
          </p:cNvPr>
          <p:cNvSpPr>
            <a:spLocks noGrp="1"/>
          </p:cNvSpPr>
          <p:nvPr>
            <p:ph type="sldNum" sz="quarter" idx="5"/>
          </p:nvPr>
        </p:nvSpPr>
        <p:spPr/>
        <p:txBody>
          <a:bodyPr/>
          <a:lstStyle/>
          <a:p>
            <a:fld id="{72853293-4F00-4813-B74A-3945ABE0C2FC}" type="slidenum">
              <a:rPr lang="en-IN" smtClean="0"/>
              <a:t>26</a:t>
            </a:fld>
            <a:endParaRPr lang="en-IN"/>
          </a:p>
        </p:txBody>
      </p:sp>
    </p:spTree>
    <p:extLst>
      <p:ext uri="{BB962C8B-B14F-4D97-AF65-F5344CB8AC3E}">
        <p14:creationId xmlns:p14="http://schemas.microsoft.com/office/powerpoint/2010/main" val="24854650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are two fundamental ways to scale: </a:t>
            </a:r>
            <a:r>
              <a:rPr lang="en-US" sz="1200" b="1" i="0" kern="1200" dirty="0">
                <a:solidFill>
                  <a:schemeClr val="tx1"/>
                </a:solidFill>
                <a:effectLst/>
                <a:latin typeface="+mn-lt"/>
                <a:ea typeface="+mn-ea"/>
                <a:cs typeface="+mn-cs"/>
              </a:rPr>
              <a:t>Vertical</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Horizontal</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Vertical scaling</a:t>
            </a:r>
            <a:r>
              <a:rPr lang="en-US" sz="1200" b="0" i="0" kern="1200" dirty="0">
                <a:solidFill>
                  <a:schemeClr val="tx1"/>
                </a:solidFill>
                <a:effectLst/>
                <a:latin typeface="+mn-lt"/>
                <a:ea typeface="+mn-ea"/>
                <a:cs typeface="+mn-cs"/>
              </a:rPr>
              <a:t> (scale up) means making individual components bigger. Upgrade your server: more CPU, more RAM, faster disks. It's like getting a bigger truck to carry more cargo.</a:t>
            </a:r>
          </a:p>
          <a:p>
            <a:r>
              <a:rPr lang="en-US" sz="1200" b="0" i="0" kern="1200" dirty="0">
                <a:solidFill>
                  <a:schemeClr val="tx1"/>
                </a:solidFill>
                <a:effectLst/>
                <a:latin typeface="+mn-lt"/>
                <a:ea typeface="+mn-ea"/>
                <a:cs typeface="+mn-cs"/>
              </a:rPr>
              <a:t>The advantage? Simple. Usually no application changes needed. The disadvantage? Expensive. Big servers cost disproportionately more. There's a physical limit. And you have a single point of failure.</a:t>
            </a:r>
          </a:p>
          <a:p>
            <a:r>
              <a:rPr lang="en-US" sz="1200" b="1" i="0" kern="1200" dirty="0">
                <a:solidFill>
                  <a:schemeClr val="tx1"/>
                </a:solidFill>
                <a:effectLst/>
                <a:latin typeface="+mn-lt"/>
                <a:ea typeface="+mn-ea"/>
                <a:cs typeface="+mn-cs"/>
              </a:rPr>
              <a:t>Horizontal scaling</a:t>
            </a:r>
            <a:r>
              <a:rPr lang="en-US" sz="1200" b="0" i="0" kern="1200" dirty="0">
                <a:solidFill>
                  <a:schemeClr val="tx1"/>
                </a:solidFill>
                <a:effectLst/>
                <a:latin typeface="+mn-lt"/>
                <a:ea typeface="+mn-ea"/>
                <a:cs typeface="+mn-cs"/>
              </a:rPr>
              <a:t> (scale out) means adding more components. Instead of one big server, use ten smaller servers behind a load balancer. It's like using multiple trucks instead of one big truck.</a:t>
            </a:r>
          </a:p>
          <a:p>
            <a:r>
              <a:rPr lang="en-US" sz="1200" b="0" i="0" kern="1200" dirty="0">
                <a:solidFill>
                  <a:schemeClr val="tx1"/>
                </a:solidFill>
                <a:effectLst/>
                <a:latin typeface="+mn-lt"/>
                <a:ea typeface="+mn-ea"/>
                <a:cs typeface="+mn-cs"/>
              </a:rPr>
              <a:t>The advantages: No single point of failure. Cost-effective - many small servers often cost less than one huge server. Near-infinite scale. The disadvantage: Requires distributed architecture, which is more complex.</a:t>
            </a:r>
          </a:p>
          <a:p>
            <a:r>
              <a:rPr lang="en-US" sz="1200" b="1" i="0" kern="1200" dirty="0">
                <a:solidFill>
                  <a:schemeClr val="tx1"/>
                </a:solidFill>
                <a:effectLst/>
                <a:latin typeface="+mn-lt"/>
                <a:ea typeface="+mn-ea"/>
                <a:cs typeface="+mn-cs"/>
              </a:rPr>
              <a:t>Modern systems almost always choose horizontal scaling.</a:t>
            </a:r>
            <a:r>
              <a:rPr lang="en-US" sz="1200" b="0" i="0" kern="1200" dirty="0">
                <a:solidFill>
                  <a:schemeClr val="tx1"/>
                </a:solidFill>
                <a:effectLst/>
                <a:latin typeface="+mn-lt"/>
                <a:ea typeface="+mn-ea"/>
                <a:cs typeface="+mn-cs"/>
              </a:rPr>
              <a:t> The cloud makes it easy: just add more instances. But it requires designing your application to be stateless, to share nothing, to handle distributed data.</a:t>
            </a: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27</a:t>
            </a:fld>
            <a:endParaRPr lang="en-IN"/>
          </a:p>
        </p:txBody>
      </p:sp>
    </p:spTree>
    <p:extLst>
      <p:ext uri="{BB962C8B-B14F-4D97-AF65-F5344CB8AC3E}">
        <p14:creationId xmlns:p14="http://schemas.microsoft.com/office/powerpoint/2010/main" val="36080225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458DA-4558-56D9-EBB3-49FD62528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11F57-47F7-AE86-469A-C2AD62EC48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94DC8-240D-14FC-A90D-656CE308D1D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We now come to an attribute that's fundamental to trust: </a:t>
            </a:r>
            <a:r>
              <a:rPr lang="en-US" sz="1200" b="1" i="0" kern="1200" dirty="0">
                <a:solidFill>
                  <a:schemeClr val="tx1"/>
                </a:solidFill>
                <a:effectLst/>
                <a:latin typeface="+mn-lt"/>
                <a:ea typeface="+mn-ea"/>
                <a:cs typeface="+mn-cs"/>
              </a:rPr>
              <a:t>Durability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Durability is the promise that </a:t>
            </a:r>
            <a:r>
              <a:rPr lang="en-US" sz="1200" b="1" i="0" kern="1200" dirty="0">
                <a:solidFill>
                  <a:schemeClr val="tx1"/>
                </a:solidFill>
                <a:effectLst/>
                <a:latin typeface="+mn-lt"/>
                <a:ea typeface="+mn-ea"/>
                <a:cs typeface="+mn-cs"/>
              </a:rPr>
              <a:t>data, once written, will survive permanently</a:t>
            </a:r>
            <a:r>
              <a:rPr lang="en-US" sz="1200" b="0" i="0" kern="1200" dirty="0">
                <a:solidFill>
                  <a:schemeClr val="tx1"/>
                </a:solidFill>
                <a:effectLst/>
                <a:latin typeface="+mn-lt"/>
                <a:ea typeface="+mn-ea"/>
                <a:cs typeface="+mn-cs"/>
              </a:rPr>
              <a:t>. It's not enough for data to be stored; it must be stored in a way that survives hardware failures, disasters, and the passage of time.</a:t>
            </a:r>
          </a:p>
          <a:p>
            <a:r>
              <a:rPr lang="en-US" sz="1200" b="0" i="0" kern="1200" dirty="0">
                <a:solidFill>
                  <a:schemeClr val="tx1"/>
                </a:solidFill>
                <a:effectLst/>
                <a:latin typeface="+mn-lt"/>
                <a:ea typeface="+mn-ea"/>
                <a:cs typeface="+mn-cs"/>
              </a:rPr>
              <a:t>Think of ancient stone tablets versus chalk on a sidewalk. The stone carving lasts centuries; the chalk washes away in the rain. Or a safety deposit box versus carrying cash in your wallet.</a:t>
            </a:r>
          </a:p>
          <a:p>
            <a:r>
              <a:rPr lang="en-US" sz="1200" b="0" i="0" kern="1200" dirty="0">
                <a:solidFill>
                  <a:schemeClr val="tx1"/>
                </a:solidFill>
                <a:effectLst/>
                <a:latin typeface="+mn-lt"/>
                <a:ea typeface="+mn-ea"/>
                <a:cs typeface="+mn-cs"/>
              </a:rPr>
              <a:t>Durability answers critical questions: What happens if a disk drive fails? What if a server catches fire? What if an entire data center goes offline? What about 10 years from now - will the data still be readable?</a:t>
            </a:r>
          </a:p>
          <a:p>
            <a:r>
              <a:rPr lang="en-US" sz="1200" b="0" i="0" kern="1200" dirty="0">
                <a:solidFill>
                  <a:schemeClr val="tx1"/>
                </a:solidFill>
                <a:effectLst/>
                <a:latin typeface="+mn-lt"/>
                <a:ea typeface="+mn-ea"/>
                <a:cs typeface="+mn-cs"/>
              </a:rPr>
              <a:t>Important distinction: </a:t>
            </a:r>
            <a:r>
              <a:rPr lang="en-US" sz="1200" b="1" i="0" kern="1200" dirty="0">
                <a:solidFill>
                  <a:schemeClr val="tx1"/>
                </a:solidFill>
                <a:effectLst/>
                <a:latin typeface="+mn-lt"/>
                <a:ea typeface="+mn-ea"/>
                <a:cs typeface="+mn-cs"/>
              </a:rPr>
              <a:t>Durability is not the same as persistence</a:t>
            </a:r>
            <a:r>
              <a:rPr lang="en-US" sz="1200" b="0" i="0" kern="1200" dirty="0">
                <a:solidFill>
                  <a:schemeClr val="tx1"/>
                </a:solidFill>
                <a:effectLst/>
                <a:latin typeface="+mn-lt"/>
                <a:ea typeface="+mn-ea"/>
                <a:cs typeface="+mn-cs"/>
              </a:rPr>
              <a:t>. Persistence means data survives a process restart. Durability means it survives hardware failures, natural disasters, and long-term degradation. Durability is persistence taken to the extreme.</a:t>
            </a:r>
          </a:p>
          <a:p>
            <a:endParaRPr lang="en-IN" dirty="0"/>
          </a:p>
        </p:txBody>
      </p:sp>
      <p:sp>
        <p:nvSpPr>
          <p:cNvPr id="4" name="Slide Number Placeholder 3">
            <a:extLst>
              <a:ext uri="{FF2B5EF4-FFF2-40B4-BE49-F238E27FC236}">
                <a16:creationId xmlns:a16="http://schemas.microsoft.com/office/drawing/2014/main" id="{66EC138F-862D-CE9C-EAC9-3DF6B1C95D7E}"/>
              </a:ext>
            </a:extLst>
          </p:cNvPr>
          <p:cNvSpPr>
            <a:spLocks noGrp="1"/>
          </p:cNvSpPr>
          <p:nvPr>
            <p:ph type="sldNum" sz="quarter" idx="5"/>
          </p:nvPr>
        </p:nvSpPr>
        <p:spPr/>
        <p:txBody>
          <a:bodyPr/>
          <a:lstStyle/>
          <a:p>
            <a:fld id="{72853293-4F00-4813-B74A-3945ABE0C2FC}" type="slidenum">
              <a:rPr lang="en-IN" smtClean="0"/>
              <a:t>28</a:t>
            </a:fld>
            <a:endParaRPr lang="en-IN"/>
          </a:p>
        </p:txBody>
      </p:sp>
    </p:spTree>
    <p:extLst>
      <p:ext uri="{BB962C8B-B14F-4D97-AF65-F5344CB8AC3E}">
        <p14:creationId xmlns:p14="http://schemas.microsoft.com/office/powerpoint/2010/main" val="33999277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7F87E-C56C-823F-66F1-32DEF058E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CCE38-46C4-45C7-C5D6-D2155D84E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BA295-88EF-A0D0-C57F-53B036559A0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Why does durability matter so much? Because </a:t>
            </a:r>
            <a:r>
              <a:rPr lang="en-US" sz="1200" b="1" i="0" kern="1200" dirty="0">
                <a:solidFill>
                  <a:schemeClr val="tx1"/>
                </a:solidFill>
                <a:effectLst/>
                <a:latin typeface="+mn-lt"/>
                <a:ea typeface="+mn-ea"/>
                <a:cs typeface="+mn-cs"/>
              </a:rPr>
              <a:t>lost data has real consequences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For individuals, lost photos, documents, memories. For businesses, lost transactions mean lost revenue. Lost customer data means broken trust. For critical systems, lost medical records or legal documents can have life-altering impacts.</a:t>
            </a:r>
          </a:p>
          <a:p>
            <a:r>
              <a:rPr lang="en-US" sz="1200" b="0" i="0" kern="1200" dirty="0">
                <a:solidFill>
                  <a:schemeClr val="tx1"/>
                </a:solidFill>
                <a:effectLst/>
                <a:latin typeface="+mn-lt"/>
                <a:ea typeface="+mn-ea"/>
                <a:cs typeface="+mn-cs"/>
              </a:rPr>
              <a:t>The business impact is severe: </a:t>
            </a:r>
            <a:r>
              <a:rPr lang="en-US" sz="1200" b="1" i="0" kern="1200" dirty="0">
                <a:solidFill>
                  <a:schemeClr val="tx1"/>
                </a:solidFill>
                <a:effectLst/>
                <a:latin typeface="+mn-lt"/>
                <a:ea typeface="+mn-ea"/>
                <a:cs typeface="+mn-cs"/>
              </a:rPr>
              <a:t>Financial loss</a:t>
            </a:r>
            <a:r>
              <a:rPr lang="en-US" sz="1200" b="0" i="0" kern="1200" dirty="0">
                <a:solidFill>
                  <a:schemeClr val="tx1"/>
                </a:solidFill>
                <a:effectLst/>
                <a:latin typeface="+mn-lt"/>
                <a:ea typeface="+mn-ea"/>
                <a:cs typeface="+mn-cs"/>
              </a:rPr>
              <a:t> from recovery efforts and lawsuits. </a:t>
            </a:r>
            <a:r>
              <a:rPr lang="en-US" sz="1200" b="1" i="0" kern="1200" dirty="0">
                <a:solidFill>
                  <a:schemeClr val="tx1"/>
                </a:solidFill>
                <a:effectLst/>
                <a:latin typeface="+mn-lt"/>
                <a:ea typeface="+mn-ea"/>
                <a:cs typeface="+mn-cs"/>
              </a:rPr>
              <a:t>Reputation damage</a:t>
            </a:r>
            <a:r>
              <a:rPr lang="en-US" sz="1200" b="0" i="0" kern="1200" dirty="0">
                <a:solidFill>
                  <a:schemeClr val="tx1"/>
                </a:solidFill>
                <a:effectLst/>
                <a:latin typeface="+mn-lt"/>
                <a:ea typeface="+mn-ea"/>
                <a:cs typeface="+mn-cs"/>
              </a:rPr>
              <a:t> - customers won't trust you with their data again. </a:t>
            </a:r>
            <a:r>
              <a:rPr lang="en-US" sz="1200" b="1" i="0" kern="1200" dirty="0">
                <a:solidFill>
                  <a:schemeClr val="tx1"/>
                </a:solidFill>
                <a:effectLst/>
                <a:latin typeface="+mn-lt"/>
                <a:ea typeface="+mn-ea"/>
                <a:cs typeface="+mn-cs"/>
              </a:rPr>
              <a:t>Legal consequences</a:t>
            </a:r>
            <a:r>
              <a:rPr lang="en-US" sz="1200" b="0" i="0" kern="1200" dirty="0">
                <a:solidFill>
                  <a:schemeClr val="tx1"/>
                </a:solidFill>
                <a:effectLst/>
                <a:latin typeface="+mn-lt"/>
                <a:ea typeface="+mn-ea"/>
                <a:cs typeface="+mn-cs"/>
              </a:rPr>
              <a:t> - GDPR fines can be 4% of global revenue. </a:t>
            </a:r>
            <a:r>
              <a:rPr lang="en-US" sz="1200" b="1" i="0" kern="1200" dirty="0">
                <a:solidFill>
                  <a:schemeClr val="tx1"/>
                </a:solidFill>
                <a:effectLst/>
                <a:latin typeface="+mn-lt"/>
                <a:ea typeface="+mn-ea"/>
                <a:cs typeface="+mn-cs"/>
              </a:rPr>
              <a:t>Operational disruption</a:t>
            </a:r>
            <a:r>
              <a:rPr lang="en-US" sz="1200" b="0" i="0" kern="1200" dirty="0">
                <a:solidFill>
                  <a:schemeClr val="tx1"/>
                </a:solidFill>
                <a:effectLst/>
                <a:latin typeface="+mn-lt"/>
                <a:ea typeface="+mn-ea"/>
                <a:cs typeface="+mn-cs"/>
              </a:rPr>
              <a:t> - you can't serve customers without their data.</a:t>
            </a:r>
          </a:p>
          <a:p>
            <a:r>
              <a:rPr lang="en-US" sz="1200" b="0" i="0" kern="1200" dirty="0">
                <a:solidFill>
                  <a:schemeClr val="tx1"/>
                </a:solidFill>
                <a:effectLst/>
                <a:latin typeface="+mn-lt"/>
                <a:ea typeface="+mn-ea"/>
                <a:cs typeface="+mn-cs"/>
              </a:rPr>
              <a:t>But durability requirements vary. A social media post? Some loss might be acceptable. A bank transaction? Near-perfect durability required. A medical record? We aim for 100% durability.</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3-2-1 rule</a:t>
            </a:r>
            <a:r>
              <a:rPr lang="en-US" sz="1200" b="0" i="0" kern="1200" dirty="0">
                <a:solidFill>
                  <a:schemeClr val="tx1"/>
                </a:solidFill>
                <a:effectLst/>
                <a:latin typeface="+mn-lt"/>
                <a:ea typeface="+mn-ea"/>
                <a:cs typeface="+mn-cs"/>
              </a:rPr>
              <a:t> is a good starting point: 3 copies, on 2 different media types, with 1 copy offsite.</a:t>
            </a:r>
          </a:p>
          <a:p>
            <a:r>
              <a:rPr lang="en-US" sz="1200" b="0" i="0" kern="1200" dirty="0">
                <a:solidFill>
                  <a:schemeClr val="tx1"/>
                </a:solidFill>
                <a:effectLst/>
                <a:latin typeface="+mn-lt"/>
                <a:ea typeface="+mn-ea"/>
                <a:cs typeface="+mn-cs"/>
              </a:rPr>
              <a:t>The key insight: </a:t>
            </a:r>
            <a:r>
              <a:rPr lang="en-US" sz="1200" b="1" i="0" kern="1200" dirty="0">
                <a:solidFill>
                  <a:schemeClr val="tx1"/>
                </a:solidFill>
                <a:effectLst/>
                <a:latin typeface="+mn-lt"/>
                <a:ea typeface="+mn-ea"/>
                <a:cs typeface="+mn-cs"/>
              </a:rPr>
              <a:t>The cost of preventing data loss is usually far less than the cost of recovering from data loss</a:t>
            </a:r>
            <a:r>
              <a:rPr lang="en-US" sz="1200" b="0" i="0" kern="1200" dirty="0">
                <a:solidFill>
                  <a:schemeClr val="tx1"/>
                </a:solidFill>
                <a:effectLst/>
                <a:latin typeface="+mn-lt"/>
                <a:ea typeface="+mn-ea"/>
                <a:cs typeface="+mn-cs"/>
              </a:rPr>
              <a:t>. Investing in durability is insurance against catastrophic failure.</a:t>
            </a:r>
          </a:p>
          <a:p>
            <a:endParaRPr lang="en-IN" dirty="0"/>
          </a:p>
        </p:txBody>
      </p:sp>
      <p:sp>
        <p:nvSpPr>
          <p:cNvPr id="4" name="Slide Number Placeholder 3">
            <a:extLst>
              <a:ext uri="{FF2B5EF4-FFF2-40B4-BE49-F238E27FC236}">
                <a16:creationId xmlns:a16="http://schemas.microsoft.com/office/drawing/2014/main" id="{9F27BCF6-80A2-F409-0AA5-68C2732F0EC4}"/>
              </a:ext>
            </a:extLst>
          </p:cNvPr>
          <p:cNvSpPr>
            <a:spLocks noGrp="1"/>
          </p:cNvSpPr>
          <p:nvPr>
            <p:ph type="sldNum" sz="quarter" idx="5"/>
          </p:nvPr>
        </p:nvSpPr>
        <p:spPr/>
        <p:txBody>
          <a:bodyPr/>
          <a:lstStyle/>
          <a:p>
            <a:fld id="{72853293-4F00-4813-B74A-3945ABE0C2FC}" type="slidenum">
              <a:rPr lang="en-IN" smtClean="0"/>
              <a:t>29</a:t>
            </a:fld>
            <a:endParaRPr lang="en-IN"/>
          </a:p>
        </p:txBody>
      </p:sp>
    </p:spTree>
    <p:extLst>
      <p:ext uri="{BB962C8B-B14F-4D97-AF65-F5344CB8AC3E}">
        <p14:creationId xmlns:p14="http://schemas.microsoft.com/office/powerpoint/2010/main" val="16158893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C0EF2-05E6-BB44-42F1-E2D16638B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A97FE-51AB-2B66-EAA9-6E80A6F6D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ED0B63-36AF-A2B5-EC16-03088316EA3E}"/>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So how do we achieve durability? Through multiple complementary techniques:</a:t>
            </a:r>
          </a:p>
          <a:p>
            <a:r>
              <a:rPr lang="en-US" sz="1200" b="1" i="0" kern="1200" dirty="0">
                <a:solidFill>
                  <a:schemeClr val="tx1"/>
                </a:solidFill>
                <a:effectLst/>
                <a:latin typeface="+mn-lt"/>
                <a:ea typeface="+mn-ea"/>
                <a:cs typeface="+mn-cs"/>
              </a:rPr>
              <a:t>Redundancy</a:t>
            </a:r>
            <a:r>
              <a:rPr lang="en-US" sz="1200" b="0" i="0" kern="1200" dirty="0">
                <a:solidFill>
                  <a:schemeClr val="tx1"/>
                </a:solidFill>
                <a:effectLst/>
                <a:latin typeface="+mn-lt"/>
                <a:ea typeface="+mn-ea"/>
                <a:cs typeface="+mn-cs"/>
              </a:rPr>
              <a:t> is fundamental: store multiple copies. Simple replication keeps identical copies on different devices. </a:t>
            </a:r>
            <a:r>
              <a:rPr lang="en-US" sz="1200" b="1" i="0" kern="1200" dirty="0">
                <a:solidFill>
                  <a:schemeClr val="tx1"/>
                </a:solidFill>
                <a:effectLst/>
                <a:latin typeface="+mn-lt"/>
                <a:ea typeface="+mn-ea"/>
                <a:cs typeface="+mn-cs"/>
              </a:rPr>
              <a:t>Erasure coding</a:t>
            </a:r>
            <a:r>
              <a:rPr lang="en-US" sz="1200" b="0" i="0" kern="1200" dirty="0">
                <a:solidFill>
                  <a:schemeClr val="tx1"/>
                </a:solidFill>
                <a:effectLst/>
                <a:latin typeface="+mn-lt"/>
                <a:ea typeface="+mn-ea"/>
                <a:cs typeface="+mn-cs"/>
              </a:rPr>
              <a:t> is more sophisticated: split data into chunks with parity information. You can lose several chunks and still reconstruct the original. More space-efficient than simple replication.</a:t>
            </a:r>
          </a:p>
          <a:p>
            <a:r>
              <a:rPr lang="en-US" sz="1200" b="1" i="0" kern="1200" dirty="0">
                <a:solidFill>
                  <a:schemeClr val="tx1"/>
                </a:solidFill>
                <a:effectLst/>
                <a:latin typeface="+mn-lt"/>
                <a:ea typeface="+mn-ea"/>
                <a:cs typeface="+mn-cs"/>
              </a:rPr>
              <a:t>Geographic distribution</a:t>
            </a:r>
            <a:r>
              <a:rPr lang="en-US" sz="1200" b="0" i="0" kern="1200" dirty="0">
                <a:solidFill>
                  <a:schemeClr val="tx1"/>
                </a:solidFill>
                <a:effectLst/>
                <a:latin typeface="+mn-lt"/>
                <a:ea typeface="+mn-ea"/>
                <a:cs typeface="+mn-cs"/>
              </a:rPr>
              <a:t> protects against regional disasters. Different data centers in different seismic zones, flood plains, power grids. Cloud providers offer availability zones and regions for this.</a:t>
            </a:r>
          </a:p>
          <a:p>
            <a:r>
              <a:rPr lang="en-US" sz="1200" b="1" i="0" kern="1200" dirty="0">
                <a:solidFill>
                  <a:schemeClr val="tx1"/>
                </a:solidFill>
                <a:effectLst/>
                <a:latin typeface="+mn-lt"/>
                <a:ea typeface="+mn-ea"/>
                <a:cs typeface="+mn-cs"/>
              </a:rPr>
              <a:t>Regular backups</a:t>
            </a:r>
            <a:r>
              <a:rPr lang="en-US" sz="1200" b="0" i="0" kern="1200" dirty="0">
                <a:solidFill>
                  <a:schemeClr val="tx1"/>
                </a:solidFill>
                <a:effectLst/>
                <a:latin typeface="+mn-lt"/>
                <a:ea typeface="+mn-ea"/>
                <a:cs typeface="+mn-cs"/>
              </a:rPr>
              <a:t> are non-negotiable. Full backups, incremental backups, point-in-time recovery. Test your backups regularly - an untested backup is no backup at all.</a:t>
            </a:r>
          </a:p>
          <a:p>
            <a:r>
              <a:rPr lang="en-US" sz="1200" b="1" i="0" kern="1200" dirty="0">
                <a:solidFill>
                  <a:schemeClr val="tx1"/>
                </a:solidFill>
                <a:effectLst/>
                <a:latin typeface="+mn-lt"/>
                <a:ea typeface="+mn-ea"/>
                <a:cs typeface="+mn-cs"/>
              </a:rPr>
              <a:t>Data integrity checks</a:t>
            </a:r>
            <a:r>
              <a:rPr lang="en-US" sz="1200" b="0" i="0" kern="1200" dirty="0">
                <a:solidFill>
                  <a:schemeClr val="tx1"/>
                </a:solidFill>
                <a:effectLst/>
                <a:latin typeface="+mn-lt"/>
                <a:ea typeface="+mn-ea"/>
                <a:cs typeface="+mn-cs"/>
              </a:rPr>
              <a:t> detect corruption. Checksums, CRCs, cryptographic hashes. When you read data, verify it hasn't been corrupted. Systems like ZFS do this automatically.</a:t>
            </a:r>
          </a:p>
          <a:p>
            <a:r>
              <a:rPr lang="en-US" sz="1200" b="1" i="0" kern="1200" dirty="0">
                <a:solidFill>
                  <a:schemeClr val="tx1"/>
                </a:solidFill>
                <a:effectLst/>
                <a:latin typeface="+mn-lt"/>
                <a:ea typeface="+mn-ea"/>
                <a:cs typeface="+mn-cs"/>
              </a:rPr>
              <a:t>Versioning and immutability</a:t>
            </a:r>
            <a:r>
              <a:rPr lang="en-US" sz="1200" b="0" i="0" kern="1200" dirty="0">
                <a:solidFill>
                  <a:schemeClr val="tx1"/>
                </a:solidFill>
                <a:effectLst/>
                <a:latin typeface="+mn-lt"/>
                <a:ea typeface="+mn-ea"/>
                <a:cs typeface="+mn-cs"/>
              </a:rPr>
              <a:t> prevent accidental or malicious modification. Write-Once-Read-Many (WORM) storage, object versioning. If data can't be changed, it can't be corrupted.</a:t>
            </a:r>
          </a:p>
          <a:p>
            <a:endParaRPr lang="en-IN" dirty="0"/>
          </a:p>
        </p:txBody>
      </p:sp>
      <p:sp>
        <p:nvSpPr>
          <p:cNvPr id="4" name="Slide Number Placeholder 3">
            <a:extLst>
              <a:ext uri="{FF2B5EF4-FFF2-40B4-BE49-F238E27FC236}">
                <a16:creationId xmlns:a16="http://schemas.microsoft.com/office/drawing/2014/main" id="{668F15D9-77CF-F143-EEB3-E16AB47E133E}"/>
              </a:ext>
            </a:extLst>
          </p:cNvPr>
          <p:cNvSpPr>
            <a:spLocks noGrp="1"/>
          </p:cNvSpPr>
          <p:nvPr>
            <p:ph type="sldNum" sz="quarter" idx="5"/>
          </p:nvPr>
        </p:nvSpPr>
        <p:spPr/>
        <p:txBody>
          <a:bodyPr/>
          <a:lstStyle/>
          <a:p>
            <a:fld id="{72853293-4F00-4813-B74A-3945ABE0C2FC}" type="slidenum">
              <a:rPr lang="en-IN" smtClean="0"/>
              <a:t>30</a:t>
            </a:fld>
            <a:endParaRPr lang="en-IN"/>
          </a:p>
        </p:txBody>
      </p:sp>
    </p:spTree>
    <p:extLst>
      <p:ext uri="{BB962C8B-B14F-4D97-AF65-F5344CB8AC3E}">
        <p14:creationId xmlns:p14="http://schemas.microsoft.com/office/powerpoint/2010/main" val="28587376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9466B-35E2-30CA-C91F-1B60F22FA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7D817-DF49-81B3-5077-70974E0F0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0A6AD-D996-6058-89EC-D4C4706B0F9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Our final critical attribute is </a:t>
            </a:r>
            <a:r>
              <a:rPr lang="en-US" sz="1200" b="1" i="0" kern="1200" dirty="0">
                <a:solidFill>
                  <a:schemeClr val="tx1"/>
                </a:solidFill>
                <a:effectLst/>
                <a:latin typeface="+mn-lt"/>
                <a:ea typeface="+mn-ea"/>
                <a:cs typeface="+mn-cs"/>
              </a:rPr>
              <a:t>Maintainability</a:t>
            </a:r>
            <a:r>
              <a:rPr lang="en-US" sz="1200" b="0" i="0" kern="1200" dirty="0">
                <a:solidFill>
                  <a:schemeClr val="tx1"/>
                </a:solidFill>
                <a:effectLst/>
                <a:latin typeface="+mn-lt"/>
                <a:ea typeface="+mn-ea"/>
                <a:cs typeface="+mn-cs"/>
              </a:rPr>
              <a:t> - how easily a system can be modified, updated, and improved throughout its lifecycle.</a:t>
            </a:r>
          </a:p>
          <a:p>
            <a:r>
              <a:rPr lang="en-US" sz="1200" b="0" i="0" kern="1200" dirty="0">
                <a:solidFill>
                  <a:schemeClr val="tx1"/>
                </a:solidFill>
                <a:effectLst/>
                <a:latin typeface="+mn-lt"/>
                <a:ea typeface="+mn-ea"/>
                <a:cs typeface="+mn-cs"/>
              </a:rPr>
              <a:t>While other attributes focus on runtime behavior, maintainability focuses on the </a:t>
            </a:r>
            <a:r>
              <a:rPr lang="en-US" sz="1200" b="1" i="0" kern="1200" dirty="0">
                <a:solidFill>
                  <a:schemeClr val="tx1"/>
                </a:solidFill>
                <a:effectLst/>
                <a:latin typeface="+mn-lt"/>
                <a:ea typeface="+mn-ea"/>
                <a:cs typeface="+mn-cs"/>
              </a:rPr>
              <a:t>human</a:t>
            </a:r>
            <a:r>
              <a:rPr lang="en-US" sz="1200" b="0" i="0" kern="1200" dirty="0">
                <a:solidFill>
                  <a:schemeClr val="tx1"/>
                </a:solidFill>
                <a:effectLst/>
                <a:latin typeface="+mn-lt"/>
                <a:ea typeface="+mn-ea"/>
                <a:cs typeface="+mn-cs"/>
              </a:rPr>
              <a:t> aspect: how developers work with the system over time. Most systems live for years or decades, not weeks. They need to evolve.</a:t>
            </a:r>
          </a:p>
          <a:p>
            <a:r>
              <a:rPr lang="en-US" sz="1200" b="0" i="0" kern="1200" dirty="0">
                <a:solidFill>
                  <a:schemeClr val="tx1"/>
                </a:solidFill>
                <a:effectLst/>
                <a:latin typeface="+mn-lt"/>
                <a:ea typeface="+mn-ea"/>
                <a:cs typeface="+mn-cs"/>
              </a:rPr>
              <a:t>Think of two cars: one where everything is accessible and standardized (easy to maintain), and another where you need to remove the engine to change a light bulb (hard to maintain).</a:t>
            </a:r>
          </a:p>
          <a:p>
            <a:r>
              <a:rPr lang="en-US" sz="1200" b="0" i="0" kern="1200" dirty="0">
                <a:solidFill>
                  <a:schemeClr val="tx1"/>
                </a:solidFill>
                <a:effectLst/>
                <a:latin typeface="+mn-lt"/>
                <a:ea typeface="+mn-ea"/>
                <a:cs typeface="+mn-cs"/>
              </a:rPr>
              <a:t>There are three types of maintenance:</a:t>
            </a: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Corrective</a:t>
            </a:r>
            <a:r>
              <a:rPr lang="en-US" sz="1200" b="0" i="0" kern="1200" dirty="0">
                <a:solidFill>
                  <a:schemeClr val="tx1"/>
                </a:solidFill>
                <a:effectLst/>
                <a:latin typeface="+mn-lt"/>
                <a:ea typeface="+mn-ea"/>
                <a:cs typeface="+mn-cs"/>
              </a:rPr>
              <a:t> - fixing bugs. </a:t>
            </a:r>
            <a:r>
              <a:rPr lang="en-US" sz="1200" b="1" i="0" kern="1200" dirty="0">
                <a:solidFill>
                  <a:schemeClr val="tx1"/>
                </a:solidFill>
                <a:effectLst/>
                <a:latin typeface="+mn-lt"/>
                <a:ea typeface="+mn-ea"/>
                <a:cs typeface="+mn-cs"/>
              </a:rPr>
              <a:t>Adaptive</a:t>
            </a:r>
            <a:r>
              <a:rPr lang="en-US" sz="1200" b="0" i="0" kern="1200" dirty="0">
                <a:solidFill>
                  <a:schemeClr val="tx1"/>
                </a:solidFill>
                <a:effectLst/>
                <a:latin typeface="+mn-lt"/>
                <a:ea typeface="+mn-ea"/>
                <a:cs typeface="+mn-cs"/>
              </a:rPr>
              <a:t> - adapting to new environments (new OS, new regulations). </a:t>
            </a:r>
            <a:r>
              <a:rPr lang="en-US" sz="1200" b="1" i="0" kern="1200" dirty="0">
                <a:solidFill>
                  <a:schemeClr val="tx1"/>
                </a:solidFill>
                <a:effectLst/>
                <a:latin typeface="+mn-lt"/>
                <a:ea typeface="+mn-ea"/>
                <a:cs typeface="+mn-cs"/>
              </a:rPr>
              <a:t>Perfective</a:t>
            </a:r>
            <a:r>
              <a:rPr lang="en-US" sz="1200" b="0" i="0" kern="1200" dirty="0">
                <a:solidFill>
                  <a:schemeClr val="tx1"/>
                </a:solidFill>
                <a:effectLst/>
                <a:latin typeface="+mn-lt"/>
                <a:ea typeface="+mn-ea"/>
                <a:cs typeface="+mn-cs"/>
              </a:rPr>
              <a:t> - adding features or improving performance.</a:t>
            </a:r>
          </a:p>
          <a:p>
            <a:r>
              <a:rPr lang="en-US" sz="1200" b="0" i="0" kern="1200" dirty="0">
                <a:solidFill>
                  <a:schemeClr val="tx1"/>
                </a:solidFill>
                <a:effectLst/>
                <a:latin typeface="+mn-lt"/>
                <a:ea typeface="+mn-ea"/>
                <a:cs typeface="+mn-cs"/>
              </a:rPr>
              <a:t>The key insight: </a:t>
            </a:r>
            <a:r>
              <a:rPr lang="en-US" sz="1200" b="1" i="0" kern="1200" dirty="0">
                <a:solidFill>
                  <a:schemeClr val="tx1"/>
                </a:solidFill>
                <a:effectLst/>
                <a:latin typeface="+mn-lt"/>
                <a:ea typeface="+mn-ea"/>
                <a:cs typeface="+mn-cs"/>
              </a:rPr>
              <a:t>Most software cost comes from maintenance, not initial development</a:t>
            </a:r>
            <a:r>
              <a:rPr lang="en-US" sz="1200" b="0" i="0" kern="1200" dirty="0">
                <a:solidFill>
                  <a:schemeClr val="tx1"/>
                </a:solidFill>
                <a:effectLst/>
                <a:latin typeface="+mn-lt"/>
                <a:ea typeface="+mn-ea"/>
                <a:cs typeface="+mn-cs"/>
              </a:rPr>
              <a:t>. A system that's cheap to build but expensive to maintain is actually very costly over its lifetime. Maintainability is an economic concern as much as a technical one.</a:t>
            </a:r>
          </a:p>
          <a:p>
            <a:endParaRPr lang="en-IN" dirty="0"/>
          </a:p>
        </p:txBody>
      </p:sp>
      <p:sp>
        <p:nvSpPr>
          <p:cNvPr id="4" name="Slide Number Placeholder 3">
            <a:extLst>
              <a:ext uri="{FF2B5EF4-FFF2-40B4-BE49-F238E27FC236}">
                <a16:creationId xmlns:a16="http://schemas.microsoft.com/office/drawing/2014/main" id="{1D95B817-5401-F1CC-A951-84012F3FA1C3}"/>
              </a:ext>
            </a:extLst>
          </p:cNvPr>
          <p:cNvSpPr>
            <a:spLocks noGrp="1"/>
          </p:cNvSpPr>
          <p:nvPr>
            <p:ph type="sldNum" sz="quarter" idx="5"/>
          </p:nvPr>
        </p:nvSpPr>
        <p:spPr/>
        <p:txBody>
          <a:bodyPr/>
          <a:lstStyle/>
          <a:p>
            <a:fld id="{72853293-4F00-4813-B74A-3945ABE0C2FC}" type="slidenum">
              <a:rPr lang="en-IN" smtClean="0"/>
              <a:t>31</a:t>
            </a:fld>
            <a:endParaRPr lang="en-IN"/>
          </a:p>
        </p:txBody>
      </p:sp>
    </p:spTree>
    <p:extLst>
      <p:ext uri="{BB962C8B-B14F-4D97-AF65-F5344CB8AC3E}">
        <p14:creationId xmlns:p14="http://schemas.microsoft.com/office/powerpoint/2010/main" val="27876266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97A0A-344B-7131-4FE1-E871FAB72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837B4-4976-D3A9-E6FF-45B84DE1F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E2A9E2-5A6D-2089-0C88-FE8103664C1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we come to performance metrics that directly impact user experience: </a:t>
            </a:r>
            <a:r>
              <a:rPr lang="en-US" sz="1200" b="1" i="0" kern="1200" dirty="0">
                <a:solidFill>
                  <a:schemeClr val="tx1"/>
                </a:solidFill>
                <a:effectLst/>
                <a:latin typeface="+mn-lt"/>
                <a:ea typeface="+mn-ea"/>
                <a:cs typeface="+mn-cs"/>
              </a:rPr>
              <a:t>Latency, Throughput, and Bandwidth</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Latency</a:t>
            </a:r>
            <a:r>
              <a:rPr lang="en-US" sz="1200" b="0" i="0" kern="1200" dirty="0">
                <a:solidFill>
                  <a:schemeClr val="tx1"/>
                </a:solidFill>
                <a:effectLst/>
                <a:latin typeface="+mn-lt"/>
                <a:ea typeface="+mn-ea"/>
                <a:cs typeface="+mn-cs"/>
              </a:rPr>
              <a:t> is about </a:t>
            </a:r>
            <a:r>
              <a:rPr lang="en-US" sz="1200" b="1" i="0" kern="1200" dirty="0">
                <a:solidFill>
                  <a:schemeClr val="tx1"/>
                </a:solidFill>
                <a:effectLst/>
                <a:latin typeface="+mn-lt"/>
                <a:ea typeface="+mn-ea"/>
                <a:cs typeface="+mn-cs"/>
              </a:rPr>
              <a:t>time</a:t>
            </a:r>
            <a:r>
              <a:rPr lang="en-US" sz="1200" b="0" i="0" kern="1200" dirty="0">
                <a:solidFill>
                  <a:schemeClr val="tx1"/>
                </a:solidFill>
                <a:effectLst/>
                <a:latin typeface="+mn-lt"/>
                <a:ea typeface="+mn-ea"/>
                <a:cs typeface="+mn-cs"/>
              </a:rPr>
              <a:t> - how long does one operation take? When you click a button and wait for response, that's latency. We measure it in milliseconds. Good latency feels instantaneous; bad latency feels sluggish.</a:t>
            </a:r>
          </a:p>
          <a:p>
            <a:r>
              <a:rPr lang="en-US" sz="1200" b="1" i="0" kern="1200" dirty="0">
                <a:solidFill>
                  <a:schemeClr val="tx1"/>
                </a:solidFill>
                <a:effectLst/>
                <a:latin typeface="+mn-lt"/>
                <a:ea typeface="+mn-ea"/>
                <a:cs typeface="+mn-cs"/>
              </a:rPr>
              <a:t>Throughput</a:t>
            </a:r>
            <a:r>
              <a:rPr lang="en-US" sz="1200" b="0" i="0" kern="1200" dirty="0">
                <a:solidFill>
                  <a:schemeClr val="tx1"/>
                </a:solidFill>
                <a:effectLst/>
                <a:latin typeface="+mn-lt"/>
                <a:ea typeface="+mn-ea"/>
                <a:cs typeface="+mn-cs"/>
              </a:rPr>
              <a:t> is about </a:t>
            </a:r>
            <a:r>
              <a:rPr lang="en-US" sz="1200" b="1" i="0" kern="1200" dirty="0">
                <a:solidFill>
                  <a:schemeClr val="tx1"/>
                </a:solidFill>
                <a:effectLst/>
                <a:latin typeface="+mn-lt"/>
                <a:ea typeface="+mn-ea"/>
                <a:cs typeface="+mn-cs"/>
              </a:rPr>
              <a:t>volume</a:t>
            </a:r>
            <a:r>
              <a:rPr lang="en-US" sz="1200" b="0" i="0" kern="1200" dirty="0">
                <a:solidFill>
                  <a:schemeClr val="tx1"/>
                </a:solidFill>
                <a:effectLst/>
                <a:latin typeface="+mn-lt"/>
                <a:ea typeface="+mn-ea"/>
                <a:cs typeface="+mn-cs"/>
              </a:rPr>
              <a:t> - how many operations can we handle per second? If 1,000 users click simultaneously, can we serve them all? Throughput measures our capacity.</a:t>
            </a:r>
          </a:p>
          <a:p>
            <a:r>
              <a:rPr lang="en-US" sz="1200" b="1" i="0" kern="1200" dirty="0">
                <a:solidFill>
                  <a:schemeClr val="tx1"/>
                </a:solidFill>
                <a:effectLst/>
                <a:latin typeface="+mn-lt"/>
                <a:ea typeface="+mn-ea"/>
                <a:cs typeface="+mn-cs"/>
              </a:rPr>
              <a:t>Bandwidth</a:t>
            </a:r>
            <a:r>
              <a:rPr lang="en-US" sz="1200" b="0" i="0" kern="1200" dirty="0">
                <a:solidFill>
                  <a:schemeClr val="tx1"/>
                </a:solidFill>
                <a:effectLst/>
                <a:latin typeface="+mn-lt"/>
                <a:ea typeface="+mn-ea"/>
                <a:cs typeface="+mn-cs"/>
              </a:rPr>
              <a:t> is about </a:t>
            </a:r>
            <a:r>
              <a:rPr lang="en-US" sz="1200" b="1" i="0" kern="1200" dirty="0">
                <a:solidFill>
                  <a:schemeClr val="tx1"/>
                </a:solidFill>
                <a:effectLst/>
                <a:latin typeface="+mn-lt"/>
                <a:ea typeface="+mn-ea"/>
                <a:cs typeface="+mn-cs"/>
              </a:rPr>
              <a:t>data flow</a:t>
            </a:r>
            <a:r>
              <a:rPr lang="en-US" sz="1200" b="0" i="0" kern="1200" dirty="0">
                <a:solidFill>
                  <a:schemeClr val="tx1"/>
                </a:solidFill>
                <a:effectLst/>
                <a:latin typeface="+mn-lt"/>
                <a:ea typeface="+mn-ea"/>
                <a:cs typeface="+mn-cs"/>
              </a:rPr>
              <a:t> - how much data can move through a pipe? Network bandwidth, disk I/O bandwidth, memory bandwidth. It's the maximum data transfer rate.</a:t>
            </a:r>
          </a:p>
          <a:p>
            <a:r>
              <a:rPr lang="en-US" sz="1200" b="0" i="0" kern="1200" dirty="0">
                <a:solidFill>
                  <a:schemeClr val="tx1"/>
                </a:solidFill>
                <a:effectLst/>
                <a:latin typeface="+mn-lt"/>
                <a:ea typeface="+mn-ea"/>
                <a:cs typeface="+mn-cs"/>
              </a:rPr>
              <a:t>Think of a highway: </a:t>
            </a:r>
            <a:r>
              <a:rPr lang="en-US" sz="1200" b="1" i="0" kern="1200" dirty="0">
                <a:solidFill>
                  <a:schemeClr val="tx1"/>
                </a:solidFill>
                <a:effectLst/>
                <a:latin typeface="+mn-lt"/>
                <a:ea typeface="+mn-ea"/>
                <a:cs typeface="+mn-cs"/>
              </a:rPr>
              <a:t>Latency</a:t>
            </a:r>
            <a:r>
              <a:rPr lang="en-US" sz="1200" b="0" i="0" kern="1200" dirty="0">
                <a:solidFill>
                  <a:schemeClr val="tx1"/>
                </a:solidFill>
                <a:effectLst/>
                <a:latin typeface="+mn-lt"/>
                <a:ea typeface="+mn-ea"/>
                <a:cs typeface="+mn-cs"/>
              </a:rPr>
              <a:t> is how long for one car to travel from city A to B. </a:t>
            </a:r>
            <a:r>
              <a:rPr lang="en-US" sz="1200" b="1" i="0" kern="1200" dirty="0">
                <a:solidFill>
                  <a:schemeClr val="tx1"/>
                </a:solidFill>
                <a:effectLst/>
                <a:latin typeface="+mn-lt"/>
                <a:ea typeface="+mn-ea"/>
                <a:cs typeface="+mn-cs"/>
              </a:rPr>
              <a:t>Throughput</a:t>
            </a:r>
            <a:r>
              <a:rPr lang="en-US" sz="1200" b="0" i="0" kern="1200" dirty="0">
                <a:solidFill>
                  <a:schemeClr val="tx1"/>
                </a:solidFill>
                <a:effectLst/>
                <a:latin typeface="+mn-lt"/>
                <a:ea typeface="+mn-ea"/>
                <a:cs typeface="+mn-cs"/>
              </a:rPr>
              <a:t> is how many cars pass a toll booth per hour. </a:t>
            </a:r>
            <a:r>
              <a:rPr lang="en-US" sz="1200" b="1" i="0" kern="1200" dirty="0">
                <a:solidFill>
                  <a:schemeClr val="tx1"/>
                </a:solidFill>
                <a:effectLst/>
                <a:latin typeface="+mn-lt"/>
                <a:ea typeface="+mn-ea"/>
                <a:cs typeface="+mn-cs"/>
              </a:rPr>
              <a:t>Bandwidth</a:t>
            </a:r>
            <a:r>
              <a:rPr lang="en-US" sz="1200" b="0" i="0" kern="1200" dirty="0">
                <a:solidFill>
                  <a:schemeClr val="tx1"/>
                </a:solidFill>
                <a:effectLst/>
                <a:latin typeface="+mn-lt"/>
                <a:ea typeface="+mn-ea"/>
                <a:cs typeface="+mn-cs"/>
              </a:rPr>
              <a:t> is how many lanes the highway has.</a:t>
            </a:r>
          </a:p>
          <a:p>
            <a:r>
              <a:rPr lang="en-US" sz="1200" b="0" i="0" kern="1200" dirty="0">
                <a:solidFill>
                  <a:schemeClr val="tx1"/>
                </a:solidFill>
                <a:effectLst/>
                <a:latin typeface="+mn-lt"/>
                <a:ea typeface="+mn-ea"/>
                <a:cs typeface="+mn-cs"/>
              </a:rPr>
              <a:t>Crucially, these are </a:t>
            </a:r>
            <a:r>
              <a:rPr lang="en-US" sz="1200" b="1" i="0" kern="1200" dirty="0">
                <a:solidFill>
                  <a:schemeClr val="tx1"/>
                </a:solidFill>
                <a:effectLst/>
                <a:latin typeface="+mn-lt"/>
                <a:ea typeface="+mn-ea"/>
                <a:cs typeface="+mn-cs"/>
              </a:rPr>
              <a:t>independent but related</a:t>
            </a:r>
            <a:r>
              <a:rPr lang="en-US" sz="1200" b="0" i="0" kern="1200" dirty="0">
                <a:solidFill>
                  <a:schemeClr val="tx1"/>
                </a:solidFill>
                <a:effectLst/>
                <a:latin typeface="+mn-lt"/>
                <a:ea typeface="+mn-ea"/>
                <a:cs typeface="+mn-cs"/>
              </a:rPr>
              <a:t>. You can have high bandwidth (big pipe) but still have high latency (data takes long to travel). Or high throughput (many small requests) but each has high latency. Understanding this distinction is key to performance optimization.</a:t>
            </a:r>
          </a:p>
          <a:p>
            <a:endParaRPr lang="en-IN" dirty="0"/>
          </a:p>
          <a:p>
            <a:r>
              <a:rPr lang="en-US" sz="1200" b="0" i="0" kern="1200" dirty="0">
                <a:solidFill>
                  <a:schemeClr val="tx1"/>
                </a:solidFill>
                <a:effectLst/>
                <a:latin typeface="+mn-lt"/>
                <a:ea typeface="+mn-ea"/>
                <a:cs typeface="+mn-cs"/>
              </a:rPr>
              <a:t>A critical distinction: </a:t>
            </a:r>
            <a:r>
              <a:rPr lang="en-US" sz="1200" b="1" i="0" kern="1200" dirty="0">
                <a:solidFill>
                  <a:schemeClr val="tx1"/>
                </a:solidFill>
                <a:effectLst/>
                <a:latin typeface="+mn-lt"/>
                <a:ea typeface="+mn-ea"/>
                <a:cs typeface="+mn-cs"/>
              </a:rPr>
              <a:t>Throughput is not the same as Bandwidth</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Bandwidth</a:t>
            </a:r>
            <a:r>
              <a:rPr lang="en-US" sz="1200" b="0" i="0" kern="1200" dirty="0">
                <a:solidFill>
                  <a:schemeClr val="tx1"/>
                </a:solidFill>
                <a:effectLst/>
                <a:latin typeface="+mn-lt"/>
                <a:ea typeface="+mn-ea"/>
                <a:cs typeface="+mn-cs"/>
              </a:rPr>
              <a:t> is the </a:t>
            </a:r>
            <a:r>
              <a:rPr lang="en-US" sz="1200" b="1" i="0" kern="1200" dirty="0">
                <a:solidFill>
                  <a:schemeClr val="tx1"/>
                </a:solidFill>
                <a:effectLst/>
                <a:latin typeface="+mn-lt"/>
                <a:ea typeface="+mn-ea"/>
                <a:cs typeface="+mn-cs"/>
              </a:rPr>
              <a:t>maximum possible</a:t>
            </a:r>
            <a:r>
              <a:rPr lang="en-US" sz="1200" b="0" i="0" kern="1200" dirty="0">
                <a:solidFill>
                  <a:schemeClr val="tx1"/>
                </a:solidFill>
                <a:effectLst/>
                <a:latin typeface="+mn-lt"/>
                <a:ea typeface="+mn-ea"/>
                <a:cs typeface="+mn-cs"/>
              </a:rPr>
              <a:t> - your network card's 1 Gbps rating, your database's maximum I/O rate. It's a physical or design limit.</a:t>
            </a:r>
          </a:p>
          <a:p>
            <a:r>
              <a:rPr lang="en-US" sz="1200" b="1" i="0" kern="1200" dirty="0">
                <a:solidFill>
                  <a:schemeClr val="tx1"/>
                </a:solidFill>
                <a:effectLst/>
                <a:latin typeface="+mn-lt"/>
                <a:ea typeface="+mn-ea"/>
                <a:cs typeface="+mn-cs"/>
              </a:rPr>
              <a:t>Throughput</a:t>
            </a:r>
            <a:r>
              <a:rPr lang="en-US" sz="1200" b="0" i="0" kern="1200" dirty="0">
                <a:solidFill>
                  <a:schemeClr val="tx1"/>
                </a:solidFill>
                <a:effectLst/>
                <a:latin typeface="+mn-lt"/>
                <a:ea typeface="+mn-ea"/>
                <a:cs typeface="+mn-cs"/>
              </a:rPr>
              <a:t> is the </a:t>
            </a:r>
            <a:r>
              <a:rPr lang="en-US" sz="1200" b="1" i="0" kern="1200" dirty="0">
                <a:solidFill>
                  <a:schemeClr val="tx1"/>
                </a:solidFill>
                <a:effectLst/>
                <a:latin typeface="+mn-lt"/>
                <a:ea typeface="+mn-ea"/>
                <a:cs typeface="+mn-cs"/>
              </a:rPr>
              <a:t>actual achieved</a:t>
            </a:r>
            <a:r>
              <a:rPr lang="en-US" sz="1200" b="0" i="0" kern="1200" dirty="0">
                <a:solidFill>
                  <a:schemeClr val="tx1"/>
                </a:solidFill>
                <a:effectLst/>
                <a:latin typeface="+mn-lt"/>
                <a:ea typeface="+mn-ea"/>
                <a:cs typeface="+mn-cs"/>
              </a:rPr>
              <a:t> - 500 requests/second, 10,000 database rows/second. It's what you actually get in practice.</a:t>
            </a:r>
          </a:p>
          <a:p>
            <a:r>
              <a:rPr lang="en-US" sz="1200" b="0" i="0" kern="1200" dirty="0">
                <a:solidFill>
                  <a:schemeClr val="tx1"/>
                </a:solidFill>
                <a:effectLst/>
                <a:latin typeface="+mn-lt"/>
                <a:ea typeface="+mn-ea"/>
                <a:cs typeface="+mn-cs"/>
              </a:rPr>
              <a:t>Think highway lanes: </a:t>
            </a:r>
            <a:r>
              <a:rPr lang="en-US" sz="1200" b="1" i="0" kern="1200" dirty="0">
                <a:solidFill>
                  <a:schemeClr val="tx1"/>
                </a:solidFill>
                <a:effectLst/>
                <a:latin typeface="+mn-lt"/>
                <a:ea typeface="+mn-ea"/>
                <a:cs typeface="+mn-cs"/>
              </a:rPr>
              <a:t>Bandwidth</a:t>
            </a:r>
            <a:r>
              <a:rPr lang="en-US" sz="1200" b="0" i="0" kern="1200" dirty="0">
                <a:solidFill>
                  <a:schemeClr val="tx1"/>
                </a:solidFill>
                <a:effectLst/>
                <a:latin typeface="+mn-lt"/>
                <a:ea typeface="+mn-ea"/>
                <a:cs typeface="+mn-cs"/>
              </a:rPr>
              <a:t> is how many lanes exist. </a:t>
            </a:r>
            <a:r>
              <a:rPr lang="en-US" sz="1200" b="1" i="0" kern="1200" dirty="0">
                <a:solidFill>
                  <a:schemeClr val="tx1"/>
                </a:solidFill>
                <a:effectLst/>
                <a:latin typeface="+mn-lt"/>
                <a:ea typeface="+mn-ea"/>
                <a:cs typeface="+mn-cs"/>
              </a:rPr>
              <a:t>Throughput</a:t>
            </a:r>
            <a:r>
              <a:rPr lang="en-US" sz="1200" b="0" i="0" kern="1200" dirty="0">
                <a:solidFill>
                  <a:schemeClr val="tx1"/>
                </a:solidFill>
                <a:effectLst/>
                <a:latin typeface="+mn-lt"/>
                <a:ea typeface="+mn-ea"/>
                <a:cs typeface="+mn-cs"/>
              </a:rPr>
              <a:t> is how many cars actually pass per hour. Throughput can be less than bandwidth if there's an accident (bottleneck) or cars are slow (high latency).</a:t>
            </a:r>
          </a:p>
          <a:p>
            <a:r>
              <a:rPr lang="en-US" sz="1200" b="0" i="0" kern="1200" dirty="0">
                <a:solidFill>
                  <a:schemeClr val="tx1"/>
                </a:solidFill>
                <a:effectLst/>
                <a:latin typeface="+mn-lt"/>
                <a:ea typeface="+mn-ea"/>
                <a:cs typeface="+mn-cs"/>
              </a:rPr>
              <a:t>A web server might have 1 Gbps bandwidth but only handle 500 requests/second because the </a:t>
            </a:r>
            <a:r>
              <a:rPr lang="en-US" sz="1200" b="1" i="0" kern="1200" dirty="0">
                <a:solidFill>
                  <a:schemeClr val="tx1"/>
                </a:solidFill>
                <a:effectLst/>
                <a:latin typeface="+mn-lt"/>
                <a:ea typeface="+mn-ea"/>
                <a:cs typeface="+mn-cs"/>
              </a:rPr>
              <a:t>CPU is the bottleneck</a:t>
            </a:r>
            <a:r>
              <a:rPr lang="en-US" sz="1200" b="0" i="0" kern="1200" dirty="0">
                <a:solidFill>
                  <a:schemeClr val="tx1"/>
                </a:solidFill>
                <a:effectLst/>
                <a:latin typeface="+mn-lt"/>
                <a:ea typeface="+mn-ea"/>
                <a:cs typeface="+mn-cs"/>
              </a:rPr>
              <a:t>, not the network.</a:t>
            </a:r>
          </a:p>
          <a:p>
            <a:r>
              <a:rPr lang="en-US" sz="1200" b="0" i="0" kern="1200" dirty="0">
                <a:solidFill>
                  <a:schemeClr val="tx1"/>
                </a:solidFill>
                <a:effectLst/>
                <a:latin typeface="+mn-lt"/>
                <a:ea typeface="+mn-ea"/>
                <a:cs typeface="+mn-cs"/>
              </a:rPr>
              <a:t>There's a fundamental relationship: </a:t>
            </a:r>
            <a:r>
              <a:rPr lang="en-US" sz="1200" b="1" i="0" kern="1200" dirty="0">
                <a:solidFill>
                  <a:schemeClr val="tx1"/>
                </a:solidFill>
                <a:effectLst/>
                <a:latin typeface="+mn-lt"/>
                <a:ea typeface="+mn-ea"/>
                <a:cs typeface="+mn-cs"/>
              </a:rPr>
              <a:t>Throughput = Concurrency / Latency</a:t>
            </a:r>
            <a:r>
              <a:rPr lang="en-US" sz="1200" b="0" i="0" kern="1200" dirty="0">
                <a:solidFill>
                  <a:schemeClr val="tx1"/>
                </a:solidFill>
                <a:effectLst/>
                <a:latin typeface="+mn-lt"/>
                <a:ea typeface="+mn-ea"/>
                <a:cs typeface="+mn-cs"/>
              </a:rPr>
              <a:t>. If you have 10 concurrent requests and each takes 200ms, your throughput is 10 / 0.2 = 50 requests/second.</a:t>
            </a:r>
          </a:p>
          <a:p>
            <a:r>
              <a:rPr lang="en-US" sz="1200" b="1" i="0" kern="1200" dirty="0">
                <a:solidFill>
                  <a:schemeClr val="tx1"/>
                </a:solidFill>
                <a:effectLst/>
                <a:latin typeface="+mn-lt"/>
                <a:ea typeface="+mn-ea"/>
                <a:cs typeface="+mn-cs"/>
              </a:rPr>
              <a:t>Little's Law</a:t>
            </a:r>
            <a:r>
              <a:rPr lang="en-US" sz="1200" b="0" i="0" kern="1200" dirty="0">
                <a:solidFill>
                  <a:schemeClr val="tx1"/>
                </a:solidFill>
                <a:effectLst/>
                <a:latin typeface="+mn-lt"/>
                <a:ea typeface="+mn-ea"/>
                <a:cs typeface="+mn-cs"/>
              </a:rPr>
              <a:t> from queuing theory formalizes this: Average requests in system = Throughput × Average Latency.</a:t>
            </a:r>
          </a:p>
          <a:p>
            <a:endParaRPr lang="en-IN" dirty="0"/>
          </a:p>
          <a:p>
            <a:r>
              <a:rPr lang="en-US" sz="1200" b="0" i="0" kern="1200" dirty="0">
                <a:solidFill>
                  <a:schemeClr val="tx1"/>
                </a:solidFill>
                <a:effectLst/>
                <a:latin typeface="+mn-lt"/>
                <a:ea typeface="+mn-ea"/>
                <a:cs typeface="+mn-cs"/>
              </a:rPr>
              <a:t>The key insight: </a:t>
            </a:r>
            <a:r>
              <a:rPr lang="en-US" sz="1200" b="1" i="0" kern="1200" dirty="0">
                <a:solidFill>
                  <a:schemeClr val="tx1"/>
                </a:solidFill>
                <a:effectLst/>
                <a:latin typeface="+mn-lt"/>
                <a:ea typeface="+mn-ea"/>
                <a:cs typeface="+mn-cs"/>
              </a:rPr>
              <a:t>Throughput is limited by your slowest component</a:t>
            </a:r>
            <a:r>
              <a:rPr lang="en-US" sz="1200" b="0" i="0" kern="1200" dirty="0">
                <a:solidFill>
                  <a:schemeClr val="tx1"/>
                </a:solidFill>
                <a:effectLst/>
                <a:latin typeface="+mn-lt"/>
                <a:ea typeface="+mn-ea"/>
                <a:cs typeface="+mn-cs"/>
              </a:rPr>
              <a:t>. Upgrade your 1 Gbps network to 10 Gbps, but if your database is the bottleneck, throughput won't improve. Find and fix the </a:t>
            </a:r>
            <a:r>
              <a:rPr lang="en-US" sz="1200" b="1" i="0" kern="1200" dirty="0">
                <a:solidFill>
                  <a:schemeClr val="tx1"/>
                </a:solidFill>
                <a:effectLst/>
                <a:latin typeface="+mn-lt"/>
                <a:ea typeface="+mn-ea"/>
                <a:cs typeface="+mn-cs"/>
              </a:rPr>
              <a:t>real bottleneck</a:t>
            </a:r>
            <a:r>
              <a:rPr lang="en-US" sz="1200" b="0" i="0" kern="1200" dirty="0">
                <a:solidFill>
                  <a:schemeClr val="tx1"/>
                </a:solidFill>
                <a:effectLst/>
                <a:latin typeface="+mn-lt"/>
                <a:ea typeface="+mn-ea"/>
                <a:cs typeface="+mn-cs"/>
              </a:rPr>
              <a:t>.</a:t>
            </a:r>
            <a:endParaRPr lang="en-IN" dirty="0"/>
          </a:p>
        </p:txBody>
      </p:sp>
      <p:sp>
        <p:nvSpPr>
          <p:cNvPr id="4" name="Slide Number Placeholder 3">
            <a:extLst>
              <a:ext uri="{FF2B5EF4-FFF2-40B4-BE49-F238E27FC236}">
                <a16:creationId xmlns:a16="http://schemas.microsoft.com/office/drawing/2014/main" id="{F562098F-926A-0B22-8EB4-0DB3560DFAC5}"/>
              </a:ext>
            </a:extLst>
          </p:cNvPr>
          <p:cNvSpPr>
            <a:spLocks noGrp="1"/>
          </p:cNvSpPr>
          <p:nvPr>
            <p:ph type="sldNum" sz="quarter" idx="5"/>
          </p:nvPr>
        </p:nvSpPr>
        <p:spPr/>
        <p:txBody>
          <a:bodyPr/>
          <a:lstStyle/>
          <a:p>
            <a:fld id="{72853293-4F00-4813-B74A-3945ABE0C2FC}" type="slidenum">
              <a:rPr lang="en-IN" smtClean="0"/>
              <a:t>32</a:t>
            </a:fld>
            <a:endParaRPr lang="en-IN"/>
          </a:p>
        </p:txBody>
      </p:sp>
    </p:spTree>
    <p:extLst>
      <p:ext uri="{BB962C8B-B14F-4D97-AF65-F5344CB8AC3E}">
        <p14:creationId xmlns:p14="http://schemas.microsoft.com/office/powerpoint/2010/main" val="135895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C650-2538-1618-A6D6-0CC6A5D50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F8DE8F-3B51-5761-250E-A8BB50B72B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CB8A2-326C-713E-23C7-86BC3D65FED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Performance doesn't exist in isolation - it constantly </a:t>
            </a:r>
            <a:r>
              <a:rPr lang="en-US" sz="1200" b="1" i="0" kern="1200" dirty="0">
                <a:solidFill>
                  <a:schemeClr val="tx1"/>
                </a:solidFill>
                <a:effectLst/>
                <a:latin typeface="+mn-lt"/>
                <a:ea typeface="+mn-ea"/>
                <a:cs typeface="+mn-cs"/>
              </a:rPr>
              <a:t>trades off against other attributes</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Strong consistency</a:t>
            </a:r>
            <a:r>
              <a:rPr lang="en-US" sz="1200" b="0" i="0" kern="1200" dirty="0">
                <a:solidFill>
                  <a:schemeClr val="tx1"/>
                </a:solidFill>
                <a:effectLst/>
                <a:latin typeface="+mn-lt"/>
                <a:ea typeface="+mn-ea"/>
                <a:cs typeface="+mn-cs"/>
              </a:rPr>
              <a:t> hurts latency: waiting for all database replicas to confirm writes adds delay. Some systems accept </a:t>
            </a:r>
            <a:r>
              <a:rPr lang="en-US" sz="1200" b="1" i="0" kern="1200" dirty="0">
                <a:solidFill>
                  <a:schemeClr val="tx1"/>
                </a:solidFill>
                <a:effectLst/>
                <a:latin typeface="+mn-lt"/>
                <a:ea typeface="+mn-ea"/>
                <a:cs typeface="+mn-cs"/>
              </a:rPr>
              <a:t>eventual consistency</a:t>
            </a:r>
            <a:r>
              <a:rPr lang="en-US" sz="1200" b="0" i="0" kern="1200" dirty="0">
                <a:solidFill>
                  <a:schemeClr val="tx1"/>
                </a:solidFill>
                <a:effectLst/>
                <a:latin typeface="+mn-lt"/>
                <a:ea typeface="+mn-ea"/>
                <a:cs typeface="+mn-cs"/>
              </a:rPr>
              <a:t> for better performance.</a:t>
            </a:r>
          </a:p>
          <a:p>
            <a:r>
              <a:rPr lang="en-US" sz="1200" b="1" i="0" kern="1200" dirty="0">
                <a:solidFill>
                  <a:schemeClr val="tx1"/>
                </a:solidFill>
                <a:effectLst/>
                <a:latin typeface="+mn-lt"/>
                <a:ea typeface="+mn-ea"/>
                <a:cs typeface="+mn-cs"/>
              </a:rPr>
              <a:t>High availability</a:t>
            </a:r>
            <a:r>
              <a:rPr lang="en-US" sz="1200" b="0" i="0" kern="1200" dirty="0">
                <a:solidFill>
                  <a:schemeClr val="tx1"/>
                </a:solidFill>
                <a:effectLst/>
                <a:latin typeface="+mn-lt"/>
                <a:ea typeface="+mn-ea"/>
                <a:cs typeface="+mn-cs"/>
              </a:rPr>
              <a:t> can reduce throughput: maintaining hot standbys uses resources that could serve requests.</a:t>
            </a:r>
          </a:p>
          <a:p>
            <a:r>
              <a:rPr lang="en-US" sz="1200" b="1" i="0" kern="1200" dirty="0">
                <a:solidFill>
                  <a:schemeClr val="tx1"/>
                </a:solidFill>
                <a:effectLst/>
                <a:latin typeface="+mn-lt"/>
                <a:ea typeface="+mn-ea"/>
                <a:cs typeface="+mn-cs"/>
              </a:rPr>
              <a:t>Durability</a:t>
            </a:r>
            <a:r>
              <a:rPr lang="en-US" sz="1200" b="0" i="0" kern="1200" dirty="0">
                <a:solidFill>
                  <a:schemeClr val="tx1"/>
                </a:solidFill>
                <a:effectLst/>
                <a:latin typeface="+mn-lt"/>
                <a:ea typeface="+mn-ea"/>
                <a:cs typeface="+mn-cs"/>
              </a:rPr>
              <a:t> conflicts with speed: writing to multiple disks or regions is safer but slower. Some systems offer durability modes: 'write-through' (safe but slow) vs 'write-back' (fast but risky).</a:t>
            </a:r>
          </a:p>
          <a:p>
            <a:r>
              <a:rPr lang="en-US" sz="1200" b="1" i="0" kern="1200" dirty="0">
                <a:solidFill>
                  <a:schemeClr val="tx1"/>
                </a:solidFill>
                <a:effectLst/>
                <a:latin typeface="+mn-lt"/>
                <a:ea typeface="+mn-ea"/>
                <a:cs typeface="+mn-cs"/>
              </a:rPr>
              <a:t>Security</a:t>
            </a:r>
            <a:r>
              <a:rPr lang="en-US" sz="1200" b="0" i="0" kern="1200" dirty="0">
                <a:solidFill>
                  <a:schemeClr val="tx1"/>
                </a:solidFill>
                <a:effectLst/>
                <a:latin typeface="+mn-lt"/>
                <a:ea typeface="+mn-ea"/>
                <a:cs typeface="+mn-cs"/>
              </a:rPr>
              <a:t> adds overhead: TLS encryption, authentication checks, audit logging all consume CPU and add latency.</a:t>
            </a:r>
          </a:p>
          <a:p>
            <a:r>
              <a:rPr lang="en-US" sz="1200" b="0" i="0" kern="1200" dirty="0">
                <a:solidFill>
                  <a:schemeClr val="tx1"/>
                </a:solidFill>
                <a:effectLst/>
                <a:latin typeface="+mn-lt"/>
                <a:ea typeface="+mn-ea"/>
                <a:cs typeface="+mn-cs"/>
              </a:rPr>
              <a:t>Even within performance, there are trade-offs: </a:t>
            </a:r>
            <a:r>
              <a:rPr lang="en-US" sz="1200" b="1" i="0" kern="1200" dirty="0">
                <a:solidFill>
                  <a:schemeClr val="tx1"/>
                </a:solidFill>
                <a:effectLst/>
                <a:latin typeface="+mn-lt"/>
                <a:ea typeface="+mn-ea"/>
                <a:cs typeface="+mn-cs"/>
              </a:rPr>
              <a:t>Latency vs throughput</a:t>
            </a:r>
            <a:r>
              <a:rPr lang="en-US" sz="1200" b="0" i="0" kern="1200" dirty="0">
                <a:solidFill>
                  <a:schemeClr val="tx1"/>
                </a:solidFill>
                <a:effectLst/>
                <a:latin typeface="+mn-lt"/>
                <a:ea typeface="+mn-ea"/>
                <a:cs typeface="+mn-cs"/>
              </a:rPr>
              <a:t> - batching requests improves throughput but increases latency for individual requests. </a:t>
            </a:r>
            <a:r>
              <a:rPr lang="en-US" sz="1200" b="1" i="0" kern="1200" dirty="0">
                <a:solidFill>
                  <a:schemeClr val="tx1"/>
                </a:solidFill>
                <a:effectLst/>
                <a:latin typeface="+mn-lt"/>
                <a:ea typeface="+mn-ea"/>
                <a:cs typeface="+mn-cs"/>
              </a:rPr>
              <a:t>Read vs write optimization</a:t>
            </a:r>
            <a:r>
              <a:rPr lang="en-US" sz="1200" b="0" i="0" kern="1200" dirty="0">
                <a:solidFill>
                  <a:schemeClr val="tx1"/>
                </a:solidFill>
                <a:effectLst/>
                <a:latin typeface="+mn-lt"/>
                <a:ea typeface="+mn-ea"/>
                <a:cs typeface="+mn-cs"/>
              </a:rPr>
              <a:t> - indexes speed reads but slow writes.</a:t>
            </a:r>
          </a:p>
          <a:p>
            <a:br>
              <a:rPr lang="en-IN" dirty="0"/>
            </a:b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CAP theorem</a:t>
            </a:r>
            <a:r>
              <a:rPr lang="en-US" sz="1200" b="0" i="0" kern="1200" dirty="0">
                <a:solidFill>
                  <a:schemeClr val="tx1"/>
                </a:solidFill>
                <a:effectLst/>
                <a:latin typeface="+mn-lt"/>
                <a:ea typeface="+mn-ea"/>
                <a:cs typeface="+mn-cs"/>
              </a:rPr>
              <a:t> formalizes a key trade-off: during network partitions, choose Consistency (CP) or Availability (AP). CP systems have higher latency during partitions. AP systems respond quickly but might return stale data.</a:t>
            </a:r>
          </a:p>
          <a:p>
            <a:r>
              <a:rPr lang="en-US" sz="1200" b="0" i="0" kern="1200" dirty="0">
                <a:solidFill>
                  <a:schemeClr val="tx1"/>
                </a:solidFill>
                <a:effectLst/>
                <a:latin typeface="+mn-lt"/>
                <a:ea typeface="+mn-ea"/>
                <a:cs typeface="+mn-cs"/>
              </a:rPr>
              <a:t>The reality: </a:t>
            </a:r>
            <a:r>
              <a:rPr lang="en-US" sz="1200" b="1" i="0" kern="1200" dirty="0">
                <a:solidFill>
                  <a:schemeClr val="tx1"/>
                </a:solidFill>
                <a:effectLst/>
                <a:latin typeface="+mn-lt"/>
                <a:ea typeface="+mn-ea"/>
                <a:cs typeface="+mn-cs"/>
              </a:rPr>
              <a:t>Every architectural decision involves trade-offs</a:t>
            </a:r>
            <a:r>
              <a:rPr lang="en-US" sz="1200" b="0" i="0" kern="1200" dirty="0">
                <a:solidFill>
                  <a:schemeClr val="tx1"/>
                </a:solidFill>
                <a:effectLst/>
                <a:latin typeface="+mn-lt"/>
                <a:ea typeface="+mn-ea"/>
                <a:cs typeface="+mn-cs"/>
              </a:rPr>
              <a:t>. Understand them, make intentional choices based on your requirements. Don't optimize blindly - optimize for what matters to your users and business.</a:t>
            </a:r>
          </a:p>
          <a:p>
            <a:endParaRPr lang="en-IN" dirty="0"/>
          </a:p>
        </p:txBody>
      </p:sp>
      <p:sp>
        <p:nvSpPr>
          <p:cNvPr id="4" name="Slide Number Placeholder 3">
            <a:extLst>
              <a:ext uri="{FF2B5EF4-FFF2-40B4-BE49-F238E27FC236}">
                <a16:creationId xmlns:a16="http://schemas.microsoft.com/office/drawing/2014/main" id="{96B0223A-F289-0AFE-A9E2-53784B9C9853}"/>
              </a:ext>
            </a:extLst>
          </p:cNvPr>
          <p:cNvSpPr>
            <a:spLocks noGrp="1"/>
          </p:cNvSpPr>
          <p:nvPr>
            <p:ph type="sldNum" sz="quarter" idx="5"/>
          </p:nvPr>
        </p:nvSpPr>
        <p:spPr/>
        <p:txBody>
          <a:bodyPr/>
          <a:lstStyle/>
          <a:p>
            <a:fld id="{72853293-4F00-4813-B74A-3945ABE0C2FC}" type="slidenum">
              <a:rPr lang="en-IN" smtClean="0"/>
              <a:t>33</a:t>
            </a:fld>
            <a:endParaRPr lang="en-IN"/>
          </a:p>
        </p:txBody>
      </p:sp>
    </p:spTree>
    <p:extLst>
      <p:ext uri="{BB962C8B-B14F-4D97-AF65-F5344CB8AC3E}">
        <p14:creationId xmlns:p14="http://schemas.microsoft.com/office/powerpoint/2010/main" val="685169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007711" y="3176893"/>
            <a:ext cx="562610" cy="0"/>
          </a:xfrm>
          <a:custGeom>
            <a:avLst/>
            <a:gdLst/>
            <a:ahLst/>
            <a:cxnLst/>
            <a:rect l="l" t="t" r="r" b="b"/>
            <a:pathLst>
              <a:path w="562609">
                <a:moveTo>
                  <a:pt x="0" y="0"/>
                </a:moveTo>
                <a:lnTo>
                  <a:pt x="562198" y="0"/>
                </a:lnTo>
              </a:path>
            </a:pathLst>
          </a:custGeom>
          <a:ln w="76199">
            <a:solidFill>
              <a:srgbClr val="B3A77C"/>
            </a:solidFill>
          </a:ln>
        </p:spPr>
        <p:txBody>
          <a:bodyPr wrap="square" lIns="0" tIns="0" rIns="0" bIns="0" rtlCol="0"/>
          <a:lstStyle/>
          <a:p>
            <a:endParaRPr/>
          </a:p>
        </p:txBody>
      </p:sp>
      <p:sp>
        <p:nvSpPr>
          <p:cNvPr id="17" name="bg object 17"/>
          <p:cNvSpPr/>
          <p:nvPr/>
        </p:nvSpPr>
        <p:spPr>
          <a:xfrm>
            <a:off x="1575031" y="3158243"/>
            <a:ext cx="562610" cy="0"/>
          </a:xfrm>
          <a:custGeom>
            <a:avLst/>
            <a:gdLst/>
            <a:ahLst/>
            <a:cxnLst/>
            <a:rect l="l" t="t" r="r" b="b"/>
            <a:pathLst>
              <a:path w="562610">
                <a:moveTo>
                  <a:pt x="0" y="0"/>
                </a:moveTo>
                <a:lnTo>
                  <a:pt x="562198" y="0"/>
                </a:lnTo>
              </a:path>
            </a:pathLst>
          </a:custGeom>
          <a:ln w="76199">
            <a:solidFill>
              <a:srgbClr val="B3A77C"/>
            </a:solidFill>
          </a:ln>
        </p:spPr>
        <p:txBody>
          <a:bodyPr wrap="square" lIns="0" tIns="0" rIns="0" bIns="0" rtlCol="0"/>
          <a:lstStyle/>
          <a:p>
            <a:endParaRPr/>
          </a:p>
        </p:txBody>
      </p:sp>
      <p:sp>
        <p:nvSpPr>
          <p:cNvPr id="18" name="bg object 18"/>
          <p:cNvSpPr/>
          <p:nvPr/>
        </p:nvSpPr>
        <p:spPr>
          <a:xfrm>
            <a:off x="1004142" y="1022022"/>
            <a:ext cx="7136765" cy="0"/>
          </a:xfrm>
          <a:custGeom>
            <a:avLst/>
            <a:gdLst/>
            <a:ahLst/>
            <a:cxnLst/>
            <a:rect l="l" t="t" r="r" b="b"/>
            <a:pathLst>
              <a:path w="7136765">
                <a:moveTo>
                  <a:pt x="7136640" y="0"/>
                </a:moveTo>
                <a:lnTo>
                  <a:pt x="0" y="0"/>
                </a:lnTo>
              </a:path>
            </a:pathLst>
          </a:custGeom>
          <a:ln w="76199">
            <a:solidFill>
              <a:srgbClr val="4DB6AC"/>
            </a:solidFill>
          </a:ln>
        </p:spPr>
        <p:txBody>
          <a:bodyPr wrap="square" lIns="0" tIns="0" rIns="0" bIns="0" rtlCol="0"/>
          <a:lstStyle/>
          <a:p>
            <a:endParaRPr/>
          </a:p>
        </p:txBody>
      </p:sp>
      <p:sp>
        <p:nvSpPr>
          <p:cNvPr id="19" name="bg object 19"/>
          <p:cNvSpPr/>
          <p:nvPr/>
        </p:nvSpPr>
        <p:spPr>
          <a:xfrm>
            <a:off x="1004142" y="1174422"/>
            <a:ext cx="7136765" cy="0"/>
          </a:xfrm>
          <a:custGeom>
            <a:avLst/>
            <a:gdLst/>
            <a:ahLst/>
            <a:cxnLst/>
            <a:rect l="l" t="t" r="r" b="b"/>
            <a:pathLst>
              <a:path w="7136765">
                <a:moveTo>
                  <a:pt x="7136640" y="0"/>
                </a:moveTo>
                <a:lnTo>
                  <a:pt x="0" y="0"/>
                </a:lnTo>
              </a:path>
            </a:pathLst>
          </a:custGeom>
          <a:ln w="9524">
            <a:solidFill>
              <a:srgbClr val="4DB6AC"/>
            </a:solidFill>
          </a:ln>
        </p:spPr>
        <p:txBody>
          <a:bodyPr wrap="square" lIns="0" tIns="0" rIns="0" bIns="0" rtlCol="0"/>
          <a:lstStyle/>
          <a:p>
            <a:endParaRPr/>
          </a:p>
        </p:txBody>
      </p:sp>
      <p:sp>
        <p:nvSpPr>
          <p:cNvPr id="20" name="bg object 20"/>
          <p:cNvSpPr/>
          <p:nvPr/>
        </p:nvSpPr>
        <p:spPr>
          <a:xfrm>
            <a:off x="1004148" y="4121491"/>
            <a:ext cx="7136765" cy="0"/>
          </a:xfrm>
          <a:custGeom>
            <a:avLst/>
            <a:gdLst/>
            <a:ahLst/>
            <a:cxnLst/>
            <a:rect l="l" t="t" r="r" b="b"/>
            <a:pathLst>
              <a:path w="7136765">
                <a:moveTo>
                  <a:pt x="0" y="0"/>
                </a:moveTo>
                <a:lnTo>
                  <a:pt x="7136660" y="0"/>
                </a:lnTo>
              </a:path>
            </a:pathLst>
          </a:custGeom>
          <a:ln w="76199">
            <a:solidFill>
              <a:srgbClr val="4DB6AC"/>
            </a:solidFill>
          </a:ln>
        </p:spPr>
        <p:txBody>
          <a:bodyPr wrap="square" lIns="0" tIns="0" rIns="0" bIns="0" rtlCol="0"/>
          <a:lstStyle/>
          <a:p>
            <a:endParaRPr/>
          </a:p>
        </p:txBody>
      </p:sp>
      <p:sp>
        <p:nvSpPr>
          <p:cNvPr id="21" name="bg object 21"/>
          <p:cNvSpPr/>
          <p:nvPr/>
        </p:nvSpPr>
        <p:spPr>
          <a:xfrm>
            <a:off x="1004148" y="3969091"/>
            <a:ext cx="7136765" cy="0"/>
          </a:xfrm>
          <a:custGeom>
            <a:avLst/>
            <a:gdLst/>
            <a:ahLst/>
            <a:cxnLst/>
            <a:rect l="l" t="t" r="r" b="b"/>
            <a:pathLst>
              <a:path w="7136765">
                <a:moveTo>
                  <a:pt x="0" y="0"/>
                </a:moveTo>
                <a:lnTo>
                  <a:pt x="7136660" y="0"/>
                </a:lnTo>
              </a:path>
            </a:pathLst>
          </a:custGeom>
          <a:ln w="9524">
            <a:solidFill>
              <a:srgbClr val="4DB6AC"/>
            </a:solidFill>
          </a:ln>
        </p:spPr>
        <p:txBody>
          <a:bodyPr wrap="square" lIns="0" tIns="0" rIns="0" bIns="0" rtlCol="0"/>
          <a:lstStyle/>
          <a:p>
            <a:endParaRPr/>
          </a:p>
        </p:txBody>
      </p:sp>
      <p:sp>
        <p:nvSpPr>
          <p:cNvPr id="2" name="Holder 2"/>
          <p:cNvSpPr>
            <a:spLocks noGrp="1"/>
          </p:cNvSpPr>
          <p:nvPr>
            <p:ph type="ctrTitle"/>
          </p:nvPr>
        </p:nvSpPr>
        <p:spPr>
          <a:xfrm>
            <a:off x="2075352" y="1815086"/>
            <a:ext cx="4993295" cy="690244"/>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498097" y="425399"/>
            <a:ext cx="6419816" cy="4599758"/>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sp>
        <p:nvSpPr>
          <p:cNvPr id="2" name="Holder 2"/>
          <p:cNvSpPr>
            <a:spLocks noGrp="1"/>
          </p:cNvSpPr>
          <p:nvPr>
            <p:ph type="title"/>
          </p:nvPr>
        </p:nvSpPr>
        <p:spPr>
          <a:xfrm>
            <a:off x="384724" y="501589"/>
            <a:ext cx="4861560" cy="519430"/>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a:xfrm>
            <a:off x="521273" y="1333256"/>
            <a:ext cx="5205730" cy="3009900"/>
          </a:xfrm>
          <a:prstGeom prst="rect">
            <a:avLst/>
          </a:prstGeom>
        </p:spPr>
        <p:txBody>
          <a:bodyPr wrap="square" lIns="0" tIns="0" rIns="0" bIns="0">
            <a:spAutoFit/>
          </a:bodyPr>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1/3/2026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tackoverflow.com/questions/13121531/multi-client-server-common-way-for-2-way-connection-i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90600" y="1815086"/>
            <a:ext cx="7162800" cy="683520"/>
          </a:xfrm>
          <a:prstGeom prst="rect">
            <a:avLst/>
          </a:prstGeom>
        </p:spPr>
        <p:txBody>
          <a:bodyPr vert="horz" wrap="square" lIns="0" tIns="13970" rIns="0" bIns="0" rtlCol="0">
            <a:spAutoFit/>
          </a:bodyPr>
          <a:lstStyle/>
          <a:p>
            <a:pPr marL="14604">
              <a:lnSpc>
                <a:spcPct val="100000"/>
              </a:lnSpc>
              <a:spcBef>
                <a:spcPts val="110"/>
              </a:spcBef>
            </a:pPr>
            <a:r>
              <a:rPr lang="en-IN" sz="4350" spc="-330" dirty="0"/>
              <a:t>Mastering Distributed</a:t>
            </a:r>
            <a:r>
              <a:rPr lang="en-IN" sz="4350" spc="-80" dirty="0"/>
              <a:t> </a:t>
            </a:r>
            <a:r>
              <a:rPr lang="en-IN" sz="4350" spc="-330" dirty="0"/>
              <a:t>System</a:t>
            </a:r>
            <a:r>
              <a:rPr lang="en-IN" sz="4350" spc="-65" dirty="0"/>
              <a:t> </a:t>
            </a:r>
            <a:r>
              <a:rPr lang="en-IN" sz="4350" spc="-275" dirty="0"/>
              <a:t>Design</a:t>
            </a:r>
            <a:endParaRPr sz="4350" dirty="0"/>
          </a:p>
        </p:txBody>
      </p:sp>
      <p:sp>
        <p:nvSpPr>
          <p:cNvPr id="3" name="object 3"/>
          <p:cNvSpPr txBox="1"/>
          <p:nvPr/>
        </p:nvSpPr>
        <p:spPr>
          <a:xfrm>
            <a:off x="1218341" y="2624935"/>
            <a:ext cx="6701790" cy="382156"/>
          </a:xfrm>
          <a:prstGeom prst="rect">
            <a:avLst/>
          </a:prstGeom>
        </p:spPr>
        <p:txBody>
          <a:bodyPr vert="horz" wrap="square" lIns="0" tIns="12700" rIns="0" bIns="0" rtlCol="0">
            <a:spAutoFit/>
          </a:bodyPr>
          <a:lstStyle/>
          <a:p>
            <a:pPr marL="12700" algn="ctr">
              <a:lnSpc>
                <a:spcPct val="100000"/>
              </a:lnSpc>
              <a:spcBef>
                <a:spcPts val="100"/>
              </a:spcBef>
            </a:pPr>
            <a:r>
              <a:rPr lang="en-IN" sz="2400" dirty="0">
                <a:solidFill>
                  <a:srgbClr val="695D46"/>
                </a:solidFill>
                <a:latin typeface="Arial"/>
                <a:cs typeface="Arial"/>
              </a:rPr>
              <a:t>Attributes of Distributed Systems</a:t>
            </a:r>
            <a:endParaRPr sz="2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Attributes</a:t>
            </a:r>
            <a:endParaRPr spc="-150" dirty="0"/>
          </a:p>
        </p:txBody>
      </p:sp>
      <p:sp>
        <p:nvSpPr>
          <p:cNvPr id="4" name="object 4"/>
          <p:cNvSpPr txBox="1"/>
          <p:nvPr/>
        </p:nvSpPr>
        <p:spPr>
          <a:xfrm>
            <a:off x="475248" y="1289060"/>
            <a:ext cx="8363952" cy="3375283"/>
          </a:xfrm>
          <a:prstGeom prst="rect">
            <a:avLst/>
          </a:prstGeom>
        </p:spPr>
        <p:txBody>
          <a:bodyPr vert="horz" wrap="square" lIns="0" tIns="12700" rIns="0" bIns="0" rtlCol="0">
            <a:spAutoFit/>
          </a:bodyPr>
          <a:lstStyle/>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Communication</a:t>
            </a:r>
            <a:r>
              <a:rPr lang="en-US" sz="1800" dirty="0">
                <a:solidFill>
                  <a:schemeClr val="tx1"/>
                </a:solidFill>
                <a:latin typeface="Arial"/>
                <a:cs typeface="Arial"/>
              </a:rPr>
              <a:t> (</a:t>
            </a:r>
            <a:r>
              <a:rPr lang="en-US" sz="1800" i="1" dirty="0">
                <a:solidFill>
                  <a:schemeClr val="tx1"/>
                </a:solidFill>
                <a:latin typeface="Arial"/>
                <a:cs typeface="Arial"/>
              </a:rPr>
              <a:t>The fundamental challenge: how components talk</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Consistency</a:t>
            </a:r>
            <a:r>
              <a:rPr lang="en-US" sz="1800" dirty="0">
                <a:solidFill>
                  <a:schemeClr val="tx1"/>
                </a:solidFill>
                <a:latin typeface="Arial"/>
                <a:cs typeface="Arial"/>
              </a:rPr>
              <a:t> (</a:t>
            </a:r>
            <a:r>
              <a:rPr lang="en-US" sz="1800" i="1" dirty="0">
                <a:solidFill>
                  <a:schemeClr val="tx1"/>
                </a:solidFill>
                <a:latin typeface="Arial"/>
                <a:cs typeface="Arial"/>
              </a:rPr>
              <a:t>Everyone sees the same data at the same time</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Availability</a:t>
            </a:r>
            <a:r>
              <a:rPr lang="en-US" sz="1800" dirty="0">
                <a:solidFill>
                  <a:schemeClr val="tx1"/>
                </a:solidFill>
                <a:latin typeface="Arial"/>
                <a:cs typeface="Arial"/>
              </a:rPr>
              <a:t> (</a:t>
            </a:r>
            <a:r>
              <a:rPr lang="en-US" sz="1800" i="1" dirty="0">
                <a:solidFill>
                  <a:schemeClr val="tx1"/>
                </a:solidFill>
                <a:latin typeface="Arial"/>
                <a:cs typeface="Arial"/>
              </a:rPr>
              <a:t>Can you get a response, even if it's stale?)</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Reliability</a:t>
            </a:r>
            <a:r>
              <a:rPr lang="en-US" sz="1800" dirty="0">
                <a:solidFill>
                  <a:schemeClr val="tx1"/>
                </a:solidFill>
                <a:latin typeface="Arial"/>
                <a:cs typeface="Arial"/>
              </a:rPr>
              <a:t> (</a:t>
            </a:r>
            <a:r>
              <a:rPr lang="en-US" sz="1800" i="1" dirty="0">
                <a:solidFill>
                  <a:schemeClr val="tx1"/>
                </a:solidFill>
                <a:latin typeface="Arial"/>
                <a:cs typeface="Arial"/>
              </a:rPr>
              <a:t>Does the system behave correctly over time?)</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Fault Tolerance </a:t>
            </a:r>
            <a:r>
              <a:rPr lang="en-US" sz="1800" dirty="0">
                <a:solidFill>
                  <a:schemeClr val="tx1"/>
                </a:solidFill>
                <a:latin typeface="Arial"/>
                <a:cs typeface="Arial"/>
              </a:rPr>
              <a:t>(</a:t>
            </a:r>
            <a:r>
              <a:rPr lang="en-US" sz="1800" i="1" dirty="0">
                <a:solidFill>
                  <a:schemeClr val="tx1"/>
                </a:solidFill>
                <a:latin typeface="Arial"/>
                <a:cs typeface="Arial"/>
              </a:rPr>
              <a:t>How it achieves reliability despite failures</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Scalability</a:t>
            </a:r>
            <a:r>
              <a:rPr lang="en-US" sz="1800" dirty="0">
                <a:solidFill>
                  <a:schemeClr val="tx1"/>
                </a:solidFill>
                <a:latin typeface="Arial"/>
                <a:cs typeface="Arial"/>
              </a:rPr>
              <a:t> (</a:t>
            </a:r>
            <a:r>
              <a:rPr lang="en-US" sz="1800" i="1" dirty="0">
                <a:solidFill>
                  <a:schemeClr val="tx1"/>
                </a:solidFill>
                <a:latin typeface="Arial"/>
                <a:cs typeface="Arial"/>
              </a:rPr>
              <a:t>How it handles increased load</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Durability</a:t>
            </a:r>
            <a:r>
              <a:rPr lang="en-US" sz="1800" dirty="0">
                <a:solidFill>
                  <a:schemeClr val="tx1"/>
                </a:solidFill>
                <a:latin typeface="Arial"/>
                <a:cs typeface="Arial"/>
              </a:rPr>
              <a:t> (</a:t>
            </a:r>
            <a:r>
              <a:rPr lang="en-US" sz="1800" i="1" dirty="0">
                <a:solidFill>
                  <a:schemeClr val="tx1"/>
                </a:solidFill>
                <a:latin typeface="Arial"/>
                <a:cs typeface="Arial"/>
              </a:rPr>
              <a:t>The guarantee that your data must persist and not be lost</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Maintainability</a:t>
            </a:r>
            <a:r>
              <a:rPr lang="en-US" sz="1800" dirty="0">
                <a:solidFill>
                  <a:schemeClr val="tx1"/>
                </a:solidFill>
                <a:latin typeface="Arial"/>
                <a:cs typeface="Arial"/>
              </a:rPr>
              <a:t> (</a:t>
            </a:r>
            <a:r>
              <a:rPr lang="en-US" sz="1800" i="1" dirty="0">
                <a:solidFill>
                  <a:schemeClr val="tx1"/>
                </a:solidFill>
                <a:latin typeface="Arial"/>
                <a:cs typeface="Arial"/>
              </a:rPr>
              <a:t>How we manage the system's evolution</a:t>
            </a:r>
            <a:r>
              <a:rPr lang="en-US" sz="1800" dirty="0">
                <a:solidFill>
                  <a:schemeClr val="tx1"/>
                </a:solidFill>
                <a:latin typeface="Arial"/>
                <a:cs typeface="Arial"/>
              </a:rPr>
              <a:t>)</a:t>
            </a:r>
            <a:endParaRPr sz="1800" dirty="0">
              <a:solidFill>
                <a:schemeClr val="tx1"/>
              </a:solidFill>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Communication</a:t>
            </a:r>
            <a:endParaRPr spc="-155" dirty="0"/>
          </a:p>
        </p:txBody>
      </p:sp>
      <p:sp>
        <p:nvSpPr>
          <p:cNvPr id="4" name="object 4"/>
          <p:cNvSpPr txBox="1"/>
          <p:nvPr/>
        </p:nvSpPr>
        <p:spPr>
          <a:xfrm>
            <a:off x="475248" y="1289060"/>
            <a:ext cx="8135351" cy="1161857"/>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Communication is the first, foundational challenge of distributed systems.</a:t>
            </a:r>
          </a:p>
          <a:p>
            <a:pPr marL="285750" indent="-285750">
              <a:buFont typeface="Wingdings" panose="05000000000000000000" pitchFamily="2" charset="2"/>
              <a:buChar char="v"/>
            </a:pPr>
            <a:r>
              <a:rPr lang="en-US" dirty="0"/>
              <a:t>All interaction happens over a network—an imperfect &amp; unreliable medium.</a:t>
            </a:r>
          </a:p>
          <a:p>
            <a:pPr marL="285750" indent="-285750">
              <a:buFont typeface="Wingdings" panose="05000000000000000000" pitchFamily="2" charset="2"/>
              <a:buChar char="v"/>
            </a:pPr>
            <a:r>
              <a:rPr lang="en-US" b="1" dirty="0"/>
              <a:t>Example:</a:t>
            </a:r>
            <a:r>
              <a:rPr lang="en-US" dirty="0"/>
              <a:t> A web browser sending an HTTP request to a server.</a:t>
            </a:r>
          </a:p>
          <a:p>
            <a:endParaRPr lang="en-US" dirty="0"/>
          </a:p>
        </p:txBody>
      </p:sp>
      <p:pic>
        <p:nvPicPr>
          <p:cNvPr id="6" name="Picture 5">
            <a:extLst>
              <a:ext uri="{FF2B5EF4-FFF2-40B4-BE49-F238E27FC236}">
                <a16:creationId xmlns:a16="http://schemas.microsoft.com/office/drawing/2014/main" id="{07537487-D67D-D180-8C2A-1218F5D5B32A}"/>
              </a:ext>
            </a:extLst>
          </p:cNvPr>
          <p:cNvPicPr>
            <a:picLocks noChangeAspect="1"/>
          </p:cNvPicPr>
          <p:nvPr/>
        </p:nvPicPr>
        <p:blipFill>
          <a:blip r:embed="rId3">
            <a:grayscl/>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07575" y="2561936"/>
            <a:ext cx="6934200" cy="1914525"/>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AB2A8313-850E-F654-5C6B-D7928EB74B13}"/>
              </a:ext>
            </a:extLst>
          </p:cNvPr>
          <p:cNvSpPr txBox="1"/>
          <p:nvPr/>
        </p:nvSpPr>
        <p:spPr>
          <a:xfrm>
            <a:off x="685800" y="5143500"/>
            <a:ext cx="6562725" cy="230832"/>
          </a:xfrm>
          <a:prstGeom prst="rect">
            <a:avLst/>
          </a:prstGeom>
          <a:noFill/>
        </p:spPr>
        <p:txBody>
          <a:bodyPr wrap="square" rtlCol="0">
            <a:spAutoFit/>
          </a:bodyPr>
          <a:lstStyle/>
          <a:p>
            <a:endParaRPr lang="en-IN"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39ECD-5D20-7F54-D463-07E71F370DF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1427B9E-CEE0-915F-2F61-86EB0047DF12}"/>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Communication Types</a:t>
            </a:r>
            <a:endParaRPr spc="-155" dirty="0"/>
          </a:p>
        </p:txBody>
      </p:sp>
      <p:sp>
        <p:nvSpPr>
          <p:cNvPr id="4" name="object 4">
            <a:extLst>
              <a:ext uri="{FF2B5EF4-FFF2-40B4-BE49-F238E27FC236}">
                <a16:creationId xmlns:a16="http://schemas.microsoft.com/office/drawing/2014/main" id="{9C5A3A54-1AF2-AF3C-4C1B-BB23EE086674}"/>
              </a:ext>
            </a:extLst>
          </p:cNvPr>
          <p:cNvSpPr txBox="1"/>
          <p:nvPr/>
        </p:nvSpPr>
        <p:spPr>
          <a:xfrm>
            <a:off x="475249" y="1289060"/>
            <a:ext cx="4477751" cy="1715854"/>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b="1" dirty="0"/>
              <a:t>Synchronous:</a:t>
            </a:r>
            <a:r>
              <a:rPr lang="en-US" dirty="0"/>
              <a:t> Sender waits for a response (like HTTP).</a:t>
            </a:r>
          </a:p>
          <a:p>
            <a:pPr marL="285750" indent="-285750">
              <a:buFont typeface="Wingdings" panose="05000000000000000000" pitchFamily="2" charset="2"/>
              <a:buChar char="v"/>
            </a:pPr>
            <a:r>
              <a:rPr lang="en-US" b="1" dirty="0"/>
              <a:t>Asynchronous:</a:t>
            </a:r>
            <a:r>
              <a:rPr lang="en-US" dirty="0"/>
              <a:t> Sender sends a message and moves on (like messaging queues).</a:t>
            </a:r>
          </a:p>
          <a:p>
            <a:endParaRPr lang="en-US" dirty="0"/>
          </a:p>
        </p:txBody>
      </p:sp>
      <p:pic>
        <p:nvPicPr>
          <p:cNvPr id="3076" name="Picture 4" descr="please generate a image where a computer sending request to server and servere sending respone back. please use simple icons  like laotop and terdisinal servere icon with arrow defind communication direction. please generate two compie image where async and sync communication for asycn use queue between.  add async and sync text befor each image not top of image&#10;&#10;&#10;">
            <a:extLst>
              <a:ext uri="{FF2B5EF4-FFF2-40B4-BE49-F238E27FC236}">
                <a16:creationId xmlns:a16="http://schemas.microsoft.com/office/drawing/2014/main" id="{BFE6383A-FE40-CC46-0EE9-8E86602C0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927161"/>
            <a:ext cx="3714750" cy="37147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110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AE349-A2DD-D279-DC52-48168AFD768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84C2447-BC61-B869-B9FF-8F29314E9F45}"/>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Coordination</a:t>
            </a:r>
            <a:endParaRPr spc="-155" dirty="0"/>
          </a:p>
        </p:txBody>
      </p:sp>
      <p:sp>
        <p:nvSpPr>
          <p:cNvPr id="4" name="object 4">
            <a:extLst>
              <a:ext uri="{FF2B5EF4-FFF2-40B4-BE49-F238E27FC236}">
                <a16:creationId xmlns:a16="http://schemas.microsoft.com/office/drawing/2014/main" id="{1F984221-ADF7-E697-90CA-A4207300E894}"/>
              </a:ext>
            </a:extLst>
          </p:cNvPr>
          <p:cNvSpPr txBox="1"/>
          <p:nvPr/>
        </p:nvSpPr>
        <p:spPr>
          <a:xfrm>
            <a:off x="475249" y="1289060"/>
            <a:ext cx="5011152" cy="1438855"/>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Coordination is how nodes make collective decisions and maintain consistent state.</a:t>
            </a:r>
          </a:p>
          <a:p>
            <a:pPr marL="285750" indent="-285750">
              <a:buFont typeface="Wingdings" panose="05000000000000000000" pitchFamily="2" charset="2"/>
              <a:buChar char="v"/>
            </a:pPr>
            <a:r>
              <a:rPr lang="en-US" dirty="0"/>
              <a:t>It's essential for </a:t>
            </a:r>
            <a:r>
              <a:rPr lang="en-US" b="1" dirty="0"/>
              <a:t>Reliability</a:t>
            </a:r>
            <a:r>
              <a:rPr lang="en-US" dirty="0"/>
              <a:t> (correct behavior) but often conflicts with </a:t>
            </a:r>
            <a:r>
              <a:rPr lang="en-US" b="1" dirty="0"/>
              <a:t>Scalability</a:t>
            </a:r>
            <a:r>
              <a:rPr lang="en-US" dirty="0"/>
              <a:t>.</a:t>
            </a:r>
          </a:p>
          <a:p>
            <a:endParaRPr lang="en-US" dirty="0"/>
          </a:p>
        </p:txBody>
      </p:sp>
      <p:pic>
        <p:nvPicPr>
          <p:cNvPr id="2050" name="Picture 2" descr="Minimalist vector illustration of multiple cars of different colors (blue, red, yellow) orderly crossing a four-way intersection with clear traffic signals. The cars are in separate lanes, synchronized in movement. Clean, flat design with a tech/architectural feel, white background. No text.. Image 4 of 4">
            <a:extLst>
              <a:ext uri="{FF2B5EF4-FFF2-40B4-BE49-F238E27FC236}">
                <a16:creationId xmlns:a16="http://schemas.microsoft.com/office/drawing/2014/main" id="{7F9A2FC3-98DB-5BB2-5132-2F3EB33BE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900112"/>
            <a:ext cx="3343275" cy="334327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590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87FDE-9799-6907-3195-DEAACA62762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2B9B315-2E5B-1DCD-DF7A-9412B012AD82}"/>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Consistency</a:t>
            </a:r>
            <a:endParaRPr spc="-155" dirty="0"/>
          </a:p>
        </p:txBody>
      </p:sp>
      <p:sp>
        <p:nvSpPr>
          <p:cNvPr id="4" name="object 4">
            <a:extLst>
              <a:ext uri="{FF2B5EF4-FFF2-40B4-BE49-F238E27FC236}">
                <a16:creationId xmlns:a16="http://schemas.microsoft.com/office/drawing/2014/main" id="{50929A4A-6A8A-5659-D77F-626ED20CAA6E}"/>
              </a:ext>
            </a:extLst>
          </p:cNvPr>
          <p:cNvSpPr txBox="1"/>
          <p:nvPr/>
        </p:nvSpPr>
        <p:spPr>
          <a:xfrm>
            <a:off x="475249" y="1289060"/>
            <a:ext cx="4771035" cy="3377848"/>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b="1" dirty="0"/>
              <a:t>Definition:</a:t>
            </a:r>
            <a:r>
              <a:rPr lang="en-US" dirty="0"/>
              <a:t> The guarantee that all users see the same data at the same time.</a:t>
            </a:r>
          </a:p>
          <a:p>
            <a:pPr marL="285750" indent="-285750">
              <a:buFont typeface="Wingdings" panose="05000000000000000000" pitchFamily="2" charset="2"/>
              <a:buChar char="v"/>
            </a:pPr>
            <a:r>
              <a:rPr lang="en-US" b="1" dirty="0"/>
              <a:t>Core Problem:</a:t>
            </a:r>
            <a:r>
              <a:rPr lang="en-US" dirty="0"/>
              <a:t> Data is replicated across multiple nodes for reliability and performance.</a:t>
            </a:r>
          </a:p>
          <a:p>
            <a:pPr marL="285750" indent="-285750">
              <a:buFont typeface="Wingdings" panose="05000000000000000000" pitchFamily="2" charset="2"/>
              <a:buChar char="v"/>
            </a:pPr>
            <a:r>
              <a:rPr lang="en-US" b="1" dirty="0"/>
              <a:t>The Challenge:</a:t>
            </a:r>
            <a:r>
              <a:rPr lang="en-US" dirty="0"/>
              <a:t> How do we keep all copies synchronized when updates occur?</a:t>
            </a:r>
          </a:p>
          <a:p>
            <a:pPr marL="285750" indent="-285750">
              <a:buFont typeface="Wingdings" panose="05000000000000000000" pitchFamily="2" charset="2"/>
              <a:buChar char="v"/>
            </a:pPr>
            <a:r>
              <a:rPr lang="en-US" b="1" dirty="0"/>
              <a:t>The Goal:</a:t>
            </a:r>
            <a:r>
              <a:rPr lang="en-US" dirty="0"/>
              <a:t> Make the distributed system behave like a </a:t>
            </a:r>
            <a:r>
              <a:rPr lang="en-US" b="1" dirty="0"/>
              <a:t>single source of truth</a:t>
            </a:r>
            <a:r>
              <a:rPr lang="en-US" dirty="0"/>
              <a:t>.</a:t>
            </a:r>
          </a:p>
          <a:p>
            <a:pPr marL="285750" indent="-285750">
              <a:buFont typeface="Wingdings" panose="05000000000000000000" pitchFamily="2" charset="2"/>
              <a:buChar char="v"/>
            </a:pPr>
            <a:r>
              <a:rPr lang="en-US" b="1" dirty="0"/>
              <a:t>Real-World Example:</a:t>
            </a:r>
            <a:r>
              <a:rPr lang="en-US" dirty="0"/>
              <a:t> Your bank balance must be consistent across all ATMs, apps, and branches.</a:t>
            </a:r>
          </a:p>
        </p:txBody>
      </p:sp>
      <p:pic>
        <p:nvPicPr>
          <p:cNvPr id="9" name="Picture 8" descr="A person looking at a couple of phones">
            <a:extLst>
              <a:ext uri="{FF2B5EF4-FFF2-40B4-BE49-F238E27FC236}">
                <a16:creationId xmlns:a16="http://schemas.microsoft.com/office/drawing/2014/main" id="{E9556886-0A8E-7490-976C-41C4B6FB8C62}"/>
              </a:ext>
            </a:extLst>
          </p:cNvPr>
          <p:cNvPicPr>
            <a:picLocks noChangeAspect="1"/>
          </p:cNvPicPr>
          <p:nvPr/>
        </p:nvPicPr>
        <p:blipFill>
          <a:blip r:embed="rId3"/>
          <a:stretch>
            <a:fillRect/>
          </a:stretch>
        </p:blipFill>
        <p:spPr>
          <a:xfrm>
            <a:off x="5334001" y="819150"/>
            <a:ext cx="3597972" cy="35052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71922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43A9A-3310-C69C-1ABE-3799D40D6FE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E7F193E-1988-F027-ED93-D0791F6F3E9A}"/>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Consistency Models</a:t>
            </a:r>
            <a:endParaRPr spc="-155" dirty="0"/>
          </a:p>
        </p:txBody>
      </p:sp>
      <p:sp>
        <p:nvSpPr>
          <p:cNvPr id="4" name="object 4">
            <a:extLst>
              <a:ext uri="{FF2B5EF4-FFF2-40B4-BE49-F238E27FC236}">
                <a16:creationId xmlns:a16="http://schemas.microsoft.com/office/drawing/2014/main" id="{4AAADCC6-AB6A-5FB0-4E25-0C0170ECCDFD}"/>
              </a:ext>
            </a:extLst>
          </p:cNvPr>
          <p:cNvSpPr txBox="1"/>
          <p:nvPr/>
        </p:nvSpPr>
        <p:spPr>
          <a:xfrm>
            <a:off x="475250" y="1123950"/>
            <a:ext cx="4861560" cy="3377848"/>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b="1" dirty="0"/>
              <a:t>Strong Consistency</a:t>
            </a:r>
            <a:endParaRPr lang="en-US" dirty="0"/>
          </a:p>
          <a:p>
            <a:pPr marL="285750" lvl="8" indent="-285750">
              <a:buFont typeface="Courier New" panose="02070309020205020404" pitchFamily="49" charset="0"/>
              <a:buChar char="o"/>
            </a:pPr>
            <a:r>
              <a:rPr lang="en-US" b="1" dirty="0"/>
              <a:t>All</a:t>
            </a:r>
            <a:r>
              <a:rPr lang="en-US" dirty="0"/>
              <a:t> nodes see the </a:t>
            </a:r>
            <a:r>
              <a:rPr lang="en-US" b="1" dirty="0"/>
              <a:t>latest</a:t>
            </a:r>
            <a:r>
              <a:rPr lang="en-US" dirty="0"/>
              <a:t> write </a:t>
            </a:r>
            <a:r>
              <a:rPr lang="en-US" b="1" dirty="0"/>
              <a:t>immediately</a:t>
            </a:r>
            <a:r>
              <a:rPr lang="en-US" dirty="0"/>
              <a:t>.</a:t>
            </a:r>
          </a:p>
          <a:p>
            <a:pPr marL="285750" lvl="8" indent="-285750">
              <a:buFont typeface="Courier New" panose="02070309020205020404" pitchFamily="49" charset="0"/>
              <a:buChar char="o"/>
            </a:pPr>
            <a:r>
              <a:rPr lang="en-US" dirty="0"/>
              <a:t>The system acts like a single, up-to-date copy.</a:t>
            </a:r>
          </a:p>
          <a:p>
            <a:pPr marL="285750" lvl="8" indent="-285750">
              <a:buFont typeface="Courier New" panose="02070309020205020404" pitchFamily="49" charset="0"/>
              <a:buChar char="o"/>
            </a:pPr>
            <a:r>
              <a:rPr lang="en-US" dirty="0"/>
              <a:t>Can be slower and may reduce availability during failures.</a:t>
            </a:r>
          </a:p>
          <a:p>
            <a:pPr marL="285750" indent="-285750">
              <a:buFont typeface="Wingdings" panose="05000000000000000000" pitchFamily="2" charset="2"/>
              <a:buChar char="v"/>
            </a:pPr>
            <a:r>
              <a:rPr lang="en-US" b="1" dirty="0"/>
              <a:t>Eventual Consistency</a:t>
            </a:r>
            <a:endParaRPr lang="en-US" dirty="0"/>
          </a:p>
          <a:p>
            <a:pPr marL="285750" indent="-285750">
              <a:buFont typeface="Courier New" panose="02070309020205020404" pitchFamily="49" charset="0"/>
              <a:buChar char="o"/>
            </a:pPr>
            <a:r>
              <a:rPr lang="en-US" dirty="0"/>
              <a:t>Given </a:t>
            </a:r>
            <a:r>
              <a:rPr lang="en-US" b="1" dirty="0"/>
              <a:t>no new updates</a:t>
            </a:r>
            <a:r>
              <a:rPr lang="en-US" dirty="0"/>
              <a:t>, </a:t>
            </a:r>
            <a:r>
              <a:rPr lang="en-US" b="1" dirty="0"/>
              <a:t>all</a:t>
            </a:r>
            <a:r>
              <a:rPr lang="en-US" dirty="0"/>
              <a:t> nodes will </a:t>
            </a:r>
            <a:r>
              <a:rPr lang="en-US" b="1" dirty="0"/>
              <a:t>eventually</a:t>
            </a:r>
            <a:r>
              <a:rPr lang="en-US" dirty="0"/>
              <a:t> see the same value.</a:t>
            </a:r>
          </a:p>
          <a:p>
            <a:pPr marL="285750" indent="-285750">
              <a:buFont typeface="Courier New" panose="02070309020205020404" pitchFamily="49" charset="0"/>
              <a:buChar char="o"/>
            </a:pPr>
            <a:r>
              <a:rPr lang="en-US" dirty="0"/>
              <a:t>Temporary inconsistencies are allowed; they resolve over time.</a:t>
            </a:r>
          </a:p>
          <a:p>
            <a:pPr marL="285750" indent="-285750">
              <a:buFont typeface="Courier New" panose="02070309020205020404" pitchFamily="49" charset="0"/>
              <a:buChar char="o"/>
            </a:pPr>
            <a:r>
              <a:rPr lang="en-US" dirty="0"/>
              <a:t>Higher availability and better performance.</a:t>
            </a:r>
          </a:p>
        </p:txBody>
      </p:sp>
      <p:pic>
        <p:nvPicPr>
          <p:cNvPr id="4098" name="Picture 2" descr="please generate data consistency models image for stronge and eventually consistencly only">
            <a:extLst>
              <a:ext uri="{FF2B5EF4-FFF2-40B4-BE49-F238E27FC236}">
                <a16:creationId xmlns:a16="http://schemas.microsoft.com/office/drawing/2014/main" id="{0568A380-347B-7817-04CB-98FA65CBC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761304"/>
            <a:ext cx="3714750" cy="37147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308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59E83-5489-7418-05FA-B01D7325DE3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690328E-3850-BF7F-13FF-82CB8E6439A7}"/>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Availability</a:t>
            </a:r>
            <a:endParaRPr spc="-155" dirty="0"/>
          </a:p>
        </p:txBody>
      </p:sp>
      <p:sp>
        <p:nvSpPr>
          <p:cNvPr id="4" name="object 4">
            <a:extLst>
              <a:ext uri="{FF2B5EF4-FFF2-40B4-BE49-F238E27FC236}">
                <a16:creationId xmlns:a16="http://schemas.microsoft.com/office/drawing/2014/main" id="{79F70281-E339-E458-B69C-B14F74737FAA}"/>
              </a:ext>
            </a:extLst>
          </p:cNvPr>
          <p:cNvSpPr txBox="1"/>
          <p:nvPr/>
        </p:nvSpPr>
        <p:spPr>
          <a:xfrm>
            <a:off x="475250" y="1123950"/>
            <a:ext cx="6611350" cy="1161857"/>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A measure of whether a system is </a:t>
            </a:r>
            <a:r>
              <a:rPr lang="en-US" b="1" dirty="0"/>
              <a:t>operational and able to respond</a:t>
            </a:r>
            <a:r>
              <a:rPr lang="en-US" dirty="0"/>
              <a:t> to requests.</a:t>
            </a:r>
          </a:p>
          <a:p>
            <a:pPr marL="285750" indent="-285750">
              <a:buFont typeface="Wingdings" panose="05000000000000000000" pitchFamily="2" charset="2"/>
              <a:buChar char="v"/>
            </a:pPr>
            <a:r>
              <a:rPr lang="en-US" dirty="0"/>
              <a:t>The system can </a:t>
            </a:r>
            <a:r>
              <a:rPr lang="en-US" b="1" dirty="0"/>
              <a:t>respond to requests</a:t>
            </a:r>
            <a:r>
              <a:rPr lang="en-US" dirty="0"/>
              <a:t> (even if with degraded performance).</a:t>
            </a:r>
          </a:p>
        </p:txBody>
      </p:sp>
      <p:sp>
        <p:nvSpPr>
          <p:cNvPr id="5" name="TextBox 4">
            <a:extLst>
              <a:ext uri="{FF2B5EF4-FFF2-40B4-BE49-F238E27FC236}">
                <a16:creationId xmlns:a16="http://schemas.microsoft.com/office/drawing/2014/main" id="{ACD04A37-E8A7-7FBB-62A8-CA01B8EC3BE2}"/>
              </a:ext>
            </a:extLst>
          </p:cNvPr>
          <p:cNvSpPr txBox="1"/>
          <p:nvPr/>
        </p:nvSpPr>
        <p:spPr>
          <a:xfrm>
            <a:off x="171450" y="3257550"/>
            <a:ext cx="7677150" cy="369332"/>
          </a:xfrm>
          <a:prstGeom prst="rect">
            <a:avLst/>
          </a:prstGeom>
          <a:noFill/>
        </p:spPr>
        <p:txBody>
          <a:bodyPr wrap="square">
            <a:spAutoFit/>
          </a:bodyPr>
          <a:lstStyle/>
          <a:p>
            <a:r>
              <a:rPr lang="en-IN" dirty="0"/>
              <a:t>Availability (%) = [(Total Time - Total Downtime) / Total Time] × 100</a:t>
            </a:r>
          </a:p>
        </p:txBody>
      </p:sp>
    </p:spTree>
    <p:extLst>
      <p:ext uri="{BB962C8B-B14F-4D97-AF65-F5344CB8AC3E}">
        <p14:creationId xmlns:p14="http://schemas.microsoft.com/office/powerpoint/2010/main" val="45446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C90E6-497C-4C50-A25A-6D5F7F36B27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3020D90-0A8D-A10E-F2DD-8C4990669A3E}"/>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Measuring Availability</a:t>
            </a:r>
            <a:endParaRPr spc="-155" dirty="0"/>
          </a:p>
        </p:txBody>
      </p:sp>
      <p:graphicFrame>
        <p:nvGraphicFramePr>
          <p:cNvPr id="2" name="Table 1">
            <a:extLst>
              <a:ext uri="{FF2B5EF4-FFF2-40B4-BE49-F238E27FC236}">
                <a16:creationId xmlns:a16="http://schemas.microsoft.com/office/drawing/2014/main" id="{F95B5B22-37C1-7840-8EFD-5F87CBA80A6D}"/>
              </a:ext>
            </a:extLst>
          </p:cNvPr>
          <p:cNvGraphicFramePr>
            <a:graphicFrameLocks noGrp="1"/>
          </p:cNvGraphicFramePr>
          <p:nvPr>
            <p:extLst>
              <p:ext uri="{D42A27DB-BD31-4B8C-83A1-F6EECF244321}">
                <p14:modId xmlns:p14="http://schemas.microsoft.com/office/powerpoint/2010/main" val="1639037685"/>
              </p:ext>
            </p:extLst>
          </p:nvPr>
        </p:nvGraphicFramePr>
        <p:xfrm>
          <a:off x="384724" y="1110286"/>
          <a:ext cx="8374553" cy="3061664"/>
        </p:xfrm>
        <a:graphic>
          <a:graphicData uri="http://schemas.openxmlformats.org/drawingml/2006/table">
            <a:tbl>
              <a:tblPr/>
              <a:tblGrid>
                <a:gridCol w="1910699">
                  <a:extLst>
                    <a:ext uri="{9D8B030D-6E8A-4147-A177-3AD203B41FA5}">
                      <a16:colId xmlns:a16="http://schemas.microsoft.com/office/drawing/2014/main" val="390564009"/>
                    </a:ext>
                  </a:extLst>
                </a:gridCol>
                <a:gridCol w="2154618">
                  <a:extLst>
                    <a:ext uri="{9D8B030D-6E8A-4147-A177-3AD203B41FA5}">
                      <a16:colId xmlns:a16="http://schemas.microsoft.com/office/drawing/2014/main" val="377576045"/>
                    </a:ext>
                  </a:extLst>
                </a:gridCol>
                <a:gridCol w="2154618">
                  <a:extLst>
                    <a:ext uri="{9D8B030D-6E8A-4147-A177-3AD203B41FA5}">
                      <a16:colId xmlns:a16="http://schemas.microsoft.com/office/drawing/2014/main" val="5736298"/>
                    </a:ext>
                  </a:extLst>
                </a:gridCol>
                <a:gridCol w="2154618">
                  <a:extLst>
                    <a:ext uri="{9D8B030D-6E8A-4147-A177-3AD203B41FA5}">
                      <a16:colId xmlns:a16="http://schemas.microsoft.com/office/drawing/2014/main" val="977510982"/>
                    </a:ext>
                  </a:extLst>
                </a:gridCol>
              </a:tblGrid>
              <a:tr h="454668">
                <a:tc>
                  <a:txBody>
                    <a:bodyPr/>
                    <a:lstStyle/>
                    <a:p>
                      <a:pPr algn="l">
                        <a:lnSpc>
                          <a:spcPts val="1875"/>
                        </a:lnSpc>
                        <a:buNone/>
                      </a:pPr>
                      <a:r>
                        <a:rPr lang="en-IN" sz="1300" b="1">
                          <a:effectLst/>
                          <a:latin typeface="quote-cjk-patch"/>
                        </a:rPr>
                        <a:t>Availability %</a:t>
                      </a:r>
                      <a:endParaRPr lang="en-IN" sz="1300" b="0">
                        <a:effectLst/>
                        <a:latin typeface="quote-cjk-patch"/>
                      </a:endParaRPr>
                    </a:p>
                  </a:txBody>
                  <a:tcPr marL="65472" marR="87296" marT="54560" marB="54560" anchor="ctr">
                    <a:lnL>
                      <a:noFill/>
                    </a:lnL>
                    <a:lnR>
                      <a:noFill/>
                    </a:lnR>
                    <a:lnT>
                      <a:noFill/>
                    </a:lnT>
                    <a:lnB>
                      <a:noFill/>
                    </a:lnB>
                    <a:noFill/>
                  </a:tcPr>
                </a:tc>
                <a:tc>
                  <a:txBody>
                    <a:bodyPr/>
                    <a:lstStyle/>
                    <a:p>
                      <a:pPr algn="l">
                        <a:lnSpc>
                          <a:spcPts val="1875"/>
                        </a:lnSpc>
                        <a:buNone/>
                      </a:pPr>
                      <a:r>
                        <a:rPr lang="en-IN" sz="1300" b="1">
                          <a:effectLst/>
                          <a:latin typeface="quote-cjk-patch"/>
                        </a:rPr>
                        <a:t>"Nines"</a:t>
                      </a:r>
                      <a:endParaRPr lang="en-IN" sz="1300" b="0">
                        <a:effectLst/>
                        <a:latin typeface="quote-cjk-patch"/>
                      </a:endParaRPr>
                    </a:p>
                  </a:txBody>
                  <a:tcPr marL="87296" marR="87296" marT="54560" marB="54560" anchor="ctr">
                    <a:lnL>
                      <a:noFill/>
                    </a:lnL>
                    <a:lnR>
                      <a:noFill/>
                    </a:lnR>
                    <a:lnT>
                      <a:noFill/>
                    </a:lnT>
                    <a:lnB>
                      <a:noFill/>
                    </a:lnB>
                    <a:noFill/>
                  </a:tcPr>
                </a:tc>
                <a:tc>
                  <a:txBody>
                    <a:bodyPr/>
                    <a:lstStyle/>
                    <a:p>
                      <a:pPr algn="l">
                        <a:lnSpc>
                          <a:spcPts val="1875"/>
                        </a:lnSpc>
                        <a:buNone/>
                      </a:pPr>
                      <a:r>
                        <a:rPr lang="en-IN" sz="1300" b="1">
                          <a:effectLst/>
                          <a:latin typeface="quote-cjk-patch"/>
                        </a:rPr>
                        <a:t>Downtime per Year</a:t>
                      </a:r>
                      <a:endParaRPr lang="en-IN" sz="1300" b="0">
                        <a:effectLst/>
                        <a:latin typeface="quote-cjk-patch"/>
                      </a:endParaRPr>
                    </a:p>
                  </a:txBody>
                  <a:tcPr marL="87296" marR="87296" marT="54560" marB="54560" anchor="ctr">
                    <a:lnL>
                      <a:noFill/>
                    </a:lnL>
                    <a:lnR>
                      <a:noFill/>
                    </a:lnR>
                    <a:lnT>
                      <a:noFill/>
                    </a:lnT>
                    <a:lnB>
                      <a:noFill/>
                    </a:lnB>
                    <a:noFill/>
                  </a:tcPr>
                </a:tc>
                <a:tc>
                  <a:txBody>
                    <a:bodyPr/>
                    <a:lstStyle/>
                    <a:p>
                      <a:pPr algn="l">
                        <a:lnSpc>
                          <a:spcPts val="1875"/>
                        </a:lnSpc>
                        <a:buNone/>
                      </a:pPr>
                      <a:r>
                        <a:rPr lang="en-IN" sz="1300" b="1">
                          <a:effectLst/>
                          <a:latin typeface="quote-cjk-patch"/>
                        </a:rPr>
                        <a:t>Downtime per Month</a:t>
                      </a:r>
                      <a:endParaRPr lang="en-IN" sz="1300" b="0">
                        <a:effectLst/>
                        <a:latin typeface="quote-cjk-patch"/>
                      </a:endParaRPr>
                    </a:p>
                  </a:txBody>
                  <a:tcPr marL="87296" marR="87296" marT="54560" marB="54560" anchor="ctr">
                    <a:lnL>
                      <a:noFill/>
                    </a:lnL>
                    <a:lnR>
                      <a:noFill/>
                    </a:lnR>
                    <a:lnT>
                      <a:noFill/>
                    </a:lnT>
                    <a:lnB>
                      <a:noFill/>
                    </a:lnB>
                    <a:noFill/>
                  </a:tcPr>
                </a:tc>
                <a:extLst>
                  <a:ext uri="{0D108BD9-81ED-4DB2-BD59-A6C34878D82A}">
                    <a16:rowId xmlns:a16="http://schemas.microsoft.com/office/drawing/2014/main" val="2092171703"/>
                  </a:ext>
                </a:extLst>
              </a:tr>
              <a:tr h="281894">
                <a:tc>
                  <a:txBody>
                    <a:bodyPr/>
                    <a:lstStyle/>
                    <a:p>
                      <a:pPr>
                        <a:lnSpc>
                          <a:spcPts val="1875"/>
                        </a:lnSpc>
                        <a:buNone/>
                      </a:pPr>
                      <a:r>
                        <a:rPr lang="en-IN" sz="1300" b="0">
                          <a:effectLst/>
                          <a:latin typeface="quote-cjk-patch"/>
                        </a:rPr>
                        <a:t>99%</a:t>
                      </a:r>
                    </a:p>
                  </a:txBody>
                  <a:tcPr marL="65472"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Two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3.65 days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7.3 hours</a:t>
                      </a:r>
                    </a:p>
                  </a:txBody>
                  <a:tcPr marL="87296" marR="65472" marT="54560" marB="54560" anchor="ctr">
                    <a:lnL>
                      <a:noFill/>
                    </a:lnL>
                    <a:lnR>
                      <a:noFill/>
                    </a:lnR>
                    <a:lnT>
                      <a:noFill/>
                    </a:lnT>
                    <a:lnB>
                      <a:noFill/>
                    </a:lnB>
                    <a:noFill/>
                  </a:tcPr>
                </a:tc>
                <a:extLst>
                  <a:ext uri="{0D108BD9-81ED-4DB2-BD59-A6C34878D82A}">
                    <a16:rowId xmlns:a16="http://schemas.microsoft.com/office/drawing/2014/main" val="1451665471"/>
                  </a:ext>
                </a:extLst>
              </a:tr>
              <a:tr h="454668">
                <a:tc>
                  <a:txBody>
                    <a:bodyPr/>
                    <a:lstStyle/>
                    <a:p>
                      <a:pPr>
                        <a:lnSpc>
                          <a:spcPts val="1875"/>
                        </a:lnSpc>
                        <a:buNone/>
                      </a:pPr>
                      <a:r>
                        <a:rPr lang="en-IN" sz="1300" b="0">
                          <a:effectLst/>
                          <a:latin typeface="quote-cjk-patch"/>
                        </a:rPr>
                        <a:t>99.9%</a:t>
                      </a:r>
                    </a:p>
                  </a:txBody>
                  <a:tcPr marL="65472" marR="87296" marT="54560" marB="54560" anchor="ctr">
                    <a:lnL>
                      <a:noFill/>
                    </a:lnL>
                    <a:lnR>
                      <a:noFill/>
                    </a:lnR>
                    <a:lnT>
                      <a:noFill/>
                    </a:lnT>
                    <a:lnB>
                      <a:noFill/>
                    </a:lnB>
                    <a:noFill/>
                  </a:tcPr>
                </a:tc>
                <a:tc>
                  <a:txBody>
                    <a:bodyPr/>
                    <a:lstStyle/>
                    <a:p>
                      <a:pPr>
                        <a:lnSpc>
                          <a:spcPts val="1875"/>
                        </a:lnSpc>
                        <a:buNone/>
                      </a:pPr>
                      <a:r>
                        <a:rPr lang="en-IN" sz="1300" b="0" dirty="0">
                          <a:effectLst/>
                          <a:latin typeface="quote-cjk-patch"/>
                        </a:rPr>
                        <a:t>Three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8.76 hours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43.8 minutes</a:t>
                      </a:r>
                    </a:p>
                  </a:txBody>
                  <a:tcPr marL="87296" marR="65472" marT="54560" marB="54560" anchor="ctr">
                    <a:lnL>
                      <a:noFill/>
                    </a:lnL>
                    <a:lnR>
                      <a:noFill/>
                    </a:lnR>
                    <a:lnT>
                      <a:noFill/>
                    </a:lnT>
                    <a:lnB>
                      <a:noFill/>
                    </a:lnB>
                    <a:noFill/>
                  </a:tcPr>
                </a:tc>
                <a:extLst>
                  <a:ext uri="{0D108BD9-81ED-4DB2-BD59-A6C34878D82A}">
                    <a16:rowId xmlns:a16="http://schemas.microsoft.com/office/drawing/2014/main" val="2403092957"/>
                  </a:ext>
                </a:extLst>
              </a:tr>
              <a:tr h="454668">
                <a:tc>
                  <a:txBody>
                    <a:bodyPr/>
                    <a:lstStyle/>
                    <a:p>
                      <a:pPr>
                        <a:lnSpc>
                          <a:spcPts val="1875"/>
                        </a:lnSpc>
                        <a:buNone/>
                      </a:pPr>
                      <a:r>
                        <a:rPr lang="en-IN" sz="1300" b="0">
                          <a:effectLst/>
                          <a:latin typeface="quote-cjk-patch"/>
                        </a:rPr>
                        <a:t>99.99%</a:t>
                      </a:r>
                    </a:p>
                  </a:txBody>
                  <a:tcPr marL="65472" marR="87296" marT="54560" marB="54560" anchor="ctr">
                    <a:lnL>
                      <a:noFill/>
                    </a:lnL>
                    <a:lnR>
                      <a:noFill/>
                    </a:lnR>
                    <a:lnT>
                      <a:noFill/>
                    </a:lnT>
                    <a:lnB>
                      <a:noFill/>
                    </a:lnB>
                    <a:noFill/>
                  </a:tcPr>
                </a:tc>
                <a:tc>
                  <a:txBody>
                    <a:bodyPr/>
                    <a:lstStyle/>
                    <a:p>
                      <a:pPr>
                        <a:lnSpc>
                          <a:spcPts val="1875"/>
                        </a:lnSpc>
                        <a:buNone/>
                      </a:pPr>
                      <a:r>
                        <a:rPr lang="en-IN" sz="1300" b="0" dirty="0">
                          <a:effectLst/>
                          <a:latin typeface="quote-cjk-patch"/>
                        </a:rPr>
                        <a:t>Four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52.6 minutes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4.38 minutes</a:t>
                      </a:r>
                    </a:p>
                  </a:txBody>
                  <a:tcPr marL="87296" marR="65472" marT="54560" marB="54560" anchor="ctr">
                    <a:lnL>
                      <a:noFill/>
                    </a:lnL>
                    <a:lnR>
                      <a:noFill/>
                    </a:lnR>
                    <a:lnT>
                      <a:noFill/>
                    </a:lnT>
                    <a:lnB>
                      <a:noFill/>
                    </a:lnB>
                    <a:noFill/>
                  </a:tcPr>
                </a:tc>
                <a:extLst>
                  <a:ext uri="{0D108BD9-81ED-4DB2-BD59-A6C34878D82A}">
                    <a16:rowId xmlns:a16="http://schemas.microsoft.com/office/drawing/2014/main" val="656858895"/>
                  </a:ext>
                </a:extLst>
              </a:tr>
              <a:tr h="454668">
                <a:tc>
                  <a:txBody>
                    <a:bodyPr/>
                    <a:lstStyle/>
                    <a:p>
                      <a:pPr>
                        <a:lnSpc>
                          <a:spcPts val="1875"/>
                        </a:lnSpc>
                        <a:buNone/>
                      </a:pPr>
                      <a:r>
                        <a:rPr lang="en-IN" sz="1300" b="0">
                          <a:effectLst/>
                          <a:latin typeface="quote-cjk-patch"/>
                        </a:rPr>
                        <a:t>99.999%</a:t>
                      </a:r>
                    </a:p>
                  </a:txBody>
                  <a:tcPr marL="65472"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Five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5.26 minutes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25.9 seconds</a:t>
                      </a:r>
                    </a:p>
                  </a:txBody>
                  <a:tcPr marL="87296" marR="65472" marT="54560" marB="54560" anchor="ctr">
                    <a:lnL>
                      <a:noFill/>
                    </a:lnL>
                    <a:lnR>
                      <a:noFill/>
                    </a:lnR>
                    <a:lnT>
                      <a:noFill/>
                    </a:lnT>
                    <a:lnB>
                      <a:noFill/>
                    </a:lnB>
                    <a:noFill/>
                  </a:tcPr>
                </a:tc>
                <a:extLst>
                  <a:ext uri="{0D108BD9-81ED-4DB2-BD59-A6C34878D82A}">
                    <a16:rowId xmlns:a16="http://schemas.microsoft.com/office/drawing/2014/main" val="1707358857"/>
                  </a:ext>
                </a:extLst>
              </a:tr>
              <a:tr h="454668">
                <a:tc>
                  <a:txBody>
                    <a:bodyPr/>
                    <a:lstStyle/>
                    <a:p>
                      <a:pPr>
                        <a:lnSpc>
                          <a:spcPts val="1875"/>
                        </a:lnSpc>
                        <a:buNone/>
                      </a:pPr>
                      <a:r>
                        <a:rPr lang="en-IN" sz="1300" b="0">
                          <a:effectLst/>
                          <a:latin typeface="quote-cjk-patch"/>
                        </a:rPr>
                        <a:t>99.9999%</a:t>
                      </a:r>
                    </a:p>
                  </a:txBody>
                  <a:tcPr marL="65472"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Six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31.5 seconds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2.59 seconds</a:t>
                      </a:r>
                    </a:p>
                  </a:txBody>
                  <a:tcPr marL="87296" marR="65472" marT="54560" marB="54560" anchor="ctr">
                    <a:lnL>
                      <a:noFill/>
                    </a:lnL>
                    <a:lnR>
                      <a:noFill/>
                    </a:lnR>
                    <a:lnT>
                      <a:noFill/>
                    </a:lnT>
                    <a:lnB>
                      <a:noFill/>
                    </a:lnB>
                    <a:noFill/>
                  </a:tcPr>
                </a:tc>
                <a:extLst>
                  <a:ext uri="{0D108BD9-81ED-4DB2-BD59-A6C34878D82A}">
                    <a16:rowId xmlns:a16="http://schemas.microsoft.com/office/drawing/2014/main" val="1124076528"/>
                  </a:ext>
                </a:extLst>
              </a:tr>
              <a:tr h="454668">
                <a:tc>
                  <a:txBody>
                    <a:bodyPr/>
                    <a:lstStyle/>
                    <a:p>
                      <a:pPr>
                        <a:lnSpc>
                          <a:spcPts val="1875"/>
                        </a:lnSpc>
                        <a:buNone/>
                      </a:pPr>
                      <a:r>
                        <a:rPr lang="en-IN" sz="1300" b="0">
                          <a:effectLst/>
                          <a:latin typeface="quote-cjk-patch"/>
                        </a:rPr>
                        <a:t>99.99999%</a:t>
                      </a:r>
                    </a:p>
                  </a:txBody>
                  <a:tcPr marL="65472"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Seven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3.15 seconds</a:t>
                      </a:r>
                    </a:p>
                  </a:txBody>
                  <a:tcPr marL="87296" marR="87296" marT="54560" marB="54560" anchor="ctr">
                    <a:lnL>
                      <a:noFill/>
                    </a:lnL>
                    <a:lnR>
                      <a:noFill/>
                    </a:lnR>
                    <a:lnT>
                      <a:noFill/>
                    </a:lnT>
                    <a:lnB>
                      <a:noFill/>
                    </a:lnB>
                    <a:noFill/>
                  </a:tcPr>
                </a:tc>
                <a:tc>
                  <a:txBody>
                    <a:bodyPr/>
                    <a:lstStyle/>
                    <a:p>
                      <a:pPr>
                        <a:lnSpc>
                          <a:spcPts val="1875"/>
                        </a:lnSpc>
                        <a:buNone/>
                      </a:pPr>
                      <a:r>
                        <a:rPr lang="en-IN" sz="1300" b="0" dirty="0">
                          <a:effectLst/>
                          <a:latin typeface="quote-cjk-patch"/>
                        </a:rPr>
                        <a:t>0.26 seconds</a:t>
                      </a:r>
                    </a:p>
                  </a:txBody>
                  <a:tcPr marL="87296" marR="65472" marT="54560" marB="54560" anchor="ctr">
                    <a:lnL>
                      <a:noFill/>
                    </a:lnL>
                    <a:lnR>
                      <a:noFill/>
                    </a:lnR>
                    <a:lnT>
                      <a:noFill/>
                    </a:lnT>
                    <a:lnB>
                      <a:noFill/>
                    </a:lnB>
                    <a:noFill/>
                  </a:tcPr>
                </a:tc>
                <a:extLst>
                  <a:ext uri="{0D108BD9-81ED-4DB2-BD59-A6C34878D82A}">
                    <a16:rowId xmlns:a16="http://schemas.microsoft.com/office/drawing/2014/main" val="1815043835"/>
                  </a:ext>
                </a:extLst>
              </a:tr>
            </a:tbl>
          </a:graphicData>
        </a:graphic>
      </p:graphicFrame>
    </p:spTree>
    <p:extLst>
      <p:ext uri="{BB962C8B-B14F-4D97-AF65-F5344CB8AC3E}">
        <p14:creationId xmlns:p14="http://schemas.microsoft.com/office/powerpoint/2010/main" val="197537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E4CEC-F066-9149-8757-2F9D9011EE9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523BAA8-D18F-682E-9255-A8FCE1347D1C}"/>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US" spc="-235" dirty="0"/>
              <a:t>Availability in Sequence  vs Parallel</a:t>
            </a:r>
            <a:endParaRPr spc="-155" dirty="0"/>
          </a:p>
        </p:txBody>
      </p:sp>
      <p:sp>
        <p:nvSpPr>
          <p:cNvPr id="6" name="TextBox 5">
            <a:extLst>
              <a:ext uri="{FF2B5EF4-FFF2-40B4-BE49-F238E27FC236}">
                <a16:creationId xmlns:a16="http://schemas.microsoft.com/office/drawing/2014/main" id="{3CDDEC94-76BC-9C2B-CEBC-5FAB20D7BDED}"/>
              </a:ext>
            </a:extLst>
          </p:cNvPr>
          <p:cNvSpPr txBox="1"/>
          <p:nvPr/>
        </p:nvSpPr>
        <p:spPr>
          <a:xfrm>
            <a:off x="398579" y="1410384"/>
            <a:ext cx="4572000" cy="646331"/>
          </a:xfrm>
          <a:prstGeom prst="rect">
            <a:avLst/>
          </a:prstGeom>
          <a:noFill/>
        </p:spPr>
        <p:txBody>
          <a:bodyPr wrap="square">
            <a:spAutoFit/>
          </a:bodyPr>
          <a:lstStyle/>
          <a:p>
            <a:r>
              <a:rPr lang="en-IN" dirty="0" err="1"/>
              <a:t>A_series</a:t>
            </a:r>
            <a:r>
              <a:rPr lang="en-IN" dirty="0"/>
              <a:t> = A1 × A2 × A3 × ... × An</a:t>
            </a:r>
          </a:p>
          <a:p>
            <a:r>
              <a:rPr lang="en-IN" dirty="0"/>
              <a:t>Example: 0.99 × 0.99 × 0.99 = 0.97 (97%)</a:t>
            </a:r>
          </a:p>
        </p:txBody>
      </p:sp>
      <p:pic>
        <p:nvPicPr>
          <p:cNvPr id="7170" name="Picture 2" descr="please generate distributed system Availability image but keep it simple instead of complex. Availability in sequence vs Parallel">
            <a:extLst>
              <a:ext uri="{FF2B5EF4-FFF2-40B4-BE49-F238E27FC236}">
                <a16:creationId xmlns:a16="http://schemas.microsoft.com/office/drawing/2014/main" id="{1D0AEA81-4AF7-7695-3CC3-2B654B568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1021019"/>
            <a:ext cx="3409950" cy="34099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88A71C-6070-8720-A754-D0C87EC76BE0}"/>
              </a:ext>
            </a:extLst>
          </p:cNvPr>
          <p:cNvSpPr txBox="1"/>
          <p:nvPr/>
        </p:nvSpPr>
        <p:spPr>
          <a:xfrm>
            <a:off x="366251" y="2122914"/>
            <a:ext cx="4572000" cy="646331"/>
          </a:xfrm>
          <a:prstGeom prst="rect">
            <a:avLst/>
          </a:prstGeom>
          <a:noFill/>
        </p:spPr>
        <p:txBody>
          <a:bodyPr wrap="square">
            <a:spAutoFit/>
          </a:bodyPr>
          <a:lstStyle/>
          <a:p>
            <a:r>
              <a:rPr lang="en-IN" dirty="0"/>
              <a:t>Parallel Availability = 1 - [(1 - A₁) × (1 - A₂) × ... × (1 - Aₙ)]</a:t>
            </a:r>
          </a:p>
        </p:txBody>
      </p:sp>
      <p:sp>
        <p:nvSpPr>
          <p:cNvPr id="7" name="TextBox 6">
            <a:extLst>
              <a:ext uri="{FF2B5EF4-FFF2-40B4-BE49-F238E27FC236}">
                <a16:creationId xmlns:a16="http://schemas.microsoft.com/office/drawing/2014/main" id="{F1C0B437-EE73-E292-1D70-7A4A58A7DBF2}"/>
              </a:ext>
            </a:extLst>
          </p:cNvPr>
          <p:cNvSpPr txBox="1"/>
          <p:nvPr/>
        </p:nvSpPr>
        <p:spPr>
          <a:xfrm>
            <a:off x="228600" y="2952750"/>
            <a:ext cx="4572000" cy="1200329"/>
          </a:xfrm>
          <a:prstGeom prst="rect">
            <a:avLst/>
          </a:prstGeom>
          <a:noFill/>
        </p:spPr>
        <p:txBody>
          <a:bodyPr wrap="square">
            <a:spAutoFit/>
          </a:bodyPr>
          <a:lstStyle/>
          <a:p>
            <a:pPr algn="l">
              <a:spcBef>
                <a:spcPts val="450"/>
              </a:spcBef>
              <a:spcAft>
                <a:spcPts val="1200"/>
              </a:spcAft>
            </a:pPr>
            <a:r>
              <a:rPr lang="en-IN" i="0" dirty="0">
                <a:solidFill>
                  <a:srgbClr val="0F1115"/>
                </a:solidFill>
                <a:effectLst/>
                <a:latin typeface="quote-cjk-patch"/>
              </a:rPr>
              <a:t>Example</a:t>
            </a:r>
            <a:r>
              <a:rPr lang="en-IN" b="1" i="0" dirty="0">
                <a:solidFill>
                  <a:srgbClr val="0F1115"/>
                </a:solidFill>
                <a:effectLst/>
                <a:latin typeface="quote-cjk-patch"/>
              </a:rPr>
              <a:t> = </a:t>
            </a:r>
            <a:r>
              <a:rPr lang="en-IN" i="0" dirty="0">
                <a:solidFill>
                  <a:srgbClr val="0F1115"/>
                </a:solidFill>
                <a:effectLst/>
                <a:latin typeface="quote-cjk-patch"/>
              </a:rPr>
              <a:t>1 - [(1 - 0.99) × (1 - 0.99)]</a:t>
            </a:r>
            <a:br>
              <a:rPr lang="en-IN" b="0" i="0" dirty="0">
                <a:solidFill>
                  <a:srgbClr val="0F1115"/>
                </a:solidFill>
                <a:effectLst/>
                <a:latin typeface="quote-cjk-patch"/>
              </a:rPr>
            </a:br>
            <a:r>
              <a:rPr lang="en-IN" b="0" i="0" dirty="0">
                <a:solidFill>
                  <a:srgbClr val="0F1115"/>
                </a:solidFill>
                <a:effectLst/>
                <a:latin typeface="quote-cjk-patch"/>
              </a:rPr>
              <a:t>= 1 - [0.01 × 0.01]</a:t>
            </a:r>
            <a:br>
              <a:rPr lang="en-IN" b="0" i="0" dirty="0">
                <a:solidFill>
                  <a:srgbClr val="0F1115"/>
                </a:solidFill>
                <a:effectLst/>
                <a:latin typeface="quote-cjk-patch"/>
              </a:rPr>
            </a:br>
            <a:r>
              <a:rPr lang="en-IN" b="0" i="0" dirty="0">
                <a:solidFill>
                  <a:srgbClr val="0F1115"/>
                </a:solidFill>
                <a:effectLst/>
                <a:latin typeface="quote-cjk-patch"/>
              </a:rPr>
              <a:t>= 1 - 0.0001</a:t>
            </a:r>
            <a:br>
              <a:rPr lang="en-IN" b="0" i="0" dirty="0">
                <a:solidFill>
                  <a:srgbClr val="0F1115"/>
                </a:solidFill>
                <a:effectLst/>
                <a:latin typeface="quote-cjk-patch"/>
              </a:rPr>
            </a:br>
            <a:r>
              <a:rPr lang="en-IN" b="0" i="0" dirty="0">
                <a:solidFill>
                  <a:srgbClr val="0F1115"/>
                </a:solidFill>
                <a:effectLst/>
                <a:latin typeface="quote-cjk-patch"/>
              </a:rPr>
              <a:t>= 0.9999 = 99.99%</a:t>
            </a:r>
          </a:p>
        </p:txBody>
      </p:sp>
    </p:spTree>
    <p:extLst>
      <p:ext uri="{BB962C8B-B14F-4D97-AF65-F5344CB8AC3E}">
        <p14:creationId xmlns:p14="http://schemas.microsoft.com/office/powerpoint/2010/main" val="485963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A3F0E-A7FF-E144-C3AE-89CD49B59A2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5DBD1D3-C9CD-C7CB-31AC-E187818DD3F3}"/>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Availability Patterns</a:t>
            </a:r>
            <a:endParaRPr spc="-155" dirty="0"/>
          </a:p>
        </p:txBody>
      </p:sp>
      <p:sp>
        <p:nvSpPr>
          <p:cNvPr id="4" name="object 4">
            <a:extLst>
              <a:ext uri="{FF2B5EF4-FFF2-40B4-BE49-F238E27FC236}">
                <a16:creationId xmlns:a16="http://schemas.microsoft.com/office/drawing/2014/main" id="{7A4646D7-AFAA-E7A0-FB7D-07D635B74EF0}"/>
              </a:ext>
            </a:extLst>
          </p:cNvPr>
          <p:cNvSpPr txBox="1"/>
          <p:nvPr/>
        </p:nvSpPr>
        <p:spPr>
          <a:xfrm>
            <a:off x="475250" y="1123950"/>
            <a:ext cx="6611350" cy="1161857"/>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Failover</a:t>
            </a:r>
          </a:p>
          <a:p>
            <a:pPr marL="285750" indent="-285750">
              <a:buFont typeface="Wingdings" panose="05000000000000000000" pitchFamily="2" charset="2"/>
              <a:buChar char="v"/>
            </a:pPr>
            <a:r>
              <a:rPr lang="en-US" dirty="0"/>
              <a:t>Replication</a:t>
            </a:r>
          </a:p>
          <a:p>
            <a:pPr marL="285750" indent="-285750">
              <a:buFont typeface="Wingdings" panose="05000000000000000000" pitchFamily="2" charset="2"/>
              <a:buChar char="v"/>
            </a:pPr>
            <a:r>
              <a:rPr lang="en-US" dirty="0"/>
              <a:t>Circuit Breaker</a:t>
            </a:r>
          </a:p>
          <a:p>
            <a:pPr marL="285750" indent="-285750">
              <a:buFont typeface="Wingdings" panose="05000000000000000000" pitchFamily="2" charset="2"/>
              <a:buChar char="v"/>
            </a:pPr>
            <a:r>
              <a:rPr lang="en-US" dirty="0"/>
              <a:t>Retry with Backoff</a:t>
            </a:r>
          </a:p>
        </p:txBody>
      </p:sp>
    </p:spTree>
    <p:extLst>
      <p:ext uri="{BB962C8B-B14F-4D97-AF65-F5344CB8AC3E}">
        <p14:creationId xmlns:p14="http://schemas.microsoft.com/office/powerpoint/2010/main" val="1200053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444F6-38EB-C881-075B-295DAB402B1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1B91935-FCEA-BE3A-13CD-649D346E3FB6}"/>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Understanding Failover</a:t>
            </a:r>
            <a:endParaRPr spc="-155" dirty="0"/>
          </a:p>
        </p:txBody>
      </p:sp>
      <p:sp>
        <p:nvSpPr>
          <p:cNvPr id="4" name="object 4">
            <a:extLst>
              <a:ext uri="{FF2B5EF4-FFF2-40B4-BE49-F238E27FC236}">
                <a16:creationId xmlns:a16="http://schemas.microsoft.com/office/drawing/2014/main" id="{5CC43F0D-BBED-845C-ECCA-3A46B17FBD1B}"/>
              </a:ext>
            </a:extLst>
          </p:cNvPr>
          <p:cNvSpPr txBox="1"/>
          <p:nvPr/>
        </p:nvSpPr>
        <p:spPr>
          <a:xfrm>
            <a:off x="475250" y="1123950"/>
            <a:ext cx="6611350" cy="607859"/>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The automatic process of switching to a standby system when the primary system fails</a:t>
            </a:r>
          </a:p>
        </p:txBody>
      </p:sp>
    </p:spTree>
    <p:extLst>
      <p:ext uri="{BB962C8B-B14F-4D97-AF65-F5344CB8AC3E}">
        <p14:creationId xmlns:p14="http://schemas.microsoft.com/office/powerpoint/2010/main" val="1867520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37A59-A583-DB4F-EF8B-C943BC1050D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F673EE8-E19C-5E1D-47A6-37846CD0B43D}"/>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Types of Failover</a:t>
            </a:r>
            <a:endParaRPr spc="-155" dirty="0"/>
          </a:p>
        </p:txBody>
      </p:sp>
      <p:sp>
        <p:nvSpPr>
          <p:cNvPr id="4" name="object 4">
            <a:extLst>
              <a:ext uri="{FF2B5EF4-FFF2-40B4-BE49-F238E27FC236}">
                <a16:creationId xmlns:a16="http://schemas.microsoft.com/office/drawing/2014/main" id="{5B54F72A-A4E7-1D69-3071-16CEF1363DBB}"/>
              </a:ext>
            </a:extLst>
          </p:cNvPr>
          <p:cNvSpPr txBox="1"/>
          <p:nvPr/>
        </p:nvSpPr>
        <p:spPr>
          <a:xfrm>
            <a:off x="475250" y="1123950"/>
            <a:ext cx="8059150" cy="884858"/>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IN" b="1" dirty="0"/>
              <a:t>System-Level Failover - </a:t>
            </a:r>
            <a:r>
              <a:rPr lang="en-IN" dirty="0"/>
              <a:t>Entire server or VM fails over</a:t>
            </a:r>
          </a:p>
          <a:p>
            <a:pPr marL="285750" indent="-285750">
              <a:buFont typeface="Wingdings" panose="05000000000000000000" pitchFamily="2" charset="2"/>
              <a:buChar char="v"/>
            </a:pPr>
            <a:r>
              <a:rPr lang="en-IN" b="1" dirty="0"/>
              <a:t>Service-Level Failover - </a:t>
            </a:r>
            <a:r>
              <a:rPr lang="en-IN" dirty="0"/>
              <a:t>Specific service fails over</a:t>
            </a:r>
          </a:p>
          <a:p>
            <a:pPr marL="285750" indent="-285750">
              <a:buFont typeface="Wingdings" panose="05000000000000000000" pitchFamily="2" charset="2"/>
              <a:buChar char="v"/>
            </a:pPr>
            <a:r>
              <a:rPr lang="en-IN" b="1" dirty="0"/>
              <a:t>Component-Level Failover - </a:t>
            </a:r>
            <a:r>
              <a:rPr lang="en-IN" dirty="0"/>
              <a:t>Specific component fails over</a:t>
            </a:r>
          </a:p>
        </p:txBody>
      </p:sp>
    </p:spTree>
    <p:extLst>
      <p:ext uri="{BB962C8B-B14F-4D97-AF65-F5344CB8AC3E}">
        <p14:creationId xmlns:p14="http://schemas.microsoft.com/office/powerpoint/2010/main" val="693224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CD6AF-738D-A662-6EBB-2219CBCCF42C}"/>
              </a:ext>
            </a:extLst>
          </p:cNvPr>
          <p:cNvSpPr>
            <a:spLocks noGrp="1"/>
          </p:cNvSpPr>
          <p:nvPr>
            <p:ph type="title"/>
          </p:nvPr>
        </p:nvSpPr>
        <p:spPr>
          <a:xfrm>
            <a:off x="384724" y="501589"/>
            <a:ext cx="8302076" cy="546161"/>
          </a:xfrm>
        </p:spPr>
        <p:txBody>
          <a:bodyPr/>
          <a:lstStyle/>
          <a:p>
            <a:r>
              <a:rPr lang="en-IN" dirty="0"/>
              <a:t>Failover Flavors: Active-Passive vs Active-Active</a:t>
            </a:r>
          </a:p>
        </p:txBody>
      </p:sp>
      <p:sp>
        <p:nvSpPr>
          <p:cNvPr id="3" name="Content Placeholder 2">
            <a:extLst>
              <a:ext uri="{FF2B5EF4-FFF2-40B4-BE49-F238E27FC236}">
                <a16:creationId xmlns:a16="http://schemas.microsoft.com/office/drawing/2014/main" id="{CD9B7F1B-0E1D-E60B-74B1-ED01AC6F1669}"/>
              </a:ext>
            </a:extLst>
          </p:cNvPr>
          <p:cNvSpPr>
            <a:spLocks noGrp="1"/>
          </p:cNvSpPr>
          <p:nvPr>
            <p:ph sz="half" idx="2"/>
          </p:nvPr>
        </p:nvSpPr>
        <p:spPr>
          <a:xfrm>
            <a:off x="457200" y="1183005"/>
            <a:ext cx="3977640" cy="1107996"/>
          </a:xfrm>
        </p:spPr>
        <p:txBody>
          <a:bodyPr/>
          <a:lstStyle/>
          <a:p>
            <a:r>
              <a:rPr lang="en-US" b="1" dirty="0"/>
              <a:t>Active-Passive</a:t>
            </a:r>
            <a:endParaRPr lang="en-US" dirty="0"/>
          </a:p>
          <a:p>
            <a:r>
              <a:rPr lang="en-US" dirty="0"/>
              <a:t>Primary: 🟢 ACTIVE (handling 100% traffic)</a:t>
            </a:r>
          </a:p>
          <a:p>
            <a:r>
              <a:rPr lang="en-US" dirty="0"/>
              <a:t>Secondary: 🔵 STANDBY (idle, ready)</a:t>
            </a:r>
          </a:p>
          <a:p>
            <a:r>
              <a:rPr lang="en-US" dirty="0"/>
              <a:t>Arrow: Traffic → Primary only</a:t>
            </a:r>
          </a:p>
          <a:p>
            <a:r>
              <a:rPr lang="en-US" dirty="0"/>
              <a:t>Failure: Switch to Standby</a:t>
            </a:r>
          </a:p>
          <a:p>
            <a:endParaRPr lang="en-IN" dirty="0"/>
          </a:p>
        </p:txBody>
      </p:sp>
      <p:sp>
        <p:nvSpPr>
          <p:cNvPr id="4" name="Content Placeholder 3">
            <a:extLst>
              <a:ext uri="{FF2B5EF4-FFF2-40B4-BE49-F238E27FC236}">
                <a16:creationId xmlns:a16="http://schemas.microsoft.com/office/drawing/2014/main" id="{A59805E5-A0A4-5778-E36B-97237CBF04D4}"/>
              </a:ext>
            </a:extLst>
          </p:cNvPr>
          <p:cNvSpPr>
            <a:spLocks noGrp="1"/>
          </p:cNvSpPr>
          <p:nvPr>
            <p:ph sz="half" idx="3"/>
          </p:nvPr>
        </p:nvSpPr>
        <p:spPr>
          <a:xfrm>
            <a:off x="4709160" y="1183005"/>
            <a:ext cx="3977640" cy="1107996"/>
          </a:xfrm>
        </p:spPr>
        <p:txBody>
          <a:bodyPr/>
          <a:lstStyle/>
          <a:p>
            <a:r>
              <a:rPr lang="en-US" b="1" dirty="0"/>
              <a:t>Active-Active</a:t>
            </a:r>
            <a:endParaRPr lang="en-US" dirty="0"/>
          </a:p>
          <a:p>
            <a:r>
              <a:rPr lang="en-US" dirty="0"/>
              <a:t>Server A: 🟢 ACTIVE (handling 50% traffic)</a:t>
            </a:r>
          </a:p>
          <a:p>
            <a:r>
              <a:rPr lang="en-US" dirty="0"/>
              <a:t>Server B: 🟢 ACTIVE (handling 50% traffic)</a:t>
            </a:r>
          </a:p>
          <a:p>
            <a:r>
              <a:rPr lang="en-US" dirty="0"/>
              <a:t>Load Balancer: Distributes traffic</a:t>
            </a:r>
          </a:p>
          <a:p>
            <a:r>
              <a:rPr lang="en-US" dirty="0"/>
              <a:t>Failure: Redistribute to remaining servers</a:t>
            </a:r>
          </a:p>
          <a:p>
            <a:endParaRPr lang="en-IN" dirty="0"/>
          </a:p>
        </p:txBody>
      </p:sp>
    </p:spTree>
    <p:extLst>
      <p:ext uri="{BB962C8B-B14F-4D97-AF65-F5344CB8AC3E}">
        <p14:creationId xmlns:p14="http://schemas.microsoft.com/office/powerpoint/2010/main" val="1540167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3DCEF-FAC3-7FB1-CB31-329CB9093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9AF5A-843F-5655-2D1A-22B9B1CB2F84}"/>
              </a:ext>
            </a:extLst>
          </p:cNvPr>
          <p:cNvSpPr>
            <a:spLocks noGrp="1"/>
          </p:cNvSpPr>
          <p:nvPr>
            <p:ph type="title"/>
          </p:nvPr>
        </p:nvSpPr>
        <p:spPr>
          <a:xfrm>
            <a:off x="384724" y="501589"/>
            <a:ext cx="8302076" cy="492443"/>
          </a:xfrm>
        </p:spPr>
        <p:txBody>
          <a:bodyPr/>
          <a:lstStyle/>
          <a:p>
            <a:r>
              <a:rPr lang="en-US" dirty="0"/>
              <a:t>Active-Passive vs Active-Active Comparison</a:t>
            </a:r>
            <a:endParaRPr lang="en-IN" dirty="0"/>
          </a:p>
        </p:txBody>
      </p:sp>
      <p:graphicFrame>
        <p:nvGraphicFramePr>
          <p:cNvPr id="9" name="Content Placeholder 8">
            <a:extLst>
              <a:ext uri="{FF2B5EF4-FFF2-40B4-BE49-F238E27FC236}">
                <a16:creationId xmlns:a16="http://schemas.microsoft.com/office/drawing/2014/main" id="{09AB142F-7DCA-D0C2-7A41-437CCF8B48C1}"/>
              </a:ext>
            </a:extLst>
          </p:cNvPr>
          <p:cNvGraphicFramePr>
            <a:graphicFrameLocks noGrp="1"/>
          </p:cNvGraphicFramePr>
          <p:nvPr>
            <p:ph sz="half" idx="2"/>
            <p:extLst>
              <p:ext uri="{D42A27DB-BD31-4B8C-83A1-F6EECF244321}">
                <p14:modId xmlns:p14="http://schemas.microsoft.com/office/powerpoint/2010/main" val="1497476025"/>
              </p:ext>
            </p:extLst>
          </p:nvPr>
        </p:nvGraphicFramePr>
        <p:xfrm>
          <a:off x="457200" y="1007696"/>
          <a:ext cx="8302077" cy="3926254"/>
        </p:xfrm>
        <a:graphic>
          <a:graphicData uri="http://schemas.openxmlformats.org/drawingml/2006/table">
            <a:tbl>
              <a:tblPr/>
              <a:tblGrid>
                <a:gridCol w="2767359">
                  <a:extLst>
                    <a:ext uri="{9D8B030D-6E8A-4147-A177-3AD203B41FA5}">
                      <a16:colId xmlns:a16="http://schemas.microsoft.com/office/drawing/2014/main" val="4076699782"/>
                    </a:ext>
                  </a:extLst>
                </a:gridCol>
                <a:gridCol w="2767359">
                  <a:extLst>
                    <a:ext uri="{9D8B030D-6E8A-4147-A177-3AD203B41FA5}">
                      <a16:colId xmlns:a16="http://schemas.microsoft.com/office/drawing/2014/main" val="419749321"/>
                    </a:ext>
                  </a:extLst>
                </a:gridCol>
                <a:gridCol w="2767359">
                  <a:extLst>
                    <a:ext uri="{9D8B030D-6E8A-4147-A177-3AD203B41FA5}">
                      <a16:colId xmlns:a16="http://schemas.microsoft.com/office/drawing/2014/main" val="3678669725"/>
                    </a:ext>
                  </a:extLst>
                </a:gridCol>
              </a:tblGrid>
              <a:tr h="376218">
                <a:tc>
                  <a:txBody>
                    <a:bodyPr/>
                    <a:lstStyle/>
                    <a:p>
                      <a:pPr algn="l">
                        <a:lnSpc>
                          <a:spcPts val="1875"/>
                        </a:lnSpc>
                        <a:buNone/>
                      </a:pPr>
                      <a:r>
                        <a:rPr lang="en-IN" sz="1200" b="1">
                          <a:effectLst/>
                          <a:latin typeface="quote-cjk-patch"/>
                        </a:rPr>
                        <a:t>Aspect</a:t>
                      </a:r>
                      <a:endParaRPr lang="en-IN" sz="1200" b="0">
                        <a:effectLst/>
                        <a:latin typeface="quote-cjk-patch"/>
                      </a:endParaRPr>
                    </a:p>
                  </a:txBody>
                  <a:tcPr marL="63483" marR="84644" marT="52903" marB="52903" anchor="ctr">
                    <a:lnL>
                      <a:noFill/>
                    </a:lnL>
                    <a:lnR>
                      <a:noFill/>
                    </a:lnR>
                    <a:lnT>
                      <a:noFill/>
                    </a:lnT>
                    <a:lnB>
                      <a:noFill/>
                    </a:lnB>
                    <a:noFill/>
                  </a:tcPr>
                </a:tc>
                <a:tc>
                  <a:txBody>
                    <a:bodyPr/>
                    <a:lstStyle/>
                    <a:p>
                      <a:pPr algn="l">
                        <a:lnSpc>
                          <a:spcPts val="1875"/>
                        </a:lnSpc>
                        <a:buNone/>
                      </a:pPr>
                      <a:r>
                        <a:rPr lang="en-IN" sz="1200" b="1">
                          <a:effectLst/>
                          <a:latin typeface="quote-cjk-patch"/>
                        </a:rPr>
                        <a:t>Active-Passive</a:t>
                      </a:r>
                      <a:endParaRPr lang="en-IN" sz="1200" b="0">
                        <a:effectLst/>
                        <a:latin typeface="quote-cjk-patch"/>
                      </a:endParaRPr>
                    </a:p>
                  </a:txBody>
                  <a:tcPr marL="84644" marR="84644" marT="52903" marB="52903" anchor="ctr">
                    <a:lnL>
                      <a:noFill/>
                    </a:lnL>
                    <a:lnR>
                      <a:noFill/>
                    </a:lnR>
                    <a:lnT>
                      <a:noFill/>
                    </a:lnT>
                    <a:lnB>
                      <a:noFill/>
                    </a:lnB>
                    <a:noFill/>
                  </a:tcPr>
                </a:tc>
                <a:tc>
                  <a:txBody>
                    <a:bodyPr/>
                    <a:lstStyle/>
                    <a:p>
                      <a:pPr algn="l">
                        <a:lnSpc>
                          <a:spcPts val="1875"/>
                        </a:lnSpc>
                        <a:buNone/>
                      </a:pPr>
                      <a:r>
                        <a:rPr lang="en-IN" sz="1200" b="1">
                          <a:effectLst/>
                          <a:latin typeface="quote-cjk-patch"/>
                        </a:rPr>
                        <a:t>Active-Active</a:t>
                      </a:r>
                      <a:endParaRPr lang="en-IN" sz="1200" b="0">
                        <a:effectLst/>
                        <a:latin typeface="quote-cjk-patch"/>
                      </a:endParaRPr>
                    </a:p>
                  </a:txBody>
                  <a:tcPr marL="84644" marR="84644" marT="52903" marB="52903" anchor="ctr">
                    <a:lnL>
                      <a:noFill/>
                    </a:lnL>
                    <a:lnR>
                      <a:noFill/>
                    </a:lnR>
                    <a:lnT>
                      <a:noFill/>
                    </a:lnT>
                    <a:lnB>
                      <a:noFill/>
                    </a:lnB>
                    <a:noFill/>
                  </a:tcPr>
                </a:tc>
                <a:extLst>
                  <a:ext uri="{0D108BD9-81ED-4DB2-BD59-A6C34878D82A}">
                    <a16:rowId xmlns:a16="http://schemas.microsoft.com/office/drawing/2014/main" val="199058050"/>
                  </a:ext>
                </a:extLst>
              </a:tr>
              <a:tr h="507148">
                <a:tc>
                  <a:txBody>
                    <a:bodyPr/>
                    <a:lstStyle/>
                    <a:p>
                      <a:pPr>
                        <a:lnSpc>
                          <a:spcPts val="1875"/>
                        </a:lnSpc>
                        <a:buNone/>
                      </a:pPr>
                      <a:r>
                        <a:rPr lang="en-IN" sz="1200" b="1">
                          <a:effectLst/>
                          <a:latin typeface="quote-cjk-patch"/>
                        </a:rPr>
                        <a:t>Resource Usage</a:t>
                      </a:r>
                      <a:endParaRPr lang="en-IN" sz="1200" b="0">
                        <a:effectLst/>
                        <a:latin typeface="quote-cjk-patch"/>
                      </a:endParaRPr>
                    </a:p>
                  </a:txBody>
                  <a:tcPr marL="63483"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Wastes standby capacity</a:t>
                      </a:r>
                    </a:p>
                  </a:txBody>
                  <a:tcPr marL="84644"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100% utilization</a:t>
                      </a:r>
                    </a:p>
                  </a:txBody>
                  <a:tcPr marL="84644" marR="63483" marT="52903" marB="52903" anchor="ctr">
                    <a:lnL>
                      <a:noFill/>
                    </a:lnL>
                    <a:lnR>
                      <a:noFill/>
                    </a:lnR>
                    <a:lnT>
                      <a:noFill/>
                    </a:lnT>
                    <a:lnB>
                      <a:noFill/>
                    </a:lnB>
                    <a:noFill/>
                  </a:tcPr>
                </a:tc>
                <a:extLst>
                  <a:ext uri="{0D108BD9-81ED-4DB2-BD59-A6C34878D82A}">
                    <a16:rowId xmlns:a16="http://schemas.microsoft.com/office/drawing/2014/main" val="1002470814"/>
                  </a:ext>
                </a:extLst>
              </a:tr>
              <a:tr h="507148">
                <a:tc>
                  <a:txBody>
                    <a:bodyPr/>
                    <a:lstStyle/>
                    <a:p>
                      <a:pPr>
                        <a:lnSpc>
                          <a:spcPts val="1875"/>
                        </a:lnSpc>
                        <a:buNone/>
                      </a:pPr>
                      <a:r>
                        <a:rPr lang="en-IN" sz="1200" b="1">
                          <a:effectLst/>
                          <a:latin typeface="quote-cjk-patch"/>
                        </a:rPr>
                        <a:t>Failover Speed</a:t>
                      </a:r>
                      <a:endParaRPr lang="en-IN" sz="1200" b="0">
                        <a:effectLst/>
                        <a:latin typeface="quote-cjk-patch"/>
                      </a:endParaRPr>
                    </a:p>
                  </a:txBody>
                  <a:tcPr marL="63483"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Seconds to minutes</a:t>
                      </a:r>
                    </a:p>
                  </a:txBody>
                  <a:tcPr marL="84644"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Instantaneous</a:t>
                      </a:r>
                    </a:p>
                  </a:txBody>
                  <a:tcPr marL="84644" marR="63483" marT="52903" marB="52903" anchor="ctr">
                    <a:lnL>
                      <a:noFill/>
                    </a:lnL>
                    <a:lnR>
                      <a:noFill/>
                    </a:lnR>
                    <a:lnT>
                      <a:noFill/>
                    </a:lnT>
                    <a:lnB>
                      <a:noFill/>
                    </a:lnB>
                    <a:noFill/>
                  </a:tcPr>
                </a:tc>
                <a:extLst>
                  <a:ext uri="{0D108BD9-81ED-4DB2-BD59-A6C34878D82A}">
                    <a16:rowId xmlns:a16="http://schemas.microsoft.com/office/drawing/2014/main" val="3173794506"/>
                  </a:ext>
                </a:extLst>
              </a:tr>
              <a:tr h="507148">
                <a:tc>
                  <a:txBody>
                    <a:bodyPr/>
                    <a:lstStyle/>
                    <a:p>
                      <a:pPr>
                        <a:lnSpc>
                          <a:spcPts val="1875"/>
                        </a:lnSpc>
                        <a:buNone/>
                      </a:pPr>
                      <a:r>
                        <a:rPr lang="en-IN" sz="1200" b="1">
                          <a:effectLst/>
                          <a:latin typeface="quote-cjk-patch"/>
                        </a:rPr>
                        <a:t>Complexity</a:t>
                      </a:r>
                      <a:endParaRPr lang="en-IN" sz="1200" b="0">
                        <a:effectLst/>
                        <a:latin typeface="quote-cjk-patch"/>
                      </a:endParaRPr>
                    </a:p>
                  </a:txBody>
                  <a:tcPr marL="63483"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Lower</a:t>
                      </a:r>
                    </a:p>
                  </a:txBody>
                  <a:tcPr marL="84644"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Higher (state management)</a:t>
                      </a:r>
                    </a:p>
                  </a:txBody>
                  <a:tcPr marL="84644" marR="63483" marT="52903" marB="52903" anchor="ctr">
                    <a:lnL>
                      <a:noFill/>
                    </a:lnL>
                    <a:lnR>
                      <a:noFill/>
                    </a:lnR>
                    <a:lnT>
                      <a:noFill/>
                    </a:lnT>
                    <a:lnB>
                      <a:noFill/>
                    </a:lnB>
                    <a:noFill/>
                  </a:tcPr>
                </a:tc>
                <a:extLst>
                  <a:ext uri="{0D108BD9-81ED-4DB2-BD59-A6C34878D82A}">
                    <a16:rowId xmlns:a16="http://schemas.microsoft.com/office/drawing/2014/main" val="3841251187"/>
                  </a:ext>
                </a:extLst>
              </a:tr>
              <a:tr h="507148">
                <a:tc>
                  <a:txBody>
                    <a:bodyPr/>
                    <a:lstStyle/>
                    <a:p>
                      <a:pPr>
                        <a:lnSpc>
                          <a:spcPts val="1875"/>
                        </a:lnSpc>
                        <a:buNone/>
                      </a:pPr>
                      <a:r>
                        <a:rPr lang="en-IN" sz="1200" b="1">
                          <a:effectLst/>
                          <a:latin typeface="quote-cjk-patch"/>
                        </a:rPr>
                        <a:t>Scalability</a:t>
                      </a:r>
                      <a:endParaRPr lang="en-IN" sz="1200" b="0">
                        <a:effectLst/>
                        <a:latin typeface="quote-cjk-patch"/>
                      </a:endParaRPr>
                    </a:p>
                  </a:txBody>
                  <a:tcPr marL="63483"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Vertical scale only</a:t>
                      </a:r>
                    </a:p>
                  </a:txBody>
                  <a:tcPr marL="84644"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Horizontal scaling</a:t>
                      </a:r>
                    </a:p>
                  </a:txBody>
                  <a:tcPr marL="84644" marR="63483" marT="52903" marB="52903" anchor="ctr">
                    <a:lnL>
                      <a:noFill/>
                    </a:lnL>
                    <a:lnR>
                      <a:noFill/>
                    </a:lnR>
                    <a:lnT>
                      <a:noFill/>
                    </a:lnT>
                    <a:lnB>
                      <a:noFill/>
                    </a:lnB>
                    <a:noFill/>
                  </a:tcPr>
                </a:tc>
                <a:extLst>
                  <a:ext uri="{0D108BD9-81ED-4DB2-BD59-A6C34878D82A}">
                    <a16:rowId xmlns:a16="http://schemas.microsoft.com/office/drawing/2014/main" val="1043380342"/>
                  </a:ext>
                </a:extLst>
              </a:tr>
              <a:tr h="507148">
                <a:tc>
                  <a:txBody>
                    <a:bodyPr/>
                    <a:lstStyle/>
                    <a:p>
                      <a:pPr>
                        <a:lnSpc>
                          <a:spcPts val="1875"/>
                        </a:lnSpc>
                        <a:buNone/>
                      </a:pPr>
                      <a:r>
                        <a:rPr lang="en-IN" sz="1200" b="1">
                          <a:effectLst/>
                          <a:latin typeface="quote-cjk-patch"/>
                        </a:rPr>
                        <a:t>Cost Efficiency</a:t>
                      </a:r>
                      <a:endParaRPr lang="en-IN" sz="1200" b="0">
                        <a:effectLst/>
                        <a:latin typeface="quote-cjk-patch"/>
                      </a:endParaRPr>
                    </a:p>
                  </a:txBody>
                  <a:tcPr marL="63483"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Lower (idle resources)</a:t>
                      </a:r>
                    </a:p>
                  </a:txBody>
                  <a:tcPr marL="84644"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Higher</a:t>
                      </a:r>
                    </a:p>
                  </a:txBody>
                  <a:tcPr marL="84644" marR="63483" marT="52903" marB="52903" anchor="ctr">
                    <a:lnL>
                      <a:noFill/>
                    </a:lnL>
                    <a:lnR>
                      <a:noFill/>
                    </a:lnR>
                    <a:lnT>
                      <a:noFill/>
                    </a:lnT>
                    <a:lnB>
                      <a:noFill/>
                    </a:lnB>
                    <a:noFill/>
                  </a:tcPr>
                </a:tc>
                <a:extLst>
                  <a:ext uri="{0D108BD9-81ED-4DB2-BD59-A6C34878D82A}">
                    <a16:rowId xmlns:a16="http://schemas.microsoft.com/office/drawing/2014/main" val="2507524033"/>
                  </a:ext>
                </a:extLst>
              </a:tr>
              <a:tr h="507148">
                <a:tc>
                  <a:txBody>
                    <a:bodyPr/>
                    <a:lstStyle/>
                    <a:p>
                      <a:pPr>
                        <a:lnSpc>
                          <a:spcPts val="1875"/>
                        </a:lnSpc>
                        <a:buNone/>
                      </a:pPr>
                      <a:r>
                        <a:rPr lang="en-IN" sz="1200" b="1">
                          <a:effectLst/>
                          <a:latin typeface="quote-cjk-patch"/>
                        </a:rPr>
                        <a:t>Best For</a:t>
                      </a:r>
                      <a:endParaRPr lang="en-IN" sz="1200" b="0">
                        <a:effectLst/>
                        <a:latin typeface="quote-cjk-patch"/>
                      </a:endParaRPr>
                    </a:p>
                  </a:txBody>
                  <a:tcPr marL="63483"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Stateful systems, databases</a:t>
                      </a:r>
                    </a:p>
                  </a:txBody>
                  <a:tcPr marL="84644"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Stateless services, web apps</a:t>
                      </a:r>
                    </a:p>
                  </a:txBody>
                  <a:tcPr marL="84644" marR="63483" marT="52903" marB="52903" anchor="ctr">
                    <a:lnL>
                      <a:noFill/>
                    </a:lnL>
                    <a:lnR>
                      <a:noFill/>
                    </a:lnR>
                    <a:lnT>
                      <a:noFill/>
                    </a:lnT>
                    <a:lnB>
                      <a:noFill/>
                    </a:lnB>
                    <a:noFill/>
                  </a:tcPr>
                </a:tc>
                <a:extLst>
                  <a:ext uri="{0D108BD9-81ED-4DB2-BD59-A6C34878D82A}">
                    <a16:rowId xmlns:a16="http://schemas.microsoft.com/office/drawing/2014/main" val="406722866"/>
                  </a:ext>
                </a:extLst>
              </a:tr>
              <a:tr h="507148">
                <a:tc>
                  <a:txBody>
                    <a:bodyPr/>
                    <a:lstStyle/>
                    <a:p>
                      <a:pPr>
                        <a:lnSpc>
                          <a:spcPts val="1875"/>
                        </a:lnSpc>
                        <a:buNone/>
                      </a:pPr>
                      <a:r>
                        <a:rPr lang="en-IN" sz="1200" b="1">
                          <a:effectLst/>
                          <a:latin typeface="quote-cjk-patch"/>
                        </a:rPr>
                        <a:t>Data Consistency</a:t>
                      </a:r>
                      <a:endParaRPr lang="en-IN" sz="1200" b="0">
                        <a:effectLst/>
                        <a:latin typeface="quote-cjk-patch"/>
                      </a:endParaRPr>
                    </a:p>
                  </a:txBody>
                  <a:tcPr marL="63483" marR="84644" marT="52903" marB="52903" anchor="ctr">
                    <a:lnL>
                      <a:noFill/>
                    </a:lnL>
                    <a:lnR>
                      <a:noFill/>
                    </a:lnR>
                    <a:lnT>
                      <a:noFill/>
                    </a:lnT>
                    <a:lnB>
                      <a:noFill/>
                    </a:lnB>
                    <a:noFill/>
                  </a:tcPr>
                </a:tc>
                <a:tc>
                  <a:txBody>
                    <a:bodyPr/>
                    <a:lstStyle/>
                    <a:p>
                      <a:pPr>
                        <a:lnSpc>
                          <a:spcPts val="1875"/>
                        </a:lnSpc>
                        <a:buNone/>
                      </a:pPr>
                      <a:r>
                        <a:rPr lang="en-IN" sz="1200" b="0">
                          <a:effectLst/>
                          <a:latin typeface="quote-cjk-patch"/>
                        </a:rPr>
                        <a:t>Easier to maintain</a:t>
                      </a:r>
                    </a:p>
                  </a:txBody>
                  <a:tcPr marL="84644" marR="84644" marT="52903" marB="52903" anchor="ctr">
                    <a:lnL>
                      <a:noFill/>
                    </a:lnL>
                    <a:lnR>
                      <a:noFill/>
                    </a:lnR>
                    <a:lnT>
                      <a:noFill/>
                    </a:lnT>
                    <a:lnB>
                      <a:noFill/>
                    </a:lnB>
                    <a:noFill/>
                  </a:tcPr>
                </a:tc>
                <a:tc>
                  <a:txBody>
                    <a:bodyPr/>
                    <a:lstStyle/>
                    <a:p>
                      <a:pPr>
                        <a:lnSpc>
                          <a:spcPts val="1875"/>
                        </a:lnSpc>
                        <a:buNone/>
                      </a:pPr>
                      <a:r>
                        <a:rPr lang="en-IN" sz="1200" b="0" dirty="0">
                          <a:effectLst/>
                          <a:latin typeface="quote-cjk-patch"/>
                        </a:rPr>
                        <a:t>More challenging</a:t>
                      </a:r>
                    </a:p>
                  </a:txBody>
                  <a:tcPr marL="84644" marR="63483" marT="52903" marB="52903" anchor="ctr">
                    <a:lnL>
                      <a:noFill/>
                    </a:lnL>
                    <a:lnR>
                      <a:noFill/>
                    </a:lnR>
                    <a:lnT>
                      <a:noFill/>
                    </a:lnT>
                    <a:lnB>
                      <a:noFill/>
                    </a:lnB>
                    <a:noFill/>
                  </a:tcPr>
                </a:tc>
                <a:extLst>
                  <a:ext uri="{0D108BD9-81ED-4DB2-BD59-A6C34878D82A}">
                    <a16:rowId xmlns:a16="http://schemas.microsoft.com/office/drawing/2014/main" val="745237959"/>
                  </a:ext>
                </a:extLst>
              </a:tr>
            </a:tbl>
          </a:graphicData>
        </a:graphic>
      </p:graphicFrame>
    </p:spTree>
    <p:extLst>
      <p:ext uri="{BB962C8B-B14F-4D97-AF65-F5344CB8AC3E}">
        <p14:creationId xmlns:p14="http://schemas.microsoft.com/office/powerpoint/2010/main" val="3875511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7C535-116A-9192-CE9C-854AB349B0F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7540741-714F-CEEF-A5DC-057B0CF6EEA8}"/>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Replication</a:t>
            </a:r>
            <a:endParaRPr spc="-155" dirty="0"/>
          </a:p>
        </p:txBody>
      </p:sp>
      <p:sp>
        <p:nvSpPr>
          <p:cNvPr id="4" name="object 4">
            <a:extLst>
              <a:ext uri="{FF2B5EF4-FFF2-40B4-BE49-F238E27FC236}">
                <a16:creationId xmlns:a16="http://schemas.microsoft.com/office/drawing/2014/main" id="{49C246B0-0F22-0ED8-99B6-E3A32FE59961}"/>
              </a:ext>
            </a:extLst>
          </p:cNvPr>
          <p:cNvSpPr txBox="1"/>
          <p:nvPr/>
        </p:nvSpPr>
        <p:spPr>
          <a:xfrm>
            <a:off x="475250" y="1123950"/>
            <a:ext cx="6611350" cy="607859"/>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The automatic process of switching to a standby system when the primary system fails</a:t>
            </a:r>
          </a:p>
        </p:txBody>
      </p:sp>
    </p:spTree>
    <p:extLst>
      <p:ext uri="{BB962C8B-B14F-4D97-AF65-F5344CB8AC3E}">
        <p14:creationId xmlns:p14="http://schemas.microsoft.com/office/powerpoint/2010/main" val="1566774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ADDE9-600A-1690-5CC0-BE7A4D24CD24}"/>
              </a:ext>
            </a:extLst>
          </p:cNvPr>
          <p:cNvSpPr>
            <a:spLocks noGrp="1"/>
          </p:cNvSpPr>
          <p:nvPr>
            <p:ph type="title"/>
          </p:nvPr>
        </p:nvSpPr>
        <p:spPr>
          <a:xfrm>
            <a:off x="384724" y="501589"/>
            <a:ext cx="8378276" cy="469961"/>
          </a:xfrm>
        </p:spPr>
        <p:txBody>
          <a:bodyPr/>
          <a:lstStyle/>
          <a:p>
            <a:r>
              <a:rPr lang="en-IN" dirty="0"/>
              <a:t>Synchronous vs Asynchronous Replication</a:t>
            </a:r>
          </a:p>
        </p:txBody>
      </p:sp>
      <p:sp>
        <p:nvSpPr>
          <p:cNvPr id="3" name="Content Placeholder 2">
            <a:extLst>
              <a:ext uri="{FF2B5EF4-FFF2-40B4-BE49-F238E27FC236}">
                <a16:creationId xmlns:a16="http://schemas.microsoft.com/office/drawing/2014/main" id="{5D370196-C86C-CB9E-3919-243BC74143F5}"/>
              </a:ext>
            </a:extLst>
          </p:cNvPr>
          <p:cNvSpPr>
            <a:spLocks noGrp="1"/>
          </p:cNvSpPr>
          <p:nvPr>
            <p:ph sz="half" idx="2"/>
          </p:nvPr>
        </p:nvSpPr>
        <p:spPr>
          <a:xfrm>
            <a:off x="457200" y="1183005"/>
            <a:ext cx="3977640" cy="1292662"/>
          </a:xfrm>
        </p:spPr>
        <p:txBody>
          <a:bodyPr/>
          <a:lstStyle/>
          <a:p>
            <a:r>
              <a:rPr lang="en-US" dirty="0"/>
              <a:t>Wait for all replicas acknowledge success</a:t>
            </a:r>
          </a:p>
          <a:p>
            <a:r>
              <a:rPr lang="en-US" b="1" dirty="0"/>
              <a:t>Guarantee:</a:t>
            </a:r>
            <a:r>
              <a:rPr lang="en-US" dirty="0"/>
              <a:t> All replicas have same data</a:t>
            </a:r>
          </a:p>
          <a:p>
            <a:r>
              <a:rPr lang="en-US" b="1" dirty="0"/>
              <a:t>Latency:</a:t>
            </a:r>
            <a:r>
              <a:rPr lang="en-US" dirty="0"/>
              <a:t> Higher (must wait for replicas)</a:t>
            </a:r>
          </a:p>
          <a:p>
            <a:r>
              <a:rPr lang="en-US" b="1" dirty="0"/>
              <a:t>Durability:</a:t>
            </a:r>
            <a:r>
              <a:rPr lang="en-US" dirty="0"/>
              <a:t> Excellent (multiple copies confirmed)</a:t>
            </a:r>
          </a:p>
          <a:p>
            <a:r>
              <a:rPr lang="en-US" b="1" dirty="0"/>
              <a:t>Availability:</a:t>
            </a:r>
            <a:r>
              <a:rPr lang="en-US" dirty="0"/>
              <a:t> Lower (all replicas must be available)</a:t>
            </a:r>
          </a:p>
          <a:p>
            <a:endParaRPr lang="en-US" dirty="0"/>
          </a:p>
          <a:p>
            <a:endParaRPr lang="en-IN" dirty="0"/>
          </a:p>
        </p:txBody>
      </p:sp>
      <p:sp>
        <p:nvSpPr>
          <p:cNvPr id="4" name="Content Placeholder 3">
            <a:extLst>
              <a:ext uri="{FF2B5EF4-FFF2-40B4-BE49-F238E27FC236}">
                <a16:creationId xmlns:a16="http://schemas.microsoft.com/office/drawing/2014/main" id="{0CB0C9F9-8176-80E3-7656-081AFD8824B0}"/>
              </a:ext>
            </a:extLst>
          </p:cNvPr>
          <p:cNvSpPr>
            <a:spLocks noGrp="1"/>
          </p:cNvSpPr>
          <p:nvPr>
            <p:ph sz="half" idx="3"/>
          </p:nvPr>
        </p:nvSpPr>
        <p:spPr>
          <a:xfrm>
            <a:off x="4709160" y="1183005"/>
            <a:ext cx="3977640" cy="1292662"/>
          </a:xfrm>
        </p:spPr>
        <p:txBody>
          <a:bodyPr/>
          <a:lstStyle/>
          <a:p>
            <a:r>
              <a:rPr lang="en-US" dirty="0"/>
              <a:t>Acknowledge immediately and replicate later</a:t>
            </a:r>
          </a:p>
          <a:p>
            <a:r>
              <a:rPr lang="en-US" b="1" dirty="0"/>
              <a:t>Guarantee:</a:t>
            </a:r>
            <a:r>
              <a:rPr lang="en-US" dirty="0"/>
              <a:t> Eventual consistency</a:t>
            </a:r>
          </a:p>
          <a:p>
            <a:r>
              <a:rPr lang="en-US" b="1" dirty="0"/>
              <a:t>Latency:</a:t>
            </a:r>
            <a:r>
              <a:rPr lang="en-US" dirty="0"/>
              <a:t> Lower (acknowledge immediately)</a:t>
            </a:r>
          </a:p>
          <a:p>
            <a:r>
              <a:rPr lang="en-US" b="1" dirty="0"/>
              <a:t>Durability:</a:t>
            </a:r>
            <a:r>
              <a:rPr lang="en-US" dirty="0"/>
              <a:t> Risk of data loss if primary fails</a:t>
            </a:r>
          </a:p>
          <a:p>
            <a:r>
              <a:rPr lang="en-US" b="1" dirty="0"/>
              <a:t>Availability:</a:t>
            </a:r>
            <a:r>
              <a:rPr lang="en-US" dirty="0"/>
              <a:t> Higher (replica failure doesn't block writes)</a:t>
            </a:r>
          </a:p>
          <a:p>
            <a:endParaRPr lang="en-US" dirty="0"/>
          </a:p>
          <a:p>
            <a:endParaRPr lang="en-IN" dirty="0"/>
          </a:p>
        </p:txBody>
      </p:sp>
    </p:spTree>
    <p:extLst>
      <p:ext uri="{BB962C8B-B14F-4D97-AF65-F5344CB8AC3E}">
        <p14:creationId xmlns:p14="http://schemas.microsoft.com/office/powerpoint/2010/main" val="1981801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BA83C-4832-A49F-77D8-0B49C159376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F7C8713-E8D4-4DFC-4F4E-080C9D645C3B}"/>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Common Replication Topologies</a:t>
            </a:r>
            <a:endParaRPr spc="-155" dirty="0"/>
          </a:p>
        </p:txBody>
      </p:sp>
      <p:sp>
        <p:nvSpPr>
          <p:cNvPr id="4" name="object 4">
            <a:extLst>
              <a:ext uri="{FF2B5EF4-FFF2-40B4-BE49-F238E27FC236}">
                <a16:creationId xmlns:a16="http://schemas.microsoft.com/office/drawing/2014/main" id="{D80FF2BA-DA14-1CCE-1990-C092CFED1340}"/>
              </a:ext>
            </a:extLst>
          </p:cNvPr>
          <p:cNvSpPr txBox="1"/>
          <p:nvPr/>
        </p:nvSpPr>
        <p:spPr>
          <a:xfrm>
            <a:off x="475250" y="1123950"/>
            <a:ext cx="6611350" cy="2269852"/>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IN" b="1" dirty="0"/>
              <a:t>Single Leader (Master-Slave)</a:t>
            </a:r>
          </a:p>
          <a:p>
            <a:pPr marL="285750" indent="-285750">
              <a:buFont typeface="Courier New" panose="02070309020205020404" pitchFamily="49" charset="0"/>
              <a:buChar char="o"/>
            </a:pPr>
            <a:r>
              <a:rPr lang="en-US" dirty="0"/>
              <a:t>One write node, many read replicas</a:t>
            </a:r>
            <a:endParaRPr lang="en-IN" dirty="0"/>
          </a:p>
          <a:p>
            <a:pPr marL="285750" indent="-285750">
              <a:buFont typeface="Wingdings" panose="05000000000000000000" pitchFamily="2" charset="2"/>
              <a:buChar char="v"/>
            </a:pPr>
            <a:r>
              <a:rPr lang="en-IN" b="1" dirty="0"/>
              <a:t>Multi-Leader (Master-Master)</a:t>
            </a:r>
          </a:p>
          <a:p>
            <a:pPr marL="285750" indent="-285750">
              <a:buFont typeface="Courier New" panose="02070309020205020404" pitchFamily="49" charset="0"/>
              <a:buChar char="o"/>
            </a:pPr>
            <a:r>
              <a:rPr lang="en-US" dirty="0"/>
              <a:t>All accept writes, sync with each other</a:t>
            </a:r>
            <a:endParaRPr lang="en-IN" dirty="0"/>
          </a:p>
          <a:p>
            <a:pPr marL="285750" indent="-285750">
              <a:buFont typeface="Wingdings" panose="05000000000000000000" pitchFamily="2" charset="2"/>
              <a:buChar char="v"/>
            </a:pPr>
            <a:r>
              <a:rPr lang="en-IN" b="1" dirty="0"/>
              <a:t>Leaderless (Peer-to-Peer)</a:t>
            </a:r>
          </a:p>
          <a:p>
            <a:pPr marL="285750" indent="-285750" latinLnBrk="1">
              <a:buFont typeface="Courier New" panose="02070309020205020404" pitchFamily="49" charset="0"/>
              <a:buChar char="o"/>
            </a:pPr>
            <a:r>
              <a:rPr lang="en-US" dirty="0"/>
              <a:t>All nodes equal, Write to N nodes, read from N nodes</a:t>
            </a:r>
          </a:p>
          <a:p>
            <a:pPr marL="285750" indent="-285750" latinLnBrk="1">
              <a:buFont typeface="Courier New" panose="02070309020205020404" pitchFamily="49" charset="0"/>
              <a:buChar char="o"/>
            </a:pPr>
            <a:r>
              <a:rPr lang="en-US" dirty="0"/>
              <a:t>Gossip protocol for synchronization</a:t>
            </a:r>
          </a:p>
          <a:p>
            <a:pPr marL="285750" indent="-285750">
              <a:buFont typeface="Wingdings" panose="05000000000000000000" pitchFamily="2" charset="2"/>
              <a:buChar char="v"/>
            </a:pPr>
            <a:endParaRPr lang="en-US" dirty="0"/>
          </a:p>
        </p:txBody>
      </p:sp>
    </p:spTree>
    <p:extLst>
      <p:ext uri="{BB962C8B-B14F-4D97-AF65-F5344CB8AC3E}">
        <p14:creationId xmlns:p14="http://schemas.microsoft.com/office/powerpoint/2010/main" val="3040123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C3E68-33BB-B637-C7A5-B71BE0FF938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5B7049F-0D6C-64C0-903A-6B5B4F816CC7}"/>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Circuit Breaker</a:t>
            </a:r>
            <a:endParaRPr spc="-155" dirty="0"/>
          </a:p>
        </p:txBody>
      </p:sp>
      <p:sp>
        <p:nvSpPr>
          <p:cNvPr id="4" name="object 4">
            <a:extLst>
              <a:ext uri="{FF2B5EF4-FFF2-40B4-BE49-F238E27FC236}">
                <a16:creationId xmlns:a16="http://schemas.microsoft.com/office/drawing/2014/main" id="{0DB1A7C4-6B56-0D8B-34C3-CDFD7755E8A5}"/>
              </a:ext>
            </a:extLst>
          </p:cNvPr>
          <p:cNvSpPr txBox="1"/>
          <p:nvPr/>
        </p:nvSpPr>
        <p:spPr>
          <a:xfrm>
            <a:off x="475250" y="1123950"/>
            <a:ext cx="6611350" cy="884858"/>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b="1" dirty="0"/>
              <a:t>CLOSED:</a:t>
            </a:r>
            <a:r>
              <a:rPr lang="en-US" dirty="0"/>
              <a:t> ✅ Normal operation (requests flow through)</a:t>
            </a:r>
          </a:p>
          <a:p>
            <a:pPr marL="285750" indent="-285750">
              <a:buFont typeface="Wingdings" panose="05000000000000000000" pitchFamily="2" charset="2"/>
              <a:buChar char="v"/>
            </a:pPr>
            <a:r>
              <a:rPr lang="en-US" b="1" dirty="0"/>
              <a:t>OPEN:</a:t>
            </a:r>
            <a:r>
              <a:rPr lang="en-US" dirty="0"/>
              <a:t> 🔴 Circuit broken (fail fast, no requests)</a:t>
            </a:r>
          </a:p>
          <a:p>
            <a:pPr marL="285750" indent="-285750">
              <a:buFont typeface="Wingdings" panose="05000000000000000000" pitchFamily="2" charset="2"/>
              <a:buChar char="v"/>
            </a:pPr>
            <a:r>
              <a:rPr lang="en-US" b="1" dirty="0"/>
              <a:t>HALF-OPEN:</a:t>
            </a:r>
            <a:r>
              <a:rPr lang="en-US" dirty="0"/>
              <a:t> 🟡 Testing recovery (limited requests)</a:t>
            </a:r>
          </a:p>
        </p:txBody>
      </p:sp>
    </p:spTree>
    <p:extLst>
      <p:ext uri="{BB962C8B-B14F-4D97-AF65-F5344CB8AC3E}">
        <p14:creationId xmlns:p14="http://schemas.microsoft.com/office/powerpoint/2010/main" val="3425497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11761-A019-CF1E-5E63-2348E31CDBE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74EAAD2-9C06-D6B9-0120-93FABFD965B9}"/>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Retry with Backoff</a:t>
            </a:r>
            <a:endParaRPr spc="-155" dirty="0"/>
          </a:p>
        </p:txBody>
      </p:sp>
      <p:sp>
        <p:nvSpPr>
          <p:cNvPr id="4" name="object 4">
            <a:extLst>
              <a:ext uri="{FF2B5EF4-FFF2-40B4-BE49-F238E27FC236}">
                <a16:creationId xmlns:a16="http://schemas.microsoft.com/office/drawing/2014/main" id="{D9E51C99-3F0F-0C8D-687F-068586146674}"/>
              </a:ext>
            </a:extLst>
          </p:cNvPr>
          <p:cNvSpPr txBox="1"/>
          <p:nvPr/>
        </p:nvSpPr>
        <p:spPr>
          <a:xfrm>
            <a:off x="384724" y="2571750"/>
            <a:ext cx="7449550" cy="1438855"/>
          </a:xfrm>
          <a:prstGeom prst="rect">
            <a:avLst/>
          </a:prstGeom>
        </p:spPr>
        <p:txBody>
          <a:bodyPr vert="horz" wrap="square" lIns="0" tIns="53340" rIns="0" bIns="0" rtlCol="0">
            <a:spAutoFit/>
          </a:bodyPr>
          <a:lstStyle/>
          <a:p>
            <a:r>
              <a:rPr lang="en-US" dirty="0"/>
              <a:t>Should I retry?</a:t>
            </a:r>
          </a:p>
          <a:p>
            <a:r>
              <a:rPr lang="en-US" dirty="0"/>
              <a:t>├── Is it a transient failure? (Timeout, 503) → YES → Retry</a:t>
            </a:r>
          </a:p>
          <a:p>
            <a:r>
              <a:rPr lang="en-US" dirty="0"/>
              <a:t>├── Is it a permanent failure? (404, 400) → NO → Don't retry</a:t>
            </a:r>
          </a:p>
          <a:p>
            <a:r>
              <a:rPr lang="en-US" dirty="0"/>
              <a:t>├── Have I exceeded max retries? → NO → Calculate delay</a:t>
            </a:r>
          </a:p>
          <a:p>
            <a:r>
              <a:rPr lang="en-US" dirty="0"/>
              <a:t>└── Should I use fallback? → YES → Return cached/default value</a:t>
            </a:r>
          </a:p>
        </p:txBody>
      </p:sp>
      <p:sp>
        <p:nvSpPr>
          <p:cNvPr id="5" name="TextBox 4">
            <a:extLst>
              <a:ext uri="{FF2B5EF4-FFF2-40B4-BE49-F238E27FC236}">
                <a16:creationId xmlns:a16="http://schemas.microsoft.com/office/drawing/2014/main" id="{44A02095-4C8C-3FAE-C902-3A7EAAECE66B}"/>
              </a:ext>
            </a:extLst>
          </p:cNvPr>
          <p:cNvSpPr txBox="1"/>
          <p:nvPr/>
        </p:nvSpPr>
        <p:spPr>
          <a:xfrm>
            <a:off x="384724" y="1260281"/>
            <a:ext cx="4572000" cy="369332"/>
          </a:xfrm>
          <a:prstGeom prst="rect">
            <a:avLst/>
          </a:prstGeom>
          <a:noFill/>
        </p:spPr>
        <p:txBody>
          <a:bodyPr wrap="square">
            <a:spAutoFit/>
          </a:bodyPr>
          <a:lstStyle/>
          <a:p>
            <a:r>
              <a:rPr lang="en-US" kern="1200" dirty="0">
                <a:solidFill>
                  <a:schemeClr val="tx1"/>
                </a:solidFill>
                <a:latin typeface="+mn-lt"/>
                <a:ea typeface="+mn-ea"/>
                <a:cs typeface="+mn-cs"/>
              </a:rPr>
              <a:t>R</a:t>
            </a:r>
            <a:r>
              <a:rPr lang="en-US" sz="1800" b="0" i="0" kern="1200" dirty="0">
                <a:solidFill>
                  <a:schemeClr val="tx1"/>
                </a:solidFill>
                <a:effectLst/>
                <a:latin typeface="+mn-lt"/>
                <a:ea typeface="+mn-ea"/>
                <a:cs typeface="+mn-cs"/>
              </a:rPr>
              <a:t>etry </a:t>
            </a:r>
            <a:r>
              <a:rPr lang="en-US" sz="1800" b="1" i="0" kern="1200" dirty="0">
                <a:solidFill>
                  <a:schemeClr val="tx1"/>
                </a:solidFill>
                <a:effectLst/>
                <a:latin typeface="+mn-lt"/>
                <a:ea typeface="+mn-ea"/>
                <a:cs typeface="+mn-cs"/>
              </a:rPr>
              <a:t>transient failures</a:t>
            </a:r>
            <a:r>
              <a:rPr lang="en-US" sz="1800" b="0" i="0" kern="1200" dirty="0">
                <a:solidFill>
                  <a:schemeClr val="tx1"/>
                </a:solidFill>
                <a:effectLst/>
                <a:latin typeface="+mn-lt"/>
                <a:ea typeface="+mn-ea"/>
                <a:cs typeface="+mn-cs"/>
              </a:rPr>
              <a:t> </a:t>
            </a:r>
            <a:endParaRPr lang="en-IN" dirty="0"/>
          </a:p>
        </p:txBody>
      </p:sp>
    </p:spTree>
    <p:extLst>
      <p:ext uri="{BB962C8B-B14F-4D97-AF65-F5344CB8AC3E}">
        <p14:creationId xmlns:p14="http://schemas.microsoft.com/office/powerpoint/2010/main" val="3856408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999A5-94EA-4E91-2040-3A0A869E415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65D832A-8258-BA93-53F4-6C1ABD07DEF7}"/>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Reliability</a:t>
            </a:r>
            <a:endParaRPr spc="-155" dirty="0"/>
          </a:p>
        </p:txBody>
      </p:sp>
      <p:sp>
        <p:nvSpPr>
          <p:cNvPr id="4" name="object 4">
            <a:extLst>
              <a:ext uri="{FF2B5EF4-FFF2-40B4-BE49-F238E27FC236}">
                <a16:creationId xmlns:a16="http://schemas.microsoft.com/office/drawing/2014/main" id="{7EDB86E3-D9E4-45AD-2691-AC347F20D66E}"/>
              </a:ext>
            </a:extLst>
          </p:cNvPr>
          <p:cNvSpPr txBox="1"/>
          <p:nvPr/>
        </p:nvSpPr>
        <p:spPr>
          <a:xfrm>
            <a:off x="475250" y="1123950"/>
            <a:ext cx="8211550" cy="1992853"/>
          </a:xfrm>
          <a:prstGeom prst="rect">
            <a:avLst/>
          </a:prstGeom>
        </p:spPr>
        <p:txBody>
          <a:bodyPr vert="horz" wrap="square" lIns="0" tIns="53340" rIns="0" bIns="0" rtlCol="0">
            <a:spAutoFit/>
          </a:bodyPr>
          <a:lstStyle/>
          <a:p>
            <a:r>
              <a:rPr lang="en-IN" b="1" dirty="0"/>
              <a:t>Definition </a:t>
            </a:r>
            <a:r>
              <a:rPr lang="en-US" b="1" dirty="0"/>
              <a:t>:</a:t>
            </a:r>
            <a:r>
              <a:rPr lang="en-US" dirty="0"/>
              <a:t> The probability that a system will perform its intended function </a:t>
            </a:r>
            <a:r>
              <a:rPr lang="en-US" b="1" dirty="0"/>
              <a:t>correctly</a:t>
            </a:r>
            <a:r>
              <a:rPr lang="en-US" dirty="0"/>
              <a:t> over a specified period of time</a:t>
            </a:r>
          </a:p>
          <a:p>
            <a:br>
              <a:rPr lang="en-US" dirty="0"/>
            </a:br>
            <a:r>
              <a:rPr lang="en-IN" b="1" dirty="0"/>
              <a:t>System Unreliable:</a:t>
            </a:r>
            <a:r>
              <a:rPr lang="en-IN" dirty="0"/>
              <a:t> ✅ System Up but ❌Wrong Answers.</a:t>
            </a:r>
          </a:p>
          <a:p>
            <a:r>
              <a:rPr lang="en-IN" b="1" dirty="0"/>
              <a:t>System Reliable:</a:t>
            </a:r>
            <a:r>
              <a:rPr lang="en-IN" dirty="0"/>
              <a:t> ✅ System Up and ✅Correct Answers.</a:t>
            </a:r>
          </a:p>
          <a:p>
            <a:endParaRPr lang="en-US" dirty="0"/>
          </a:p>
          <a:p>
            <a:pPr marL="285750" indent="-285750">
              <a:buFont typeface="Wingdings" panose="05000000000000000000" pitchFamily="2" charset="2"/>
              <a:buChar char="v"/>
            </a:pPr>
            <a:endParaRPr lang="en-US" dirty="0"/>
          </a:p>
        </p:txBody>
      </p:sp>
    </p:spTree>
    <p:extLst>
      <p:ext uri="{BB962C8B-B14F-4D97-AF65-F5344CB8AC3E}">
        <p14:creationId xmlns:p14="http://schemas.microsoft.com/office/powerpoint/2010/main" val="1769223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91B6F-400A-D51D-6FF8-A8A40A95611F}"/>
              </a:ext>
            </a:extLst>
          </p:cNvPr>
          <p:cNvSpPr>
            <a:spLocks noGrp="1"/>
          </p:cNvSpPr>
          <p:nvPr>
            <p:ph type="title"/>
          </p:nvPr>
        </p:nvSpPr>
        <p:spPr>
          <a:xfrm>
            <a:off x="384724" y="501589"/>
            <a:ext cx="8302076" cy="546161"/>
          </a:xfrm>
        </p:spPr>
        <p:txBody>
          <a:bodyPr/>
          <a:lstStyle/>
          <a:p>
            <a:r>
              <a:rPr lang="en-US" spc="-235" dirty="0"/>
              <a:t>Measuring Reliability: MTBF and MTTR</a:t>
            </a:r>
            <a:endParaRPr lang="en-IN" dirty="0"/>
          </a:p>
        </p:txBody>
      </p:sp>
      <p:sp>
        <p:nvSpPr>
          <p:cNvPr id="3" name="Content Placeholder 2">
            <a:extLst>
              <a:ext uri="{FF2B5EF4-FFF2-40B4-BE49-F238E27FC236}">
                <a16:creationId xmlns:a16="http://schemas.microsoft.com/office/drawing/2014/main" id="{4DDD10AE-CAED-BCDF-DFDD-EA968034E2AB}"/>
              </a:ext>
            </a:extLst>
          </p:cNvPr>
          <p:cNvSpPr>
            <a:spLocks noGrp="1"/>
          </p:cNvSpPr>
          <p:nvPr>
            <p:ph sz="half" idx="2"/>
          </p:nvPr>
        </p:nvSpPr>
        <p:spPr>
          <a:xfrm>
            <a:off x="457200" y="1183005"/>
            <a:ext cx="3977640" cy="1107996"/>
          </a:xfrm>
        </p:spPr>
        <p:txBody>
          <a:bodyPr/>
          <a:lstStyle/>
          <a:p>
            <a:r>
              <a:rPr lang="en-US" b="1" dirty="0"/>
              <a:t>MTBF (Mean Time Between Failures): </a:t>
            </a:r>
            <a:r>
              <a:rPr lang="en-US" dirty="0"/>
              <a:t>Measures how long system runs </a:t>
            </a:r>
            <a:r>
              <a:rPr lang="en-US" b="1" dirty="0"/>
              <a:t>before</a:t>
            </a:r>
            <a:r>
              <a:rPr lang="en-US" dirty="0"/>
              <a:t> failing</a:t>
            </a:r>
          </a:p>
          <a:p>
            <a:endParaRPr lang="en-US" b="1" dirty="0"/>
          </a:p>
          <a:p>
            <a:r>
              <a:rPr lang="en-US" dirty="0"/>
              <a:t>MTBF = (Total elapsed time - sum of total time system was down)/ Total number of Failures</a:t>
            </a:r>
          </a:p>
          <a:p>
            <a:endParaRPr lang="en-IN" dirty="0"/>
          </a:p>
        </p:txBody>
      </p:sp>
      <p:sp>
        <p:nvSpPr>
          <p:cNvPr id="4" name="Content Placeholder 3">
            <a:extLst>
              <a:ext uri="{FF2B5EF4-FFF2-40B4-BE49-F238E27FC236}">
                <a16:creationId xmlns:a16="http://schemas.microsoft.com/office/drawing/2014/main" id="{6D8CD418-6C29-3F5B-D8A8-C3C01E6BD056}"/>
              </a:ext>
            </a:extLst>
          </p:cNvPr>
          <p:cNvSpPr>
            <a:spLocks noGrp="1"/>
          </p:cNvSpPr>
          <p:nvPr>
            <p:ph sz="half" idx="3"/>
          </p:nvPr>
        </p:nvSpPr>
        <p:spPr>
          <a:xfrm>
            <a:off x="4709160" y="1183005"/>
            <a:ext cx="3977640" cy="1107996"/>
          </a:xfrm>
        </p:spPr>
        <p:txBody>
          <a:bodyPr/>
          <a:lstStyle/>
          <a:p>
            <a:r>
              <a:rPr lang="en-US" b="1" dirty="0"/>
              <a:t>MTTR (Mean Time To Repair): </a:t>
            </a:r>
            <a:r>
              <a:rPr lang="en-US" dirty="0"/>
              <a:t>Measures how long to </a:t>
            </a:r>
            <a:r>
              <a:rPr lang="en-US" b="1" dirty="0"/>
              <a:t>recover</a:t>
            </a:r>
            <a:r>
              <a:rPr lang="en-US" dirty="0"/>
              <a:t> from failure</a:t>
            </a:r>
          </a:p>
          <a:p>
            <a:endParaRPr lang="en-US" dirty="0"/>
          </a:p>
          <a:p>
            <a:r>
              <a:rPr lang="en-US" dirty="0"/>
              <a:t>MTTR= (Total maintenance times)/ Total number of Repairs</a:t>
            </a:r>
          </a:p>
          <a:p>
            <a:endParaRPr lang="en-IN" dirty="0"/>
          </a:p>
        </p:txBody>
      </p:sp>
    </p:spTree>
    <p:extLst>
      <p:ext uri="{BB962C8B-B14F-4D97-AF65-F5344CB8AC3E}">
        <p14:creationId xmlns:p14="http://schemas.microsoft.com/office/powerpoint/2010/main" val="4162849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8FF9A-F89B-CDF3-2F88-1FB94254D4A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FDCDCCC-1E0B-DDD3-43C2-0C967B9EB86E}"/>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Fault Tolerance</a:t>
            </a:r>
            <a:endParaRPr spc="-155" dirty="0"/>
          </a:p>
        </p:txBody>
      </p:sp>
      <p:sp>
        <p:nvSpPr>
          <p:cNvPr id="4" name="object 4">
            <a:extLst>
              <a:ext uri="{FF2B5EF4-FFF2-40B4-BE49-F238E27FC236}">
                <a16:creationId xmlns:a16="http://schemas.microsoft.com/office/drawing/2014/main" id="{CB4F6FDC-AE80-DEE6-377C-CC0C799D4E50}"/>
              </a:ext>
            </a:extLst>
          </p:cNvPr>
          <p:cNvSpPr txBox="1"/>
          <p:nvPr/>
        </p:nvSpPr>
        <p:spPr>
          <a:xfrm>
            <a:off x="475250" y="1123950"/>
            <a:ext cx="8211550" cy="1438855"/>
          </a:xfrm>
          <a:prstGeom prst="rect">
            <a:avLst/>
          </a:prstGeom>
        </p:spPr>
        <p:txBody>
          <a:bodyPr vert="horz" wrap="square" lIns="0" tIns="53340" rIns="0" bIns="0" rtlCol="0">
            <a:spAutoFit/>
          </a:bodyPr>
          <a:lstStyle/>
          <a:p>
            <a:r>
              <a:rPr lang="en-IN" b="1" dirty="0"/>
              <a:t>Definition </a:t>
            </a:r>
            <a:r>
              <a:rPr lang="en-US" b="1" dirty="0"/>
              <a:t>:</a:t>
            </a:r>
            <a:r>
              <a:rPr lang="en-US" dirty="0"/>
              <a:t> A system's ability to </a:t>
            </a:r>
            <a:r>
              <a:rPr lang="en-US" b="1" dirty="0"/>
              <a:t>continue operating properly</a:t>
            </a:r>
            <a:r>
              <a:rPr lang="en-US" dirty="0"/>
              <a:t> when some of its components </a:t>
            </a:r>
            <a:r>
              <a:rPr lang="en-US" b="1" dirty="0"/>
              <a:t>fail.</a:t>
            </a:r>
          </a:p>
          <a:p>
            <a:endParaRPr lang="en-US" b="1" dirty="0"/>
          </a:p>
          <a:p>
            <a:r>
              <a:rPr lang="en-US" b="1" dirty="0"/>
              <a:t>Goal: </a:t>
            </a:r>
            <a:r>
              <a:rPr lang="en-US" dirty="0"/>
              <a:t>System handles abnormal conditions gracefully.</a:t>
            </a:r>
          </a:p>
          <a:p>
            <a:pPr marL="285750" indent="-285750">
              <a:buFont typeface="Wingdings" panose="05000000000000000000" pitchFamily="2" charset="2"/>
              <a:buChar char="v"/>
            </a:pPr>
            <a:endParaRPr lang="en-US" dirty="0"/>
          </a:p>
        </p:txBody>
      </p:sp>
    </p:spTree>
    <p:extLst>
      <p:ext uri="{BB962C8B-B14F-4D97-AF65-F5344CB8AC3E}">
        <p14:creationId xmlns:p14="http://schemas.microsoft.com/office/powerpoint/2010/main" val="465315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75722-A885-2A6D-6BD1-FF9B75DF497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9319E9A-ED41-0BC6-3647-4CDC1D892F35}"/>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Fault Tolerance Techniques</a:t>
            </a:r>
            <a:endParaRPr spc="-155" dirty="0"/>
          </a:p>
        </p:txBody>
      </p:sp>
      <p:sp>
        <p:nvSpPr>
          <p:cNvPr id="4" name="object 4">
            <a:extLst>
              <a:ext uri="{FF2B5EF4-FFF2-40B4-BE49-F238E27FC236}">
                <a16:creationId xmlns:a16="http://schemas.microsoft.com/office/drawing/2014/main" id="{9CF34076-CEE8-34A1-B86E-88C3D7C4DD22}"/>
              </a:ext>
            </a:extLst>
          </p:cNvPr>
          <p:cNvSpPr txBox="1"/>
          <p:nvPr/>
        </p:nvSpPr>
        <p:spPr>
          <a:xfrm>
            <a:off x="475250" y="1123950"/>
            <a:ext cx="8211550" cy="1715854"/>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b="1" dirty="0"/>
              <a:t>Redundancy:</a:t>
            </a:r>
            <a:r>
              <a:rPr lang="en-US" dirty="0"/>
              <a:t> 🔄 Multiple copies of critical components</a:t>
            </a:r>
          </a:p>
          <a:p>
            <a:pPr marL="285750" indent="-285750">
              <a:buFont typeface="Wingdings" panose="05000000000000000000" pitchFamily="2" charset="2"/>
              <a:buChar char="v"/>
            </a:pPr>
            <a:r>
              <a:rPr lang="en-US" b="1" dirty="0"/>
              <a:t>Failover:</a:t>
            </a:r>
            <a:r>
              <a:rPr lang="en-US" dirty="0"/>
              <a:t> 🔀 Automatic switching to backup</a:t>
            </a:r>
          </a:p>
          <a:p>
            <a:pPr marL="285750" indent="-285750">
              <a:buFont typeface="Wingdings" panose="05000000000000000000" pitchFamily="2" charset="2"/>
              <a:buChar char="v"/>
            </a:pPr>
            <a:r>
              <a:rPr lang="en-US" b="1" dirty="0"/>
              <a:t>Checkpointing:</a:t>
            </a:r>
            <a:r>
              <a:rPr lang="en-US" dirty="0"/>
              <a:t> 💾 Periodic state snapshots</a:t>
            </a:r>
          </a:p>
          <a:p>
            <a:pPr marL="285750" indent="-285750">
              <a:buFont typeface="Wingdings" panose="05000000000000000000" pitchFamily="2" charset="2"/>
              <a:buChar char="v"/>
            </a:pPr>
            <a:r>
              <a:rPr lang="en-IN" b="1" dirty="0"/>
              <a:t>Isolation:</a:t>
            </a:r>
            <a:r>
              <a:rPr lang="en-IN" dirty="0"/>
              <a:t> 🚧 Contain failures</a:t>
            </a:r>
          </a:p>
          <a:p>
            <a:pPr marL="285750" indent="-285750">
              <a:buFont typeface="Wingdings" panose="05000000000000000000" pitchFamily="2" charset="2"/>
              <a:buChar char="v"/>
            </a:pPr>
            <a:r>
              <a:rPr lang="en-US" b="1" dirty="0"/>
              <a:t>Graceful Degradation:</a:t>
            </a:r>
            <a:r>
              <a:rPr lang="en-US" dirty="0"/>
              <a:t> 📉 Reduce functionality, don't crash</a:t>
            </a:r>
          </a:p>
          <a:p>
            <a:pPr marL="285750" indent="-285750">
              <a:buFont typeface="Wingdings" panose="05000000000000000000" pitchFamily="2" charset="2"/>
              <a:buChar char="v"/>
            </a:pPr>
            <a:r>
              <a:rPr lang="en-IN" b="1" dirty="0"/>
              <a:t> Self-Healing:</a:t>
            </a:r>
            <a:r>
              <a:rPr lang="en-IN" dirty="0"/>
              <a:t> 🤖 Automatic recover</a:t>
            </a:r>
            <a:endParaRPr lang="en-US" dirty="0"/>
          </a:p>
        </p:txBody>
      </p:sp>
    </p:spTree>
    <p:extLst>
      <p:ext uri="{BB962C8B-B14F-4D97-AF65-F5344CB8AC3E}">
        <p14:creationId xmlns:p14="http://schemas.microsoft.com/office/powerpoint/2010/main" val="1087374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95238-4D3E-6DC1-8D96-5D9771CEF73E}"/>
              </a:ext>
            </a:extLst>
          </p:cNvPr>
          <p:cNvSpPr>
            <a:spLocks noGrp="1"/>
          </p:cNvSpPr>
          <p:nvPr>
            <p:ph type="title"/>
          </p:nvPr>
        </p:nvSpPr>
        <p:spPr>
          <a:xfrm>
            <a:off x="384724" y="501589"/>
            <a:ext cx="8302076" cy="469961"/>
          </a:xfrm>
        </p:spPr>
        <p:txBody>
          <a:bodyPr/>
          <a:lstStyle/>
          <a:p>
            <a:r>
              <a:rPr lang="en-IN" dirty="0"/>
              <a:t>Recovery Objectives: RTO &amp; RPO</a:t>
            </a:r>
          </a:p>
        </p:txBody>
      </p:sp>
      <p:sp>
        <p:nvSpPr>
          <p:cNvPr id="3" name="Content Placeholder 2">
            <a:extLst>
              <a:ext uri="{FF2B5EF4-FFF2-40B4-BE49-F238E27FC236}">
                <a16:creationId xmlns:a16="http://schemas.microsoft.com/office/drawing/2014/main" id="{D13F4DBD-765E-CECE-40F9-F0428974B712}"/>
              </a:ext>
            </a:extLst>
          </p:cNvPr>
          <p:cNvSpPr>
            <a:spLocks noGrp="1"/>
          </p:cNvSpPr>
          <p:nvPr>
            <p:ph sz="half" idx="2"/>
          </p:nvPr>
        </p:nvSpPr>
        <p:spPr>
          <a:xfrm>
            <a:off x="457200" y="1183005"/>
            <a:ext cx="3977640" cy="1661993"/>
          </a:xfrm>
        </p:spPr>
        <p:txBody>
          <a:bodyPr/>
          <a:lstStyle/>
          <a:p>
            <a:r>
              <a:rPr lang="en-US" b="1" dirty="0"/>
              <a:t>RTO - Recovery Time Objective:</a:t>
            </a:r>
            <a:endParaRPr lang="en-US" dirty="0"/>
          </a:p>
          <a:p>
            <a:r>
              <a:rPr lang="en-US" b="1" dirty="0"/>
              <a:t>Definition:</a:t>
            </a:r>
            <a:r>
              <a:rPr lang="en-US" dirty="0"/>
              <a:t> Maximum acceptable </a:t>
            </a:r>
            <a:r>
              <a:rPr lang="en-US" b="1" dirty="0"/>
              <a:t>downtime duration</a:t>
            </a:r>
            <a:r>
              <a:rPr lang="en-US" dirty="0"/>
              <a:t> after a failure</a:t>
            </a:r>
          </a:p>
          <a:p>
            <a:r>
              <a:rPr lang="en-US" b="1" dirty="0"/>
              <a:t>Measures:</a:t>
            </a:r>
            <a:r>
              <a:rPr lang="en-US" dirty="0"/>
              <a:t> How long the system can be unavailable</a:t>
            </a:r>
          </a:p>
          <a:p>
            <a:r>
              <a:rPr lang="en-US" b="1" dirty="0"/>
              <a:t>Question:</a:t>
            </a:r>
            <a:r>
              <a:rPr lang="en-US" dirty="0"/>
              <a:t> "How fast must we recover?"</a:t>
            </a:r>
          </a:p>
          <a:p>
            <a:r>
              <a:rPr lang="en-US" b="1" dirty="0"/>
              <a:t>Example:</a:t>
            </a:r>
            <a:r>
              <a:rPr lang="en-US" dirty="0"/>
              <a:t> RTO = 4 hours = Must be back online within 4 hours</a:t>
            </a:r>
          </a:p>
          <a:p>
            <a:r>
              <a:rPr lang="en-US" b="1" dirty="0"/>
              <a:t>Drives:</a:t>
            </a:r>
            <a:r>
              <a:rPr lang="en-US" dirty="0"/>
              <a:t> </a:t>
            </a:r>
            <a:r>
              <a:rPr lang="en-US" b="1" dirty="0"/>
              <a:t>Recovery speed</a:t>
            </a:r>
            <a:r>
              <a:rPr lang="en-US" dirty="0"/>
              <a:t> - automation, standby systems</a:t>
            </a:r>
          </a:p>
          <a:p>
            <a:endParaRPr lang="en-IN" dirty="0"/>
          </a:p>
        </p:txBody>
      </p:sp>
      <p:sp>
        <p:nvSpPr>
          <p:cNvPr id="4" name="Content Placeholder 3">
            <a:extLst>
              <a:ext uri="{FF2B5EF4-FFF2-40B4-BE49-F238E27FC236}">
                <a16:creationId xmlns:a16="http://schemas.microsoft.com/office/drawing/2014/main" id="{7DBDAD2E-0F30-C6BC-AF77-FFFDBE53DDAB}"/>
              </a:ext>
            </a:extLst>
          </p:cNvPr>
          <p:cNvSpPr>
            <a:spLocks noGrp="1"/>
          </p:cNvSpPr>
          <p:nvPr>
            <p:ph sz="half" idx="3"/>
          </p:nvPr>
        </p:nvSpPr>
        <p:spPr>
          <a:xfrm>
            <a:off x="4709160" y="1183005"/>
            <a:ext cx="3977640" cy="1292662"/>
          </a:xfrm>
        </p:spPr>
        <p:txBody>
          <a:bodyPr/>
          <a:lstStyle/>
          <a:p>
            <a:r>
              <a:rPr lang="en-US" b="1" dirty="0"/>
              <a:t>RPO - Recovery Point Objective:</a:t>
            </a:r>
            <a:endParaRPr lang="en-US" dirty="0"/>
          </a:p>
          <a:p>
            <a:r>
              <a:rPr lang="en-US" b="1" dirty="0"/>
              <a:t>Definition:</a:t>
            </a:r>
            <a:r>
              <a:rPr lang="en-US" dirty="0"/>
              <a:t> Maximum acceptable </a:t>
            </a:r>
            <a:r>
              <a:rPr lang="en-US" b="1" dirty="0"/>
              <a:t>data loss duration</a:t>
            </a:r>
            <a:endParaRPr lang="en-US" dirty="0"/>
          </a:p>
          <a:p>
            <a:r>
              <a:rPr lang="en-US" b="1" dirty="0"/>
              <a:t>Measures:</a:t>
            </a:r>
            <a:r>
              <a:rPr lang="en-US" dirty="0"/>
              <a:t> How much recent data can be lost</a:t>
            </a:r>
          </a:p>
          <a:p>
            <a:r>
              <a:rPr lang="en-US" b="1" dirty="0"/>
              <a:t>Question:</a:t>
            </a:r>
            <a:r>
              <a:rPr lang="en-US" dirty="0"/>
              <a:t> "How much data can we afford to lose?"</a:t>
            </a:r>
          </a:p>
          <a:p>
            <a:r>
              <a:rPr lang="en-US" b="1" dirty="0"/>
              <a:t>Example:</a:t>
            </a:r>
            <a:r>
              <a:rPr lang="en-US" dirty="0"/>
              <a:t> RPO = 1 hour = Can lose up to 1 hour of data</a:t>
            </a:r>
          </a:p>
          <a:p>
            <a:r>
              <a:rPr lang="en-US" b="1" dirty="0"/>
              <a:t>Drives:</a:t>
            </a:r>
            <a:r>
              <a:rPr lang="en-US" dirty="0"/>
              <a:t> </a:t>
            </a:r>
            <a:r>
              <a:rPr lang="en-US" b="1" dirty="0"/>
              <a:t>Backup frequency</a:t>
            </a:r>
            <a:r>
              <a:rPr lang="en-US" dirty="0"/>
              <a:t> - how often to save state</a:t>
            </a:r>
          </a:p>
          <a:p>
            <a:endParaRPr lang="en-IN" dirty="0"/>
          </a:p>
        </p:txBody>
      </p:sp>
    </p:spTree>
    <p:extLst>
      <p:ext uri="{BB962C8B-B14F-4D97-AF65-F5344CB8AC3E}">
        <p14:creationId xmlns:p14="http://schemas.microsoft.com/office/powerpoint/2010/main" val="39358424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124E2-9649-1733-3A63-68E11F7FBE1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FF5A6C5-8A90-80D7-F1CE-E909384AD11D}"/>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Scalability</a:t>
            </a:r>
            <a:endParaRPr spc="-155" dirty="0"/>
          </a:p>
        </p:txBody>
      </p:sp>
      <p:sp>
        <p:nvSpPr>
          <p:cNvPr id="4" name="object 4">
            <a:extLst>
              <a:ext uri="{FF2B5EF4-FFF2-40B4-BE49-F238E27FC236}">
                <a16:creationId xmlns:a16="http://schemas.microsoft.com/office/drawing/2014/main" id="{8681DABD-7125-0F26-3A8A-40C1EC595FF1}"/>
              </a:ext>
            </a:extLst>
          </p:cNvPr>
          <p:cNvSpPr txBox="1"/>
          <p:nvPr/>
        </p:nvSpPr>
        <p:spPr>
          <a:xfrm>
            <a:off x="475250" y="1123950"/>
            <a:ext cx="8211550" cy="1715854"/>
          </a:xfrm>
          <a:prstGeom prst="rect">
            <a:avLst/>
          </a:prstGeom>
        </p:spPr>
        <p:txBody>
          <a:bodyPr vert="horz" wrap="square" lIns="0" tIns="53340" rIns="0" bIns="0" rtlCol="0">
            <a:spAutoFit/>
          </a:bodyPr>
          <a:lstStyle/>
          <a:p>
            <a:r>
              <a:rPr lang="en-IN" b="1" dirty="0"/>
              <a:t>Definition </a:t>
            </a:r>
            <a:r>
              <a:rPr lang="en-US" b="1" dirty="0"/>
              <a:t>:</a:t>
            </a:r>
            <a:r>
              <a:rPr lang="en-US" dirty="0"/>
              <a:t>  A system's ability to </a:t>
            </a:r>
            <a:r>
              <a:rPr lang="en-US" b="1" dirty="0"/>
              <a:t>handle increased load</a:t>
            </a:r>
            <a:r>
              <a:rPr lang="en-US" dirty="0"/>
              <a:t> by adding resources</a:t>
            </a:r>
            <a:endParaRPr lang="en-US" b="1" dirty="0"/>
          </a:p>
          <a:p>
            <a:pPr marL="285750" indent="-285750">
              <a:buFont typeface="Wingdings" panose="05000000000000000000" pitchFamily="2" charset="2"/>
              <a:buChar char="v"/>
            </a:pPr>
            <a:endParaRPr lang="en-US" dirty="0"/>
          </a:p>
          <a:p>
            <a:r>
              <a:rPr lang="en-US" b="1" dirty="0"/>
              <a:t>❌ Non-scalable:</a:t>
            </a:r>
            <a:r>
              <a:rPr lang="en-US" dirty="0"/>
              <a:t> Single server crushed under heavy load</a:t>
            </a:r>
          </a:p>
          <a:p>
            <a:endParaRPr lang="en-US" dirty="0"/>
          </a:p>
          <a:p>
            <a:r>
              <a:rPr lang="en-US" b="1" dirty="0"/>
              <a:t>✅ Scalable:</a:t>
            </a:r>
            <a:r>
              <a:rPr lang="en-US" dirty="0"/>
              <a:t> Multiple servers sharing load effortlessly</a:t>
            </a:r>
          </a:p>
          <a:p>
            <a:endParaRPr lang="en-US" dirty="0"/>
          </a:p>
        </p:txBody>
      </p:sp>
    </p:spTree>
    <p:extLst>
      <p:ext uri="{BB962C8B-B14F-4D97-AF65-F5344CB8AC3E}">
        <p14:creationId xmlns:p14="http://schemas.microsoft.com/office/powerpoint/2010/main" val="3445767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38B13-3537-585B-3A49-BADF814BD05D}"/>
              </a:ext>
            </a:extLst>
          </p:cNvPr>
          <p:cNvSpPr>
            <a:spLocks noGrp="1"/>
          </p:cNvSpPr>
          <p:nvPr>
            <p:ph type="title"/>
          </p:nvPr>
        </p:nvSpPr>
        <p:spPr>
          <a:xfrm>
            <a:off x="384724" y="501589"/>
            <a:ext cx="8302076" cy="546161"/>
          </a:xfrm>
        </p:spPr>
        <p:txBody>
          <a:bodyPr/>
          <a:lstStyle/>
          <a:p>
            <a:r>
              <a:rPr lang="en-IN" spc="-235" dirty="0"/>
              <a:t>Scaling Dimensions: Vertical vs Horizontal</a:t>
            </a:r>
            <a:endParaRPr lang="en-IN" dirty="0"/>
          </a:p>
        </p:txBody>
      </p:sp>
      <p:sp>
        <p:nvSpPr>
          <p:cNvPr id="3" name="Content Placeholder 2">
            <a:extLst>
              <a:ext uri="{FF2B5EF4-FFF2-40B4-BE49-F238E27FC236}">
                <a16:creationId xmlns:a16="http://schemas.microsoft.com/office/drawing/2014/main" id="{19B1D8BE-D20C-3E34-264E-FA09B656407F}"/>
              </a:ext>
            </a:extLst>
          </p:cNvPr>
          <p:cNvSpPr>
            <a:spLocks noGrp="1"/>
          </p:cNvSpPr>
          <p:nvPr>
            <p:ph sz="half" idx="2"/>
          </p:nvPr>
        </p:nvSpPr>
        <p:spPr>
          <a:xfrm>
            <a:off x="457200" y="1183005"/>
            <a:ext cx="3977640" cy="1477328"/>
          </a:xfrm>
        </p:spPr>
        <p:txBody>
          <a:bodyPr/>
          <a:lstStyle/>
          <a:p>
            <a:r>
              <a:rPr lang="en-US" b="1" dirty="0"/>
              <a:t>Vertical Scaling (Scale Up):</a:t>
            </a:r>
            <a:endParaRPr lang="en-US" dirty="0"/>
          </a:p>
          <a:p>
            <a:r>
              <a:rPr lang="en-US" b="1" dirty="0"/>
              <a:t>Approach:</a:t>
            </a:r>
            <a:r>
              <a:rPr lang="en-US" dirty="0"/>
              <a:t> Make individual components </a:t>
            </a:r>
            <a:r>
              <a:rPr lang="en-US" b="1" dirty="0"/>
              <a:t>bigger</a:t>
            </a:r>
            <a:endParaRPr lang="en-US" dirty="0"/>
          </a:p>
          <a:p>
            <a:r>
              <a:rPr lang="en-US" b="1" dirty="0"/>
              <a:t>Example:</a:t>
            </a:r>
            <a:r>
              <a:rPr lang="en-US" dirty="0"/>
              <a:t> Upgrade server from 4GB RAM → 64GB RAM</a:t>
            </a:r>
          </a:p>
          <a:p>
            <a:r>
              <a:rPr lang="en-US" b="1" dirty="0"/>
              <a:t>Analogy:</a:t>
            </a:r>
            <a:r>
              <a:rPr lang="en-US" dirty="0"/>
              <a:t> Getting a </a:t>
            </a:r>
            <a:r>
              <a:rPr lang="en-US" b="1" dirty="0"/>
              <a:t>bigger truck</a:t>
            </a:r>
            <a:r>
              <a:rPr lang="en-US" dirty="0"/>
              <a:t> to carry more cargo</a:t>
            </a:r>
          </a:p>
          <a:p>
            <a:r>
              <a:rPr lang="en-US" b="1" dirty="0"/>
              <a:t>Pros:</a:t>
            </a:r>
            <a:r>
              <a:rPr lang="en-US" dirty="0"/>
              <a:t> Simple, no application changes needed</a:t>
            </a:r>
          </a:p>
          <a:p>
            <a:r>
              <a:rPr lang="en-US" b="1" dirty="0"/>
              <a:t>Cons:</a:t>
            </a:r>
            <a:r>
              <a:rPr lang="en-US" dirty="0"/>
              <a:t> Single point of failure, expensive, limited ceiling</a:t>
            </a:r>
          </a:p>
          <a:p>
            <a:r>
              <a:rPr lang="en-US" b="1" dirty="0"/>
              <a:t>Best for:</a:t>
            </a:r>
            <a:r>
              <a:rPr lang="en-US" dirty="0"/>
              <a:t> Monolithic applications, databases (initially)</a:t>
            </a:r>
          </a:p>
          <a:p>
            <a:endParaRPr lang="en-IN" dirty="0"/>
          </a:p>
        </p:txBody>
      </p:sp>
      <p:sp>
        <p:nvSpPr>
          <p:cNvPr id="4" name="Content Placeholder 3">
            <a:extLst>
              <a:ext uri="{FF2B5EF4-FFF2-40B4-BE49-F238E27FC236}">
                <a16:creationId xmlns:a16="http://schemas.microsoft.com/office/drawing/2014/main" id="{6DBE45AD-74DE-8A3D-9E35-5FE2DC0BFE91}"/>
              </a:ext>
            </a:extLst>
          </p:cNvPr>
          <p:cNvSpPr>
            <a:spLocks noGrp="1"/>
          </p:cNvSpPr>
          <p:nvPr>
            <p:ph sz="half" idx="3"/>
          </p:nvPr>
        </p:nvSpPr>
        <p:spPr>
          <a:xfrm>
            <a:off x="4709160" y="1183005"/>
            <a:ext cx="3977640" cy="1661993"/>
          </a:xfrm>
        </p:spPr>
        <p:txBody>
          <a:bodyPr/>
          <a:lstStyle/>
          <a:p>
            <a:r>
              <a:rPr lang="en-US" b="1" dirty="0"/>
              <a:t>Horizontal Scaling (Scale Out):</a:t>
            </a:r>
            <a:endParaRPr lang="en-US" dirty="0"/>
          </a:p>
          <a:p>
            <a:r>
              <a:rPr lang="en-US" b="1" dirty="0"/>
              <a:t>Approach:</a:t>
            </a:r>
            <a:r>
              <a:rPr lang="en-US" dirty="0"/>
              <a:t> Add </a:t>
            </a:r>
            <a:r>
              <a:rPr lang="en-US" b="1" dirty="0"/>
              <a:t>more</a:t>
            </a:r>
            <a:r>
              <a:rPr lang="en-US" dirty="0"/>
              <a:t> components</a:t>
            </a:r>
          </a:p>
          <a:p>
            <a:r>
              <a:rPr lang="en-US" b="1" dirty="0"/>
              <a:t>Example:</a:t>
            </a:r>
            <a:r>
              <a:rPr lang="en-US" dirty="0"/>
              <a:t> Add more web servers behind load balancer</a:t>
            </a:r>
          </a:p>
          <a:p>
            <a:r>
              <a:rPr lang="en-US" b="1" dirty="0"/>
              <a:t>Analogy:</a:t>
            </a:r>
            <a:r>
              <a:rPr lang="en-US" dirty="0"/>
              <a:t> Using </a:t>
            </a:r>
            <a:r>
              <a:rPr lang="en-US" b="1" dirty="0"/>
              <a:t>multiple trucks</a:t>
            </a:r>
            <a:r>
              <a:rPr lang="en-US" dirty="0"/>
              <a:t> instead of one big truck</a:t>
            </a:r>
          </a:p>
          <a:p>
            <a:r>
              <a:rPr lang="en-US" b="1" dirty="0"/>
              <a:t>Pros:</a:t>
            </a:r>
            <a:r>
              <a:rPr lang="en-US" dirty="0"/>
              <a:t> No single point of failure, cost-effective, near-infinite scale</a:t>
            </a:r>
          </a:p>
          <a:p>
            <a:r>
              <a:rPr lang="en-US" b="1" dirty="0"/>
              <a:t>Cons:</a:t>
            </a:r>
            <a:r>
              <a:rPr lang="en-US" dirty="0"/>
              <a:t> Requires distributed architecture, more complex</a:t>
            </a:r>
          </a:p>
          <a:p>
            <a:r>
              <a:rPr lang="en-US" b="1" dirty="0"/>
              <a:t>Best for:</a:t>
            </a:r>
            <a:r>
              <a:rPr lang="en-US" dirty="0"/>
              <a:t> Modern web applications, microservices</a:t>
            </a:r>
          </a:p>
          <a:p>
            <a:endParaRPr lang="en-IN" dirty="0"/>
          </a:p>
        </p:txBody>
      </p:sp>
    </p:spTree>
    <p:extLst>
      <p:ext uri="{BB962C8B-B14F-4D97-AF65-F5344CB8AC3E}">
        <p14:creationId xmlns:p14="http://schemas.microsoft.com/office/powerpoint/2010/main" val="2722281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E4254-002D-A909-1E97-61B41735982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2952BC9-217D-C88D-A4E3-A5094C33D6B2}"/>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Durability</a:t>
            </a:r>
            <a:endParaRPr spc="-155" dirty="0"/>
          </a:p>
        </p:txBody>
      </p:sp>
      <p:sp>
        <p:nvSpPr>
          <p:cNvPr id="4" name="object 4">
            <a:extLst>
              <a:ext uri="{FF2B5EF4-FFF2-40B4-BE49-F238E27FC236}">
                <a16:creationId xmlns:a16="http://schemas.microsoft.com/office/drawing/2014/main" id="{82B9F17A-C483-F3ED-37F0-18012A794658}"/>
              </a:ext>
            </a:extLst>
          </p:cNvPr>
          <p:cNvSpPr txBox="1"/>
          <p:nvPr/>
        </p:nvSpPr>
        <p:spPr>
          <a:xfrm>
            <a:off x="475250" y="1123950"/>
            <a:ext cx="8211550" cy="1161857"/>
          </a:xfrm>
          <a:prstGeom prst="rect">
            <a:avLst/>
          </a:prstGeom>
        </p:spPr>
        <p:txBody>
          <a:bodyPr vert="horz" wrap="square" lIns="0" tIns="53340" rIns="0" bIns="0" rtlCol="0">
            <a:spAutoFit/>
          </a:bodyPr>
          <a:lstStyle/>
          <a:p>
            <a:r>
              <a:rPr lang="en-IN" b="1" dirty="0"/>
              <a:t>Definition </a:t>
            </a:r>
            <a:r>
              <a:rPr lang="en-US" b="1" dirty="0"/>
              <a:t>:</a:t>
            </a:r>
            <a:r>
              <a:rPr lang="en-US" dirty="0"/>
              <a:t>  The guarantee that </a:t>
            </a:r>
            <a:r>
              <a:rPr lang="en-US" b="1" dirty="0"/>
              <a:t>data, once written, will survive permanently</a:t>
            </a:r>
          </a:p>
          <a:p>
            <a:pPr marL="285750" indent="-285750">
              <a:buFont typeface="Wingdings" panose="05000000000000000000" pitchFamily="2" charset="2"/>
              <a:buChar char="v"/>
            </a:pPr>
            <a:endParaRPr lang="en-US" dirty="0"/>
          </a:p>
          <a:p>
            <a:r>
              <a:rPr lang="en-US" b="1" dirty="0"/>
              <a:t>Core Promise:</a:t>
            </a:r>
            <a:r>
              <a:rPr lang="en-US" dirty="0"/>
              <a:t> "Your data is safe, even if hardware fails"</a:t>
            </a:r>
          </a:p>
          <a:p>
            <a:endParaRPr lang="en-US" dirty="0"/>
          </a:p>
        </p:txBody>
      </p:sp>
    </p:spTree>
    <p:extLst>
      <p:ext uri="{BB962C8B-B14F-4D97-AF65-F5344CB8AC3E}">
        <p14:creationId xmlns:p14="http://schemas.microsoft.com/office/powerpoint/2010/main" val="294026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D3CCA-AA1D-4ABA-26D8-00E6E8C840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6C6C9E8-909E-C0DC-07C5-864E044213BE}"/>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Why Durability Matters</a:t>
            </a:r>
            <a:endParaRPr spc="-155" dirty="0"/>
          </a:p>
        </p:txBody>
      </p:sp>
      <p:sp>
        <p:nvSpPr>
          <p:cNvPr id="4" name="object 4">
            <a:extLst>
              <a:ext uri="{FF2B5EF4-FFF2-40B4-BE49-F238E27FC236}">
                <a16:creationId xmlns:a16="http://schemas.microsoft.com/office/drawing/2014/main" id="{2298F859-190D-2BAA-A8F2-1071C354C86B}"/>
              </a:ext>
            </a:extLst>
          </p:cNvPr>
          <p:cNvSpPr txBox="1"/>
          <p:nvPr/>
        </p:nvSpPr>
        <p:spPr>
          <a:xfrm>
            <a:off x="475250" y="1123950"/>
            <a:ext cx="8211550" cy="1992853"/>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b="1" dirty="0"/>
              <a:t>Personal:</a:t>
            </a:r>
            <a:r>
              <a:rPr lang="en-US" dirty="0"/>
              <a:t> Lost family photos, important documents</a:t>
            </a:r>
          </a:p>
          <a:p>
            <a:pPr marL="285750" indent="-285750">
              <a:buFont typeface="Wingdings" panose="05000000000000000000" pitchFamily="2" charset="2"/>
              <a:buChar char="v"/>
            </a:pPr>
            <a:r>
              <a:rPr lang="en-US" b="1" dirty="0"/>
              <a:t>Business:</a:t>
            </a:r>
            <a:r>
              <a:rPr lang="en-US" dirty="0"/>
              <a:t> Lost transactions, customer data, financial records</a:t>
            </a:r>
          </a:p>
          <a:p>
            <a:pPr marL="285750" indent="-285750">
              <a:buFont typeface="Wingdings" panose="05000000000000000000" pitchFamily="2" charset="2"/>
              <a:buChar char="v"/>
            </a:pPr>
            <a:r>
              <a:rPr lang="en-US" b="1" dirty="0"/>
              <a:t>Critical:</a:t>
            </a:r>
            <a:r>
              <a:rPr lang="en-US" dirty="0"/>
              <a:t> Medical records, legal documents, scientific research</a:t>
            </a:r>
            <a:br>
              <a:rPr lang="en-US" dirty="0"/>
            </a:br>
            <a:br>
              <a:rPr lang="en-US" dirty="0"/>
            </a:br>
            <a:r>
              <a:rPr lang="en-US" dirty="0"/>
              <a:t>The </a:t>
            </a:r>
            <a:r>
              <a:rPr lang="en-US" b="1" dirty="0"/>
              <a:t>3-2-1 rule</a:t>
            </a:r>
            <a:r>
              <a:rPr lang="en-US" dirty="0"/>
              <a:t> is a good starting point: 3 copies, on 2 different media types, with 1 copy offsite.</a:t>
            </a:r>
          </a:p>
          <a:p>
            <a:endParaRPr lang="en-US" dirty="0"/>
          </a:p>
        </p:txBody>
      </p:sp>
    </p:spTree>
    <p:extLst>
      <p:ext uri="{BB962C8B-B14F-4D97-AF65-F5344CB8AC3E}">
        <p14:creationId xmlns:p14="http://schemas.microsoft.com/office/powerpoint/2010/main" val="269628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6CA7D-6FEA-9532-E5C2-2AC5C5DBE20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D6BB48A-CB1E-C3AB-3EAD-1BBDC4D90490}"/>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Achieving Durability: Techniques</a:t>
            </a:r>
            <a:endParaRPr spc="-155" dirty="0"/>
          </a:p>
        </p:txBody>
      </p:sp>
      <p:sp>
        <p:nvSpPr>
          <p:cNvPr id="4" name="object 4">
            <a:extLst>
              <a:ext uri="{FF2B5EF4-FFF2-40B4-BE49-F238E27FC236}">
                <a16:creationId xmlns:a16="http://schemas.microsoft.com/office/drawing/2014/main" id="{7BDFB64F-775E-3696-FF14-303601905753}"/>
              </a:ext>
            </a:extLst>
          </p:cNvPr>
          <p:cNvSpPr txBox="1"/>
          <p:nvPr/>
        </p:nvSpPr>
        <p:spPr>
          <a:xfrm>
            <a:off x="475250" y="1123950"/>
            <a:ext cx="8211550" cy="1438855"/>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IN" b="1" dirty="0"/>
              <a:t>Redundancy (Multiple Copies)</a:t>
            </a:r>
          </a:p>
          <a:p>
            <a:pPr marL="285750" indent="-285750">
              <a:buFont typeface="Wingdings" panose="05000000000000000000" pitchFamily="2" charset="2"/>
              <a:buChar char="v"/>
            </a:pPr>
            <a:r>
              <a:rPr lang="en-IN" b="1" dirty="0"/>
              <a:t>Geographic Distribution</a:t>
            </a:r>
          </a:p>
          <a:p>
            <a:pPr marL="285750" indent="-285750">
              <a:buFont typeface="Wingdings" panose="05000000000000000000" pitchFamily="2" charset="2"/>
              <a:buChar char="v"/>
            </a:pPr>
            <a:r>
              <a:rPr lang="en-IN" b="1" dirty="0"/>
              <a:t>Regular Backups</a:t>
            </a:r>
          </a:p>
          <a:p>
            <a:pPr marL="285750" indent="-285750">
              <a:buFont typeface="Wingdings" panose="05000000000000000000" pitchFamily="2" charset="2"/>
              <a:buChar char="v"/>
            </a:pPr>
            <a:r>
              <a:rPr lang="en-IN" b="1" dirty="0"/>
              <a:t>Data Integrity Checks</a:t>
            </a:r>
          </a:p>
          <a:p>
            <a:pPr marL="285750" indent="-285750">
              <a:buFont typeface="Wingdings" panose="05000000000000000000" pitchFamily="2" charset="2"/>
              <a:buChar char="v"/>
            </a:pPr>
            <a:r>
              <a:rPr lang="en-IN" b="1" dirty="0"/>
              <a:t>Versioning &amp; Immutability</a:t>
            </a:r>
            <a:endParaRPr lang="en-US" dirty="0"/>
          </a:p>
        </p:txBody>
      </p:sp>
    </p:spTree>
    <p:extLst>
      <p:ext uri="{BB962C8B-B14F-4D97-AF65-F5344CB8AC3E}">
        <p14:creationId xmlns:p14="http://schemas.microsoft.com/office/powerpoint/2010/main" val="1169417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1179A-D8BA-8A8A-192B-BFBC1177C96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453BF0F-122B-9FDD-9708-A6D037DF1E96}"/>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Maintainability</a:t>
            </a:r>
            <a:endParaRPr spc="-155" dirty="0"/>
          </a:p>
        </p:txBody>
      </p:sp>
      <p:sp>
        <p:nvSpPr>
          <p:cNvPr id="4" name="object 4">
            <a:extLst>
              <a:ext uri="{FF2B5EF4-FFF2-40B4-BE49-F238E27FC236}">
                <a16:creationId xmlns:a16="http://schemas.microsoft.com/office/drawing/2014/main" id="{FF622C55-A702-6201-0644-14298577829E}"/>
              </a:ext>
            </a:extLst>
          </p:cNvPr>
          <p:cNvSpPr txBox="1"/>
          <p:nvPr/>
        </p:nvSpPr>
        <p:spPr>
          <a:xfrm>
            <a:off x="475250" y="1123950"/>
            <a:ext cx="8211550" cy="1992853"/>
          </a:xfrm>
          <a:prstGeom prst="rect">
            <a:avLst/>
          </a:prstGeom>
        </p:spPr>
        <p:txBody>
          <a:bodyPr vert="horz" wrap="square" lIns="0" tIns="53340" rIns="0" bIns="0" rtlCol="0">
            <a:spAutoFit/>
          </a:bodyPr>
          <a:lstStyle/>
          <a:p>
            <a:r>
              <a:rPr lang="en-IN" b="1" dirty="0"/>
              <a:t>Definition </a:t>
            </a:r>
            <a:r>
              <a:rPr lang="en-US" b="1" dirty="0"/>
              <a:t>:</a:t>
            </a:r>
            <a:r>
              <a:rPr lang="en-US" dirty="0"/>
              <a:t>  The ease with which a system can be </a:t>
            </a:r>
            <a:r>
              <a:rPr lang="en-US" b="1" dirty="0"/>
              <a:t>modified, updated, and improved</a:t>
            </a:r>
            <a:r>
              <a:rPr lang="en-US" dirty="0"/>
              <a:t> over its lifecycle</a:t>
            </a:r>
            <a:endParaRPr lang="en-US" b="1" dirty="0"/>
          </a:p>
          <a:p>
            <a:pPr marL="285750" indent="-285750">
              <a:buFont typeface="Wingdings" panose="05000000000000000000" pitchFamily="2" charset="2"/>
              <a:buChar char="v"/>
            </a:pPr>
            <a:endParaRPr lang="en-US" dirty="0"/>
          </a:p>
          <a:p>
            <a:r>
              <a:rPr lang="en-US" b="1" dirty="0"/>
              <a:t>❌ Hard to Maintain:</a:t>
            </a:r>
            <a:r>
              <a:rPr lang="en-US" dirty="0"/>
              <a:t> Spaghetti code, tangled wires, "legacy system"</a:t>
            </a:r>
          </a:p>
          <a:p>
            <a:r>
              <a:rPr lang="en-US" b="1" dirty="0"/>
              <a:t>✅ Easy to Maintain:</a:t>
            </a:r>
            <a:r>
              <a:rPr lang="en-US" dirty="0"/>
              <a:t> Clean architecture, modular components, clear documentation</a:t>
            </a:r>
          </a:p>
          <a:p>
            <a:endParaRPr lang="en-US" dirty="0"/>
          </a:p>
        </p:txBody>
      </p:sp>
    </p:spTree>
    <p:extLst>
      <p:ext uri="{BB962C8B-B14F-4D97-AF65-F5344CB8AC3E}">
        <p14:creationId xmlns:p14="http://schemas.microsoft.com/office/powerpoint/2010/main" val="32882671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C0EEF-A623-A316-F143-CBD1440AED7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54454DB-771D-BEDC-4617-3457B5F55F33}"/>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Performance</a:t>
            </a:r>
            <a:endParaRPr spc="-155" dirty="0"/>
          </a:p>
        </p:txBody>
      </p:sp>
      <p:sp>
        <p:nvSpPr>
          <p:cNvPr id="4" name="object 4">
            <a:extLst>
              <a:ext uri="{FF2B5EF4-FFF2-40B4-BE49-F238E27FC236}">
                <a16:creationId xmlns:a16="http://schemas.microsoft.com/office/drawing/2014/main" id="{31697E5B-05B9-42B5-2C52-4D3B05BE2CE7}"/>
              </a:ext>
            </a:extLst>
          </p:cNvPr>
          <p:cNvSpPr txBox="1"/>
          <p:nvPr/>
        </p:nvSpPr>
        <p:spPr>
          <a:xfrm>
            <a:off x="475250" y="1123950"/>
            <a:ext cx="8211550" cy="1715854"/>
          </a:xfrm>
          <a:prstGeom prst="rect">
            <a:avLst/>
          </a:prstGeom>
        </p:spPr>
        <p:txBody>
          <a:bodyPr vert="horz" wrap="square" lIns="0" tIns="53340" rIns="0" bIns="0" rtlCol="0">
            <a:spAutoFit/>
          </a:bodyPr>
          <a:lstStyle/>
          <a:p>
            <a:r>
              <a:rPr lang="en-US" b="1" dirty="0"/>
              <a:t>Definition:</a:t>
            </a:r>
            <a:endParaRPr lang="en-US" dirty="0"/>
          </a:p>
          <a:p>
            <a:r>
              <a:rPr lang="en-US" b="1" dirty="0"/>
              <a:t>Latency:</a:t>
            </a:r>
            <a:r>
              <a:rPr lang="en-US" dirty="0"/>
              <a:t> Time taken for </a:t>
            </a:r>
            <a:r>
              <a:rPr lang="en-US" b="1" dirty="0"/>
              <a:t>one operation</a:t>
            </a:r>
            <a:r>
              <a:rPr lang="en-US" dirty="0"/>
              <a:t> to complete (e.g., 100ms for an API call)</a:t>
            </a:r>
          </a:p>
          <a:p>
            <a:r>
              <a:rPr lang="en-US" b="1" dirty="0"/>
              <a:t>Throughput:</a:t>
            </a:r>
            <a:r>
              <a:rPr lang="en-US" dirty="0"/>
              <a:t> Number of operations completed in a </a:t>
            </a:r>
            <a:r>
              <a:rPr lang="en-US" b="1" dirty="0"/>
              <a:t>time period </a:t>
            </a:r>
            <a:r>
              <a:rPr lang="en-US" dirty="0"/>
              <a:t>(e.g., 1000 requests/second)</a:t>
            </a:r>
          </a:p>
          <a:p>
            <a:r>
              <a:rPr lang="en-US" b="1" dirty="0"/>
              <a:t>Bandwidth:</a:t>
            </a:r>
            <a:r>
              <a:rPr lang="en-US" dirty="0"/>
              <a:t> Maximum </a:t>
            </a:r>
            <a:r>
              <a:rPr lang="en-US" b="1" dirty="0"/>
              <a:t>data transfer rate</a:t>
            </a:r>
            <a:r>
              <a:rPr lang="en-US" dirty="0"/>
              <a:t> of a channel (e.g., 1 Gbps network)</a:t>
            </a:r>
          </a:p>
          <a:p>
            <a:endParaRPr lang="en-US" dirty="0"/>
          </a:p>
        </p:txBody>
      </p:sp>
    </p:spTree>
    <p:extLst>
      <p:ext uri="{BB962C8B-B14F-4D97-AF65-F5344CB8AC3E}">
        <p14:creationId xmlns:p14="http://schemas.microsoft.com/office/powerpoint/2010/main" val="8262352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D087E-7592-3FA3-3CC1-60ED7E5E85F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3B4C313-140E-1E03-6F4C-FD082D389776}"/>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Performance Trade-offs</a:t>
            </a:r>
            <a:endParaRPr spc="-155" dirty="0"/>
          </a:p>
        </p:txBody>
      </p:sp>
      <p:graphicFrame>
        <p:nvGraphicFramePr>
          <p:cNvPr id="2" name="Table 1">
            <a:extLst>
              <a:ext uri="{FF2B5EF4-FFF2-40B4-BE49-F238E27FC236}">
                <a16:creationId xmlns:a16="http://schemas.microsoft.com/office/drawing/2014/main" id="{EDE7D35E-EDAE-D157-19F1-69423E3DBE88}"/>
              </a:ext>
            </a:extLst>
          </p:cNvPr>
          <p:cNvGraphicFramePr>
            <a:graphicFrameLocks noGrp="1"/>
          </p:cNvGraphicFramePr>
          <p:nvPr>
            <p:extLst>
              <p:ext uri="{D42A27DB-BD31-4B8C-83A1-F6EECF244321}">
                <p14:modId xmlns:p14="http://schemas.microsoft.com/office/powerpoint/2010/main" val="1054720676"/>
              </p:ext>
            </p:extLst>
          </p:nvPr>
        </p:nvGraphicFramePr>
        <p:xfrm>
          <a:off x="301076" y="1066801"/>
          <a:ext cx="8458200" cy="3654380"/>
        </p:xfrm>
        <a:graphic>
          <a:graphicData uri="http://schemas.openxmlformats.org/drawingml/2006/table">
            <a:tbl>
              <a:tblPr/>
              <a:tblGrid>
                <a:gridCol w="2819400">
                  <a:extLst>
                    <a:ext uri="{9D8B030D-6E8A-4147-A177-3AD203B41FA5}">
                      <a16:colId xmlns:a16="http://schemas.microsoft.com/office/drawing/2014/main" val="2069832302"/>
                    </a:ext>
                  </a:extLst>
                </a:gridCol>
                <a:gridCol w="2819400">
                  <a:extLst>
                    <a:ext uri="{9D8B030D-6E8A-4147-A177-3AD203B41FA5}">
                      <a16:colId xmlns:a16="http://schemas.microsoft.com/office/drawing/2014/main" val="3852301345"/>
                    </a:ext>
                  </a:extLst>
                </a:gridCol>
                <a:gridCol w="2819400">
                  <a:extLst>
                    <a:ext uri="{9D8B030D-6E8A-4147-A177-3AD203B41FA5}">
                      <a16:colId xmlns:a16="http://schemas.microsoft.com/office/drawing/2014/main" val="1416313161"/>
                    </a:ext>
                  </a:extLst>
                </a:gridCol>
              </a:tblGrid>
              <a:tr h="331028">
                <a:tc>
                  <a:txBody>
                    <a:bodyPr/>
                    <a:lstStyle/>
                    <a:p>
                      <a:pPr algn="l">
                        <a:lnSpc>
                          <a:spcPts val="1875"/>
                        </a:lnSpc>
                        <a:buNone/>
                      </a:pPr>
                      <a:r>
                        <a:rPr lang="en-IN" sz="1400" b="1">
                          <a:effectLst/>
                          <a:latin typeface="quote-cjk-patch"/>
                        </a:rPr>
                        <a:t>Attribute</a:t>
                      </a:r>
                      <a:endParaRPr lang="en-IN" sz="1400" b="0">
                        <a:effectLst/>
                        <a:latin typeface="quote-cjk-patch"/>
                      </a:endParaRPr>
                    </a:p>
                  </a:txBody>
                  <a:tcPr marL="40132" marR="53509" marT="33443" marB="33443" anchor="ctr">
                    <a:lnL>
                      <a:noFill/>
                    </a:lnL>
                    <a:lnR>
                      <a:noFill/>
                    </a:lnR>
                    <a:lnT>
                      <a:noFill/>
                    </a:lnT>
                    <a:lnB>
                      <a:noFill/>
                    </a:lnB>
                    <a:solidFill>
                      <a:srgbClr val="FFFFFF"/>
                    </a:solidFill>
                  </a:tcPr>
                </a:tc>
                <a:tc>
                  <a:txBody>
                    <a:bodyPr/>
                    <a:lstStyle/>
                    <a:p>
                      <a:pPr algn="l">
                        <a:lnSpc>
                          <a:spcPts val="1875"/>
                        </a:lnSpc>
                        <a:buNone/>
                      </a:pPr>
                      <a:r>
                        <a:rPr lang="en-IN" sz="1400" b="1" dirty="0">
                          <a:effectLst/>
                          <a:latin typeface="quote-cjk-patch"/>
                        </a:rPr>
                        <a:t>Conflict with Performance</a:t>
                      </a:r>
                      <a:endParaRPr lang="en-IN" sz="1400" b="0" dirty="0">
                        <a:effectLst/>
                        <a:latin typeface="quote-cjk-patch"/>
                      </a:endParaRPr>
                    </a:p>
                  </a:txBody>
                  <a:tcPr marL="53509" marR="53509" marT="33443" marB="33443" anchor="ctr">
                    <a:lnL>
                      <a:noFill/>
                    </a:lnL>
                    <a:lnR>
                      <a:noFill/>
                    </a:lnR>
                    <a:lnT>
                      <a:noFill/>
                    </a:lnT>
                    <a:lnB>
                      <a:noFill/>
                    </a:lnB>
                    <a:solidFill>
                      <a:srgbClr val="FFFFFF"/>
                    </a:solidFill>
                  </a:tcPr>
                </a:tc>
                <a:tc>
                  <a:txBody>
                    <a:bodyPr/>
                    <a:lstStyle/>
                    <a:p>
                      <a:pPr algn="l">
                        <a:lnSpc>
                          <a:spcPts val="1875"/>
                        </a:lnSpc>
                        <a:buNone/>
                      </a:pPr>
                      <a:r>
                        <a:rPr lang="en-IN" sz="1400" b="1" dirty="0">
                          <a:effectLst/>
                          <a:latin typeface="quote-cjk-patch"/>
                        </a:rPr>
                        <a:t>Example</a:t>
                      </a:r>
                      <a:endParaRPr lang="en-IN" sz="1400" b="0" dirty="0">
                        <a:effectLst/>
                        <a:latin typeface="quote-cjk-patch"/>
                      </a:endParaRPr>
                    </a:p>
                  </a:txBody>
                  <a:tcPr marL="53509" marR="53509" marT="33443" marB="33443" anchor="ctr">
                    <a:lnL>
                      <a:noFill/>
                    </a:lnL>
                    <a:lnR>
                      <a:noFill/>
                    </a:lnR>
                    <a:lnT>
                      <a:noFill/>
                    </a:lnT>
                    <a:lnB>
                      <a:noFill/>
                    </a:lnB>
                    <a:solidFill>
                      <a:srgbClr val="FFFFFF"/>
                    </a:solidFill>
                  </a:tcPr>
                </a:tc>
                <a:extLst>
                  <a:ext uri="{0D108BD9-81ED-4DB2-BD59-A6C34878D82A}">
                    <a16:rowId xmlns:a16="http://schemas.microsoft.com/office/drawing/2014/main" val="591896322"/>
                  </a:ext>
                </a:extLst>
              </a:tr>
              <a:tr h="456820">
                <a:tc>
                  <a:txBody>
                    <a:bodyPr/>
                    <a:lstStyle/>
                    <a:p>
                      <a:pPr>
                        <a:lnSpc>
                          <a:spcPts val="1875"/>
                        </a:lnSpc>
                        <a:buNone/>
                      </a:pPr>
                      <a:r>
                        <a:rPr lang="en-IN" sz="1400" b="1">
                          <a:effectLst/>
                          <a:latin typeface="quote-cjk-patch"/>
                        </a:rPr>
                        <a:t>Consistency</a:t>
                      </a:r>
                      <a:endParaRPr lang="en-IN" sz="1400" b="0">
                        <a:effectLst/>
                        <a:latin typeface="quote-cjk-patch"/>
                      </a:endParaRPr>
                    </a:p>
                  </a:txBody>
                  <a:tcPr marL="40132" marR="53509" marT="33443" marB="33443" anchor="ctr">
                    <a:lnL>
                      <a:noFill/>
                    </a:lnL>
                    <a:lnR>
                      <a:noFill/>
                    </a:lnR>
                    <a:lnT>
                      <a:noFill/>
                    </a:lnT>
                    <a:lnB>
                      <a:noFill/>
                    </a:lnB>
                    <a:solidFill>
                      <a:srgbClr val="FFFFFF"/>
                    </a:solidFill>
                  </a:tcPr>
                </a:tc>
                <a:tc>
                  <a:txBody>
                    <a:bodyPr/>
                    <a:lstStyle/>
                    <a:p>
                      <a:pPr>
                        <a:lnSpc>
                          <a:spcPts val="1875"/>
                        </a:lnSpc>
                        <a:buNone/>
                      </a:pPr>
                      <a:r>
                        <a:rPr lang="en-IN" sz="1400" b="0" dirty="0">
                          <a:effectLst/>
                          <a:latin typeface="quote-cjk-patch"/>
                        </a:rPr>
                        <a:t>Strong consistency increases latency</a:t>
                      </a:r>
                    </a:p>
                  </a:txBody>
                  <a:tcPr marL="53509" marR="53509" marT="33443" marB="33443" anchor="ctr">
                    <a:lnL>
                      <a:noFill/>
                    </a:lnL>
                    <a:lnR>
                      <a:noFill/>
                    </a:lnR>
                    <a:lnT>
                      <a:noFill/>
                    </a:lnT>
                    <a:lnB>
                      <a:noFill/>
                    </a:lnB>
                    <a:solidFill>
                      <a:srgbClr val="FFFFFF"/>
                    </a:solidFill>
                  </a:tcPr>
                </a:tc>
                <a:tc>
                  <a:txBody>
                    <a:bodyPr/>
                    <a:lstStyle/>
                    <a:p>
                      <a:pPr>
                        <a:lnSpc>
                          <a:spcPts val="1875"/>
                        </a:lnSpc>
                        <a:buNone/>
                      </a:pPr>
                      <a:r>
                        <a:rPr lang="en-US" sz="1400" b="0" dirty="0">
                          <a:effectLst/>
                          <a:latin typeface="quote-cjk-patch"/>
                        </a:rPr>
                        <a:t>Waiting for all replicas to confirm writes</a:t>
                      </a:r>
                    </a:p>
                  </a:txBody>
                  <a:tcPr marL="53509" marR="40132" marT="33443" marB="33443" anchor="ctr">
                    <a:lnL>
                      <a:noFill/>
                    </a:lnL>
                    <a:lnR>
                      <a:noFill/>
                    </a:lnR>
                    <a:lnT>
                      <a:noFill/>
                    </a:lnT>
                    <a:lnB>
                      <a:noFill/>
                    </a:lnB>
                    <a:solidFill>
                      <a:srgbClr val="FFFFFF"/>
                    </a:solidFill>
                  </a:tcPr>
                </a:tc>
                <a:extLst>
                  <a:ext uri="{0D108BD9-81ED-4DB2-BD59-A6C34878D82A}">
                    <a16:rowId xmlns:a16="http://schemas.microsoft.com/office/drawing/2014/main" val="2179171835"/>
                  </a:ext>
                </a:extLst>
              </a:tr>
              <a:tr h="582611">
                <a:tc>
                  <a:txBody>
                    <a:bodyPr/>
                    <a:lstStyle/>
                    <a:p>
                      <a:pPr>
                        <a:lnSpc>
                          <a:spcPts val="1875"/>
                        </a:lnSpc>
                        <a:buNone/>
                      </a:pPr>
                      <a:r>
                        <a:rPr lang="en-IN" sz="1400" b="1">
                          <a:effectLst/>
                          <a:latin typeface="quote-cjk-patch"/>
                        </a:rPr>
                        <a:t>Availability</a:t>
                      </a:r>
                      <a:endParaRPr lang="en-IN" sz="1400" b="0">
                        <a:effectLst/>
                        <a:latin typeface="quote-cjk-patch"/>
                      </a:endParaRPr>
                    </a:p>
                  </a:txBody>
                  <a:tcPr marL="40132" marR="53509" marT="33443" marB="33443" anchor="ctr">
                    <a:lnL>
                      <a:noFill/>
                    </a:lnL>
                    <a:lnR>
                      <a:noFill/>
                    </a:lnR>
                    <a:lnT>
                      <a:noFill/>
                    </a:lnT>
                    <a:lnB>
                      <a:noFill/>
                    </a:lnB>
                    <a:solidFill>
                      <a:srgbClr val="FFFFFF"/>
                    </a:solidFill>
                  </a:tcPr>
                </a:tc>
                <a:tc>
                  <a:txBody>
                    <a:bodyPr/>
                    <a:lstStyle/>
                    <a:p>
                      <a:pPr>
                        <a:lnSpc>
                          <a:spcPts val="1875"/>
                        </a:lnSpc>
                        <a:buNone/>
                      </a:pPr>
                      <a:r>
                        <a:rPr lang="en-US" sz="1400" b="0" dirty="0">
                          <a:effectLst/>
                          <a:latin typeface="quote-cjk-patch"/>
                        </a:rPr>
                        <a:t>High availability can reduce throughput</a:t>
                      </a:r>
                    </a:p>
                  </a:txBody>
                  <a:tcPr marL="53509" marR="53509" marT="33443" marB="33443" anchor="ctr">
                    <a:lnL>
                      <a:noFill/>
                    </a:lnL>
                    <a:lnR>
                      <a:noFill/>
                    </a:lnR>
                    <a:lnT>
                      <a:noFill/>
                    </a:lnT>
                    <a:lnB>
                      <a:noFill/>
                    </a:lnB>
                    <a:solidFill>
                      <a:srgbClr val="FFFFFF"/>
                    </a:solidFill>
                  </a:tcPr>
                </a:tc>
                <a:tc>
                  <a:txBody>
                    <a:bodyPr/>
                    <a:lstStyle/>
                    <a:p>
                      <a:pPr>
                        <a:lnSpc>
                          <a:spcPts val="1875"/>
                        </a:lnSpc>
                        <a:buNone/>
                      </a:pPr>
                      <a:r>
                        <a:rPr lang="en-US" sz="1400" b="0" dirty="0">
                          <a:effectLst/>
                          <a:latin typeface="quote-cjk-patch"/>
                        </a:rPr>
                        <a:t>Maintaining redundant systems uses resources</a:t>
                      </a:r>
                    </a:p>
                  </a:txBody>
                  <a:tcPr marL="53509" marR="40132" marT="33443" marB="33443" anchor="ctr">
                    <a:lnL>
                      <a:noFill/>
                    </a:lnL>
                    <a:lnR>
                      <a:noFill/>
                    </a:lnR>
                    <a:lnT>
                      <a:noFill/>
                    </a:lnT>
                    <a:lnB>
                      <a:noFill/>
                    </a:lnB>
                    <a:solidFill>
                      <a:srgbClr val="FFFFFF"/>
                    </a:solidFill>
                  </a:tcPr>
                </a:tc>
                <a:extLst>
                  <a:ext uri="{0D108BD9-81ED-4DB2-BD59-A6C34878D82A}">
                    <a16:rowId xmlns:a16="http://schemas.microsoft.com/office/drawing/2014/main" val="2335151519"/>
                  </a:ext>
                </a:extLst>
              </a:tr>
              <a:tr h="456820">
                <a:tc>
                  <a:txBody>
                    <a:bodyPr/>
                    <a:lstStyle/>
                    <a:p>
                      <a:pPr>
                        <a:lnSpc>
                          <a:spcPts val="1875"/>
                        </a:lnSpc>
                        <a:buNone/>
                      </a:pPr>
                      <a:r>
                        <a:rPr lang="en-IN" sz="1400" b="1">
                          <a:effectLst/>
                          <a:latin typeface="quote-cjk-patch"/>
                        </a:rPr>
                        <a:t>Durability</a:t>
                      </a:r>
                      <a:endParaRPr lang="en-IN" sz="1400" b="0">
                        <a:effectLst/>
                        <a:latin typeface="quote-cjk-patch"/>
                      </a:endParaRPr>
                    </a:p>
                  </a:txBody>
                  <a:tcPr marL="40132" marR="53509" marT="33443" marB="33443" anchor="ctr">
                    <a:lnL>
                      <a:noFill/>
                    </a:lnL>
                    <a:lnR>
                      <a:noFill/>
                    </a:lnR>
                    <a:lnT>
                      <a:noFill/>
                    </a:lnT>
                    <a:lnB>
                      <a:noFill/>
                    </a:lnB>
                    <a:solidFill>
                      <a:srgbClr val="FFFFFF"/>
                    </a:solidFill>
                  </a:tcPr>
                </a:tc>
                <a:tc>
                  <a:txBody>
                    <a:bodyPr/>
                    <a:lstStyle/>
                    <a:p>
                      <a:pPr>
                        <a:lnSpc>
                          <a:spcPts val="1875"/>
                        </a:lnSpc>
                        <a:buNone/>
                      </a:pPr>
                      <a:r>
                        <a:rPr lang="en-IN" sz="1400" b="0" dirty="0">
                          <a:effectLst/>
                          <a:latin typeface="quote-cjk-patch"/>
                        </a:rPr>
                        <a:t>Durable writes are slower</a:t>
                      </a:r>
                    </a:p>
                  </a:txBody>
                  <a:tcPr marL="53509" marR="53509" marT="33443" marB="33443" anchor="ctr">
                    <a:lnL>
                      <a:noFill/>
                    </a:lnL>
                    <a:lnR>
                      <a:noFill/>
                    </a:lnR>
                    <a:lnT>
                      <a:noFill/>
                    </a:lnT>
                    <a:lnB>
                      <a:noFill/>
                    </a:lnB>
                    <a:solidFill>
                      <a:srgbClr val="FFFFFF"/>
                    </a:solidFill>
                  </a:tcPr>
                </a:tc>
                <a:tc>
                  <a:txBody>
                    <a:bodyPr/>
                    <a:lstStyle/>
                    <a:p>
                      <a:pPr>
                        <a:lnSpc>
                          <a:spcPts val="1875"/>
                        </a:lnSpc>
                        <a:buNone/>
                      </a:pPr>
                      <a:r>
                        <a:rPr lang="en-US" sz="1400" b="0" dirty="0">
                          <a:effectLst/>
                          <a:latin typeface="quote-cjk-patch"/>
                        </a:rPr>
                        <a:t>Writing to multiple disks/regions</a:t>
                      </a:r>
                    </a:p>
                  </a:txBody>
                  <a:tcPr marL="53509" marR="40132" marT="33443" marB="33443" anchor="ctr">
                    <a:lnL>
                      <a:noFill/>
                    </a:lnL>
                    <a:lnR>
                      <a:noFill/>
                    </a:lnR>
                    <a:lnT>
                      <a:noFill/>
                    </a:lnT>
                    <a:lnB>
                      <a:noFill/>
                    </a:lnB>
                    <a:solidFill>
                      <a:srgbClr val="FFFFFF"/>
                    </a:solidFill>
                  </a:tcPr>
                </a:tc>
                <a:extLst>
                  <a:ext uri="{0D108BD9-81ED-4DB2-BD59-A6C34878D82A}">
                    <a16:rowId xmlns:a16="http://schemas.microsoft.com/office/drawing/2014/main" val="2470079968"/>
                  </a:ext>
                </a:extLst>
              </a:tr>
              <a:tr h="582611">
                <a:tc>
                  <a:txBody>
                    <a:bodyPr/>
                    <a:lstStyle/>
                    <a:p>
                      <a:pPr>
                        <a:lnSpc>
                          <a:spcPts val="1875"/>
                        </a:lnSpc>
                        <a:buNone/>
                      </a:pPr>
                      <a:r>
                        <a:rPr lang="en-IN" sz="1400" b="1">
                          <a:effectLst/>
                          <a:latin typeface="quote-cjk-patch"/>
                        </a:rPr>
                        <a:t>Security</a:t>
                      </a:r>
                      <a:endParaRPr lang="en-IN" sz="1400" b="0">
                        <a:effectLst/>
                        <a:latin typeface="quote-cjk-patch"/>
                      </a:endParaRPr>
                    </a:p>
                  </a:txBody>
                  <a:tcPr marL="40132" marR="53509" marT="33443" marB="33443" anchor="ctr">
                    <a:lnL>
                      <a:noFill/>
                    </a:lnL>
                    <a:lnR>
                      <a:noFill/>
                    </a:lnR>
                    <a:lnT>
                      <a:noFill/>
                    </a:lnT>
                    <a:lnB>
                      <a:noFill/>
                    </a:lnB>
                    <a:solidFill>
                      <a:srgbClr val="FFFFFF"/>
                    </a:solidFill>
                  </a:tcPr>
                </a:tc>
                <a:tc>
                  <a:txBody>
                    <a:bodyPr/>
                    <a:lstStyle/>
                    <a:p>
                      <a:pPr>
                        <a:lnSpc>
                          <a:spcPts val="1875"/>
                        </a:lnSpc>
                        <a:buNone/>
                      </a:pPr>
                      <a:r>
                        <a:rPr lang="en-IN" sz="1400" b="0" dirty="0">
                          <a:effectLst/>
                          <a:latin typeface="quote-cjk-patch"/>
                        </a:rPr>
                        <a:t>Encryption adds latency</a:t>
                      </a:r>
                    </a:p>
                  </a:txBody>
                  <a:tcPr marL="53509" marR="53509" marT="33443" marB="33443" anchor="ctr">
                    <a:lnL>
                      <a:noFill/>
                    </a:lnL>
                    <a:lnR>
                      <a:noFill/>
                    </a:lnR>
                    <a:lnT>
                      <a:noFill/>
                    </a:lnT>
                    <a:lnB>
                      <a:noFill/>
                    </a:lnB>
                    <a:solidFill>
                      <a:srgbClr val="FFFFFF"/>
                    </a:solidFill>
                  </a:tcPr>
                </a:tc>
                <a:tc>
                  <a:txBody>
                    <a:bodyPr/>
                    <a:lstStyle/>
                    <a:p>
                      <a:pPr>
                        <a:lnSpc>
                          <a:spcPts val="1875"/>
                        </a:lnSpc>
                        <a:buNone/>
                      </a:pPr>
                      <a:r>
                        <a:rPr lang="en-US" sz="1400" b="0" dirty="0">
                          <a:effectLst/>
                          <a:latin typeface="quote-cjk-patch"/>
                        </a:rPr>
                        <a:t>TLS handshake, data encryption/decryption</a:t>
                      </a:r>
                    </a:p>
                  </a:txBody>
                  <a:tcPr marL="53509" marR="40132" marT="33443" marB="33443" anchor="ctr">
                    <a:lnL>
                      <a:noFill/>
                    </a:lnL>
                    <a:lnR>
                      <a:noFill/>
                    </a:lnR>
                    <a:lnT>
                      <a:noFill/>
                    </a:lnT>
                    <a:lnB>
                      <a:noFill/>
                    </a:lnB>
                    <a:solidFill>
                      <a:srgbClr val="FFFFFF"/>
                    </a:solidFill>
                  </a:tcPr>
                </a:tc>
                <a:extLst>
                  <a:ext uri="{0D108BD9-81ED-4DB2-BD59-A6C34878D82A}">
                    <a16:rowId xmlns:a16="http://schemas.microsoft.com/office/drawing/2014/main" val="2496006371"/>
                  </a:ext>
                </a:extLst>
              </a:tr>
              <a:tr h="582611">
                <a:tc>
                  <a:txBody>
                    <a:bodyPr/>
                    <a:lstStyle/>
                    <a:p>
                      <a:pPr>
                        <a:lnSpc>
                          <a:spcPts val="1875"/>
                        </a:lnSpc>
                        <a:buNone/>
                      </a:pPr>
                      <a:r>
                        <a:rPr lang="en-IN" sz="1400" b="1" dirty="0">
                          <a:effectLst/>
                          <a:latin typeface="quote-cjk-patch"/>
                        </a:rPr>
                        <a:t>Scalability</a:t>
                      </a:r>
                      <a:endParaRPr lang="en-IN" sz="1400" b="0" dirty="0">
                        <a:effectLst/>
                        <a:latin typeface="quote-cjk-patch"/>
                      </a:endParaRPr>
                    </a:p>
                  </a:txBody>
                  <a:tcPr marL="40132" marR="53509" marT="33443" marB="33443" anchor="ctr">
                    <a:lnL>
                      <a:noFill/>
                    </a:lnL>
                    <a:lnR>
                      <a:noFill/>
                    </a:lnR>
                    <a:lnT>
                      <a:noFill/>
                    </a:lnT>
                    <a:lnB>
                      <a:noFill/>
                    </a:lnB>
                    <a:solidFill>
                      <a:srgbClr val="FFFFFF"/>
                    </a:solidFill>
                  </a:tcPr>
                </a:tc>
                <a:tc>
                  <a:txBody>
                    <a:bodyPr/>
                    <a:lstStyle/>
                    <a:p>
                      <a:pPr>
                        <a:lnSpc>
                          <a:spcPts val="1875"/>
                        </a:lnSpc>
                        <a:buNone/>
                      </a:pPr>
                      <a:r>
                        <a:rPr lang="en-US" sz="1400" b="0" dirty="0">
                          <a:effectLst/>
                          <a:latin typeface="quote-cjk-patch"/>
                        </a:rPr>
                        <a:t>Scaling adds complexity that can hurt performance</a:t>
                      </a:r>
                    </a:p>
                  </a:txBody>
                  <a:tcPr marL="53509" marR="53509" marT="33443" marB="33443" anchor="ctr">
                    <a:lnL>
                      <a:noFill/>
                    </a:lnL>
                    <a:lnR>
                      <a:noFill/>
                    </a:lnR>
                    <a:lnT>
                      <a:noFill/>
                    </a:lnT>
                    <a:lnB>
                      <a:noFill/>
                    </a:lnB>
                    <a:solidFill>
                      <a:srgbClr val="FFFFFF"/>
                    </a:solidFill>
                  </a:tcPr>
                </a:tc>
                <a:tc>
                  <a:txBody>
                    <a:bodyPr/>
                    <a:lstStyle/>
                    <a:p>
                      <a:pPr>
                        <a:lnSpc>
                          <a:spcPts val="1875"/>
                        </a:lnSpc>
                        <a:buNone/>
                      </a:pPr>
                      <a:r>
                        <a:rPr lang="en-IN" sz="1400" b="0" dirty="0">
                          <a:effectLst/>
                          <a:latin typeface="quote-cjk-patch"/>
                        </a:rPr>
                        <a:t>Distributed transactions across shards</a:t>
                      </a:r>
                    </a:p>
                  </a:txBody>
                  <a:tcPr marL="53509" marR="40132" marT="33443" marB="33443" anchor="ctr">
                    <a:lnL>
                      <a:noFill/>
                    </a:lnL>
                    <a:lnR>
                      <a:noFill/>
                    </a:lnR>
                    <a:lnT>
                      <a:noFill/>
                    </a:lnT>
                    <a:lnB>
                      <a:noFill/>
                    </a:lnB>
                    <a:solidFill>
                      <a:srgbClr val="FFFFFF"/>
                    </a:solidFill>
                  </a:tcPr>
                </a:tc>
                <a:extLst>
                  <a:ext uri="{0D108BD9-81ED-4DB2-BD59-A6C34878D82A}">
                    <a16:rowId xmlns:a16="http://schemas.microsoft.com/office/drawing/2014/main" val="2663240132"/>
                  </a:ext>
                </a:extLst>
              </a:tr>
              <a:tr h="582611">
                <a:tc>
                  <a:txBody>
                    <a:bodyPr/>
                    <a:lstStyle/>
                    <a:p>
                      <a:pPr>
                        <a:lnSpc>
                          <a:spcPts val="1875"/>
                        </a:lnSpc>
                        <a:buNone/>
                      </a:pPr>
                      <a:r>
                        <a:rPr lang="en-IN" sz="1400" b="1" dirty="0">
                          <a:effectLst/>
                          <a:latin typeface="quote-cjk-patch"/>
                        </a:rPr>
                        <a:t>Maintainability</a:t>
                      </a:r>
                      <a:endParaRPr lang="en-IN" sz="1400" b="0" dirty="0">
                        <a:effectLst/>
                        <a:latin typeface="quote-cjk-patch"/>
                      </a:endParaRPr>
                    </a:p>
                  </a:txBody>
                  <a:tcPr marL="40132" marR="53509" marT="33443" marB="33443" anchor="ctr">
                    <a:lnL>
                      <a:noFill/>
                    </a:lnL>
                    <a:lnR>
                      <a:noFill/>
                    </a:lnR>
                    <a:lnT>
                      <a:noFill/>
                    </a:lnT>
                    <a:lnB>
                      <a:noFill/>
                    </a:lnB>
                    <a:solidFill>
                      <a:srgbClr val="FFFFFF"/>
                    </a:solidFill>
                  </a:tcPr>
                </a:tc>
                <a:tc>
                  <a:txBody>
                    <a:bodyPr/>
                    <a:lstStyle/>
                    <a:p>
                      <a:pPr>
                        <a:lnSpc>
                          <a:spcPts val="1875"/>
                        </a:lnSpc>
                        <a:buNone/>
                      </a:pPr>
                      <a:r>
                        <a:rPr lang="en-US" sz="1400" b="0" dirty="0">
                          <a:effectLst/>
                          <a:latin typeface="quote-cjk-patch"/>
                        </a:rPr>
                        <a:t>Clean abstractions can have overhead</a:t>
                      </a:r>
                    </a:p>
                  </a:txBody>
                  <a:tcPr marL="53509" marR="53509" marT="33443" marB="33443" anchor="ctr">
                    <a:lnL>
                      <a:noFill/>
                    </a:lnL>
                    <a:lnR>
                      <a:noFill/>
                    </a:lnR>
                    <a:lnT>
                      <a:noFill/>
                    </a:lnT>
                    <a:lnB>
                      <a:noFill/>
                    </a:lnB>
                    <a:solidFill>
                      <a:srgbClr val="FFFFFF"/>
                    </a:solidFill>
                  </a:tcPr>
                </a:tc>
                <a:tc>
                  <a:txBody>
                    <a:bodyPr/>
                    <a:lstStyle/>
                    <a:p>
                      <a:pPr>
                        <a:lnSpc>
                          <a:spcPts val="1875"/>
                        </a:lnSpc>
                        <a:buNone/>
                      </a:pPr>
                      <a:r>
                        <a:rPr lang="en-IN" sz="1400" b="0" dirty="0">
                          <a:effectLst/>
                          <a:latin typeface="quote-cjk-patch"/>
                        </a:rPr>
                        <a:t>Layered architecture, dependency injection</a:t>
                      </a:r>
                    </a:p>
                  </a:txBody>
                  <a:tcPr marL="53509" marR="40132" marT="33443" marB="33443" anchor="ctr">
                    <a:lnL>
                      <a:noFill/>
                    </a:lnL>
                    <a:lnR>
                      <a:noFill/>
                    </a:lnR>
                    <a:lnT>
                      <a:noFill/>
                    </a:lnT>
                    <a:lnB>
                      <a:noFill/>
                    </a:lnB>
                    <a:solidFill>
                      <a:srgbClr val="FFFFFF"/>
                    </a:solidFill>
                  </a:tcPr>
                </a:tc>
                <a:extLst>
                  <a:ext uri="{0D108BD9-81ED-4DB2-BD59-A6C34878D82A}">
                    <a16:rowId xmlns:a16="http://schemas.microsoft.com/office/drawing/2014/main" val="1341308865"/>
                  </a:ext>
                </a:extLst>
              </a:tr>
            </a:tbl>
          </a:graphicData>
        </a:graphic>
      </p:graphicFrame>
    </p:spTree>
    <p:extLst>
      <p:ext uri="{BB962C8B-B14F-4D97-AF65-F5344CB8AC3E}">
        <p14:creationId xmlns:p14="http://schemas.microsoft.com/office/powerpoint/2010/main" val="2219860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390</TotalTime>
  <Words>8584</Words>
  <Application>Microsoft Office PowerPoint</Application>
  <PresentationFormat>On-screen Show (16:9)</PresentationFormat>
  <Paragraphs>532</Paragraphs>
  <Slides>33</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Courier New</vt:lpstr>
      <vt:lpstr>quote-cjk-patch</vt:lpstr>
      <vt:lpstr>Wingdings</vt:lpstr>
      <vt:lpstr>Office Theme</vt:lpstr>
      <vt:lpstr>Mastering Distributed System Design</vt:lpstr>
      <vt:lpstr>Attributes</vt:lpstr>
      <vt:lpstr>Communication</vt:lpstr>
      <vt:lpstr>Communication Types</vt:lpstr>
      <vt:lpstr>Coordination</vt:lpstr>
      <vt:lpstr>Consistency</vt:lpstr>
      <vt:lpstr>Consistency Models</vt:lpstr>
      <vt:lpstr>Availability</vt:lpstr>
      <vt:lpstr>Measuring Availability</vt:lpstr>
      <vt:lpstr>Availability in Sequence  vs Parallel</vt:lpstr>
      <vt:lpstr>Availability Patterns</vt:lpstr>
      <vt:lpstr>Understanding Failover</vt:lpstr>
      <vt:lpstr>Types of Failover</vt:lpstr>
      <vt:lpstr>Failover Flavors: Active-Passive vs Active-Active</vt:lpstr>
      <vt:lpstr>Active-Passive vs Active-Active Comparison</vt:lpstr>
      <vt:lpstr>Replication</vt:lpstr>
      <vt:lpstr>Synchronous vs Asynchronous Replication</vt:lpstr>
      <vt:lpstr>Common Replication Topologies</vt:lpstr>
      <vt:lpstr>Circuit Breaker</vt:lpstr>
      <vt:lpstr>Retry with Backoff</vt:lpstr>
      <vt:lpstr>Reliability</vt:lpstr>
      <vt:lpstr>Measuring Reliability: MTBF and MTTR</vt:lpstr>
      <vt:lpstr>Fault Tolerance</vt:lpstr>
      <vt:lpstr>Fault Tolerance Techniques</vt:lpstr>
      <vt:lpstr>Recovery Objectives: RTO &amp; RPO</vt:lpstr>
      <vt:lpstr>Scalability</vt:lpstr>
      <vt:lpstr>Scaling Dimensions: Vertical vs Horizontal</vt:lpstr>
      <vt:lpstr>Durability</vt:lpstr>
      <vt:lpstr>Why Durability Matters</vt:lpstr>
      <vt:lpstr>Achieving Durability: Techniques</vt:lpstr>
      <vt:lpstr>Maintainability</vt:lpstr>
      <vt:lpstr>Performance</vt:lpstr>
      <vt:lpstr>Performance Trade-offs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Design - Section 22</dc:title>
  <cp:lastModifiedBy>vikash chauhan</cp:lastModifiedBy>
  <cp:revision>200</cp:revision>
  <dcterms:created xsi:type="dcterms:W3CDTF">2026-01-01T13:02:46Z</dcterms:created>
  <dcterms:modified xsi:type="dcterms:W3CDTF">2026-01-03T11:22:10Z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2026-01-01T00:00:00Z</vt:filetime>
  </property>
  <property fmtid="{D5CDD505-2E9C-101B-9397-08002B2CF9AE}" pid="3" name="Creator">
    <vt:lpwstr>Google</vt:lpwstr>
  </property>
  <property fmtid="{D5CDD505-2E9C-101B-9397-08002B2CF9AE}" pid="4" name="LastSaved">
    <vt:filetime>2026-01-01T00:00:00Z</vt:filetime>
  </property>
  <property fmtid="{D5CDD505-2E9C-101B-9397-08002B2CF9AE}" pid="5" name="Producer">
    <vt:lpwstr>3-Heights(TM) PDF Security Shell 4.8.25.2 (http://www.pdf-tools.com)</vt:lpwstr>
  </property>
</Properties>
</file>