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95" r:id="rId4"/>
    <p:sldId id="323" r:id="rId5"/>
    <p:sldId id="324" r:id="rId6"/>
    <p:sldId id="296" r:id="rId7"/>
    <p:sldId id="325" r:id="rId8"/>
    <p:sldId id="299" r:id="rId9"/>
    <p:sldId id="300" r:id="rId10"/>
    <p:sldId id="297" r:id="rId11"/>
    <p:sldId id="303" r:id="rId12"/>
    <p:sldId id="304" r:id="rId13"/>
    <p:sldId id="308" r:id="rId14"/>
    <p:sldId id="298" r:id="rId15"/>
    <p:sldId id="301" r:id="rId16"/>
    <p:sldId id="302" r:id="rId17"/>
    <p:sldId id="312" r:id="rId18"/>
    <p:sldId id="313" r:id="rId19"/>
    <p:sldId id="311" r:id="rId20"/>
    <p:sldId id="310" r:id="rId21"/>
    <p:sldId id="309" r:id="rId22"/>
    <p:sldId id="305" r:id="rId23"/>
    <p:sldId id="306" r:id="rId24"/>
    <p:sldId id="307" r:id="rId25"/>
    <p:sldId id="314" r:id="rId26"/>
    <p:sldId id="315" r:id="rId27"/>
    <p:sldId id="316" r:id="rId28"/>
    <p:sldId id="320" r:id="rId29"/>
    <p:sldId id="317" r:id="rId30"/>
    <p:sldId id="318" r:id="rId31"/>
    <p:sldId id="319" r:id="rId32"/>
    <p:sldId id="321" r:id="rId33"/>
    <p:sldId id="322" r:id="rId3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01" autoAdjust="0"/>
  </p:normalViewPr>
  <p:slideViewPr>
    <p:cSldViewPr>
      <p:cViewPr varScale="1">
        <p:scale>
          <a:sx n="83" d="100"/>
          <a:sy n="83" d="100"/>
        </p:scale>
        <p:origin x="145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E0FC2B5-BEBA-4547-9143-EECB12969261}" type="datetimeFigureOut">
              <a:rPr lang="en-IN" smtClean="0"/>
              <a:t>04-01-2026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2853293-4F00-4813-B74A-3945ABE0C2FC}" type="slidenum">
              <a:rPr lang="en-IN" smtClean="0"/>
              <a:t>‹#›</a:t>
            </a:fld>
            <a:endParaRPr lang="en-IN"/>
          </a:p>
        </p:txBody>
      </p:sp>
    </p:spTree>
    <p:extLst>
      <p:ext uri="{BB962C8B-B14F-4D97-AF65-F5344CB8AC3E}">
        <p14:creationId xmlns:p14="http://schemas.microsoft.com/office/powerpoint/2010/main" val="35093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Section : </a:t>
            </a:r>
            <a:r>
              <a:rPr lang="en-US" sz="1200" b="1" i="0" kern="1200" dirty="0">
                <a:solidFill>
                  <a:schemeClr val="tx1"/>
                </a:solidFill>
                <a:effectLst/>
                <a:latin typeface="+mn-lt"/>
                <a:ea typeface="+mn-ea"/>
                <a:cs typeface="+mn-cs"/>
              </a:rPr>
              <a:t>Communication Networks &amp; Protocols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Everything in distributed systems comes down to one thing: </a:t>
            </a:r>
            <a:r>
              <a:rPr lang="en-US" sz="1200" b="1" i="0" kern="1200" dirty="0">
                <a:solidFill>
                  <a:schemeClr val="tx1"/>
                </a:solidFill>
                <a:effectLst/>
                <a:latin typeface="+mn-lt"/>
                <a:ea typeface="+mn-ea"/>
                <a:cs typeface="+mn-cs"/>
              </a:rPr>
              <a:t>communication</a:t>
            </a:r>
            <a:r>
              <a:rPr lang="en-US" sz="1200" b="0" i="0" kern="1200" dirty="0">
                <a:solidFill>
                  <a:schemeClr val="tx1"/>
                </a:solidFill>
                <a:effectLst/>
                <a:latin typeface="+mn-lt"/>
                <a:ea typeface="+mn-ea"/>
                <a:cs typeface="+mn-cs"/>
              </a:rPr>
              <a:t>. Services talking to services, clients talking to servers, databases replicating data - it's all communication over networks.</a:t>
            </a:r>
          </a:p>
          <a:p>
            <a:r>
              <a:rPr lang="en-US" sz="1200" b="0" i="0" kern="1200" dirty="0">
                <a:solidFill>
                  <a:schemeClr val="tx1"/>
                </a:solidFill>
                <a:effectLst/>
                <a:latin typeface="+mn-lt"/>
                <a:ea typeface="+mn-ea"/>
                <a:cs typeface="+mn-cs"/>
              </a:rPr>
              <a:t>But networks are </a:t>
            </a:r>
            <a:r>
              <a:rPr lang="en-US" sz="1200" b="1" i="0" kern="1200" dirty="0">
                <a:solidFill>
                  <a:schemeClr val="tx1"/>
                </a:solidFill>
                <a:effectLst/>
                <a:latin typeface="+mn-lt"/>
                <a:ea typeface="+mn-ea"/>
                <a:cs typeface="+mn-cs"/>
              </a:rPr>
              <a:t>unreliable, slow, and complex</a:t>
            </a:r>
            <a:r>
              <a:rPr lang="en-US" sz="1200" b="0" i="0" kern="1200" dirty="0">
                <a:solidFill>
                  <a:schemeClr val="tx1"/>
                </a:solidFill>
                <a:effectLst/>
                <a:latin typeface="+mn-lt"/>
                <a:ea typeface="+mn-ea"/>
                <a:cs typeface="+mn-cs"/>
              </a:rPr>
              <a:t>. Messages get lost, delayed, corrupted. Understanding how communication actually works is essential for building robust distributed systems.</a:t>
            </a:r>
          </a:p>
          <a:p>
            <a:r>
              <a:rPr lang="en-US" sz="1200" b="0" i="0" kern="1200" dirty="0">
                <a:solidFill>
                  <a:schemeClr val="tx1"/>
                </a:solidFill>
                <a:effectLst/>
                <a:latin typeface="+mn-lt"/>
                <a:ea typeface="+mn-ea"/>
                <a:cs typeface="+mn-cs"/>
              </a:rPr>
              <a:t>In this section, we'll build from the ground up: Starting with </a:t>
            </a:r>
            <a:r>
              <a:rPr lang="en-US" sz="1200" b="1" i="0" kern="1200" dirty="0">
                <a:solidFill>
                  <a:schemeClr val="tx1"/>
                </a:solidFill>
                <a:effectLst/>
                <a:latin typeface="+mn-lt"/>
                <a:ea typeface="+mn-ea"/>
                <a:cs typeface="+mn-cs"/>
              </a:rPr>
              <a:t>communication models</a:t>
            </a:r>
            <a:r>
              <a:rPr lang="en-US" sz="1200" b="0" i="0" kern="1200" dirty="0">
                <a:solidFill>
                  <a:schemeClr val="tx1"/>
                </a:solidFill>
                <a:effectLst/>
                <a:latin typeface="+mn-lt"/>
                <a:ea typeface="+mn-ea"/>
                <a:cs typeface="+mn-cs"/>
              </a:rPr>
              <a:t> (how we think about layers), then </a:t>
            </a:r>
            <a:r>
              <a:rPr lang="en-US" sz="1200" b="1" i="0" kern="1200" dirty="0">
                <a:solidFill>
                  <a:schemeClr val="tx1"/>
                </a:solidFill>
                <a:effectLst/>
                <a:latin typeface="+mn-lt"/>
                <a:ea typeface="+mn-ea"/>
                <a:cs typeface="+mn-cs"/>
              </a:rPr>
              <a:t>networking basics</a:t>
            </a:r>
            <a:r>
              <a:rPr lang="en-US" sz="1200" b="0" i="0" kern="1200" dirty="0">
                <a:solidFill>
                  <a:schemeClr val="tx1"/>
                </a:solidFill>
                <a:effectLst/>
                <a:latin typeface="+mn-lt"/>
                <a:ea typeface="+mn-ea"/>
                <a:cs typeface="+mn-cs"/>
              </a:rPr>
              <a:t> (IP addresses, routing), then </a:t>
            </a:r>
            <a:r>
              <a:rPr lang="en-US" sz="1200" b="1" i="0" kern="1200" dirty="0">
                <a:solidFill>
                  <a:schemeClr val="tx1"/>
                </a:solidFill>
                <a:effectLst/>
                <a:latin typeface="+mn-lt"/>
                <a:ea typeface="+mn-ea"/>
                <a:cs typeface="+mn-cs"/>
              </a:rPr>
              <a:t>transport protocols</a:t>
            </a:r>
            <a:r>
              <a:rPr lang="en-US" sz="1200" b="0" i="0" kern="1200" dirty="0">
                <a:solidFill>
                  <a:schemeClr val="tx1"/>
                </a:solidFill>
                <a:effectLst/>
                <a:latin typeface="+mn-lt"/>
                <a:ea typeface="+mn-ea"/>
                <a:cs typeface="+mn-cs"/>
              </a:rPr>
              <a:t> (TCP vs UDP - the reliability vs speed trade-off), then </a:t>
            </a:r>
            <a:r>
              <a:rPr lang="en-US" sz="1200" b="1" i="0" kern="1200" dirty="0">
                <a:solidFill>
                  <a:schemeClr val="tx1"/>
                </a:solidFill>
                <a:effectLst/>
                <a:latin typeface="+mn-lt"/>
                <a:ea typeface="+mn-ea"/>
                <a:cs typeface="+mn-cs"/>
              </a:rPr>
              <a:t>communication patterns</a:t>
            </a:r>
            <a:r>
              <a:rPr lang="en-US" sz="1200" b="0" i="0" kern="1200" dirty="0">
                <a:solidFill>
                  <a:schemeClr val="tx1"/>
                </a:solidFill>
                <a:effectLst/>
                <a:latin typeface="+mn-lt"/>
                <a:ea typeface="+mn-ea"/>
                <a:cs typeface="+mn-cs"/>
              </a:rPr>
              <a:t> (push vs pull), and finally </a:t>
            </a:r>
            <a:r>
              <a:rPr lang="en-US" sz="1200" b="1" i="0" kern="1200" dirty="0">
                <a:solidFill>
                  <a:schemeClr val="tx1"/>
                </a:solidFill>
                <a:effectLst/>
                <a:latin typeface="+mn-lt"/>
                <a:ea typeface="+mn-ea"/>
                <a:cs typeface="+mn-cs"/>
              </a:rPr>
              <a:t>application protocols</a:t>
            </a:r>
            <a:r>
              <a:rPr lang="en-US" sz="1200" b="0" i="0" kern="1200" dirty="0">
                <a:solidFill>
                  <a:schemeClr val="tx1"/>
                </a:solidFill>
                <a:effectLst/>
                <a:latin typeface="+mn-lt"/>
                <a:ea typeface="+mn-ea"/>
                <a:cs typeface="+mn-cs"/>
              </a:rPr>
              <a:t> (REST, RPC, </a:t>
            </a:r>
            <a:r>
              <a:rPr lang="en-US" sz="1200" b="0" i="0" kern="1200" dirty="0" err="1">
                <a:solidFill>
                  <a:schemeClr val="tx1"/>
                </a:solidFill>
                <a:effectLst/>
                <a:latin typeface="+mn-lt"/>
                <a:ea typeface="+mn-ea"/>
                <a:cs typeface="+mn-cs"/>
              </a:rPr>
              <a:t>GraphQL</a:t>
            </a:r>
            <a:r>
              <a:rPr lang="en-US" sz="1200" b="0" i="0" kern="1200" dirty="0">
                <a:solidFill>
                  <a:schemeClr val="tx1"/>
                </a:solidFill>
                <a:effectLst/>
                <a:latin typeface="+mn-lt"/>
                <a:ea typeface="+mn-ea"/>
                <a:cs typeface="+mn-cs"/>
              </a:rPr>
              <a:t>, real-time).</a:t>
            </a:r>
          </a:p>
          <a:p>
            <a:r>
              <a:rPr lang="en-US" sz="1200" b="0" i="0" kern="1200" dirty="0">
                <a:solidFill>
                  <a:schemeClr val="tx1"/>
                </a:solidFill>
                <a:effectLst/>
                <a:latin typeface="+mn-lt"/>
                <a:ea typeface="+mn-ea"/>
                <a:cs typeface="+mn-cs"/>
              </a:rPr>
              <a:t>We'll answer key questions: Why is network latency the silent killer of performance? When should you choose TCP's reliability over UDP's speed? What's the right protocol for your use case?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foundation will make everything else in distributed systems make more sense. Let's start with how we model communication.</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2853293-4F00-4813-B74A-3945ABE0C2FC}" type="slidenum">
              <a:rPr lang="en-IN" smtClean="0"/>
              <a:t>1</a:t>
            </a:fld>
            <a:endParaRPr lang="en-IN"/>
          </a:p>
        </p:txBody>
      </p:sp>
    </p:spTree>
    <p:extLst>
      <p:ext uri="{BB962C8B-B14F-4D97-AF65-F5344CB8AC3E}">
        <p14:creationId xmlns:p14="http://schemas.microsoft.com/office/powerpoint/2010/main" val="2100567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start with </a:t>
            </a:r>
            <a:r>
              <a:rPr lang="en-US" sz="1200" b="1" i="0" kern="1200" dirty="0">
                <a:solidFill>
                  <a:schemeClr val="tx1"/>
                </a:solidFill>
                <a:effectLst/>
                <a:latin typeface="+mn-lt"/>
                <a:ea typeface="+mn-ea"/>
                <a:cs typeface="+mn-cs"/>
              </a:rPr>
              <a:t>communication models</a:t>
            </a:r>
            <a:r>
              <a:rPr lang="en-US" sz="1200" b="0" i="0" kern="1200" dirty="0">
                <a:solidFill>
                  <a:schemeClr val="tx1"/>
                </a:solidFill>
                <a:effectLst/>
                <a:latin typeface="+mn-lt"/>
                <a:ea typeface="+mn-ea"/>
                <a:cs typeface="+mn-cs"/>
              </a:rPr>
              <a:t> - how we structure network communication. The two main models: </a:t>
            </a:r>
            <a:r>
              <a:rPr lang="en-US" sz="1200" b="1" i="0" kern="1200" dirty="0">
                <a:solidFill>
                  <a:schemeClr val="tx1"/>
                </a:solidFill>
                <a:effectLst/>
                <a:latin typeface="+mn-lt"/>
                <a:ea typeface="+mn-ea"/>
                <a:cs typeface="+mn-cs"/>
              </a:rPr>
              <a:t>OSI</a:t>
            </a:r>
            <a:r>
              <a:rPr lang="en-US" sz="1200" b="0" i="0" kern="1200" dirty="0">
                <a:solidFill>
                  <a:schemeClr val="tx1"/>
                </a:solidFill>
                <a:effectLst/>
                <a:latin typeface="+mn-lt"/>
                <a:ea typeface="+mn-ea"/>
                <a:cs typeface="+mn-cs"/>
              </a:rPr>
              <a:t> (7 layers, theoretical) and </a:t>
            </a:r>
            <a:r>
              <a:rPr lang="en-US" sz="1200" b="1" i="0" kern="1200" dirty="0">
                <a:solidFill>
                  <a:schemeClr val="tx1"/>
                </a:solidFill>
                <a:effectLst/>
                <a:latin typeface="+mn-lt"/>
                <a:ea typeface="+mn-ea"/>
                <a:cs typeface="+mn-cs"/>
              </a:rPr>
              <a:t>TCP/IP</a:t>
            </a:r>
            <a:r>
              <a:rPr lang="en-US" sz="1200" b="0" i="0" kern="1200" dirty="0">
                <a:solidFill>
                  <a:schemeClr val="tx1"/>
                </a:solidFill>
                <a:effectLst/>
                <a:latin typeface="+mn-lt"/>
                <a:ea typeface="+mn-ea"/>
                <a:cs typeface="+mn-cs"/>
              </a:rPr>
              <a:t> (4 layers, practical).</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OSI model</a:t>
            </a:r>
            <a:r>
              <a:rPr lang="en-US" sz="1200" b="0" i="0" kern="1200" dirty="0">
                <a:solidFill>
                  <a:schemeClr val="tx1"/>
                </a:solidFill>
                <a:effectLst/>
                <a:latin typeface="+mn-lt"/>
                <a:ea typeface="+mn-ea"/>
                <a:cs typeface="+mn-cs"/>
              </a:rPr>
              <a:t> is the textbook model: </a:t>
            </a:r>
            <a:r>
              <a:rPr lang="en-US" sz="1200" b="1" i="0" kern="1200" dirty="0">
                <a:solidFill>
                  <a:schemeClr val="tx1"/>
                </a:solidFill>
                <a:effectLst/>
                <a:latin typeface="+mn-lt"/>
                <a:ea typeface="+mn-ea"/>
                <a:cs typeface="+mn-cs"/>
              </a:rPr>
              <a:t>Physical</a:t>
            </a:r>
            <a:r>
              <a:rPr lang="en-US" sz="1200" b="0" i="0" kern="1200" dirty="0">
                <a:solidFill>
                  <a:schemeClr val="tx1"/>
                </a:solidFill>
                <a:effectLst/>
                <a:latin typeface="+mn-lt"/>
                <a:ea typeface="+mn-ea"/>
                <a:cs typeface="+mn-cs"/>
              </a:rPr>
              <a:t> layer (cables, radio). </a:t>
            </a:r>
            <a:r>
              <a:rPr lang="en-US" sz="1200" b="1" i="0" kern="1200" dirty="0">
                <a:solidFill>
                  <a:schemeClr val="tx1"/>
                </a:solidFill>
                <a:effectLst/>
                <a:latin typeface="+mn-lt"/>
                <a:ea typeface="+mn-ea"/>
                <a:cs typeface="+mn-cs"/>
              </a:rPr>
              <a:t>Data Link</a:t>
            </a:r>
            <a:r>
              <a:rPr lang="en-US" sz="1200" b="0" i="0" kern="1200" dirty="0">
                <a:solidFill>
                  <a:schemeClr val="tx1"/>
                </a:solidFill>
                <a:effectLst/>
                <a:latin typeface="+mn-lt"/>
                <a:ea typeface="+mn-ea"/>
                <a:cs typeface="+mn-cs"/>
              </a:rPr>
              <a:t> (Ethernet, MAC addresses). </a:t>
            </a:r>
            <a:r>
              <a:rPr lang="en-US" sz="1200" b="1" i="0" kern="1200" dirty="0">
                <a:solidFill>
                  <a:schemeClr val="tx1"/>
                </a:solidFill>
                <a:effectLst/>
                <a:latin typeface="+mn-lt"/>
                <a:ea typeface="+mn-ea"/>
                <a:cs typeface="+mn-cs"/>
              </a:rPr>
              <a:t>Network</a:t>
            </a:r>
            <a:r>
              <a:rPr lang="en-US" sz="1200" b="0" i="0" kern="1200" dirty="0">
                <a:solidFill>
                  <a:schemeClr val="tx1"/>
                </a:solidFill>
                <a:effectLst/>
                <a:latin typeface="+mn-lt"/>
                <a:ea typeface="+mn-ea"/>
                <a:cs typeface="+mn-cs"/>
              </a:rPr>
              <a:t> (IP, routers). </a:t>
            </a:r>
            <a:r>
              <a:rPr lang="en-US" sz="1200" b="1" i="0" kern="1200" dirty="0">
                <a:solidFill>
                  <a:schemeClr val="tx1"/>
                </a:solidFill>
                <a:effectLst/>
                <a:latin typeface="+mn-lt"/>
                <a:ea typeface="+mn-ea"/>
                <a:cs typeface="+mn-cs"/>
              </a:rPr>
              <a:t>Transport</a:t>
            </a:r>
            <a:r>
              <a:rPr lang="en-US" sz="1200" b="0" i="0" kern="1200" dirty="0">
                <a:solidFill>
                  <a:schemeClr val="tx1"/>
                </a:solidFill>
                <a:effectLst/>
                <a:latin typeface="+mn-lt"/>
                <a:ea typeface="+mn-ea"/>
                <a:cs typeface="+mn-cs"/>
              </a:rPr>
              <a:t> (TCP, UDP). </a:t>
            </a:r>
            <a:r>
              <a:rPr lang="en-US" sz="1200" b="1" i="0" kern="1200" dirty="0">
                <a:solidFill>
                  <a:schemeClr val="tx1"/>
                </a:solidFill>
                <a:effectLst/>
                <a:latin typeface="+mn-lt"/>
                <a:ea typeface="+mn-ea"/>
                <a:cs typeface="+mn-cs"/>
              </a:rPr>
              <a:t>Session</a:t>
            </a:r>
            <a:r>
              <a:rPr lang="en-US" sz="1200" b="0" i="0" kern="1200" dirty="0">
                <a:solidFill>
                  <a:schemeClr val="tx1"/>
                </a:solidFill>
                <a:effectLst/>
                <a:latin typeface="+mn-lt"/>
                <a:ea typeface="+mn-ea"/>
                <a:cs typeface="+mn-cs"/>
              </a:rPr>
              <a:t> (connections, sessions). </a:t>
            </a:r>
            <a:r>
              <a:rPr lang="en-US" sz="1200" b="1" i="0" kern="1200" dirty="0">
                <a:solidFill>
                  <a:schemeClr val="tx1"/>
                </a:solidFill>
                <a:effectLst/>
                <a:latin typeface="+mn-lt"/>
                <a:ea typeface="+mn-ea"/>
                <a:cs typeface="+mn-cs"/>
              </a:rPr>
              <a:t>Presentation</a:t>
            </a:r>
            <a:r>
              <a:rPr lang="en-US" sz="1200" b="0" i="0" kern="1200" dirty="0">
                <a:solidFill>
                  <a:schemeClr val="tx1"/>
                </a:solidFill>
                <a:effectLst/>
                <a:latin typeface="+mn-lt"/>
                <a:ea typeface="+mn-ea"/>
                <a:cs typeface="+mn-cs"/>
              </a:rPr>
              <a:t> (encryption, compression). </a:t>
            </a:r>
            <a:r>
              <a:rPr lang="en-US" sz="1200" b="1" i="0" kern="1200" dirty="0">
                <a:solidFill>
                  <a:schemeClr val="tx1"/>
                </a:solidFill>
                <a:effectLst/>
                <a:latin typeface="+mn-lt"/>
                <a:ea typeface="+mn-ea"/>
                <a:cs typeface="+mn-cs"/>
              </a:rPr>
              <a:t>Application</a:t>
            </a:r>
            <a:r>
              <a:rPr lang="en-US" sz="1200" b="0" i="0" kern="1200" dirty="0">
                <a:solidFill>
                  <a:schemeClr val="tx1"/>
                </a:solidFill>
                <a:effectLst/>
                <a:latin typeface="+mn-lt"/>
                <a:ea typeface="+mn-ea"/>
                <a:cs typeface="+mn-cs"/>
              </a:rPr>
              <a:t> (HTTP, email).</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TCP/IP model</a:t>
            </a:r>
            <a:r>
              <a:rPr lang="en-US" sz="1200" b="0" i="0" kern="1200" dirty="0">
                <a:solidFill>
                  <a:schemeClr val="tx1"/>
                </a:solidFill>
                <a:effectLst/>
                <a:latin typeface="+mn-lt"/>
                <a:ea typeface="+mn-ea"/>
                <a:cs typeface="+mn-cs"/>
              </a:rPr>
              <a:t> is what's actually used: </a:t>
            </a:r>
            <a:r>
              <a:rPr lang="en-US" sz="1200" b="1" i="0" kern="1200" dirty="0">
                <a:solidFill>
                  <a:schemeClr val="tx1"/>
                </a:solidFill>
                <a:effectLst/>
                <a:latin typeface="+mn-lt"/>
                <a:ea typeface="+mn-ea"/>
                <a:cs typeface="+mn-cs"/>
              </a:rPr>
              <a:t>Link</a:t>
            </a:r>
            <a:r>
              <a:rPr lang="en-US" sz="1200" b="0" i="0" kern="1200" dirty="0">
                <a:solidFill>
                  <a:schemeClr val="tx1"/>
                </a:solidFill>
                <a:effectLst/>
                <a:latin typeface="+mn-lt"/>
                <a:ea typeface="+mn-ea"/>
                <a:cs typeface="+mn-cs"/>
              </a:rPr>
              <a:t> (Ethernet/</a:t>
            </a:r>
            <a:r>
              <a:rPr lang="en-US" sz="1200" b="0" i="0" kern="1200" dirty="0" err="1">
                <a:solidFill>
                  <a:schemeClr val="tx1"/>
                </a:solidFill>
                <a:effectLst/>
                <a:latin typeface="+mn-lt"/>
                <a:ea typeface="+mn-ea"/>
                <a:cs typeface="+mn-cs"/>
              </a:rPr>
              <a:t>WiFi</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Internet</a:t>
            </a:r>
            <a:r>
              <a:rPr lang="en-US" sz="1200" b="0" i="0" kern="1200" dirty="0">
                <a:solidFill>
                  <a:schemeClr val="tx1"/>
                </a:solidFill>
                <a:effectLst/>
                <a:latin typeface="+mn-lt"/>
                <a:ea typeface="+mn-ea"/>
                <a:cs typeface="+mn-cs"/>
              </a:rPr>
              <a:t> (IP). </a:t>
            </a:r>
            <a:r>
              <a:rPr lang="en-US" sz="1200" b="1" i="0" kern="1200" dirty="0">
                <a:solidFill>
                  <a:schemeClr val="tx1"/>
                </a:solidFill>
                <a:effectLst/>
                <a:latin typeface="+mn-lt"/>
                <a:ea typeface="+mn-ea"/>
                <a:cs typeface="+mn-cs"/>
              </a:rPr>
              <a:t>Transport</a:t>
            </a:r>
            <a:r>
              <a:rPr lang="en-US" sz="1200" b="0" i="0" kern="1200" dirty="0">
                <a:solidFill>
                  <a:schemeClr val="tx1"/>
                </a:solidFill>
                <a:effectLst/>
                <a:latin typeface="+mn-lt"/>
                <a:ea typeface="+mn-ea"/>
                <a:cs typeface="+mn-cs"/>
              </a:rPr>
              <a:t> (TCP/UDP). </a:t>
            </a:r>
            <a:r>
              <a:rPr lang="en-US" sz="1200" b="1" i="0" kern="1200" dirty="0">
                <a:solidFill>
                  <a:schemeClr val="tx1"/>
                </a:solidFill>
                <a:effectLst/>
                <a:latin typeface="+mn-lt"/>
                <a:ea typeface="+mn-ea"/>
                <a:cs typeface="+mn-cs"/>
              </a:rPr>
              <a:t>Application</a:t>
            </a:r>
            <a:r>
              <a:rPr lang="en-US" sz="1200" b="0" i="0" kern="1200" dirty="0">
                <a:solidFill>
                  <a:schemeClr val="tx1"/>
                </a:solidFill>
                <a:effectLst/>
                <a:latin typeface="+mn-lt"/>
                <a:ea typeface="+mn-ea"/>
                <a:cs typeface="+mn-cs"/>
              </a:rPr>
              <a:t> (everything else).</a:t>
            </a:r>
          </a:p>
          <a:p>
            <a:r>
              <a:rPr lang="en-US" sz="1200" b="0" i="0" kern="1200" dirty="0">
                <a:solidFill>
                  <a:schemeClr val="tx1"/>
                </a:solidFill>
                <a:effectLst/>
                <a:latin typeface="+mn-lt"/>
                <a:ea typeface="+mn-ea"/>
                <a:cs typeface="+mn-cs"/>
              </a:rPr>
              <a:t>Why layers? </a:t>
            </a:r>
            <a:r>
              <a:rPr lang="en-US" sz="1200" b="1" i="0" kern="1200" dirty="0">
                <a:solidFill>
                  <a:schemeClr val="tx1"/>
                </a:solidFill>
                <a:effectLst/>
                <a:latin typeface="+mn-lt"/>
                <a:ea typeface="+mn-ea"/>
                <a:cs typeface="+mn-cs"/>
              </a:rPr>
              <a:t>Separation of concerns</a:t>
            </a:r>
            <a:r>
              <a:rPr lang="en-US" sz="1200" b="0" i="0" kern="1200" dirty="0">
                <a:solidFill>
                  <a:schemeClr val="tx1"/>
                </a:solidFill>
                <a:effectLst/>
                <a:latin typeface="+mn-lt"/>
                <a:ea typeface="+mn-ea"/>
                <a:cs typeface="+mn-cs"/>
              </a:rPr>
              <a:t>. Each layer has a specific job. </a:t>
            </a:r>
            <a:r>
              <a:rPr lang="en-US" sz="1200" b="1" i="0" kern="1200" dirty="0">
                <a:solidFill>
                  <a:schemeClr val="tx1"/>
                </a:solidFill>
                <a:effectLst/>
                <a:latin typeface="+mn-lt"/>
                <a:ea typeface="+mn-ea"/>
                <a:cs typeface="+mn-cs"/>
              </a:rPr>
              <a:t>Interoperability</a:t>
            </a:r>
            <a:r>
              <a:rPr lang="en-US" sz="1200" b="0" i="0" kern="1200" dirty="0">
                <a:solidFill>
                  <a:schemeClr val="tx1"/>
                </a:solidFill>
                <a:effectLst/>
                <a:latin typeface="+mn-lt"/>
                <a:ea typeface="+mn-ea"/>
                <a:cs typeface="+mn-cs"/>
              </a:rPr>
              <a:t> - standards let different implementations work together. </a:t>
            </a:r>
            <a:r>
              <a:rPr lang="en-US" sz="1200" b="1" i="0" kern="1200" dirty="0">
                <a:solidFill>
                  <a:schemeClr val="tx1"/>
                </a:solidFill>
                <a:effectLst/>
                <a:latin typeface="+mn-lt"/>
                <a:ea typeface="+mn-ea"/>
                <a:cs typeface="+mn-cs"/>
              </a:rPr>
              <a:t>Abstraction</a:t>
            </a:r>
            <a:r>
              <a:rPr lang="en-US" sz="1200" b="0" i="0" kern="1200" dirty="0">
                <a:solidFill>
                  <a:schemeClr val="tx1"/>
                </a:solidFill>
                <a:effectLst/>
                <a:latin typeface="+mn-lt"/>
                <a:ea typeface="+mn-ea"/>
                <a:cs typeface="+mn-cs"/>
              </a:rPr>
              <a:t> - application developers don't worry about Ethernet frames.</a:t>
            </a:r>
          </a:p>
          <a:p>
            <a:r>
              <a:rPr lang="en-US" sz="1200" b="0" i="0" kern="1200" dirty="0">
                <a:solidFill>
                  <a:schemeClr val="tx1"/>
                </a:solidFill>
                <a:effectLst/>
                <a:latin typeface="+mn-lt"/>
                <a:ea typeface="+mn-ea"/>
                <a:cs typeface="+mn-cs"/>
              </a:rPr>
              <a:t>Data flows down: Your HTTP request gets a TCP header (Transport), then IP header (Network), then Ethernet header (Link). Each layer </a:t>
            </a:r>
            <a:r>
              <a:rPr lang="en-US" sz="1200" b="1" i="0" kern="1200" dirty="0">
                <a:solidFill>
                  <a:schemeClr val="tx1"/>
                </a:solidFill>
                <a:effectLst/>
                <a:latin typeface="+mn-lt"/>
                <a:ea typeface="+mn-ea"/>
                <a:cs typeface="+mn-cs"/>
              </a:rPr>
              <a:t>encapsulates</a:t>
            </a:r>
            <a:r>
              <a:rPr lang="en-US" sz="1200" b="0" i="0" kern="1200" dirty="0">
                <a:solidFill>
                  <a:schemeClr val="tx1"/>
                </a:solidFill>
                <a:effectLst/>
                <a:latin typeface="+mn-lt"/>
                <a:ea typeface="+mn-ea"/>
                <a:cs typeface="+mn-cs"/>
              </a:rPr>
              <a:t> the data from the layer above.</a:t>
            </a:r>
          </a:p>
          <a:p>
            <a:r>
              <a:rPr lang="en-US" sz="1200" b="0" i="0" kern="1200" dirty="0">
                <a:solidFill>
                  <a:schemeClr val="tx1"/>
                </a:solidFill>
                <a:effectLst/>
                <a:latin typeface="+mn-lt"/>
                <a:ea typeface="+mn-ea"/>
                <a:cs typeface="+mn-cs"/>
              </a:rPr>
              <a:t>This matters for: </a:t>
            </a:r>
            <a:r>
              <a:rPr lang="en-US" sz="1200" b="1" i="0" kern="1200" dirty="0">
                <a:solidFill>
                  <a:schemeClr val="tx1"/>
                </a:solidFill>
                <a:effectLst/>
                <a:latin typeface="+mn-lt"/>
                <a:ea typeface="+mn-ea"/>
                <a:cs typeface="+mn-cs"/>
              </a:rPr>
              <a:t>Debugging</a:t>
            </a:r>
            <a:r>
              <a:rPr lang="en-US" sz="1200" b="0" i="0" kern="1200" dirty="0">
                <a:solidFill>
                  <a:schemeClr val="tx1"/>
                </a:solidFill>
                <a:effectLst/>
                <a:latin typeface="+mn-lt"/>
                <a:ea typeface="+mn-ea"/>
                <a:cs typeface="+mn-cs"/>
              </a:rPr>
              <a:t> - is it a network issue (layer 3) or application issue (layer 7)? </a:t>
            </a:r>
            <a:r>
              <a:rPr lang="en-US" sz="1200" b="1" i="0" kern="1200" dirty="0">
                <a:solidFill>
                  <a:schemeClr val="tx1"/>
                </a:solidFill>
                <a:effectLst/>
                <a:latin typeface="+mn-lt"/>
                <a:ea typeface="+mn-ea"/>
                <a:cs typeface="+mn-cs"/>
              </a:rPr>
              <a:t>Performance</a:t>
            </a:r>
            <a:r>
              <a:rPr lang="en-US" sz="1200" b="0" i="0" kern="1200" dirty="0">
                <a:solidFill>
                  <a:schemeClr val="tx1"/>
                </a:solidFill>
                <a:effectLst/>
                <a:latin typeface="+mn-lt"/>
                <a:ea typeface="+mn-ea"/>
                <a:cs typeface="+mn-cs"/>
              </a:rPr>
              <a:t> - where's the bottleneck? </a:t>
            </a:r>
            <a:r>
              <a:rPr lang="en-US" sz="1200" b="1" i="0" kern="1200" dirty="0">
                <a:solidFill>
                  <a:schemeClr val="tx1"/>
                </a:solidFill>
                <a:effectLst/>
                <a:latin typeface="+mn-lt"/>
                <a:ea typeface="+mn-ea"/>
                <a:cs typeface="+mn-cs"/>
              </a:rPr>
              <a:t>Security</a:t>
            </a:r>
            <a:r>
              <a:rPr lang="en-US" sz="1200" b="0" i="0" kern="1200" dirty="0">
                <a:solidFill>
                  <a:schemeClr val="tx1"/>
                </a:solidFill>
                <a:effectLst/>
                <a:latin typeface="+mn-lt"/>
                <a:ea typeface="+mn-ea"/>
                <a:cs typeface="+mn-cs"/>
              </a:rPr>
              <a:t> - what's protected at each layer?</a:t>
            </a:r>
          </a:p>
          <a:p>
            <a:endParaRPr lang="en-IN" dirty="0"/>
          </a:p>
          <a:p>
            <a:r>
              <a:rPr lang="en-US" sz="1200" b="0" i="0" kern="1200" dirty="0">
                <a:solidFill>
                  <a:schemeClr val="tx1"/>
                </a:solidFill>
                <a:effectLst/>
                <a:latin typeface="+mn-lt"/>
                <a:ea typeface="+mn-ea"/>
                <a:cs typeface="+mn-cs"/>
              </a:rPr>
              <a:t>In distributed systems, we mostly work at </a:t>
            </a:r>
            <a:r>
              <a:rPr lang="en-US" sz="1200" b="1" i="0" kern="1200" dirty="0">
                <a:solidFill>
                  <a:schemeClr val="tx1"/>
                </a:solidFill>
                <a:effectLst/>
                <a:latin typeface="+mn-lt"/>
                <a:ea typeface="+mn-ea"/>
                <a:cs typeface="+mn-cs"/>
              </a:rPr>
              <a:t>Application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Transport</a:t>
            </a:r>
            <a:r>
              <a:rPr lang="en-US" sz="1200" b="0" i="0" kern="1200" dirty="0">
                <a:solidFill>
                  <a:schemeClr val="tx1"/>
                </a:solidFill>
                <a:effectLst/>
                <a:latin typeface="+mn-lt"/>
                <a:ea typeface="+mn-ea"/>
                <a:cs typeface="+mn-cs"/>
              </a:rPr>
              <a:t> layers, but we're affected by all layers. Physical layer gives us the </a:t>
            </a:r>
            <a:r>
              <a:rPr lang="en-US" sz="1200" b="1" i="0" kern="1200" dirty="0">
                <a:solidFill>
                  <a:schemeClr val="tx1"/>
                </a:solidFill>
                <a:effectLst/>
                <a:latin typeface="+mn-lt"/>
                <a:ea typeface="+mn-ea"/>
                <a:cs typeface="+mn-cs"/>
              </a:rPr>
              <a:t>speed of light limit</a:t>
            </a:r>
            <a:r>
              <a:rPr lang="en-US" sz="1200" b="0" i="0" kern="1200" dirty="0">
                <a:solidFill>
                  <a:schemeClr val="tx1"/>
                </a:solidFill>
                <a:effectLst/>
                <a:latin typeface="+mn-lt"/>
                <a:ea typeface="+mn-ea"/>
                <a:cs typeface="+mn-cs"/>
              </a:rPr>
              <a:t> - data can't travel faster than light. That's a fundamental constraint on distributed system design.</a:t>
            </a:r>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3</a:t>
            </a:fld>
            <a:endParaRPr lang="en-IN"/>
          </a:p>
        </p:txBody>
      </p:sp>
    </p:spTree>
    <p:extLst>
      <p:ext uri="{BB962C8B-B14F-4D97-AF65-F5344CB8AC3E}">
        <p14:creationId xmlns:p14="http://schemas.microsoft.com/office/powerpoint/2010/main" val="2422200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35E98-B72C-2CA6-353F-EA3A21ECE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42A50-AE85-D205-8129-AC0100863BB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4ED6033-44CA-F736-64FD-9BC5434D957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clarify two fundamental network devices: </a:t>
            </a:r>
            <a:r>
              <a:rPr lang="en-US" sz="1200" b="1" i="0" kern="1200" dirty="0">
                <a:solidFill>
                  <a:schemeClr val="tx1"/>
                </a:solidFill>
                <a:effectLst/>
                <a:latin typeface="+mn-lt"/>
                <a:ea typeface="+mn-ea"/>
                <a:cs typeface="+mn-cs"/>
              </a:rPr>
              <a:t>switches and routers</a:t>
            </a:r>
            <a:r>
              <a:rPr lang="en-US" sz="1200" b="0" i="0" kern="1200" dirty="0">
                <a:solidFill>
                  <a:schemeClr val="tx1"/>
                </a:solidFill>
                <a:effectLst/>
                <a:latin typeface="+mn-lt"/>
                <a:ea typeface="+mn-ea"/>
                <a:cs typeface="+mn-cs"/>
              </a:rPr>
              <a:t>. While they might look similar physically, they serve very different purposes.</a:t>
            </a:r>
          </a:p>
          <a:p>
            <a:r>
              <a:rPr lang="en-US" sz="1200" b="0" i="0" kern="1200" dirty="0">
                <a:solidFill>
                  <a:schemeClr val="tx1"/>
                </a:solidFill>
                <a:effectLst/>
                <a:latin typeface="+mn-lt"/>
                <a:ea typeface="+mn-ea"/>
                <a:cs typeface="+mn-cs"/>
              </a:rPr>
              <a:t>First, the </a:t>
            </a:r>
            <a:r>
              <a:rPr lang="en-US" sz="1200" b="1" i="0" kern="1200" dirty="0">
                <a:solidFill>
                  <a:schemeClr val="tx1"/>
                </a:solidFill>
                <a:effectLst/>
                <a:latin typeface="+mn-lt"/>
                <a:ea typeface="+mn-ea"/>
                <a:cs typeface="+mn-cs"/>
              </a:rPr>
              <a:t>Switch</a:t>
            </a:r>
            <a:r>
              <a:rPr lang="en-US" sz="1200" b="0" i="0" kern="1200" dirty="0">
                <a:solidFill>
                  <a:schemeClr val="tx1"/>
                </a:solidFill>
                <a:effectLst/>
                <a:latin typeface="+mn-lt"/>
                <a:ea typeface="+mn-ea"/>
                <a:cs typeface="+mn-cs"/>
              </a:rPr>
              <a:t> - think of it as an intelligent, multi-port version of an old network hub. Switches operate at </a:t>
            </a:r>
            <a:r>
              <a:rPr lang="en-US" sz="1200" b="1" i="0" kern="1200" dirty="0">
                <a:solidFill>
                  <a:schemeClr val="tx1"/>
                </a:solidFill>
                <a:effectLst/>
                <a:latin typeface="+mn-lt"/>
                <a:ea typeface="+mn-ea"/>
                <a:cs typeface="+mn-cs"/>
              </a:rPr>
              <a:t>Layer 2 of the OSI model</a:t>
            </a:r>
            <a:r>
              <a:rPr lang="en-US" sz="1200" b="0" i="0" kern="1200" dirty="0">
                <a:solidFill>
                  <a:schemeClr val="tx1"/>
                </a:solidFill>
                <a:effectLst/>
                <a:latin typeface="+mn-lt"/>
                <a:ea typeface="+mn-ea"/>
                <a:cs typeface="+mn-cs"/>
              </a:rPr>
              <a:t> (Data Link layer). Their job is to connect devices </a:t>
            </a:r>
            <a:r>
              <a:rPr lang="en-US" sz="1200" b="1" i="0" kern="1200" dirty="0">
                <a:solidFill>
                  <a:schemeClr val="tx1"/>
                </a:solidFill>
                <a:effectLst/>
                <a:latin typeface="+mn-lt"/>
                <a:ea typeface="+mn-ea"/>
                <a:cs typeface="+mn-cs"/>
              </a:rPr>
              <a:t>within the same local network</a:t>
            </a:r>
            <a:r>
              <a:rPr lang="en-US" sz="1200" b="0" i="0" kern="1200" dirty="0">
                <a:solidFill>
                  <a:schemeClr val="tx1"/>
                </a:solidFill>
                <a:effectLst/>
                <a:latin typeface="+mn-lt"/>
                <a:ea typeface="+mn-ea"/>
                <a:cs typeface="+mn-cs"/>
              </a:rPr>
              <a:t> or subnet.</a:t>
            </a:r>
          </a:p>
          <a:p>
            <a:r>
              <a:rPr lang="en-US" sz="1200" b="0" i="0" kern="1200" dirty="0">
                <a:solidFill>
                  <a:schemeClr val="tx1"/>
                </a:solidFill>
                <a:effectLst/>
                <a:latin typeface="+mn-lt"/>
                <a:ea typeface="+mn-ea"/>
                <a:cs typeface="+mn-cs"/>
              </a:rPr>
              <a:t>A switch learns which devices are connected to each port by building a </a:t>
            </a:r>
            <a:r>
              <a:rPr lang="en-US" sz="1200" b="1" i="0" kern="1200" dirty="0">
                <a:solidFill>
                  <a:schemeClr val="tx1"/>
                </a:solidFill>
                <a:effectLst/>
                <a:latin typeface="+mn-lt"/>
                <a:ea typeface="+mn-ea"/>
                <a:cs typeface="+mn-cs"/>
              </a:rPr>
              <a:t>MAC address table</a:t>
            </a:r>
            <a:r>
              <a:rPr lang="en-US" sz="1200" b="0" i="0" kern="1200" dirty="0">
                <a:solidFill>
                  <a:schemeClr val="tx1"/>
                </a:solidFill>
                <a:effectLst/>
                <a:latin typeface="+mn-lt"/>
                <a:ea typeface="+mn-ea"/>
                <a:cs typeface="+mn-cs"/>
              </a:rPr>
              <a:t>. When a device sends data, the switch:</a:t>
            </a:r>
          </a:p>
          <a:p>
            <a:r>
              <a:rPr lang="en-US" sz="1200" b="0" i="0" kern="1200" dirty="0">
                <a:solidFill>
                  <a:schemeClr val="tx1"/>
                </a:solidFill>
                <a:effectLst/>
                <a:latin typeface="+mn-lt"/>
                <a:ea typeface="+mn-ea"/>
                <a:cs typeface="+mn-cs"/>
              </a:rPr>
              <a:t>Learns the source MAC address and port</a:t>
            </a:r>
          </a:p>
          <a:p>
            <a:r>
              <a:rPr lang="en-US" sz="1200" b="0" i="0" kern="1200" dirty="0">
                <a:solidFill>
                  <a:schemeClr val="tx1"/>
                </a:solidFill>
                <a:effectLst/>
                <a:latin typeface="+mn-lt"/>
                <a:ea typeface="+mn-ea"/>
                <a:cs typeface="+mn-cs"/>
              </a:rPr>
              <a:t>Looks up the destination MAC address in its table</a:t>
            </a:r>
          </a:p>
          <a:p>
            <a:r>
              <a:rPr lang="en-US" sz="1200" b="0" i="0" kern="1200" dirty="0">
                <a:solidFill>
                  <a:schemeClr val="tx1"/>
                </a:solidFill>
                <a:effectLst/>
                <a:latin typeface="+mn-lt"/>
                <a:ea typeface="+mn-ea"/>
                <a:cs typeface="+mn-cs"/>
              </a:rPr>
              <a:t>If found, forwards the frame only to that port (filtering)</a:t>
            </a:r>
          </a:p>
          <a:p>
            <a:r>
              <a:rPr lang="en-US" sz="1200" b="0" i="0" kern="1200" dirty="0">
                <a:solidFill>
                  <a:schemeClr val="tx1"/>
                </a:solidFill>
                <a:effectLst/>
                <a:latin typeface="+mn-lt"/>
                <a:ea typeface="+mn-ea"/>
                <a:cs typeface="+mn-cs"/>
              </a:rPr>
              <a:t>If not found, floods to all ports except the source</a:t>
            </a:r>
          </a:p>
          <a:p>
            <a:r>
              <a:rPr lang="en-US" sz="1200" b="0" i="0" kern="1200" dirty="0">
                <a:solidFill>
                  <a:schemeClr val="tx1"/>
                </a:solidFill>
                <a:effectLst/>
                <a:latin typeface="+mn-lt"/>
                <a:ea typeface="+mn-ea"/>
                <a:cs typeface="+mn-cs"/>
              </a:rPr>
              <a:t>This creates efficient </a:t>
            </a:r>
            <a:r>
              <a:rPr lang="en-US" sz="1200" b="1" i="0" kern="1200" dirty="0">
                <a:solidFill>
                  <a:schemeClr val="tx1"/>
                </a:solidFill>
                <a:effectLst/>
                <a:latin typeface="+mn-lt"/>
                <a:ea typeface="+mn-ea"/>
                <a:cs typeface="+mn-cs"/>
              </a:rPr>
              <a:t>point-to-point communication</a:t>
            </a:r>
            <a:r>
              <a:rPr lang="en-US" sz="1200" b="0" i="0" kern="1200" dirty="0">
                <a:solidFill>
                  <a:schemeClr val="tx1"/>
                </a:solidFill>
                <a:effectLst/>
                <a:latin typeface="+mn-lt"/>
                <a:ea typeface="+mn-ea"/>
                <a:cs typeface="+mn-cs"/>
              </a:rPr>
              <a:t> within a LAN, reducing collisions and improving performance.</a:t>
            </a:r>
          </a:p>
          <a:p>
            <a:endParaRPr lang="en-IN" dirty="0"/>
          </a:p>
          <a:p>
            <a:r>
              <a:rPr lang="en-US" sz="1200" b="0" i="0" kern="1200" dirty="0">
                <a:solidFill>
                  <a:schemeClr val="tx1"/>
                </a:solidFill>
                <a:effectLst/>
                <a:latin typeface="+mn-lt"/>
                <a:ea typeface="+mn-ea"/>
                <a:cs typeface="+mn-cs"/>
              </a:rPr>
              <a:t>Now, the </a:t>
            </a:r>
            <a:r>
              <a:rPr lang="en-US" sz="1200" b="1" i="0" kern="1200" dirty="0">
                <a:solidFill>
                  <a:schemeClr val="tx1"/>
                </a:solidFill>
                <a:effectLst/>
                <a:latin typeface="+mn-lt"/>
                <a:ea typeface="+mn-ea"/>
                <a:cs typeface="+mn-cs"/>
              </a:rPr>
              <a:t>Router</a:t>
            </a:r>
            <a:r>
              <a:rPr lang="en-US" sz="1200" b="0" i="0" kern="1200" dirty="0">
                <a:solidFill>
                  <a:schemeClr val="tx1"/>
                </a:solidFill>
                <a:effectLst/>
                <a:latin typeface="+mn-lt"/>
                <a:ea typeface="+mn-ea"/>
                <a:cs typeface="+mn-cs"/>
              </a:rPr>
              <a:t> - this is the traffic director between </a:t>
            </a:r>
            <a:r>
              <a:rPr lang="en-US" sz="1200" b="1" i="0" kern="1200" dirty="0">
                <a:solidFill>
                  <a:schemeClr val="tx1"/>
                </a:solidFill>
                <a:effectLst/>
                <a:latin typeface="+mn-lt"/>
                <a:ea typeface="+mn-ea"/>
                <a:cs typeface="+mn-cs"/>
              </a:rPr>
              <a:t>different networks</a:t>
            </a:r>
            <a:r>
              <a:rPr lang="en-US" sz="1200" b="0" i="0" kern="1200" dirty="0">
                <a:solidFill>
                  <a:schemeClr val="tx1"/>
                </a:solidFill>
                <a:effectLst/>
                <a:latin typeface="+mn-lt"/>
                <a:ea typeface="+mn-ea"/>
                <a:cs typeface="+mn-cs"/>
              </a:rPr>
              <a:t>. Routers operate at </a:t>
            </a:r>
            <a:r>
              <a:rPr lang="en-US" sz="1200" b="1" i="0" kern="1200" dirty="0">
                <a:solidFill>
                  <a:schemeClr val="tx1"/>
                </a:solidFill>
                <a:effectLst/>
                <a:latin typeface="+mn-lt"/>
                <a:ea typeface="+mn-ea"/>
                <a:cs typeface="+mn-cs"/>
              </a:rPr>
              <a:t>Layer 3</a:t>
            </a:r>
            <a:r>
              <a:rPr lang="en-US" sz="1200" b="0" i="0" kern="1200" dirty="0">
                <a:solidFill>
                  <a:schemeClr val="tx1"/>
                </a:solidFill>
                <a:effectLst/>
                <a:latin typeface="+mn-lt"/>
                <a:ea typeface="+mn-ea"/>
                <a:cs typeface="+mn-cs"/>
              </a:rPr>
              <a:t> (Network layer). Their primary function is to connect:</a:t>
            </a:r>
          </a:p>
          <a:p>
            <a:r>
              <a:rPr lang="en-US" sz="1200" b="0" i="0" kern="1200" dirty="0">
                <a:solidFill>
                  <a:schemeClr val="tx1"/>
                </a:solidFill>
                <a:effectLst/>
                <a:latin typeface="+mn-lt"/>
                <a:ea typeface="+mn-ea"/>
                <a:cs typeface="+mn-cs"/>
              </a:rPr>
              <a:t>Your home network to your ISP</a:t>
            </a:r>
          </a:p>
          <a:p>
            <a:r>
              <a:rPr lang="en-US" sz="1200" b="0" i="0" kern="1200" dirty="0">
                <a:solidFill>
                  <a:schemeClr val="tx1"/>
                </a:solidFill>
                <a:effectLst/>
                <a:latin typeface="+mn-lt"/>
                <a:ea typeface="+mn-ea"/>
                <a:cs typeface="+mn-cs"/>
              </a:rPr>
              <a:t>Different departments in a company</a:t>
            </a:r>
          </a:p>
          <a:p>
            <a:r>
              <a:rPr lang="en-US" sz="1200" b="0" i="0" kern="1200" dirty="0">
                <a:solidFill>
                  <a:schemeClr val="tx1"/>
                </a:solidFill>
                <a:effectLst/>
                <a:latin typeface="+mn-lt"/>
                <a:ea typeface="+mn-ea"/>
                <a:cs typeface="+mn-cs"/>
              </a:rPr>
              <a:t>Entire organizations to the internet</a:t>
            </a:r>
          </a:p>
          <a:p>
            <a:r>
              <a:rPr lang="en-US" sz="1200" b="0" i="0" kern="1200" dirty="0">
                <a:solidFill>
                  <a:schemeClr val="tx1"/>
                </a:solidFill>
                <a:effectLst/>
                <a:latin typeface="+mn-lt"/>
                <a:ea typeface="+mn-ea"/>
                <a:cs typeface="+mn-cs"/>
              </a:rPr>
              <a:t>Routers use </a:t>
            </a:r>
            <a:r>
              <a:rPr lang="en-US" sz="1200" b="1" i="0" kern="1200" dirty="0">
                <a:solidFill>
                  <a:schemeClr val="tx1"/>
                </a:solidFill>
                <a:effectLst/>
                <a:latin typeface="+mn-lt"/>
                <a:ea typeface="+mn-ea"/>
                <a:cs typeface="+mn-cs"/>
              </a:rPr>
              <a:t>IP addresses</a:t>
            </a:r>
            <a:r>
              <a:rPr lang="en-US" sz="1200" b="0" i="0" kern="1200" dirty="0">
                <a:solidFill>
                  <a:schemeClr val="tx1"/>
                </a:solidFill>
                <a:effectLst/>
                <a:latin typeface="+mn-lt"/>
                <a:ea typeface="+mn-ea"/>
                <a:cs typeface="+mn-cs"/>
              </a:rPr>
              <a:t> (not MAC addresses) to make forwarding decisions. They maintain </a:t>
            </a:r>
            <a:r>
              <a:rPr lang="en-US" sz="1200" b="1" i="0" kern="1200" dirty="0">
                <a:solidFill>
                  <a:schemeClr val="tx1"/>
                </a:solidFill>
                <a:effectLst/>
                <a:latin typeface="+mn-lt"/>
                <a:ea typeface="+mn-ea"/>
                <a:cs typeface="+mn-cs"/>
              </a:rPr>
              <a:t>routing tables</a:t>
            </a:r>
            <a:r>
              <a:rPr lang="en-US" sz="1200" b="0" i="0" kern="1200" dirty="0">
                <a:solidFill>
                  <a:schemeClr val="tx1"/>
                </a:solidFill>
                <a:effectLst/>
                <a:latin typeface="+mn-lt"/>
                <a:ea typeface="+mn-ea"/>
                <a:cs typeface="+mn-cs"/>
              </a:rPr>
              <a:t> that say 'To reach network X, send packets through interface Y.' Routers also provide:</a:t>
            </a:r>
          </a:p>
          <a:p>
            <a:r>
              <a:rPr lang="en-US" sz="1200" b="1" i="0" kern="1200" dirty="0">
                <a:solidFill>
                  <a:schemeClr val="tx1"/>
                </a:solidFill>
                <a:effectLst/>
                <a:latin typeface="+mn-lt"/>
                <a:ea typeface="+mn-ea"/>
                <a:cs typeface="+mn-cs"/>
              </a:rPr>
              <a:t>Network segmentation</a:t>
            </a:r>
            <a:r>
              <a:rPr lang="en-US" sz="1200" b="0" i="0" kern="1200" dirty="0">
                <a:solidFill>
                  <a:schemeClr val="tx1"/>
                </a:solidFill>
                <a:effectLst/>
                <a:latin typeface="+mn-lt"/>
                <a:ea typeface="+mn-ea"/>
                <a:cs typeface="+mn-cs"/>
              </a:rPr>
              <a:t> (creates broadcast domains)</a:t>
            </a:r>
          </a:p>
          <a:p>
            <a:r>
              <a:rPr lang="en-US" sz="1200" b="1" i="0" kern="1200" dirty="0">
                <a:solidFill>
                  <a:schemeClr val="tx1"/>
                </a:solidFill>
                <a:effectLst/>
                <a:latin typeface="+mn-lt"/>
                <a:ea typeface="+mn-ea"/>
                <a:cs typeface="+mn-cs"/>
              </a:rPr>
              <a:t>Security</a:t>
            </a:r>
            <a:r>
              <a:rPr lang="en-US" sz="1200" b="0" i="0" kern="1200" dirty="0">
                <a:solidFill>
                  <a:schemeClr val="tx1"/>
                </a:solidFill>
                <a:effectLst/>
                <a:latin typeface="+mn-lt"/>
                <a:ea typeface="+mn-ea"/>
                <a:cs typeface="+mn-cs"/>
              </a:rPr>
              <a:t> (basic firewall functions)</a:t>
            </a:r>
          </a:p>
          <a:p>
            <a:r>
              <a:rPr lang="en-US" sz="1200" b="1" i="0" kern="1200" dirty="0">
                <a:solidFill>
                  <a:schemeClr val="tx1"/>
                </a:solidFill>
                <a:effectLst/>
                <a:latin typeface="+mn-lt"/>
                <a:ea typeface="+mn-ea"/>
                <a:cs typeface="+mn-cs"/>
              </a:rPr>
              <a:t>IP address management</a:t>
            </a:r>
            <a:r>
              <a:rPr lang="en-US" sz="1200" b="0" i="0" kern="1200" dirty="0">
                <a:solidFill>
                  <a:schemeClr val="tx1"/>
                </a:solidFill>
                <a:effectLst/>
                <a:latin typeface="+mn-lt"/>
                <a:ea typeface="+mn-ea"/>
                <a:cs typeface="+mn-cs"/>
              </a:rPr>
              <a:t> (DHCP often runs on routers)</a:t>
            </a:r>
          </a:p>
          <a:p>
            <a:endParaRPr lang="en-IN" dirty="0"/>
          </a:p>
          <a:p>
            <a:endParaRPr lang="en-IN" dirty="0"/>
          </a:p>
          <a:p>
            <a:r>
              <a:rPr lang="en-US" sz="1200" b="1" i="0" kern="1200" dirty="0">
                <a:solidFill>
                  <a:schemeClr val="tx1"/>
                </a:solidFill>
                <a:effectLst/>
                <a:latin typeface="+mn-lt"/>
                <a:ea typeface="+mn-ea"/>
                <a:cs typeface="+mn-cs"/>
              </a:rPr>
              <a:t>Simple analogy:</a:t>
            </a:r>
            <a:r>
              <a:rPr lang="en-US" sz="1200" b="0" i="0" kern="1200" dirty="0">
                <a:solidFill>
                  <a:schemeClr val="tx1"/>
                </a:solidFill>
                <a:effectLst/>
                <a:latin typeface="+mn-lt"/>
                <a:ea typeface="+mn-ea"/>
                <a:cs typeface="+mn-cs"/>
              </a:rPr>
              <a:t> A switch is like a building's internal mailroom routing letters between offices. A router is like the postal service routing letters between different buildings or cities.</a:t>
            </a:r>
            <a:endParaRPr lang="en-IN" dirty="0"/>
          </a:p>
        </p:txBody>
      </p:sp>
      <p:sp>
        <p:nvSpPr>
          <p:cNvPr id="4" name="Slide Number Placeholder 3">
            <a:extLst>
              <a:ext uri="{FF2B5EF4-FFF2-40B4-BE49-F238E27FC236}">
                <a16:creationId xmlns:a16="http://schemas.microsoft.com/office/drawing/2014/main" id="{23A39F2C-2BEE-BE66-BBFC-EB64466FB64C}"/>
              </a:ext>
            </a:extLst>
          </p:cNvPr>
          <p:cNvSpPr>
            <a:spLocks noGrp="1"/>
          </p:cNvSpPr>
          <p:nvPr>
            <p:ph type="sldNum" sz="quarter" idx="5"/>
          </p:nvPr>
        </p:nvSpPr>
        <p:spPr/>
        <p:txBody>
          <a:bodyPr/>
          <a:lstStyle/>
          <a:p>
            <a:fld id="{72853293-4F00-4813-B74A-3945ABE0C2FC}" type="slidenum">
              <a:rPr lang="en-IN" smtClean="0"/>
              <a:t>4</a:t>
            </a:fld>
            <a:endParaRPr lang="en-IN"/>
          </a:p>
        </p:txBody>
      </p:sp>
    </p:spTree>
    <p:extLst>
      <p:ext uri="{BB962C8B-B14F-4D97-AF65-F5344CB8AC3E}">
        <p14:creationId xmlns:p14="http://schemas.microsoft.com/office/powerpoint/2010/main" val="2931800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7CB1E-C35E-48DE-1F0A-7942A9AA4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C5382-6B3A-3538-2344-BFE44D8F18F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E78F55E-E357-6EE1-C6E4-2F29B74C199E}"/>
              </a:ext>
            </a:extLst>
          </p:cNvPr>
          <p:cNvSpPr>
            <a:spLocks noGrp="1"/>
          </p:cNvSpPr>
          <p:nvPr>
            <p:ph type="body" idx="1"/>
          </p:nvPr>
        </p:nvSpPr>
        <p:spPr/>
        <p:txBody>
          <a:bodyPr/>
          <a:lstStyle/>
          <a:p>
            <a:r>
              <a:rPr lang="en-IN"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Now, why do we need routing? Why can't we just connect everything with switches?</a:t>
            </a: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scale</a:t>
            </a:r>
            <a:r>
              <a:rPr lang="en-US" sz="1200" b="0" i="0" kern="1200" dirty="0">
                <a:solidFill>
                  <a:schemeClr val="tx1"/>
                </a:solidFill>
                <a:effectLst/>
                <a:latin typeface="+mn-lt"/>
                <a:ea typeface="+mn-ea"/>
                <a:cs typeface="+mn-cs"/>
              </a:rPr>
              <a:t>: Imagine trying to connect every internet device to one giant switch. With billions of devices, the MAC address table would be impossibly large, and broadcast traffic would cripple the network. </a:t>
            </a:r>
            <a:r>
              <a:rPr lang="en-US" sz="1200" b="1" i="0" kern="1200" dirty="0">
                <a:solidFill>
                  <a:schemeClr val="tx1"/>
                </a:solidFill>
                <a:effectLst/>
                <a:latin typeface="+mn-lt"/>
                <a:ea typeface="+mn-ea"/>
                <a:cs typeface="+mn-cs"/>
              </a:rPr>
              <a:t>Routing allows hierarchical organization</a:t>
            </a:r>
            <a:r>
              <a:rPr lang="en-US" sz="1200" b="0" i="0" kern="1200" dirty="0">
                <a:solidFill>
                  <a:schemeClr val="tx1"/>
                </a:solidFill>
                <a:effectLst/>
                <a:latin typeface="+mn-lt"/>
                <a:ea typeface="+mn-ea"/>
                <a:cs typeface="+mn-cs"/>
              </a:rPr>
              <a:t> - your phone talks to your home router, which talks to your ISP, which connects to backbone networks.</a:t>
            </a: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administrative control</a:t>
            </a:r>
            <a:r>
              <a:rPr lang="en-US" sz="1200" b="0" i="0" kern="1200" dirty="0">
                <a:solidFill>
                  <a:schemeClr val="tx1"/>
                </a:solidFill>
                <a:effectLst/>
                <a:latin typeface="+mn-lt"/>
                <a:ea typeface="+mn-ea"/>
                <a:cs typeface="+mn-cs"/>
              </a:rPr>
              <a:t>: Your company, your ISP, Google - each needs to </a:t>
            </a:r>
            <a:r>
              <a:rPr lang="en-US" sz="1200" b="1" i="0" kern="1200" dirty="0">
                <a:solidFill>
                  <a:schemeClr val="tx1"/>
                </a:solidFill>
                <a:effectLst/>
                <a:latin typeface="+mn-lt"/>
                <a:ea typeface="+mn-ea"/>
                <a:cs typeface="+mn-cs"/>
              </a:rPr>
              <a:t>manage their own network independently</a:t>
            </a:r>
            <a:r>
              <a:rPr lang="en-US" sz="1200" b="0" i="0" kern="1200" dirty="0">
                <a:solidFill>
                  <a:schemeClr val="tx1"/>
                </a:solidFill>
                <a:effectLst/>
                <a:latin typeface="+mn-lt"/>
                <a:ea typeface="+mn-ea"/>
                <a:cs typeface="+mn-cs"/>
              </a:rPr>
              <a:t>. Routing protocols like BGP allow these autonomous systems to exchange routing information while maintaining control over their internal networks.</a:t>
            </a:r>
          </a:p>
          <a:p>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traffic isolation</a:t>
            </a:r>
            <a:r>
              <a:rPr lang="en-US" sz="1200" b="0" i="0" kern="1200" dirty="0">
                <a:solidFill>
                  <a:schemeClr val="tx1"/>
                </a:solidFill>
                <a:effectLst/>
                <a:latin typeface="+mn-lt"/>
                <a:ea typeface="+mn-ea"/>
                <a:cs typeface="+mn-cs"/>
              </a:rPr>
              <a:t>: Switches forward broadcast traffic to all ports. In a large network, this creates </a:t>
            </a:r>
            <a:r>
              <a:rPr lang="en-US" sz="1200" b="1" i="0" kern="1200" dirty="0">
                <a:solidFill>
                  <a:schemeClr val="tx1"/>
                </a:solidFill>
                <a:effectLst/>
                <a:latin typeface="+mn-lt"/>
                <a:ea typeface="+mn-ea"/>
                <a:cs typeface="+mn-cs"/>
              </a:rPr>
              <a:t>broadcast storms</a:t>
            </a:r>
            <a:r>
              <a:rPr lang="en-US" sz="1200" b="0" i="0" kern="1200" dirty="0">
                <a:solidFill>
                  <a:schemeClr val="tx1"/>
                </a:solidFill>
                <a:effectLst/>
                <a:latin typeface="+mn-lt"/>
                <a:ea typeface="+mn-ea"/>
                <a:cs typeface="+mn-cs"/>
              </a:rPr>
              <a:t>. Routers create </a:t>
            </a:r>
            <a:r>
              <a:rPr lang="en-US" sz="1200" b="1" i="0" kern="1200" dirty="0">
                <a:solidFill>
                  <a:schemeClr val="tx1"/>
                </a:solidFill>
                <a:effectLst/>
                <a:latin typeface="+mn-lt"/>
                <a:ea typeface="+mn-ea"/>
                <a:cs typeface="+mn-cs"/>
              </a:rPr>
              <a:t>broadcast domains</a:t>
            </a:r>
            <a:r>
              <a:rPr lang="en-US" sz="1200" b="0" i="0" kern="1200" dirty="0">
                <a:solidFill>
                  <a:schemeClr val="tx1"/>
                </a:solidFill>
                <a:effectLst/>
                <a:latin typeface="+mn-lt"/>
                <a:ea typeface="+mn-ea"/>
                <a:cs typeface="+mn-cs"/>
              </a:rPr>
              <a:t>, limiting this traffic to local networks.</a:t>
            </a:r>
          </a:p>
          <a:p>
            <a:r>
              <a:rPr lang="en-US" sz="1200" b="0" i="0" kern="1200" dirty="0">
                <a:solidFill>
                  <a:schemeClr val="tx1"/>
                </a:solidFill>
                <a:effectLst/>
                <a:latin typeface="+mn-lt"/>
                <a:ea typeface="+mn-ea"/>
                <a:cs typeface="+mn-cs"/>
              </a:rPr>
              <a:t>Fourth, </a:t>
            </a:r>
            <a:r>
              <a:rPr lang="en-US" sz="1200" b="1" i="0" kern="1200" dirty="0">
                <a:solidFill>
                  <a:schemeClr val="tx1"/>
                </a:solidFill>
                <a:effectLst/>
                <a:latin typeface="+mn-lt"/>
                <a:ea typeface="+mn-ea"/>
                <a:cs typeface="+mn-cs"/>
              </a:rPr>
              <a:t>security and policy</a:t>
            </a:r>
            <a:r>
              <a:rPr lang="en-US" sz="1200" b="0" i="0" kern="1200" dirty="0">
                <a:solidFill>
                  <a:schemeClr val="tx1"/>
                </a:solidFill>
                <a:effectLst/>
                <a:latin typeface="+mn-lt"/>
                <a:ea typeface="+mn-ea"/>
                <a:cs typeface="+mn-cs"/>
              </a:rPr>
              <a:t>: Routers let us control traffic </a:t>
            </a:r>
            <a:r>
              <a:rPr lang="en-US" sz="1200" b="1" i="0" kern="1200" dirty="0">
                <a:solidFill>
                  <a:schemeClr val="tx1"/>
                </a:solidFill>
                <a:effectLst/>
                <a:latin typeface="+mn-lt"/>
                <a:ea typeface="+mn-ea"/>
                <a:cs typeface="+mn-cs"/>
              </a:rPr>
              <a:t>between networks</a:t>
            </a:r>
            <a:r>
              <a:rPr lang="en-US" sz="1200" b="0" i="0" kern="1200" dirty="0">
                <a:solidFill>
                  <a:schemeClr val="tx1"/>
                </a:solidFill>
                <a:effectLst/>
                <a:latin typeface="+mn-lt"/>
                <a:ea typeface="+mn-ea"/>
                <a:cs typeface="+mn-cs"/>
              </a:rPr>
              <a:t>. We can:</a:t>
            </a:r>
          </a:p>
          <a:p>
            <a:endParaRPr lang="en-IN" dirty="0"/>
          </a:p>
          <a:p>
            <a:r>
              <a:rPr lang="en-US" sz="1200" b="0" i="0" kern="1200" dirty="0">
                <a:solidFill>
                  <a:schemeClr val="tx1"/>
                </a:solidFill>
                <a:effectLst/>
                <a:latin typeface="+mn-lt"/>
                <a:ea typeface="+mn-ea"/>
                <a:cs typeface="+mn-cs"/>
              </a:rPr>
              <a:t>Block certain types of traffic</a:t>
            </a:r>
          </a:p>
          <a:p>
            <a:r>
              <a:rPr lang="en-US" sz="1200" b="0" i="0" kern="1200" dirty="0">
                <a:solidFill>
                  <a:schemeClr val="tx1"/>
                </a:solidFill>
                <a:effectLst/>
                <a:latin typeface="+mn-lt"/>
                <a:ea typeface="+mn-ea"/>
                <a:cs typeface="+mn-cs"/>
              </a:rPr>
              <a:t>Prioritize critical applications (QoS)</a:t>
            </a:r>
          </a:p>
          <a:p>
            <a:r>
              <a:rPr lang="en-US" sz="1200" b="0" i="0" kern="1200" dirty="0">
                <a:solidFill>
                  <a:schemeClr val="tx1"/>
                </a:solidFill>
                <a:effectLst/>
                <a:latin typeface="+mn-lt"/>
                <a:ea typeface="+mn-ea"/>
                <a:cs typeface="+mn-cs"/>
              </a:rPr>
              <a:t>Monitor inter-network traffic for security</a:t>
            </a:r>
          </a:p>
          <a:p>
            <a:r>
              <a:rPr lang="en-US" sz="1200" b="0" i="0" kern="1200" dirty="0">
                <a:solidFill>
                  <a:schemeClr val="tx1"/>
                </a:solidFill>
                <a:effectLst/>
                <a:latin typeface="+mn-lt"/>
                <a:ea typeface="+mn-ea"/>
                <a:cs typeface="+mn-cs"/>
              </a:rPr>
              <a:t>Implement NAT and firewalls</a:t>
            </a:r>
          </a:p>
          <a:p>
            <a:r>
              <a:rPr lang="en-US" sz="1200" b="0" i="0" kern="1200" dirty="0">
                <a:solidFill>
                  <a:schemeClr val="tx1"/>
                </a:solidFill>
                <a:effectLst/>
                <a:latin typeface="+mn-lt"/>
                <a:ea typeface="+mn-ea"/>
                <a:cs typeface="+mn-cs"/>
              </a:rPr>
              <a:t>Fifth, </a:t>
            </a:r>
            <a:r>
              <a:rPr lang="en-US" sz="1200" b="1" i="0" kern="1200" dirty="0">
                <a:solidFill>
                  <a:schemeClr val="tx1"/>
                </a:solidFill>
                <a:effectLst/>
                <a:latin typeface="+mn-lt"/>
                <a:ea typeface="+mn-ea"/>
                <a:cs typeface="+mn-cs"/>
              </a:rPr>
              <a:t>optimal paths</a:t>
            </a:r>
            <a:r>
              <a:rPr lang="en-US" sz="1200" b="0" i="0" kern="1200" dirty="0">
                <a:solidFill>
                  <a:schemeClr val="tx1"/>
                </a:solidFill>
                <a:effectLst/>
                <a:latin typeface="+mn-lt"/>
                <a:ea typeface="+mn-ea"/>
                <a:cs typeface="+mn-cs"/>
              </a:rPr>
              <a:t>: The internet has multiple possible paths between points. Routing protocols constantly calculate </a:t>
            </a:r>
            <a:r>
              <a:rPr lang="en-US" sz="1200" b="1" i="0" kern="1200" dirty="0">
                <a:solidFill>
                  <a:schemeClr val="tx1"/>
                </a:solidFill>
                <a:effectLst/>
                <a:latin typeface="+mn-lt"/>
                <a:ea typeface="+mn-ea"/>
                <a:cs typeface="+mn-cs"/>
              </a:rPr>
              <a:t>best paths</a:t>
            </a:r>
            <a:r>
              <a:rPr lang="en-US" sz="1200" b="0" i="0" kern="1200" dirty="0">
                <a:solidFill>
                  <a:schemeClr val="tx1"/>
                </a:solidFill>
                <a:effectLst/>
                <a:latin typeface="+mn-lt"/>
                <a:ea typeface="+mn-ea"/>
                <a:cs typeface="+mn-cs"/>
              </a:rPr>
              <a:t> based on:</a:t>
            </a:r>
          </a:p>
          <a:p>
            <a:r>
              <a:rPr lang="en-US" sz="1200" b="0" i="0" kern="1200" dirty="0">
                <a:solidFill>
                  <a:schemeClr val="tx1"/>
                </a:solidFill>
                <a:effectLst/>
                <a:latin typeface="+mn-lt"/>
                <a:ea typeface="+mn-ea"/>
                <a:cs typeface="+mn-cs"/>
              </a:rPr>
              <a:t>Number of hops</a:t>
            </a:r>
          </a:p>
          <a:p>
            <a:r>
              <a:rPr lang="en-US" sz="1200" b="0" i="0" kern="1200" dirty="0">
                <a:solidFill>
                  <a:schemeClr val="tx1"/>
                </a:solidFill>
                <a:effectLst/>
                <a:latin typeface="+mn-lt"/>
                <a:ea typeface="+mn-ea"/>
                <a:cs typeface="+mn-cs"/>
              </a:rPr>
              <a:t>Link bandwidth</a:t>
            </a:r>
          </a:p>
          <a:p>
            <a:r>
              <a:rPr lang="en-US" sz="1200" b="0" i="0" kern="1200" dirty="0">
                <a:solidFill>
                  <a:schemeClr val="tx1"/>
                </a:solidFill>
                <a:effectLst/>
                <a:latin typeface="+mn-lt"/>
                <a:ea typeface="+mn-ea"/>
                <a:cs typeface="+mn-cs"/>
              </a:rPr>
              <a:t>Current congestion</a:t>
            </a:r>
          </a:p>
          <a:p>
            <a:r>
              <a:rPr lang="en-US" sz="1200" b="0" i="0" kern="1200" dirty="0">
                <a:solidFill>
                  <a:schemeClr val="tx1"/>
                </a:solidFill>
                <a:effectLst/>
                <a:latin typeface="+mn-lt"/>
                <a:ea typeface="+mn-ea"/>
                <a:cs typeface="+mn-cs"/>
              </a:rPr>
              <a:t>Policy constraints</a:t>
            </a:r>
          </a:p>
          <a:p>
            <a:r>
              <a:rPr lang="en-US" sz="1200" b="0" i="0" kern="1200" dirty="0">
                <a:solidFill>
                  <a:schemeClr val="tx1"/>
                </a:solidFill>
                <a:effectLst/>
                <a:latin typeface="+mn-lt"/>
                <a:ea typeface="+mn-ea"/>
                <a:cs typeface="+mn-cs"/>
              </a:rPr>
              <a:t>Finally, </a:t>
            </a:r>
            <a:r>
              <a:rPr lang="en-US" sz="1200" b="1" i="0" kern="1200" dirty="0">
                <a:solidFill>
                  <a:schemeClr val="tx1"/>
                </a:solidFill>
                <a:effectLst/>
                <a:latin typeface="+mn-lt"/>
                <a:ea typeface="+mn-ea"/>
                <a:cs typeface="+mn-cs"/>
              </a:rPr>
              <a:t>fault tolerance</a:t>
            </a:r>
            <a:r>
              <a:rPr lang="en-US" sz="1200" b="0" i="0" kern="1200" dirty="0">
                <a:solidFill>
                  <a:schemeClr val="tx1"/>
                </a:solidFill>
                <a:effectLst/>
                <a:latin typeface="+mn-lt"/>
                <a:ea typeface="+mn-ea"/>
                <a:cs typeface="+mn-cs"/>
              </a:rPr>
              <a:t>: When a link fails, routing protocols </a:t>
            </a:r>
            <a:r>
              <a:rPr lang="en-US" sz="1200" b="1" i="0" kern="1200" dirty="0">
                <a:solidFill>
                  <a:schemeClr val="tx1"/>
                </a:solidFill>
                <a:effectLst/>
                <a:latin typeface="+mn-lt"/>
                <a:ea typeface="+mn-ea"/>
                <a:cs typeface="+mn-cs"/>
              </a:rPr>
              <a:t>automatically recalculate paths</a:t>
            </a:r>
            <a:r>
              <a:rPr lang="en-US" sz="1200" b="0" i="0" kern="1200" dirty="0">
                <a:solidFill>
                  <a:schemeClr val="tx1"/>
                </a:solidFill>
                <a:effectLst/>
                <a:latin typeface="+mn-lt"/>
                <a:ea typeface="+mn-ea"/>
                <a:cs typeface="+mn-cs"/>
              </a:rPr>
              <a:t> and reroute traffic. This makes the internet resilient to failures.</a:t>
            </a:r>
          </a:p>
          <a:p>
            <a:br>
              <a:rPr lang="en-IN" dirty="0"/>
            </a:br>
            <a:r>
              <a:rPr lang="en-US" sz="1200" b="1" i="0" kern="1200" dirty="0">
                <a:solidFill>
                  <a:schemeClr val="tx1"/>
                </a:solidFill>
                <a:effectLst/>
                <a:latin typeface="+mn-lt"/>
                <a:ea typeface="+mn-ea"/>
                <a:cs typeface="+mn-cs"/>
              </a:rPr>
              <a:t>Without routing, we'd have a fragile, flat network that couldn't scale beyond a few hundred devices.</a:t>
            </a:r>
            <a:r>
              <a:rPr lang="en-US" sz="1200" b="0" i="0" kern="1200" dirty="0">
                <a:solidFill>
                  <a:schemeClr val="tx1"/>
                </a:solidFill>
                <a:effectLst/>
                <a:latin typeface="+mn-lt"/>
                <a:ea typeface="+mn-ea"/>
                <a:cs typeface="+mn-cs"/>
              </a:rPr>
              <a:t> Routing creates the structured, hierarchical, resilient internet we rely on today.</a:t>
            </a:r>
            <a:endParaRPr lang="en-IN" dirty="0"/>
          </a:p>
        </p:txBody>
      </p:sp>
      <p:sp>
        <p:nvSpPr>
          <p:cNvPr id="4" name="Slide Number Placeholder 3">
            <a:extLst>
              <a:ext uri="{FF2B5EF4-FFF2-40B4-BE49-F238E27FC236}">
                <a16:creationId xmlns:a16="http://schemas.microsoft.com/office/drawing/2014/main" id="{ECEAC643-78C9-2BCB-14C2-561725932125}"/>
              </a:ext>
            </a:extLst>
          </p:cNvPr>
          <p:cNvSpPr>
            <a:spLocks noGrp="1"/>
          </p:cNvSpPr>
          <p:nvPr>
            <p:ph type="sldNum" sz="quarter" idx="5"/>
          </p:nvPr>
        </p:nvSpPr>
        <p:spPr/>
        <p:txBody>
          <a:bodyPr/>
          <a:lstStyle/>
          <a:p>
            <a:fld id="{72853293-4F00-4813-B74A-3945ABE0C2FC}" type="slidenum">
              <a:rPr lang="en-IN" smtClean="0"/>
              <a:t>5</a:t>
            </a:fld>
            <a:endParaRPr lang="en-IN"/>
          </a:p>
        </p:txBody>
      </p:sp>
    </p:spTree>
    <p:extLst>
      <p:ext uri="{BB962C8B-B14F-4D97-AF65-F5344CB8AC3E}">
        <p14:creationId xmlns:p14="http://schemas.microsoft.com/office/powerpoint/2010/main" val="180698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FC5D4-64EB-2B4B-789D-E8FF291FC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01C46-C650-3B7B-1758-FA4EB58AF5A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34DFAB7-17CC-685C-6CF7-2F5AC6D4BFC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understand </a:t>
            </a:r>
            <a:r>
              <a:rPr lang="en-US" sz="1200" b="1" i="0" kern="1200" dirty="0">
                <a:solidFill>
                  <a:schemeClr val="tx1"/>
                </a:solidFill>
                <a:effectLst/>
                <a:latin typeface="+mn-lt"/>
                <a:ea typeface="+mn-ea"/>
                <a:cs typeface="+mn-cs"/>
              </a:rPr>
              <a:t>IP addresses</a:t>
            </a:r>
            <a:r>
              <a:rPr lang="en-US" sz="1200" b="0" i="0" kern="1200" dirty="0">
                <a:solidFill>
                  <a:schemeClr val="tx1"/>
                </a:solidFill>
                <a:effectLst/>
                <a:latin typeface="+mn-lt"/>
                <a:ea typeface="+mn-ea"/>
                <a:cs typeface="+mn-cs"/>
              </a:rPr>
              <a:t> - how devices find each other on networks.</a:t>
            </a:r>
          </a:p>
          <a:p>
            <a:r>
              <a:rPr lang="en-US" sz="1200" b="0" i="0" kern="1200" dirty="0">
                <a:solidFill>
                  <a:schemeClr val="tx1"/>
                </a:solidFill>
                <a:effectLst/>
                <a:latin typeface="+mn-lt"/>
                <a:ea typeface="+mn-ea"/>
                <a:cs typeface="+mn-cs"/>
              </a:rPr>
              <a:t>An IP address is a </a:t>
            </a:r>
            <a:r>
              <a:rPr lang="en-US" sz="1200" b="1" i="0" kern="1200" dirty="0">
                <a:solidFill>
                  <a:schemeClr val="tx1"/>
                </a:solidFill>
                <a:effectLst/>
                <a:latin typeface="+mn-lt"/>
                <a:ea typeface="+mn-ea"/>
                <a:cs typeface="+mn-cs"/>
              </a:rPr>
              <a:t>unique identifier</a:t>
            </a:r>
            <a:r>
              <a:rPr lang="en-US" sz="1200" b="0" i="0" kern="1200" dirty="0">
                <a:solidFill>
                  <a:schemeClr val="tx1"/>
                </a:solidFill>
                <a:effectLst/>
                <a:latin typeface="+mn-lt"/>
                <a:ea typeface="+mn-ea"/>
                <a:cs typeface="+mn-cs"/>
              </a:rPr>
              <a:t> for devices. It's a logical address (not physical like MAC). Two versions: </a:t>
            </a:r>
            <a:r>
              <a:rPr lang="en-US" sz="1200" b="1" i="0" kern="1200" dirty="0">
                <a:solidFill>
                  <a:schemeClr val="tx1"/>
                </a:solidFill>
                <a:effectLst/>
                <a:latin typeface="+mn-lt"/>
                <a:ea typeface="+mn-ea"/>
                <a:cs typeface="+mn-cs"/>
              </a:rPr>
              <a:t>IPv4</a:t>
            </a:r>
            <a:r>
              <a:rPr lang="en-US" sz="1200" b="0" i="0" kern="1200" dirty="0">
                <a:solidFill>
                  <a:schemeClr val="tx1"/>
                </a:solidFill>
                <a:effectLst/>
                <a:latin typeface="+mn-lt"/>
                <a:ea typeface="+mn-ea"/>
                <a:cs typeface="+mn-cs"/>
              </a:rPr>
              <a:t> (32-bit, running out) and </a:t>
            </a:r>
            <a:r>
              <a:rPr lang="en-US" sz="1200" b="1" i="0" kern="1200" dirty="0">
                <a:solidFill>
                  <a:schemeClr val="tx1"/>
                </a:solidFill>
                <a:effectLst/>
                <a:latin typeface="+mn-lt"/>
                <a:ea typeface="+mn-ea"/>
                <a:cs typeface="+mn-cs"/>
              </a:rPr>
              <a:t>IPv6</a:t>
            </a:r>
            <a:r>
              <a:rPr lang="en-US" sz="1200" b="0" i="0" kern="1200" dirty="0">
                <a:solidFill>
                  <a:schemeClr val="tx1"/>
                </a:solidFill>
                <a:effectLst/>
                <a:latin typeface="+mn-lt"/>
                <a:ea typeface="+mn-ea"/>
                <a:cs typeface="+mn-cs"/>
              </a:rPr>
              <a:t> (128-bit, essentially unlimited).</a:t>
            </a:r>
          </a:p>
          <a:p>
            <a:r>
              <a:rPr lang="en-US" sz="1200" b="0" i="0" kern="1200" dirty="0">
                <a:solidFill>
                  <a:schemeClr val="tx1"/>
                </a:solidFill>
                <a:effectLst/>
                <a:latin typeface="+mn-lt"/>
                <a:ea typeface="+mn-ea"/>
                <a:cs typeface="+mn-cs"/>
              </a:rPr>
              <a:t>IPv4 looks like 192.168.1.100 - four numbers 0-255. IPv6 looks like 2001:0db8::1 - eight groups of hex digits.</a:t>
            </a:r>
          </a:p>
          <a:p>
            <a:r>
              <a:rPr lang="en-US" sz="1200" b="0" i="0" kern="1200" dirty="0">
                <a:solidFill>
                  <a:schemeClr val="tx1"/>
                </a:solidFill>
                <a:effectLst/>
                <a:latin typeface="+mn-lt"/>
                <a:ea typeface="+mn-ea"/>
                <a:cs typeface="+mn-cs"/>
              </a:rPr>
              <a:t>IP addresses have </a:t>
            </a:r>
            <a:r>
              <a:rPr lang="en-US" sz="1200" b="1" i="0" kern="1200" dirty="0">
                <a:solidFill>
                  <a:schemeClr val="tx1"/>
                </a:solidFill>
                <a:effectLst/>
                <a:latin typeface="+mn-lt"/>
                <a:ea typeface="+mn-ea"/>
                <a:cs typeface="+mn-cs"/>
              </a:rPr>
              <a:t>network part</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host part</a:t>
            </a:r>
            <a:r>
              <a:rPr lang="en-US" sz="1200" b="0" i="0" kern="1200" dirty="0">
                <a:solidFill>
                  <a:schemeClr val="tx1"/>
                </a:solidFill>
                <a:effectLst/>
                <a:latin typeface="+mn-lt"/>
                <a:ea typeface="+mn-ea"/>
                <a:cs typeface="+mn-cs"/>
              </a:rPr>
              <a:t>. The subnet mask (like 255.255.255.0) defines which is which. 192.168.1.0/24 means first 24 bits are network, last 8 bits are host (256 possible hosts).</a:t>
            </a:r>
          </a:p>
          <a:p>
            <a:r>
              <a:rPr lang="en-US" sz="1200" b="0" i="0" kern="1200" dirty="0">
                <a:solidFill>
                  <a:schemeClr val="tx1"/>
                </a:solidFill>
                <a:effectLst/>
                <a:latin typeface="+mn-lt"/>
                <a:ea typeface="+mn-ea"/>
                <a:cs typeface="+mn-cs"/>
              </a:rPr>
              <a:t>Special addresses: </a:t>
            </a:r>
            <a:r>
              <a:rPr lang="en-US" sz="1200" b="1" i="0" kern="1200" dirty="0">
                <a:solidFill>
                  <a:schemeClr val="tx1"/>
                </a:solidFill>
                <a:effectLst/>
                <a:latin typeface="+mn-lt"/>
                <a:ea typeface="+mn-ea"/>
                <a:cs typeface="+mn-cs"/>
              </a:rPr>
              <a:t>Localhost</a:t>
            </a:r>
            <a:r>
              <a:rPr lang="en-US" sz="1200" b="0" i="0" kern="1200" dirty="0">
                <a:solidFill>
                  <a:schemeClr val="tx1"/>
                </a:solidFill>
                <a:effectLst/>
                <a:latin typeface="+mn-lt"/>
                <a:ea typeface="+mn-ea"/>
                <a:cs typeface="+mn-cs"/>
              </a:rPr>
              <a:t> 127.0.0.1 (this computer). </a:t>
            </a:r>
            <a:r>
              <a:rPr lang="en-US" sz="1200" b="1" i="0" kern="1200" dirty="0">
                <a:solidFill>
                  <a:schemeClr val="tx1"/>
                </a:solidFill>
                <a:effectLst/>
                <a:latin typeface="+mn-lt"/>
                <a:ea typeface="+mn-ea"/>
                <a:cs typeface="+mn-cs"/>
              </a:rPr>
              <a:t>Private IPs</a:t>
            </a:r>
            <a:r>
              <a:rPr lang="en-US" sz="1200" b="0" i="0" kern="1200" dirty="0">
                <a:solidFill>
                  <a:schemeClr val="tx1"/>
                </a:solidFill>
                <a:effectLst/>
                <a:latin typeface="+mn-lt"/>
                <a:ea typeface="+mn-ea"/>
                <a:cs typeface="+mn-cs"/>
              </a:rPr>
              <a:t> (like 192.168.x.x) for internal networks. </a:t>
            </a:r>
            <a:r>
              <a:rPr lang="en-US" sz="1200" b="1" i="0" kern="1200" dirty="0">
                <a:solidFill>
                  <a:schemeClr val="tx1"/>
                </a:solidFill>
                <a:effectLst/>
                <a:latin typeface="+mn-lt"/>
                <a:ea typeface="+mn-ea"/>
                <a:cs typeface="+mn-cs"/>
              </a:rPr>
              <a:t>Broadcast</a:t>
            </a:r>
            <a:r>
              <a:rPr lang="en-US" sz="1200" b="0" i="0" kern="1200" dirty="0">
                <a:solidFill>
                  <a:schemeClr val="tx1"/>
                </a:solidFill>
                <a:effectLst/>
                <a:latin typeface="+mn-lt"/>
                <a:ea typeface="+mn-ea"/>
                <a:cs typeface="+mn-cs"/>
              </a:rPr>
              <a:t> 255.255.255.255 for everyone on network.</a:t>
            </a:r>
          </a:p>
          <a:p>
            <a:r>
              <a:rPr lang="en-US" sz="1200" b="0" i="0" kern="1200" dirty="0">
                <a:solidFill>
                  <a:schemeClr val="tx1"/>
                </a:solidFill>
                <a:effectLst/>
                <a:latin typeface="+mn-lt"/>
                <a:ea typeface="+mn-ea"/>
                <a:cs typeface="+mn-cs"/>
              </a:rPr>
              <a:t>How routing works: Your computer checks: "Is destination on my network?" If not, sends to default gateway (router). Routers have routing tables - maps of networks to next hops. Eventually packet reaches destination network.</a:t>
            </a:r>
          </a:p>
          <a:p>
            <a:br>
              <a:rPr lang="en-IN" dirty="0"/>
            </a:br>
            <a:r>
              <a:rPr lang="en-US" sz="1200" b="1" i="0" kern="1200" dirty="0">
                <a:solidFill>
                  <a:schemeClr val="tx1"/>
                </a:solidFill>
                <a:effectLst/>
                <a:latin typeface="+mn-lt"/>
                <a:ea typeface="+mn-ea"/>
                <a:cs typeface="+mn-cs"/>
              </a:rPr>
              <a:t>DNS</a:t>
            </a:r>
            <a:r>
              <a:rPr lang="en-US" sz="1200" b="0" i="0" kern="1200" dirty="0">
                <a:solidFill>
                  <a:schemeClr val="tx1"/>
                </a:solidFill>
                <a:effectLst/>
                <a:latin typeface="+mn-lt"/>
                <a:ea typeface="+mn-ea"/>
                <a:cs typeface="+mn-cs"/>
              </a:rPr>
              <a:t> is critical: Translates names (google.com) to IPs. Distributed system itself. </a:t>
            </a:r>
            <a:r>
              <a:rPr lang="en-US" sz="1200" b="1" i="0" kern="1200" dirty="0">
                <a:solidFill>
                  <a:schemeClr val="tx1"/>
                </a:solidFill>
                <a:effectLst/>
                <a:latin typeface="+mn-lt"/>
                <a:ea typeface="+mn-ea"/>
                <a:cs typeface="+mn-cs"/>
              </a:rPr>
              <a:t>NAT</a:t>
            </a:r>
            <a:r>
              <a:rPr lang="en-US" sz="1200" b="0" i="0" kern="1200" dirty="0">
                <a:solidFill>
                  <a:schemeClr val="tx1"/>
                </a:solidFill>
                <a:effectLst/>
                <a:latin typeface="+mn-lt"/>
                <a:ea typeface="+mn-ea"/>
                <a:cs typeface="+mn-cs"/>
              </a:rPr>
              <a:t> lets multiple devices share one public IP - common in homes, but problematic for peer-to-peer.</a:t>
            </a:r>
          </a:p>
          <a:p>
            <a:r>
              <a:rPr lang="en-US" sz="1200" b="0" i="0" kern="1200" dirty="0">
                <a:solidFill>
                  <a:schemeClr val="tx1"/>
                </a:solidFill>
                <a:effectLst/>
                <a:latin typeface="+mn-lt"/>
                <a:ea typeface="+mn-ea"/>
                <a:cs typeface="+mn-cs"/>
              </a:rPr>
              <a:t>In distributed systems: </a:t>
            </a:r>
            <a:r>
              <a:rPr lang="en-US" sz="1200" b="1" i="0" kern="1200" dirty="0">
                <a:solidFill>
                  <a:schemeClr val="tx1"/>
                </a:solidFill>
                <a:effectLst/>
                <a:latin typeface="+mn-lt"/>
                <a:ea typeface="+mn-ea"/>
                <a:cs typeface="+mn-cs"/>
              </a:rPr>
              <a:t>Service discovery</a:t>
            </a:r>
            <a:r>
              <a:rPr lang="en-US" sz="1200" b="0" i="0" kern="1200" dirty="0">
                <a:solidFill>
                  <a:schemeClr val="tx1"/>
                </a:solidFill>
                <a:effectLst/>
                <a:latin typeface="+mn-lt"/>
                <a:ea typeface="+mn-ea"/>
                <a:cs typeface="+mn-cs"/>
              </a:rPr>
              <a:t> finds services by IP. </a:t>
            </a:r>
            <a:r>
              <a:rPr lang="en-US" sz="1200" b="1" i="0" kern="1200" dirty="0">
                <a:solidFill>
                  <a:schemeClr val="tx1"/>
                </a:solidFill>
                <a:effectLst/>
                <a:latin typeface="+mn-lt"/>
                <a:ea typeface="+mn-ea"/>
                <a:cs typeface="+mn-cs"/>
              </a:rPr>
              <a:t>Load balancing</a:t>
            </a:r>
            <a:r>
              <a:rPr lang="en-US" sz="1200" b="0" i="0" kern="1200" dirty="0">
                <a:solidFill>
                  <a:schemeClr val="tx1"/>
                </a:solidFill>
                <a:effectLst/>
                <a:latin typeface="+mn-lt"/>
                <a:ea typeface="+mn-ea"/>
                <a:cs typeface="+mn-cs"/>
              </a:rPr>
              <a:t> distributes across IPs. </a:t>
            </a:r>
            <a:r>
              <a:rPr lang="en-US" sz="1200" b="1" i="0" kern="1200" dirty="0">
                <a:solidFill>
                  <a:schemeClr val="tx1"/>
                </a:solidFill>
                <a:effectLst/>
                <a:latin typeface="+mn-lt"/>
                <a:ea typeface="+mn-ea"/>
                <a:cs typeface="+mn-cs"/>
              </a:rPr>
              <a:t>Anycast</a:t>
            </a:r>
            <a:r>
              <a:rPr lang="en-US" sz="1200" b="0" i="0" kern="1200" dirty="0">
                <a:solidFill>
                  <a:schemeClr val="tx1"/>
                </a:solidFill>
                <a:effectLst/>
                <a:latin typeface="+mn-lt"/>
                <a:ea typeface="+mn-ea"/>
                <a:cs typeface="+mn-cs"/>
              </a:rPr>
              <a:t> - same IP on multiple servers, route to nearest. </a:t>
            </a:r>
            <a:r>
              <a:rPr lang="en-US" sz="1200" b="1" i="0" kern="1200" dirty="0">
                <a:solidFill>
                  <a:schemeClr val="tx1"/>
                </a:solidFill>
                <a:effectLst/>
                <a:latin typeface="+mn-lt"/>
                <a:ea typeface="+mn-ea"/>
                <a:cs typeface="+mn-cs"/>
              </a:rPr>
              <a:t>DNS load balancing</a:t>
            </a:r>
            <a:r>
              <a:rPr lang="en-US" sz="1200" b="0" i="0" kern="1200" dirty="0">
                <a:solidFill>
                  <a:schemeClr val="tx1"/>
                </a:solidFill>
                <a:effectLst/>
                <a:latin typeface="+mn-lt"/>
                <a:ea typeface="+mn-ea"/>
                <a:cs typeface="+mn-cs"/>
              </a:rPr>
              <a:t> - return different IPs.</a:t>
            </a:r>
          </a:p>
          <a:p>
            <a:r>
              <a:rPr lang="en-US" sz="1200" b="0" i="0" kern="1200" dirty="0">
                <a:solidFill>
                  <a:schemeClr val="tx1"/>
                </a:solidFill>
                <a:effectLst/>
                <a:latin typeface="+mn-lt"/>
                <a:ea typeface="+mn-ea"/>
                <a:cs typeface="+mn-cs"/>
              </a:rPr>
              <a:t>Key for developers: Servers need </a:t>
            </a:r>
            <a:r>
              <a:rPr lang="en-US" sz="1200" b="1" i="0" kern="1200" dirty="0">
                <a:solidFill>
                  <a:schemeClr val="tx1"/>
                </a:solidFill>
                <a:effectLst/>
                <a:latin typeface="+mn-lt"/>
                <a:ea typeface="+mn-ea"/>
                <a:cs typeface="+mn-cs"/>
              </a:rPr>
              <a:t>static IPs</a:t>
            </a:r>
            <a:r>
              <a:rPr lang="en-US" sz="1200" b="0" i="0" kern="1200" dirty="0">
                <a:solidFill>
                  <a:schemeClr val="tx1"/>
                </a:solidFill>
                <a:effectLst/>
                <a:latin typeface="+mn-lt"/>
                <a:ea typeface="+mn-ea"/>
                <a:cs typeface="+mn-cs"/>
              </a:rPr>
              <a:t>. DNS has </a:t>
            </a:r>
            <a:r>
              <a:rPr lang="en-US" sz="1200" b="1" i="0" kern="1200" dirty="0">
                <a:solidFill>
                  <a:schemeClr val="tx1"/>
                </a:solidFill>
                <a:effectLst/>
                <a:latin typeface="+mn-lt"/>
                <a:ea typeface="+mn-ea"/>
                <a:cs typeface="+mn-cs"/>
              </a:rPr>
              <a:t>caching</a:t>
            </a:r>
            <a:r>
              <a:rPr lang="en-US" sz="1200" b="0" i="0" kern="1200" dirty="0">
                <a:solidFill>
                  <a:schemeClr val="tx1"/>
                </a:solidFill>
                <a:effectLst/>
                <a:latin typeface="+mn-lt"/>
                <a:ea typeface="+mn-ea"/>
                <a:cs typeface="+mn-cs"/>
              </a:rPr>
              <a:t> (TTL matters). DNS changes </a:t>
            </a:r>
            <a:r>
              <a:rPr lang="en-US" sz="1200" b="1" i="0" kern="1200" dirty="0">
                <a:solidFill>
                  <a:schemeClr val="tx1"/>
                </a:solidFill>
                <a:effectLst/>
                <a:latin typeface="+mn-lt"/>
                <a:ea typeface="+mn-ea"/>
                <a:cs typeface="+mn-cs"/>
              </a:rPr>
              <a:t>propagate slowly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IPv4 vs IPv6</a:t>
            </a:r>
            <a:r>
              <a:rPr lang="en-US" sz="1200" b="0" i="0" kern="1200" dirty="0">
                <a:solidFill>
                  <a:schemeClr val="tx1"/>
                </a:solidFill>
                <a:effectLst/>
                <a:latin typeface="+mn-lt"/>
                <a:ea typeface="+mn-ea"/>
                <a:cs typeface="+mn-cs"/>
              </a:rPr>
              <a:t> compatibility issues.</a:t>
            </a:r>
          </a:p>
          <a:p>
            <a:r>
              <a:rPr lang="en-US" sz="1200" b="0" i="0" kern="1200" dirty="0">
                <a:solidFill>
                  <a:schemeClr val="tx1"/>
                </a:solidFill>
                <a:effectLst/>
                <a:latin typeface="+mn-lt"/>
                <a:ea typeface="+mn-ea"/>
                <a:cs typeface="+mn-cs"/>
              </a:rPr>
              <a:t>Understanding IPs helps debug networking issues and design better distributed systems.</a:t>
            </a:r>
          </a:p>
          <a:p>
            <a:endParaRPr lang="en-IN" dirty="0"/>
          </a:p>
        </p:txBody>
      </p:sp>
      <p:sp>
        <p:nvSpPr>
          <p:cNvPr id="4" name="Slide Number Placeholder 3">
            <a:extLst>
              <a:ext uri="{FF2B5EF4-FFF2-40B4-BE49-F238E27FC236}">
                <a16:creationId xmlns:a16="http://schemas.microsoft.com/office/drawing/2014/main" id="{B4A0DC55-13ED-4D43-8508-BB4444875CDA}"/>
              </a:ext>
            </a:extLst>
          </p:cNvPr>
          <p:cNvSpPr>
            <a:spLocks noGrp="1"/>
          </p:cNvSpPr>
          <p:nvPr>
            <p:ph type="sldNum" sz="quarter" idx="5"/>
          </p:nvPr>
        </p:nvSpPr>
        <p:spPr/>
        <p:txBody>
          <a:bodyPr/>
          <a:lstStyle/>
          <a:p>
            <a:fld id="{72853293-4F00-4813-B74A-3945ABE0C2FC}" type="slidenum">
              <a:rPr lang="en-IN" smtClean="0"/>
              <a:t>6</a:t>
            </a:fld>
            <a:endParaRPr lang="en-IN"/>
          </a:p>
        </p:txBody>
      </p:sp>
    </p:spTree>
    <p:extLst>
      <p:ext uri="{BB962C8B-B14F-4D97-AF65-F5344CB8AC3E}">
        <p14:creationId xmlns:p14="http://schemas.microsoft.com/office/powerpoint/2010/main" val="1475490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702FC-624A-6FE4-73C7-821EFFFC6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7847E-774C-DA86-E61C-CAF13972B49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BC0036E-4A7E-F039-BBF2-C49E81D9A27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address two fundamental challenges in network communication: </a:t>
            </a:r>
            <a:r>
              <a:rPr lang="en-US" sz="1200" b="1" i="0" kern="1200" dirty="0">
                <a:solidFill>
                  <a:schemeClr val="tx1"/>
                </a:solidFill>
                <a:effectLst/>
                <a:latin typeface="+mn-lt"/>
                <a:ea typeface="+mn-ea"/>
                <a:cs typeface="+mn-cs"/>
              </a:rPr>
              <a:t>reliability and security</a:t>
            </a:r>
            <a:r>
              <a:rPr lang="en-US" sz="1200" b="0" i="0" kern="1200" dirty="0">
                <a:solidFill>
                  <a:schemeClr val="tx1"/>
                </a:solidFill>
                <a:effectLst/>
                <a:latin typeface="+mn-lt"/>
                <a:ea typeface="+mn-ea"/>
                <a:cs typeface="+mn-cs"/>
              </a:rPr>
              <a:t>. The IP layer gives us basic packet delivery, but it's 'best effort'—packets can be lost, arrive out of order, or be intercepted. For most applications, this isn't good enough. That's where </a:t>
            </a:r>
            <a:r>
              <a:rPr lang="en-US" sz="1200" b="1" i="0" kern="1200" dirty="0">
                <a:solidFill>
                  <a:schemeClr val="tx1"/>
                </a:solidFill>
                <a:effectLst/>
                <a:latin typeface="+mn-lt"/>
                <a:ea typeface="+mn-ea"/>
                <a:cs typeface="+mn-cs"/>
              </a:rPr>
              <a:t>TCP and TLS</a:t>
            </a:r>
            <a:r>
              <a:rPr lang="en-US" sz="1200" b="0" i="0" kern="1200" dirty="0">
                <a:solidFill>
                  <a:schemeClr val="tx1"/>
                </a:solidFill>
                <a:effectLst/>
                <a:latin typeface="+mn-lt"/>
                <a:ea typeface="+mn-ea"/>
                <a:cs typeface="+mn-cs"/>
              </a:rPr>
              <a:t> come in.</a:t>
            </a:r>
            <a:endParaRPr lang="en-IN" dirty="0"/>
          </a:p>
        </p:txBody>
      </p:sp>
      <p:sp>
        <p:nvSpPr>
          <p:cNvPr id="4" name="Slide Number Placeholder 3">
            <a:extLst>
              <a:ext uri="{FF2B5EF4-FFF2-40B4-BE49-F238E27FC236}">
                <a16:creationId xmlns:a16="http://schemas.microsoft.com/office/drawing/2014/main" id="{E97FD34E-C978-FF99-7329-782626333248}"/>
              </a:ext>
            </a:extLst>
          </p:cNvPr>
          <p:cNvSpPr>
            <a:spLocks noGrp="1"/>
          </p:cNvSpPr>
          <p:nvPr>
            <p:ph type="sldNum" sz="quarter" idx="5"/>
          </p:nvPr>
        </p:nvSpPr>
        <p:spPr/>
        <p:txBody>
          <a:bodyPr/>
          <a:lstStyle/>
          <a:p>
            <a:fld id="{72853293-4F00-4813-B74A-3945ABE0C2FC}" type="slidenum">
              <a:rPr lang="en-IN" smtClean="0"/>
              <a:t>7</a:t>
            </a:fld>
            <a:endParaRPr lang="en-IN"/>
          </a:p>
        </p:txBody>
      </p:sp>
    </p:spTree>
    <p:extLst>
      <p:ext uri="{BB962C8B-B14F-4D97-AF65-F5344CB8AC3E}">
        <p14:creationId xmlns:p14="http://schemas.microsoft.com/office/powerpoint/2010/main" val="626320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BD96A-B259-096A-E2E2-03DC81A22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37BB6-41CE-08D9-852F-43E37C11485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357041-9E3F-0BBD-ACA0-C4AA5E7E310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DNS - the </a:t>
            </a:r>
            <a:r>
              <a:rPr lang="en-US" sz="1200" b="1" i="0" kern="1200" dirty="0">
                <a:solidFill>
                  <a:schemeClr val="tx1"/>
                </a:solidFill>
                <a:effectLst/>
                <a:latin typeface="+mn-lt"/>
                <a:ea typeface="+mn-ea"/>
                <a:cs typeface="+mn-cs"/>
              </a:rPr>
              <a:t>Domain Name System</a:t>
            </a:r>
            <a:r>
              <a:rPr lang="en-US" sz="1200" b="0" i="0" kern="1200" dirty="0">
                <a:solidFill>
                  <a:schemeClr val="tx1"/>
                </a:solidFill>
                <a:effectLst/>
                <a:latin typeface="+mn-lt"/>
                <a:ea typeface="+mn-ea"/>
                <a:cs typeface="+mn-cs"/>
              </a:rPr>
              <a:t>, the internet's phonebook.</a:t>
            </a:r>
          </a:p>
          <a:p>
            <a:r>
              <a:rPr lang="en-US" sz="1200" b="0" i="0" kern="1200" dirty="0">
                <a:solidFill>
                  <a:schemeClr val="tx1"/>
                </a:solidFill>
                <a:effectLst/>
                <a:latin typeface="+mn-lt"/>
                <a:ea typeface="+mn-ea"/>
                <a:cs typeface="+mn-cs"/>
              </a:rPr>
              <a:t>DNS is a </a:t>
            </a:r>
            <a:r>
              <a:rPr lang="en-US" sz="1200" b="1" i="0" kern="1200" dirty="0">
                <a:solidFill>
                  <a:schemeClr val="tx1"/>
                </a:solidFill>
                <a:effectLst/>
                <a:latin typeface="+mn-lt"/>
                <a:ea typeface="+mn-ea"/>
                <a:cs typeface="+mn-cs"/>
              </a:rPr>
              <a:t>distributed database</a:t>
            </a:r>
            <a:r>
              <a:rPr lang="en-US" sz="1200" b="0" i="0" kern="1200" dirty="0">
                <a:solidFill>
                  <a:schemeClr val="tx1"/>
                </a:solidFill>
                <a:effectLst/>
                <a:latin typeface="+mn-lt"/>
                <a:ea typeface="+mn-ea"/>
                <a:cs typeface="+mn-cs"/>
              </a:rPr>
              <a:t> that translates google.com to 142.250.185.78. It's hierarchical: Your computer asks a </a:t>
            </a:r>
            <a:r>
              <a:rPr lang="en-US" sz="1200" b="1" i="0" kern="1200" dirty="0">
                <a:solidFill>
                  <a:schemeClr val="tx1"/>
                </a:solidFill>
                <a:effectLst/>
                <a:latin typeface="+mn-lt"/>
                <a:ea typeface="+mn-ea"/>
                <a:cs typeface="+mn-cs"/>
              </a:rPr>
              <a:t>resolver</a:t>
            </a:r>
            <a:r>
              <a:rPr lang="en-US" sz="1200" b="0" i="0" kern="1200" dirty="0">
                <a:solidFill>
                  <a:schemeClr val="tx1"/>
                </a:solidFill>
                <a:effectLst/>
                <a:latin typeface="+mn-lt"/>
                <a:ea typeface="+mn-ea"/>
                <a:cs typeface="+mn-cs"/>
              </a:rPr>
              <a:t> (like your ISP or Google's 8.8.8.8), which asks </a:t>
            </a:r>
            <a:r>
              <a:rPr lang="en-US" sz="1200" b="1" i="0" kern="1200" dirty="0">
                <a:solidFill>
                  <a:schemeClr val="tx1"/>
                </a:solidFill>
                <a:effectLst/>
                <a:latin typeface="+mn-lt"/>
                <a:ea typeface="+mn-ea"/>
                <a:cs typeface="+mn-cs"/>
              </a:rPr>
              <a:t>root servers</a:t>
            </a:r>
            <a:r>
              <a:rPr lang="en-US" sz="1200" b="0" i="0" kern="1200" dirty="0">
                <a:solidFill>
                  <a:schemeClr val="tx1"/>
                </a:solidFill>
                <a:effectLst/>
                <a:latin typeface="+mn-lt"/>
                <a:ea typeface="+mn-ea"/>
                <a:cs typeface="+mn-cs"/>
              </a:rPr>
              <a:t>, then </a:t>
            </a:r>
            <a:r>
              <a:rPr lang="en-US" sz="1200" b="1" i="0" kern="1200" dirty="0">
                <a:solidFill>
                  <a:schemeClr val="tx1"/>
                </a:solidFill>
                <a:effectLst/>
                <a:latin typeface="+mn-lt"/>
                <a:ea typeface="+mn-ea"/>
                <a:cs typeface="+mn-cs"/>
              </a:rPr>
              <a:t>TLD servers</a:t>
            </a:r>
            <a:r>
              <a:rPr lang="en-US" sz="1200" b="0" i="0" kern="1200" dirty="0">
                <a:solidFill>
                  <a:schemeClr val="tx1"/>
                </a:solidFill>
                <a:effectLst/>
                <a:latin typeface="+mn-lt"/>
                <a:ea typeface="+mn-ea"/>
                <a:cs typeface="+mn-cs"/>
              </a:rPr>
              <a:t> (.com), then </a:t>
            </a:r>
            <a:r>
              <a:rPr lang="en-US" sz="1200" b="1" i="0" kern="1200" dirty="0">
                <a:solidFill>
                  <a:schemeClr val="tx1"/>
                </a:solidFill>
                <a:effectLst/>
                <a:latin typeface="+mn-lt"/>
                <a:ea typeface="+mn-ea"/>
                <a:cs typeface="+mn-cs"/>
              </a:rPr>
              <a:t>authoritative servers</a:t>
            </a:r>
            <a:r>
              <a:rPr lang="en-US" sz="1200" b="0" i="0" kern="1200" dirty="0">
                <a:solidFill>
                  <a:schemeClr val="tx1"/>
                </a:solidFill>
                <a:effectLst/>
                <a:latin typeface="+mn-lt"/>
                <a:ea typeface="+mn-ea"/>
                <a:cs typeface="+mn-cs"/>
              </a:rPr>
              <a:t> (Google's own), getting the IP back through the chain.</a:t>
            </a:r>
          </a:p>
          <a:p>
            <a:r>
              <a:rPr lang="en-US" sz="1200" b="0" i="0" kern="1200" dirty="0">
                <a:solidFill>
                  <a:schemeClr val="tx1"/>
                </a:solidFill>
                <a:effectLst/>
                <a:latin typeface="+mn-lt"/>
                <a:ea typeface="+mn-ea"/>
                <a:cs typeface="+mn-cs"/>
              </a:rPr>
              <a:t>DNS has different </a:t>
            </a:r>
            <a:r>
              <a:rPr lang="en-US" sz="1200" b="1" i="0" kern="1200" dirty="0">
                <a:solidFill>
                  <a:schemeClr val="tx1"/>
                </a:solidFill>
                <a:effectLst/>
                <a:latin typeface="+mn-lt"/>
                <a:ea typeface="+mn-ea"/>
                <a:cs typeface="+mn-cs"/>
              </a:rPr>
              <a:t>record types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A/AAAA</a:t>
            </a:r>
            <a:r>
              <a:rPr lang="en-US" sz="1200" b="0" i="0" kern="1200" dirty="0">
                <a:solidFill>
                  <a:schemeClr val="tx1"/>
                </a:solidFill>
                <a:effectLst/>
                <a:latin typeface="+mn-lt"/>
                <a:ea typeface="+mn-ea"/>
                <a:cs typeface="+mn-cs"/>
              </a:rPr>
              <a:t> for IP addresses. </a:t>
            </a:r>
            <a:r>
              <a:rPr lang="en-US" sz="1200" b="1" i="0" kern="1200" dirty="0">
                <a:solidFill>
                  <a:schemeClr val="tx1"/>
                </a:solidFill>
                <a:effectLst/>
                <a:latin typeface="+mn-lt"/>
                <a:ea typeface="+mn-ea"/>
                <a:cs typeface="+mn-cs"/>
              </a:rPr>
              <a:t>CNAME</a:t>
            </a:r>
            <a:r>
              <a:rPr lang="en-US" sz="1200" b="0" i="0" kern="1200" dirty="0">
                <a:solidFill>
                  <a:schemeClr val="tx1"/>
                </a:solidFill>
                <a:effectLst/>
                <a:latin typeface="+mn-lt"/>
                <a:ea typeface="+mn-ea"/>
                <a:cs typeface="+mn-cs"/>
              </a:rPr>
              <a:t> for aliases. </a:t>
            </a:r>
            <a:r>
              <a:rPr lang="en-US" sz="1200" b="1" i="0" kern="1200" dirty="0">
                <a:solidFill>
                  <a:schemeClr val="tx1"/>
                </a:solidFill>
                <a:effectLst/>
                <a:latin typeface="+mn-lt"/>
                <a:ea typeface="+mn-ea"/>
                <a:cs typeface="+mn-cs"/>
              </a:rPr>
              <a:t>MX</a:t>
            </a:r>
            <a:r>
              <a:rPr lang="en-US" sz="1200" b="0" i="0" kern="1200" dirty="0">
                <a:solidFill>
                  <a:schemeClr val="tx1"/>
                </a:solidFill>
                <a:effectLst/>
                <a:latin typeface="+mn-lt"/>
                <a:ea typeface="+mn-ea"/>
                <a:cs typeface="+mn-cs"/>
              </a:rPr>
              <a:t> for mail. </a:t>
            </a:r>
            <a:r>
              <a:rPr lang="en-US" sz="1200" b="1" i="0" kern="1200" dirty="0">
                <a:solidFill>
                  <a:schemeClr val="tx1"/>
                </a:solidFill>
                <a:effectLst/>
                <a:latin typeface="+mn-lt"/>
                <a:ea typeface="+mn-ea"/>
                <a:cs typeface="+mn-cs"/>
              </a:rPr>
              <a:t>NS</a:t>
            </a:r>
            <a:r>
              <a:rPr lang="en-US" sz="1200" b="0" i="0" kern="1200" dirty="0">
                <a:solidFill>
                  <a:schemeClr val="tx1"/>
                </a:solidFill>
                <a:effectLst/>
                <a:latin typeface="+mn-lt"/>
                <a:ea typeface="+mn-ea"/>
                <a:cs typeface="+mn-cs"/>
              </a:rPr>
              <a:t> for name servers. </a:t>
            </a:r>
            <a:r>
              <a:rPr lang="en-US" sz="1200" b="1" i="0" kern="1200" dirty="0">
                <a:solidFill>
                  <a:schemeClr val="tx1"/>
                </a:solidFill>
                <a:effectLst/>
                <a:latin typeface="+mn-lt"/>
                <a:ea typeface="+mn-ea"/>
                <a:cs typeface="+mn-cs"/>
              </a:rPr>
              <a:t>TXT</a:t>
            </a:r>
            <a:r>
              <a:rPr lang="en-US" sz="1200" b="0" i="0" kern="1200" dirty="0">
                <a:solidFill>
                  <a:schemeClr val="tx1"/>
                </a:solidFill>
                <a:effectLst/>
                <a:latin typeface="+mn-lt"/>
                <a:ea typeface="+mn-ea"/>
                <a:cs typeface="+mn-cs"/>
              </a:rPr>
              <a:t> for text. </a:t>
            </a:r>
            <a:r>
              <a:rPr lang="en-US" sz="1200" b="1" i="0" kern="1200" dirty="0">
                <a:solidFill>
                  <a:schemeClr val="tx1"/>
                </a:solidFill>
                <a:effectLst/>
                <a:latin typeface="+mn-lt"/>
                <a:ea typeface="+mn-ea"/>
                <a:cs typeface="+mn-cs"/>
              </a:rPr>
              <a:t>SRV</a:t>
            </a:r>
            <a:r>
              <a:rPr lang="en-US" sz="1200" b="0" i="0" kern="1200" dirty="0">
                <a:solidFill>
                  <a:schemeClr val="tx1"/>
                </a:solidFill>
                <a:effectLst/>
                <a:latin typeface="+mn-lt"/>
                <a:ea typeface="+mn-ea"/>
                <a:cs typeface="+mn-cs"/>
              </a:rPr>
              <a:t> for service discovery. </a:t>
            </a:r>
            <a:r>
              <a:rPr lang="en-US" sz="1200" b="1" i="0" kern="1200" dirty="0">
                <a:solidFill>
                  <a:schemeClr val="tx1"/>
                </a:solidFill>
                <a:effectLst/>
                <a:latin typeface="+mn-lt"/>
                <a:ea typeface="+mn-ea"/>
                <a:cs typeface="+mn-cs"/>
              </a:rPr>
              <a:t>PTR</a:t>
            </a:r>
            <a:r>
              <a:rPr lang="en-US" sz="1200" b="0" i="0" kern="1200" dirty="0">
                <a:solidFill>
                  <a:schemeClr val="tx1"/>
                </a:solidFill>
                <a:effectLst/>
                <a:latin typeface="+mn-lt"/>
                <a:ea typeface="+mn-ea"/>
                <a:cs typeface="+mn-cs"/>
              </a:rPr>
              <a:t> for reverse lookups.</a:t>
            </a:r>
          </a:p>
          <a:p>
            <a:r>
              <a:rPr lang="en-US" sz="1200" b="0" i="0" kern="1200" dirty="0">
                <a:solidFill>
                  <a:schemeClr val="tx1"/>
                </a:solidFill>
                <a:effectLst/>
                <a:latin typeface="+mn-lt"/>
                <a:ea typeface="+mn-ea"/>
                <a:cs typeface="+mn-cs"/>
              </a:rPr>
              <a:t>DNS is itself a </a:t>
            </a:r>
            <a:r>
              <a:rPr lang="en-US" sz="1200" b="1" i="0" kern="1200" dirty="0">
                <a:solidFill>
                  <a:schemeClr val="tx1"/>
                </a:solidFill>
                <a:effectLst/>
                <a:latin typeface="+mn-lt"/>
                <a:ea typeface="+mn-ea"/>
                <a:cs typeface="+mn-cs"/>
              </a:rPr>
              <a:t>distributed system</a:t>
            </a:r>
            <a:r>
              <a:rPr lang="en-US" sz="1200" b="0" i="0" kern="1200" dirty="0">
                <a:solidFill>
                  <a:schemeClr val="tx1"/>
                </a:solidFill>
                <a:effectLst/>
                <a:latin typeface="+mn-lt"/>
                <a:ea typeface="+mn-ea"/>
                <a:cs typeface="+mn-cs"/>
              </a:rPr>
              <a:t> with 13 root servers (logically, hundreds physically), using </a:t>
            </a:r>
            <a:r>
              <a:rPr lang="en-US" sz="1200" b="1" i="0" kern="1200" dirty="0">
                <a:solidFill>
                  <a:schemeClr val="tx1"/>
                </a:solidFill>
                <a:effectLst/>
                <a:latin typeface="+mn-lt"/>
                <a:ea typeface="+mn-ea"/>
                <a:cs typeface="+mn-cs"/>
              </a:rPr>
              <a:t>anycast</a:t>
            </a:r>
            <a:r>
              <a:rPr lang="en-US" sz="1200" b="0" i="0" kern="1200" dirty="0">
                <a:solidFill>
                  <a:schemeClr val="tx1"/>
                </a:solidFill>
                <a:effectLst/>
                <a:latin typeface="+mn-lt"/>
                <a:ea typeface="+mn-ea"/>
                <a:cs typeface="+mn-cs"/>
              </a:rPr>
              <a:t> (same IP on multiple servers, route to nearest). Every level </a:t>
            </a:r>
            <a:r>
              <a:rPr lang="en-US" sz="1200" b="1" i="0" kern="1200" dirty="0">
                <a:solidFill>
                  <a:schemeClr val="tx1"/>
                </a:solidFill>
                <a:effectLst/>
                <a:latin typeface="+mn-lt"/>
                <a:ea typeface="+mn-ea"/>
                <a:cs typeface="+mn-cs"/>
              </a:rPr>
              <a:t>caches</a:t>
            </a:r>
            <a:r>
              <a:rPr lang="en-US" sz="1200" b="0" i="0" kern="1200" dirty="0">
                <a:solidFill>
                  <a:schemeClr val="tx1"/>
                </a:solidFill>
                <a:effectLst/>
                <a:latin typeface="+mn-lt"/>
                <a:ea typeface="+mn-ea"/>
                <a:cs typeface="+mn-cs"/>
              </a:rPr>
              <a:t> results based on TTL (Time to Live).</a:t>
            </a:r>
          </a:p>
          <a:p>
            <a:endParaRPr lang="en-IN" dirty="0"/>
          </a:p>
          <a:p>
            <a:r>
              <a:rPr lang="en-IN" sz="1200" b="1" i="0" kern="1200" dirty="0">
                <a:solidFill>
                  <a:schemeClr val="tx1"/>
                </a:solidFill>
                <a:effectLst/>
                <a:latin typeface="+mn-lt"/>
                <a:ea typeface="+mn-ea"/>
                <a:cs typeface="+mn-cs"/>
              </a:rPr>
              <a:t>DNS load balancing</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Round-robin DNS</a:t>
            </a:r>
            <a:r>
              <a:rPr lang="en-IN" sz="1200" b="0" i="0" kern="1200" dirty="0">
                <a:solidFill>
                  <a:schemeClr val="tx1"/>
                </a:solidFill>
                <a:effectLst/>
                <a:latin typeface="+mn-lt"/>
                <a:ea typeface="+mn-ea"/>
                <a:cs typeface="+mn-cs"/>
              </a:rPr>
              <a:t> returns different IPs in rotation. </a:t>
            </a:r>
            <a:r>
              <a:rPr lang="en-IN" sz="1200" b="1" i="0" kern="1200" dirty="0" err="1">
                <a:solidFill>
                  <a:schemeClr val="tx1"/>
                </a:solidFill>
                <a:effectLst/>
                <a:latin typeface="+mn-lt"/>
                <a:ea typeface="+mn-ea"/>
                <a:cs typeface="+mn-cs"/>
              </a:rPr>
              <a:t>GeoDNS</a:t>
            </a:r>
            <a:r>
              <a:rPr lang="en-IN" sz="1200" b="0" i="0" kern="1200" dirty="0">
                <a:solidFill>
                  <a:schemeClr val="tx1"/>
                </a:solidFill>
                <a:effectLst/>
                <a:latin typeface="+mn-lt"/>
                <a:ea typeface="+mn-ea"/>
                <a:cs typeface="+mn-cs"/>
              </a:rPr>
              <a:t> returns different IPs based on location. </a:t>
            </a:r>
            <a:r>
              <a:rPr lang="en-IN" sz="1200" b="1" i="0" kern="1200" dirty="0">
                <a:solidFill>
                  <a:schemeClr val="tx1"/>
                </a:solidFill>
                <a:effectLst/>
                <a:latin typeface="+mn-lt"/>
                <a:ea typeface="+mn-ea"/>
                <a:cs typeface="+mn-cs"/>
              </a:rPr>
              <a:t>Weighted round robin</a:t>
            </a:r>
            <a:r>
              <a:rPr lang="en-IN" sz="1200" b="0" i="0" kern="1200" dirty="0">
                <a:solidFill>
                  <a:schemeClr val="tx1"/>
                </a:solidFill>
                <a:effectLst/>
                <a:latin typeface="+mn-lt"/>
                <a:ea typeface="+mn-ea"/>
                <a:cs typeface="+mn-cs"/>
              </a:rPr>
              <a:t> for different capacity servers.</a:t>
            </a:r>
          </a:p>
          <a:p>
            <a:r>
              <a:rPr lang="en-IN" sz="1200" b="0" i="0" kern="1200" dirty="0">
                <a:solidFill>
                  <a:schemeClr val="tx1"/>
                </a:solidFill>
                <a:effectLst/>
                <a:latin typeface="+mn-lt"/>
                <a:ea typeface="+mn-ea"/>
                <a:cs typeface="+mn-cs"/>
              </a:rPr>
              <a:t>For </a:t>
            </a:r>
            <a:r>
              <a:rPr lang="en-IN" sz="1200" b="1" i="0" kern="1200" dirty="0">
                <a:solidFill>
                  <a:schemeClr val="tx1"/>
                </a:solidFill>
                <a:effectLst/>
                <a:latin typeface="+mn-lt"/>
                <a:ea typeface="+mn-ea"/>
                <a:cs typeface="+mn-cs"/>
              </a:rPr>
              <a:t>service discovery</a:t>
            </a:r>
            <a:r>
              <a:rPr lang="en-IN" sz="1200" b="0" i="0" kern="1200" dirty="0">
                <a:solidFill>
                  <a:schemeClr val="tx1"/>
                </a:solidFill>
                <a:effectLst/>
                <a:latin typeface="+mn-lt"/>
                <a:ea typeface="+mn-ea"/>
                <a:cs typeface="+mn-cs"/>
              </a:rPr>
              <a:t>: Traditional apps use hard-coded IPs. Modern systems use </a:t>
            </a:r>
            <a:r>
              <a:rPr lang="en-IN" sz="1200" b="1" i="0" kern="1200" dirty="0">
                <a:solidFill>
                  <a:schemeClr val="tx1"/>
                </a:solidFill>
                <a:effectLst/>
                <a:latin typeface="+mn-lt"/>
                <a:ea typeface="+mn-ea"/>
                <a:cs typeface="+mn-cs"/>
              </a:rPr>
              <a:t>DNS for discovery</a:t>
            </a:r>
            <a:r>
              <a:rPr lang="en-IN" sz="1200" b="0" i="0" kern="1200" dirty="0">
                <a:solidFill>
                  <a:schemeClr val="tx1"/>
                </a:solidFill>
                <a:effectLst/>
                <a:latin typeface="+mn-lt"/>
                <a:ea typeface="+mn-ea"/>
                <a:cs typeface="+mn-cs"/>
              </a:rPr>
              <a:t> - services register themselves, others find them via DNS. </a:t>
            </a:r>
            <a:r>
              <a:rPr lang="en-IN" sz="1200" b="1" i="0" kern="1200" dirty="0">
                <a:solidFill>
                  <a:schemeClr val="tx1"/>
                </a:solidFill>
                <a:effectLst/>
                <a:latin typeface="+mn-lt"/>
                <a:ea typeface="+mn-ea"/>
                <a:cs typeface="+mn-cs"/>
              </a:rPr>
              <a:t>SRV records</a:t>
            </a:r>
            <a:r>
              <a:rPr lang="en-IN" sz="1200" b="0" i="0" kern="1200" dirty="0">
                <a:solidFill>
                  <a:schemeClr val="tx1"/>
                </a:solidFill>
                <a:effectLst/>
                <a:latin typeface="+mn-lt"/>
                <a:ea typeface="+mn-ea"/>
                <a:cs typeface="+mn-cs"/>
              </a:rPr>
              <a:t> standardize service discovery. </a:t>
            </a:r>
            <a:r>
              <a:rPr lang="en-IN" sz="1200" b="1" i="0" kern="1200" dirty="0">
                <a:solidFill>
                  <a:schemeClr val="tx1"/>
                </a:solidFill>
                <a:effectLst/>
                <a:latin typeface="+mn-lt"/>
                <a:ea typeface="+mn-ea"/>
                <a:cs typeface="+mn-cs"/>
              </a:rPr>
              <a:t>Service meshes</a:t>
            </a:r>
            <a:r>
              <a:rPr lang="en-IN" sz="1200" b="0" i="0" kern="1200" dirty="0">
                <a:solidFill>
                  <a:schemeClr val="tx1"/>
                </a:solidFill>
                <a:effectLst/>
                <a:latin typeface="+mn-lt"/>
                <a:ea typeface="+mn-ea"/>
                <a:cs typeface="+mn-cs"/>
              </a:rPr>
              <a:t> (Istio, </a:t>
            </a:r>
            <a:r>
              <a:rPr lang="en-IN" sz="1200" b="0" i="0" kern="1200" dirty="0" err="1">
                <a:solidFill>
                  <a:schemeClr val="tx1"/>
                </a:solidFill>
                <a:effectLst/>
                <a:latin typeface="+mn-lt"/>
                <a:ea typeface="+mn-ea"/>
                <a:cs typeface="+mn-cs"/>
              </a:rPr>
              <a:t>Linkerd</a:t>
            </a:r>
            <a:r>
              <a:rPr lang="en-IN" sz="1200" b="0" i="0" kern="1200" dirty="0">
                <a:solidFill>
                  <a:schemeClr val="tx1"/>
                </a:solidFill>
                <a:effectLst/>
                <a:latin typeface="+mn-lt"/>
                <a:ea typeface="+mn-ea"/>
                <a:cs typeface="+mn-cs"/>
              </a:rPr>
              <a:t>) use DNS internally.</a:t>
            </a:r>
          </a:p>
          <a:p>
            <a:r>
              <a:rPr lang="en-IN" sz="1200" b="0" i="0" kern="1200" dirty="0">
                <a:solidFill>
                  <a:schemeClr val="tx1"/>
                </a:solidFill>
                <a:effectLst/>
                <a:latin typeface="+mn-lt"/>
                <a:ea typeface="+mn-ea"/>
                <a:cs typeface="+mn-cs"/>
              </a:rPr>
              <a:t>Key concepts: </a:t>
            </a:r>
            <a:r>
              <a:rPr lang="en-IN" sz="1200" b="1" i="0" kern="1200" dirty="0">
                <a:solidFill>
                  <a:schemeClr val="tx1"/>
                </a:solidFill>
                <a:effectLst/>
                <a:latin typeface="+mn-lt"/>
                <a:ea typeface="+mn-ea"/>
                <a:cs typeface="+mn-cs"/>
              </a:rPr>
              <a:t>TTL</a:t>
            </a:r>
            <a:r>
              <a:rPr lang="en-IN" sz="1200" b="0" i="0" kern="1200" dirty="0">
                <a:solidFill>
                  <a:schemeClr val="tx1"/>
                </a:solidFill>
                <a:effectLst/>
                <a:latin typeface="+mn-lt"/>
                <a:ea typeface="+mn-ea"/>
                <a:cs typeface="+mn-cs"/>
              </a:rPr>
              <a:t> controls caching (low TTL = faster failover, more queries). </a:t>
            </a:r>
            <a:r>
              <a:rPr lang="en-IN" sz="1200" b="1" i="0" kern="1200" dirty="0">
                <a:solidFill>
                  <a:schemeClr val="tx1"/>
                </a:solidFill>
                <a:effectLst/>
                <a:latin typeface="+mn-lt"/>
                <a:ea typeface="+mn-ea"/>
                <a:cs typeface="+mn-cs"/>
              </a:rPr>
              <a:t>Propagation delay</a:t>
            </a:r>
            <a:r>
              <a:rPr lang="en-IN" sz="1200" b="0" i="0" kern="1200" dirty="0">
                <a:solidFill>
                  <a:schemeClr val="tx1"/>
                </a:solidFill>
                <a:effectLst/>
                <a:latin typeface="+mn-lt"/>
                <a:ea typeface="+mn-ea"/>
                <a:cs typeface="+mn-cs"/>
              </a:rPr>
              <a:t> - DNS changes take time to spread. </a:t>
            </a:r>
            <a:r>
              <a:rPr lang="en-IN" sz="1200" b="1" i="0" kern="1200" dirty="0">
                <a:solidFill>
                  <a:schemeClr val="tx1"/>
                </a:solidFill>
                <a:effectLst/>
                <a:latin typeface="+mn-lt"/>
                <a:ea typeface="+mn-ea"/>
                <a:cs typeface="+mn-cs"/>
              </a:rPr>
              <a:t>DNSSEC</a:t>
            </a:r>
            <a:r>
              <a:rPr lang="en-IN" sz="1200" b="0" i="0" kern="1200" dirty="0">
                <a:solidFill>
                  <a:schemeClr val="tx1"/>
                </a:solidFill>
                <a:effectLst/>
                <a:latin typeface="+mn-lt"/>
                <a:ea typeface="+mn-ea"/>
                <a:cs typeface="+mn-cs"/>
              </a:rPr>
              <a:t> adds cryptographic signatures for security.</a:t>
            </a:r>
          </a:p>
          <a:p>
            <a:r>
              <a:rPr lang="en-IN" sz="1200" b="0" i="0" kern="1200" dirty="0">
                <a:solidFill>
                  <a:schemeClr val="tx1"/>
                </a:solidFill>
                <a:effectLst/>
                <a:latin typeface="+mn-lt"/>
                <a:ea typeface="+mn-ea"/>
                <a:cs typeface="+mn-cs"/>
              </a:rPr>
              <a:t>In distributed systems: DNS enables </a:t>
            </a:r>
            <a:r>
              <a:rPr lang="en-IN" sz="1200" b="1" i="0" kern="1200" dirty="0">
                <a:solidFill>
                  <a:schemeClr val="tx1"/>
                </a:solidFill>
                <a:effectLst/>
                <a:latin typeface="+mn-lt"/>
                <a:ea typeface="+mn-ea"/>
                <a:cs typeface="+mn-cs"/>
              </a:rPr>
              <a:t>service discovery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load balancing</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failover</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blue-green deployments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multi-region routing</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Issues: </a:t>
            </a:r>
            <a:r>
              <a:rPr lang="en-IN" sz="1200" b="1" i="0" kern="1200" dirty="0">
                <a:solidFill>
                  <a:schemeClr val="tx1"/>
                </a:solidFill>
                <a:effectLst/>
                <a:latin typeface="+mn-lt"/>
                <a:ea typeface="+mn-ea"/>
                <a:cs typeface="+mn-cs"/>
              </a:rPr>
              <a:t>DNS caching</a:t>
            </a:r>
            <a:r>
              <a:rPr lang="en-IN" sz="1200" b="0" i="0" kern="1200" dirty="0">
                <a:solidFill>
                  <a:schemeClr val="tx1"/>
                </a:solidFill>
                <a:effectLst/>
                <a:latin typeface="+mn-lt"/>
                <a:ea typeface="+mn-ea"/>
                <a:cs typeface="+mn-cs"/>
              </a:rPr>
              <a:t> can return stale IPs (respect TTLs). </a:t>
            </a:r>
            <a:r>
              <a:rPr lang="en-IN" sz="1200" b="1" i="0" kern="1200" dirty="0">
                <a:solidFill>
                  <a:schemeClr val="tx1"/>
                </a:solidFill>
                <a:effectLst/>
                <a:latin typeface="+mn-lt"/>
                <a:ea typeface="+mn-ea"/>
                <a:cs typeface="+mn-cs"/>
              </a:rPr>
              <a:t>DNS failure</a:t>
            </a:r>
            <a:r>
              <a:rPr lang="en-IN" sz="1200" b="0" i="0" kern="1200" dirty="0">
                <a:solidFill>
                  <a:schemeClr val="tx1"/>
                </a:solidFill>
                <a:effectLst/>
                <a:latin typeface="+mn-lt"/>
                <a:ea typeface="+mn-ea"/>
                <a:cs typeface="+mn-cs"/>
              </a:rPr>
              <a:t> breaks everything (have multiple resolvers). </a:t>
            </a:r>
            <a:r>
              <a:rPr lang="en-IN" sz="1200" b="1" i="0" kern="1200" dirty="0">
                <a:solidFill>
                  <a:schemeClr val="tx1"/>
                </a:solidFill>
                <a:effectLst/>
                <a:latin typeface="+mn-lt"/>
                <a:ea typeface="+mn-ea"/>
                <a:cs typeface="+mn-cs"/>
              </a:rPr>
              <a:t>DNS attacks</a:t>
            </a:r>
            <a:r>
              <a:rPr lang="en-IN" sz="1200" b="0" i="0" kern="1200" dirty="0">
                <a:solidFill>
                  <a:schemeClr val="tx1"/>
                </a:solidFill>
                <a:effectLst/>
                <a:latin typeface="+mn-lt"/>
                <a:ea typeface="+mn-ea"/>
                <a:cs typeface="+mn-cs"/>
              </a:rPr>
              <a:t> (amplification attacks).</a:t>
            </a:r>
          </a:p>
          <a:p>
            <a:r>
              <a:rPr lang="en-IN" sz="1200" b="0" i="0" kern="1200" dirty="0">
                <a:solidFill>
                  <a:schemeClr val="tx1"/>
                </a:solidFill>
                <a:effectLst/>
                <a:latin typeface="+mn-lt"/>
                <a:ea typeface="+mn-ea"/>
                <a:cs typeface="+mn-cs"/>
              </a:rPr>
              <a:t>Cloud services: </a:t>
            </a:r>
            <a:r>
              <a:rPr lang="en-IN" sz="1200" b="1" i="0" kern="1200" dirty="0">
                <a:solidFill>
                  <a:schemeClr val="tx1"/>
                </a:solidFill>
                <a:effectLst/>
                <a:latin typeface="+mn-lt"/>
                <a:ea typeface="+mn-ea"/>
                <a:cs typeface="+mn-cs"/>
              </a:rPr>
              <a:t>AWS Route 53</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Google Cloud DNS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Cloudflare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Azure DNS</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Tools: dig for querying, </a:t>
            </a:r>
            <a:r>
              <a:rPr lang="en-IN" sz="1200" b="0" i="0" kern="1200" dirty="0" err="1">
                <a:solidFill>
                  <a:schemeClr val="tx1"/>
                </a:solidFill>
                <a:effectLst/>
                <a:latin typeface="+mn-lt"/>
                <a:ea typeface="+mn-ea"/>
                <a:cs typeface="+mn-cs"/>
              </a:rPr>
              <a:t>nslookup</a:t>
            </a:r>
            <a:r>
              <a:rPr lang="en-IN" sz="1200" b="0" i="0" kern="1200" dirty="0">
                <a:solidFill>
                  <a:schemeClr val="tx1"/>
                </a:solidFill>
                <a:effectLst/>
                <a:latin typeface="+mn-lt"/>
                <a:ea typeface="+mn-ea"/>
                <a:cs typeface="+mn-cs"/>
              </a:rPr>
              <a:t> on Windows.</a:t>
            </a:r>
          </a:p>
          <a:p>
            <a:r>
              <a:rPr lang="en-IN" sz="1200" b="0" i="0" kern="1200" dirty="0">
                <a:solidFill>
                  <a:schemeClr val="tx1"/>
                </a:solidFill>
                <a:effectLst/>
                <a:latin typeface="+mn-lt"/>
                <a:ea typeface="+mn-ea"/>
                <a:cs typeface="+mn-cs"/>
              </a:rPr>
              <a:t>Best practices: </a:t>
            </a:r>
            <a:r>
              <a:rPr lang="en-IN" sz="1200" b="1" i="0" kern="1200" dirty="0">
                <a:solidFill>
                  <a:schemeClr val="tx1"/>
                </a:solidFill>
                <a:effectLst/>
                <a:latin typeface="+mn-lt"/>
                <a:ea typeface="+mn-ea"/>
                <a:cs typeface="+mn-cs"/>
              </a:rPr>
              <a:t>Use DNS, not hard-coded IPs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Set appropriate TTLs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Monitor DNS health</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Implement retry logic</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Cache thoughtfully</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Plan for outages</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In microservices: </a:t>
            </a:r>
            <a:r>
              <a:rPr lang="en-IN" sz="1200" b="1" i="0" kern="1200" dirty="0">
                <a:solidFill>
                  <a:schemeClr val="tx1"/>
                </a:solidFill>
                <a:effectLst/>
                <a:latin typeface="+mn-lt"/>
                <a:ea typeface="+mn-ea"/>
                <a:cs typeface="+mn-cs"/>
              </a:rPr>
              <a:t>Kubernetes</a:t>
            </a:r>
            <a:r>
              <a:rPr lang="en-IN" sz="1200" b="0" i="0" kern="1200" dirty="0">
                <a:solidFill>
                  <a:schemeClr val="tx1"/>
                </a:solidFill>
                <a:effectLst/>
                <a:latin typeface="+mn-lt"/>
                <a:ea typeface="+mn-ea"/>
                <a:cs typeface="+mn-cs"/>
              </a:rPr>
              <a:t> has internal DNS. </a:t>
            </a:r>
            <a:r>
              <a:rPr lang="en-IN" sz="1200" b="1" i="0" kern="1200" dirty="0">
                <a:solidFill>
                  <a:schemeClr val="tx1"/>
                </a:solidFill>
                <a:effectLst/>
                <a:latin typeface="+mn-lt"/>
                <a:ea typeface="+mn-ea"/>
                <a:cs typeface="+mn-cs"/>
              </a:rPr>
              <a:t>Consul</a:t>
            </a:r>
            <a:r>
              <a:rPr lang="en-IN" sz="1200" b="0" i="0" kern="1200" dirty="0">
                <a:solidFill>
                  <a:schemeClr val="tx1"/>
                </a:solidFill>
                <a:effectLst/>
                <a:latin typeface="+mn-lt"/>
                <a:ea typeface="+mn-ea"/>
                <a:cs typeface="+mn-cs"/>
              </a:rPr>
              <a:t> provides DNS interface. </a:t>
            </a:r>
            <a:r>
              <a:rPr lang="en-IN" sz="1200" b="1" i="0" kern="1200" dirty="0">
                <a:solidFill>
                  <a:schemeClr val="tx1"/>
                </a:solidFill>
                <a:effectLst/>
                <a:latin typeface="+mn-lt"/>
                <a:ea typeface="+mn-ea"/>
                <a:cs typeface="+mn-cs"/>
              </a:rPr>
              <a:t>Service meshes</a:t>
            </a:r>
            <a:r>
              <a:rPr lang="en-IN" sz="1200" b="0" i="0" kern="1200" dirty="0">
                <a:solidFill>
                  <a:schemeClr val="tx1"/>
                </a:solidFill>
                <a:effectLst/>
                <a:latin typeface="+mn-lt"/>
                <a:ea typeface="+mn-ea"/>
                <a:cs typeface="+mn-cs"/>
              </a:rPr>
              <a:t> use DNS for routing.</a:t>
            </a:r>
          </a:p>
          <a:p>
            <a:r>
              <a:rPr lang="en-IN" sz="1200" b="0" i="0" kern="1200" dirty="0">
                <a:solidFill>
                  <a:schemeClr val="tx1"/>
                </a:solidFill>
                <a:effectLst/>
                <a:latin typeface="+mn-lt"/>
                <a:ea typeface="+mn-ea"/>
                <a:cs typeface="+mn-cs"/>
              </a:rPr>
              <a:t>DNS is </a:t>
            </a:r>
            <a:r>
              <a:rPr lang="en-IN" sz="1200" b="1" i="0" kern="1200" dirty="0">
                <a:solidFill>
                  <a:schemeClr val="tx1"/>
                </a:solidFill>
                <a:effectLst/>
                <a:latin typeface="+mn-lt"/>
                <a:ea typeface="+mn-ea"/>
                <a:cs typeface="+mn-cs"/>
              </a:rPr>
              <a:t>critical infrastructure</a:t>
            </a:r>
            <a:r>
              <a:rPr lang="en-IN" sz="1200" b="0" i="0" kern="1200" dirty="0">
                <a:solidFill>
                  <a:schemeClr val="tx1"/>
                </a:solidFill>
                <a:effectLst/>
                <a:latin typeface="+mn-lt"/>
                <a:ea typeface="+mn-ea"/>
                <a:cs typeface="+mn-cs"/>
              </a:rPr>
              <a:t> - understand it well!</a:t>
            </a:r>
          </a:p>
          <a:p>
            <a:endParaRPr lang="en-IN" dirty="0"/>
          </a:p>
        </p:txBody>
      </p:sp>
      <p:sp>
        <p:nvSpPr>
          <p:cNvPr id="4" name="Slide Number Placeholder 3">
            <a:extLst>
              <a:ext uri="{FF2B5EF4-FFF2-40B4-BE49-F238E27FC236}">
                <a16:creationId xmlns:a16="http://schemas.microsoft.com/office/drawing/2014/main" id="{0A4149CF-F096-B14B-196C-4CAEB5F4635B}"/>
              </a:ext>
            </a:extLst>
          </p:cNvPr>
          <p:cNvSpPr>
            <a:spLocks noGrp="1"/>
          </p:cNvSpPr>
          <p:nvPr>
            <p:ph type="sldNum" sz="quarter" idx="5"/>
          </p:nvPr>
        </p:nvSpPr>
        <p:spPr/>
        <p:txBody>
          <a:bodyPr/>
          <a:lstStyle/>
          <a:p>
            <a:fld id="{72853293-4F00-4813-B74A-3945ABE0C2FC}" type="slidenum">
              <a:rPr lang="en-IN" smtClean="0"/>
              <a:t>8</a:t>
            </a:fld>
            <a:endParaRPr lang="en-IN"/>
          </a:p>
        </p:txBody>
      </p:sp>
    </p:spTree>
    <p:extLst>
      <p:ext uri="{BB962C8B-B14F-4D97-AF65-F5344CB8AC3E}">
        <p14:creationId xmlns:p14="http://schemas.microsoft.com/office/powerpoint/2010/main" val="272528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F96E-D8E3-A7AF-6E30-D4634DD23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7F02F-B4D6-09EC-FB00-C10B5642C0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D5EF947-E80D-99CF-441B-D6F1E31413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C6D997B-60B7-02A4-6D5B-EF294DB0AB02}"/>
              </a:ext>
            </a:extLst>
          </p:cNvPr>
          <p:cNvSpPr>
            <a:spLocks noGrp="1"/>
          </p:cNvSpPr>
          <p:nvPr>
            <p:ph type="sldNum" sz="quarter" idx="5"/>
          </p:nvPr>
        </p:nvSpPr>
        <p:spPr/>
        <p:txBody>
          <a:bodyPr/>
          <a:lstStyle/>
          <a:p>
            <a:fld id="{72853293-4F00-4813-B74A-3945ABE0C2FC}" type="slidenum">
              <a:rPr lang="en-IN" smtClean="0"/>
              <a:t>9</a:t>
            </a:fld>
            <a:endParaRPr lang="en-IN"/>
          </a:p>
        </p:txBody>
      </p:sp>
    </p:spTree>
    <p:extLst>
      <p:ext uri="{BB962C8B-B14F-4D97-AF65-F5344CB8AC3E}">
        <p14:creationId xmlns:p14="http://schemas.microsoft.com/office/powerpoint/2010/main" val="3492845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F239-A2F1-6A85-75DE-C319D3A54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7A0DE-19AF-67A7-48D1-175D64DA906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B085F7C-E703-5C61-4E30-2A518FAAD979}"/>
              </a:ext>
            </a:extLst>
          </p:cNvPr>
          <p:cNvSpPr>
            <a:spLocks noGrp="1"/>
          </p:cNvSpPr>
          <p:nvPr>
            <p:ph type="body" idx="1"/>
          </p:nvPr>
        </p:nvSpPr>
        <p:spPr/>
        <p:txBody>
          <a:bodyPr/>
          <a:lstStyle/>
          <a:p>
            <a:endParaRPr lang="en-US" sz="1200" b="1" i="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The Transmission Control Protocol, or TCP, is one of the most widely used communication protocols on the internet. It plays a vital role in ensuring that data is transmitted accurately, completely, and in the correct order between sender and receiver. TCP is a connection-oriented protocol, meaning that before any actual data exchange occurs, a secure and reliable connection must first be established between the two communicating devices. This setup process is similar to making a phone call—you don’t start speaking until the other person answers. TCP achieves this reliability through a procedure known as the three-way handshake, where the sender and receiver exchange special control messages to confirm that both sides are ready to communicate.</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Once the connection is established, TCP ensures that data is delivered reliably and in sequence. Every piece of data sent is broken into packets, and each packet is carefully tracked with a unique sequence number. When these packets reach their destination, TCP reassembles them in the correct order, ensuring no data is missing or misplaced. If any packet is lost or corrupted during transmission, TCP automatically requests its retransmission. This mechanism guarantees error-free and ordered communication, making TCP a perfect fit for use cases where precision and completeness are critical.</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TCP</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reliable, connection-oriented</a:t>
            </a:r>
            <a:r>
              <a:rPr lang="en-US" sz="1200" b="0" i="0" kern="1200" dirty="0">
                <a:solidFill>
                  <a:schemeClr val="tx1"/>
                </a:solidFill>
                <a:effectLst/>
                <a:latin typeface="+mn-lt"/>
                <a:ea typeface="+mn-ea"/>
                <a:cs typeface="+mn-cs"/>
              </a:rPr>
              <a:t>. It has a three-way handshake to establish connection. Guarantees delivery, in-order delivery. Has flow control (don't overwhelm receiver) and congestion control (adapt to network). But it's </a:t>
            </a:r>
            <a:r>
              <a:rPr lang="en-US" sz="1200" b="1" i="0" kern="1200" dirty="0">
                <a:solidFill>
                  <a:schemeClr val="tx1"/>
                </a:solidFill>
                <a:effectLst/>
                <a:latin typeface="+mn-lt"/>
                <a:ea typeface="+mn-ea"/>
                <a:cs typeface="+mn-cs"/>
              </a:rPr>
              <a:t>slower</a:t>
            </a:r>
            <a:r>
              <a:rPr lang="en-US" sz="1200" b="0" i="0" kern="1200" dirty="0">
                <a:solidFill>
                  <a:schemeClr val="tx1"/>
                </a:solidFill>
                <a:effectLst/>
                <a:latin typeface="+mn-lt"/>
                <a:ea typeface="+mn-ea"/>
                <a:cs typeface="+mn-cs"/>
              </a:rPr>
              <a:t> - more overhead, more latency.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TCP features: </a:t>
            </a:r>
            <a:r>
              <a:rPr lang="en-US" sz="1200" b="1" i="0" kern="1200" dirty="0">
                <a:solidFill>
                  <a:schemeClr val="tx1"/>
                </a:solidFill>
                <a:effectLst/>
                <a:latin typeface="+mn-lt"/>
                <a:ea typeface="+mn-ea"/>
                <a:cs typeface="+mn-cs"/>
              </a:rPr>
              <a:t>Sequence numbers</a:t>
            </a:r>
            <a:r>
              <a:rPr lang="en-US" sz="1200" b="0" i="0" kern="1200" dirty="0">
                <a:solidFill>
                  <a:schemeClr val="tx1"/>
                </a:solidFill>
                <a:effectLst/>
                <a:latin typeface="+mn-lt"/>
                <a:ea typeface="+mn-ea"/>
                <a:cs typeface="+mn-cs"/>
              </a:rPr>
              <a:t> track order. </a:t>
            </a:r>
            <a:r>
              <a:rPr lang="en-US" sz="1200" b="1" i="0" kern="1200" dirty="0">
                <a:solidFill>
                  <a:schemeClr val="tx1"/>
                </a:solidFill>
                <a:effectLst/>
                <a:latin typeface="+mn-lt"/>
                <a:ea typeface="+mn-ea"/>
                <a:cs typeface="+mn-cs"/>
              </a:rPr>
              <a:t>Acknowledgements</a:t>
            </a:r>
            <a:r>
              <a:rPr lang="en-US" sz="1200" b="0" i="0" kern="1200" dirty="0">
                <a:solidFill>
                  <a:schemeClr val="tx1"/>
                </a:solidFill>
                <a:effectLst/>
                <a:latin typeface="+mn-lt"/>
                <a:ea typeface="+mn-ea"/>
                <a:cs typeface="+mn-cs"/>
              </a:rPr>
              <a:t> confirm receipt. </a:t>
            </a:r>
            <a:r>
              <a:rPr lang="en-US" sz="1200" b="1" i="0" kern="1200" dirty="0">
                <a:solidFill>
                  <a:schemeClr val="tx1"/>
                </a:solidFill>
                <a:effectLst/>
                <a:latin typeface="+mn-lt"/>
                <a:ea typeface="+mn-ea"/>
                <a:cs typeface="+mn-cs"/>
              </a:rPr>
              <a:t>Retransmission</a:t>
            </a:r>
            <a:r>
              <a:rPr lang="en-US" sz="1200" b="0" i="0" kern="1200" dirty="0">
                <a:solidFill>
                  <a:schemeClr val="tx1"/>
                </a:solidFill>
                <a:effectLst/>
                <a:latin typeface="+mn-lt"/>
                <a:ea typeface="+mn-ea"/>
                <a:cs typeface="+mn-cs"/>
              </a:rPr>
              <a:t> for lost packets. </a:t>
            </a:r>
            <a:r>
              <a:rPr lang="en-US" sz="1200" b="1" i="0" kern="1200" dirty="0">
                <a:solidFill>
                  <a:schemeClr val="tx1"/>
                </a:solidFill>
                <a:effectLst/>
                <a:latin typeface="+mn-lt"/>
                <a:ea typeface="+mn-ea"/>
                <a:cs typeface="+mn-cs"/>
              </a:rPr>
              <a:t>Sliding window</a:t>
            </a:r>
            <a:r>
              <a:rPr lang="en-US" sz="1200" b="0" i="0" kern="1200" dirty="0">
                <a:solidFill>
                  <a:schemeClr val="tx1"/>
                </a:solidFill>
                <a:effectLst/>
                <a:latin typeface="+mn-lt"/>
                <a:ea typeface="+mn-ea"/>
                <a:cs typeface="+mn-cs"/>
              </a:rPr>
              <a:t> for flow control. </a:t>
            </a:r>
            <a:r>
              <a:rPr lang="en-US" sz="1200" b="1" i="0" kern="1200" dirty="0">
                <a:solidFill>
                  <a:schemeClr val="tx1"/>
                </a:solidFill>
                <a:effectLst/>
                <a:latin typeface="+mn-lt"/>
                <a:ea typeface="+mn-ea"/>
                <a:cs typeface="+mn-cs"/>
              </a:rPr>
              <a:t>Congestion control</a:t>
            </a:r>
            <a:r>
              <a:rPr lang="en-US" sz="1200" b="0" i="0" kern="1200" dirty="0">
                <a:solidFill>
                  <a:schemeClr val="tx1"/>
                </a:solidFill>
                <a:effectLst/>
                <a:latin typeface="+mn-lt"/>
                <a:ea typeface="+mn-ea"/>
                <a:cs typeface="+mn-cs"/>
              </a:rPr>
              <a:t> algorithms (slow start, congestion avoidance).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to choose TCP: </a:t>
            </a:r>
            <a:r>
              <a:rPr lang="en-US" sz="1200" b="1" i="0" kern="1200" dirty="0">
                <a:solidFill>
                  <a:schemeClr val="tx1"/>
                </a:solidFill>
                <a:effectLst/>
                <a:latin typeface="+mn-lt"/>
                <a:ea typeface="+mn-ea"/>
                <a:cs typeface="+mn-cs"/>
              </a:rPr>
              <a:t>Data integrity critical</a:t>
            </a:r>
            <a:r>
              <a:rPr lang="en-US" sz="1200" b="0" i="0" kern="1200" dirty="0">
                <a:solidFill>
                  <a:schemeClr val="tx1"/>
                </a:solidFill>
                <a:effectLst/>
                <a:latin typeface="+mn-lt"/>
                <a:ea typeface="+mn-ea"/>
                <a:cs typeface="+mn-cs"/>
              </a:rPr>
              <a:t> (database replication). </a:t>
            </a:r>
            <a:r>
              <a:rPr lang="en-US" sz="1200" b="1" i="0" kern="1200" dirty="0">
                <a:solidFill>
                  <a:schemeClr val="tx1"/>
                </a:solidFill>
                <a:effectLst/>
                <a:latin typeface="+mn-lt"/>
                <a:ea typeface="+mn-ea"/>
                <a:cs typeface="+mn-cs"/>
              </a:rPr>
              <a:t>Order matters</a:t>
            </a:r>
            <a:r>
              <a:rPr lang="en-US" sz="1200" b="0" i="0" kern="1200" dirty="0">
                <a:solidFill>
                  <a:schemeClr val="tx1"/>
                </a:solidFill>
                <a:effectLst/>
                <a:latin typeface="+mn-lt"/>
                <a:ea typeface="+mn-ea"/>
                <a:cs typeface="+mn-cs"/>
              </a:rPr>
              <a:t> (message queues). </a:t>
            </a:r>
            <a:r>
              <a:rPr lang="en-US" sz="1200" b="1" i="0" kern="1200" dirty="0">
                <a:solidFill>
                  <a:schemeClr val="tx1"/>
                </a:solidFill>
                <a:effectLst/>
                <a:latin typeface="+mn-lt"/>
                <a:ea typeface="+mn-ea"/>
                <a:cs typeface="+mn-cs"/>
              </a:rPr>
              <a:t>Flow control needed</a:t>
            </a:r>
            <a:r>
              <a:rPr lang="en-US" sz="1200" b="0" i="0" kern="1200" dirty="0">
                <a:solidFill>
                  <a:schemeClr val="tx1"/>
                </a:solidFill>
                <a:effectLst/>
                <a:latin typeface="+mn-lt"/>
                <a:ea typeface="+mn-ea"/>
                <a:cs typeface="+mn-cs"/>
              </a:rPr>
              <a:t> (large transfers). </a:t>
            </a:r>
            <a:r>
              <a:rPr lang="en-US" sz="1200" b="1" i="0" kern="1200" dirty="0">
                <a:solidFill>
                  <a:schemeClr val="tx1"/>
                </a:solidFill>
                <a:effectLst/>
                <a:latin typeface="+mn-lt"/>
                <a:ea typeface="+mn-ea"/>
                <a:cs typeface="+mn-cs"/>
              </a:rPr>
              <a:t>Long-lived connections</a:t>
            </a:r>
            <a:r>
              <a:rPr lang="en-US" sz="1200" b="0" i="0" kern="1200" dirty="0">
                <a:solidFill>
                  <a:schemeClr val="tx1"/>
                </a:solidFill>
                <a:effectLst/>
                <a:latin typeface="+mn-lt"/>
                <a:ea typeface="+mn-ea"/>
                <a:cs typeface="+mn-cs"/>
              </a:rPr>
              <a:t> (chat).</a:t>
            </a:r>
          </a:p>
          <a:p>
            <a:endParaRPr lang="en-IN" dirty="0"/>
          </a:p>
          <a:p>
            <a:r>
              <a:rPr lang="en-IN" sz="1200" b="0" i="0" kern="1200" dirty="0">
                <a:solidFill>
                  <a:schemeClr val="tx1"/>
                </a:solidFill>
                <a:effectLst/>
                <a:latin typeface="+mn-lt"/>
                <a:ea typeface="+mn-ea"/>
                <a:cs typeface="+mn-cs"/>
              </a:rPr>
              <a:t>Performance: TCP has 1.5 RTT setup, 20-60 byte headers, adaptive throughput.</a:t>
            </a:r>
          </a:p>
          <a:p>
            <a:r>
              <a:rPr lang="en-IN" sz="1200" b="0" i="0" kern="1200" dirty="0">
                <a:solidFill>
                  <a:schemeClr val="tx1"/>
                </a:solidFill>
                <a:effectLst/>
                <a:latin typeface="+mn-lt"/>
                <a:ea typeface="+mn-ea"/>
                <a:cs typeface="+mn-cs"/>
              </a:rPr>
              <a:t>In distributed systems: </a:t>
            </a:r>
            <a:r>
              <a:rPr lang="en-IN" sz="1200" b="1" i="0" kern="1200" dirty="0">
                <a:solidFill>
                  <a:schemeClr val="tx1"/>
                </a:solidFill>
                <a:effectLst/>
                <a:latin typeface="+mn-lt"/>
                <a:ea typeface="+mn-ea"/>
                <a:cs typeface="+mn-cs"/>
              </a:rPr>
              <a:t>Service-to-service</a:t>
            </a:r>
            <a:r>
              <a:rPr lang="en-IN" sz="1200" b="0" i="0" kern="1200" dirty="0">
                <a:solidFill>
                  <a:schemeClr val="tx1"/>
                </a:solidFill>
                <a:effectLst/>
                <a:latin typeface="+mn-lt"/>
                <a:ea typeface="+mn-ea"/>
                <a:cs typeface="+mn-cs"/>
              </a:rPr>
              <a:t> usually TCP (gRPC, HTTP). </a:t>
            </a:r>
            <a:r>
              <a:rPr lang="en-IN" sz="1200" b="1" i="0" kern="1200" dirty="0">
                <a:solidFill>
                  <a:schemeClr val="tx1"/>
                </a:solidFill>
                <a:effectLst/>
                <a:latin typeface="+mn-lt"/>
                <a:ea typeface="+mn-ea"/>
                <a:cs typeface="+mn-cs"/>
              </a:rPr>
              <a:t>Real-time</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WebSockets</a:t>
            </a:r>
            <a:r>
              <a:rPr lang="en-IN" sz="1200" b="0" i="0" kern="1200" dirty="0">
                <a:solidFill>
                  <a:schemeClr val="tx1"/>
                </a:solidFill>
                <a:effectLst/>
                <a:latin typeface="+mn-lt"/>
                <a:ea typeface="+mn-ea"/>
                <a:cs typeface="+mn-cs"/>
              </a:rPr>
              <a:t> (TCP).</a:t>
            </a:r>
          </a:p>
          <a:p>
            <a:r>
              <a:rPr lang="en-IN" sz="1200" b="0" i="0" kern="1200" dirty="0">
                <a:solidFill>
                  <a:schemeClr val="tx1"/>
                </a:solidFill>
                <a:effectLst/>
                <a:latin typeface="+mn-lt"/>
                <a:ea typeface="+mn-ea"/>
                <a:cs typeface="+mn-cs"/>
              </a:rPr>
              <a:t>Debugging: TCP issues - look at sequence numbers, ACKs. </a:t>
            </a:r>
          </a:p>
          <a:p>
            <a:r>
              <a:rPr lang="en-IN" sz="1200" b="0" i="0" kern="1200" dirty="0">
                <a:solidFill>
                  <a:schemeClr val="tx1"/>
                </a:solidFill>
                <a:effectLst/>
                <a:latin typeface="+mn-lt"/>
                <a:ea typeface="+mn-ea"/>
                <a:cs typeface="+mn-cs"/>
              </a:rPr>
              <a:t>The choice isn't just technical - it's about what your application values: </a:t>
            </a:r>
            <a:r>
              <a:rPr lang="en-IN" sz="1200" b="1" i="0" kern="1200" dirty="0">
                <a:solidFill>
                  <a:schemeClr val="tx1"/>
                </a:solidFill>
                <a:effectLst/>
                <a:latin typeface="+mn-lt"/>
                <a:ea typeface="+mn-ea"/>
                <a:cs typeface="+mn-cs"/>
              </a:rPr>
              <a:t>reliability or speed</a:t>
            </a:r>
            <a:r>
              <a:rPr lang="en-IN" sz="1200" b="0" i="0" kern="1200" dirty="0">
                <a:solidFill>
                  <a:schemeClr val="tx1"/>
                </a:solidFill>
                <a:effectLst/>
                <a:latin typeface="+mn-lt"/>
                <a:ea typeface="+mn-ea"/>
                <a:cs typeface="+mn-cs"/>
              </a:rPr>
              <a:t>.</a:t>
            </a:r>
          </a:p>
          <a:p>
            <a:endParaRPr lang="en-IN" dirty="0"/>
          </a:p>
        </p:txBody>
      </p:sp>
      <p:sp>
        <p:nvSpPr>
          <p:cNvPr id="4" name="Slide Number Placeholder 3">
            <a:extLst>
              <a:ext uri="{FF2B5EF4-FFF2-40B4-BE49-F238E27FC236}">
                <a16:creationId xmlns:a16="http://schemas.microsoft.com/office/drawing/2014/main" id="{1967342A-D8DD-A141-4F18-0C9689A9E97F}"/>
              </a:ext>
            </a:extLst>
          </p:cNvPr>
          <p:cNvSpPr>
            <a:spLocks noGrp="1"/>
          </p:cNvSpPr>
          <p:nvPr>
            <p:ph type="sldNum" sz="quarter" idx="5"/>
          </p:nvPr>
        </p:nvSpPr>
        <p:spPr/>
        <p:txBody>
          <a:bodyPr/>
          <a:lstStyle/>
          <a:p>
            <a:fld id="{72853293-4F00-4813-B74A-3945ABE0C2FC}" type="slidenum">
              <a:rPr lang="en-IN" smtClean="0"/>
              <a:t>10</a:t>
            </a:fld>
            <a:endParaRPr lang="en-IN"/>
          </a:p>
        </p:txBody>
      </p:sp>
    </p:spTree>
    <p:extLst>
      <p:ext uri="{BB962C8B-B14F-4D97-AF65-F5344CB8AC3E}">
        <p14:creationId xmlns:p14="http://schemas.microsoft.com/office/powerpoint/2010/main" val="1890665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6A957-94B7-2C5C-40C4-1B48706AD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07628-4BBD-4F1F-1A94-FFEEF0824F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180D04-2903-977D-1A6D-987E6347D310}"/>
              </a:ext>
            </a:extLst>
          </p:cNvPr>
          <p:cNvSpPr>
            <a:spLocks noGrp="1"/>
          </p:cNvSpPr>
          <p:nvPr>
            <p:ph type="body" idx="1"/>
          </p:nvPr>
        </p:nvSpPr>
        <p:spPr/>
        <p:txBody>
          <a:bodyPr/>
          <a:lstStyle/>
          <a:p>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contrast to TCP’s emphasis on reliability, the User Datagram Protocol (UDP) is designed with speed and efficiency in mind. UDP is a connectionless protocol, meaning it does not establish a formal connection before sending data. Instead, it simply sends packets — known as datagrams — without checking whether they are received or not. This approach is similar to sending postcards in the mail without waiting for confirmation that they have arrived. While this might sound risky, it drastically reduces communication overhead and results in much lower latency, making UDP ideal for real-time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Because UDP does not perform error checking, acknowledgment, or retransmission, it is significantly faster than TCP. This speed advantage is crucial for applications that demand instantaneous data flow, where a small amount of data loss is acceptable but delays are not. Examples include online gaming, live video streaming, voice over IP (VoIP), and real-time financial updates. In these cases, receiving the latest data quickly is far more important than ensuring that every packet arrives perfectly. For instance, when you are on a video call, a lost video frame or a short glitch in sound is preferable to a delay that disrupts the conversation.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However, this speed comes at the cost of reliability. Since UDP does not guarantee delivery, packets can be lost, duplicated, or arrive out of order. The protocol also lacks built-in mechanisms for congestion control or flow management, which TCP handles automatically. In applications that cannot tolerate such inconsistencies, developers often build their own lightweight reliability systems on top of UDP or choose TCP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UDP</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fast, connectionless</a:t>
            </a:r>
            <a:r>
              <a:rPr lang="en-US" sz="1200" b="0" i="0" kern="1200" dirty="0">
                <a:solidFill>
                  <a:schemeClr val="tx1"/>
                </a:solidFill>
                <a:effectLst/>
                <a:latin typeface="+mn-lt"/>
                <a:ea typeface="+mn-ea"/>
                <a:cs typeface="+mn-cs"/>
              </a:rPr>
              <a:t>. No setup, just send. No delivery guarantees, no ordering, no flow control. But </a:t>
            </a:r>
            <a:r>
              <a:rPr lang="en-US" sz="1200" b="1" i="0" kern="1200" dirty="0">
                <a:solidFill>
                  <a:schemeClr val="tx1"/>
                </a:solidFill>
                <a:effectLst/>
                <a:latin typeface="+mn-lt"/>
                <a:ea typeface="+mn-ea"/>
                <a:cs typeface="+mn-cs"/>
              </a:rPr>
              <a:t>minimal overhead, lowest latency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UDP: Simple 8-byte header. Just source port, destination port, length, checksum. Send and forget.</a:t>
            </a:r>
          </a:p>
          <a:p>
            <a:endParaRPr lang="en-IN" dirty="0"/>
          </a:p>
          <a:p>
            <a:r>
              <a:rPr lang="en-IN" sz="1200" b="0" i="0" kern="1200" dirty="0">
                <a:solidFill>
                  <a:schemeClr val="tx1"/>
                </a:solidFill>
                <a:effectLst/>
                <a:latin typeface="+mn-lt"/>
                <a:ea typeface="+mn-ea"/>
                <a:cs typeface="+mn-cs"/>
              </a:rPr>
              <a:t>When to choose UDP: </a:t>
            </a:r>
            <a:r>
              <a:rPr lang="en-IN" sz="1200" b="1" i="0" kern="1200" dirty="0">
                <a:solidFill>
                  <a:schemeClr val="tx1"/>
                </a:solidFill>
                <a:effectLst/>
                <a:latin typeface="+mn-lt"/>
                <a:ea typeface="+mn-ea"/>
                <a:cs typeface="+mn-cs"/>
              </a:rPr>
              <a:t>Low latency critical</a:t>
            </a:r>
            <a:r>
              <a:rPr lang="en-IN" sz="1200" b="0" i="0" kern="1200" dirty="0">
                <a:solidFill>
                  <a:schemeClr val="tx1"/>
                </a:solidFill>
                <a:effectLst/>
                <a:latin typeface="+mn-lt"/>
                <a:ea typeface="+mn-ea"/>
                <a:cs typeface="+mn-cs"/>
              </a:rPr>
              <a:t> (gaming, VoIP). </a:t>
            </a:r>
            <a:r>
              <a:rPr lang="en-IN" sz="1200" b="1" i="0" kern="1200" dirty="0">
                <a:solidFill>
                  <a:schemeClr val="tx1"/>
                </a:solidFill>
                <a:effectLst/>
                <a:latin typeface="+mn-lt"/>
                <a:ea typeface="+mn-ea"/>
                <a:cs typeface="+mn-cs"/>
              </a:rPr>
              <a:t>Loss tolerable</a:t>
            </a:r>
            <a:r>
              <a:rPr lang="en-IN" sz="1200" b="0" i="0" kern="1200" dirty="0">
                <a:solidFill>
                  <a:schemeClr val="tx1"/>
                </a:solidFill>
                <a:effectLst/>
                <a:latin typeface="+mn-lt"/>
                <a:ea typeface="+mn-ea"/>
                <a:cs typeface="+mn-cs"/>
              </a:rPr>
              <a:t> (video streaming). </a:t>
            </a:r>
            <a:r>
              <a:rPr lang="en-IN" sz="1200" b="1" i="0" kern="1200" dirty="0">
                <a:solidFill>
                  <a:schemeClr val="tx1"/>
                </a:solidFill>
                <a:effectLst/>
                <a:latin typeface="+mn-lt"/>
                <a:ea typeface="+mn-ea"/>
                <a:cs typeface="+mn-cs"/>
              </a:rPr>
              <a:t>Broadcast/multicast</a:t>
            </a:r>
            <a:r>
              <a:rPr lang="en-IN" sz="1200" b="0" i="0" kern="1200" dirty="0">
                <a:solidFill>
                  <a:schemeClr val="tx1"/>
                </a:solidFill>
                <a:effectLst/>
                <a:latin typeface="+mn-lt"/>
                <a:ea typeface="+mn-ea"/>
                <a:cs typeface="+mn-cs"/>
              </a:rPr>
              <a:t> (service discovery). </a:t>
            </a:r>
            <a:r>
              <a:rPr lang="en-IN" sz="1200" b="1" i="0" kern="1200" dirty="0">
                <a:solidFill>
                  <a:schemeClr val="tx1"/>
                </a:solidFill>
                <a:effectLst/>
                <a:latin typeface="+mn-lt"/>
                <a:ea typeface="+mn-ea"/>
                <a:cs typeface="+mn-cs"/>
              </a:rPr>
              <a:t>Simple queries</a:t>
            </a:r>
            <a:r>
              <a:rPr lang="en-IN" sz="1200" b="0" i="0" kern="1200" dirty="0">
                <a:solidFill>
                  <a:schemeClr val="tx1"/>
                </a:solidFill>
                <a:effectLst/>
                <a:latin typeface="+mn-lt"/>
                <a:ea typeface="+mn-ea"/>
                <a:cs typeface="+mn-cs"/>
              </a:rPr>
              <a:t> (DNS). </a:t>
            </a:r>
            <a:r>
              <a:rPr lang="en-IN" sz="1200" b="1" i="0" kern="1200" dirty="0">
                <a:solidFill>
                  <a:schemeClr val="tx1"/>
                </a:solidFill>
                <a:effectLst/>
                <a:latin typeface="+mn-lt"/>
                <a:ea typeface="+mn-ea"/>
                <a:cs typeface="+mn-cs"/>
              </a:rPr>
              <a:t>High-frequency updates</a:t>
            </a:r>
            <a:r>
              <a:rPr lang="en-IN" sz="1200" b="0" i="0" kern="1200" dirty="0">
                <a:solidFill>
                  <a:schemeClr val="tx1"/>
                </a:solidFill>
                <a:effectLst/>
                <a:latin typeface="+mn-lt"/>
                <a:ea typeface="+mn-ea"/>
                <a:cs typeface="+mn-cs"/>
              </a:rPr>
              <a:t> (sensor data).</a:t>
            </a:r>
          </a:p>
          <a:p>
            <a:r>
              <a:rPr lang="en-IN" sz="1200" b="0" i="0" kern="1200" dirty="0">
                <a:solidFill>
                  <a:schemeClr val="tx1"/>
                </a:solidFill>
                <a:effectLst/>
                <a:latin typeface="+mn-lt"/>
                <a:ea typeface="+mn-ea"/>
                <a:cs typeface="+mn-cs"/>
              </a:rPr>
              <a:t>Hybrid approaches: </a:t>
            </a:r>
            <a:r>
              <a:rPr lang="en-IN" sz="1200" b="1" i="0" kern="1200" dirty="0">
                <a:solidFill>
                  <a:schemeClr val="tx1"/>
                </a:solidFill>
                <a:effectLst/>
                <a:latin typeface="+mn-lt"/>
                <a:ea typeface="+mn-ea"/>
                <a:cs typeface="+mn-cs"/>
              </a:rPr>
              <a:t>QUIC</a:t>
            </a:r>
            <a:r>
              <a:rPr lang="en-IN" sz="1200" b="0" i="0" kern="1200" dirty="0">
                <a:solidFill>
                  <a:schemeClr val="tx1"/>
                </a:solidFill>
                <a:effectLst/>
                <a:latin typeface="+mn-lt"/>
                <a:ea typeface="+mn-ea"/>
                <a:cs typeface="+mn-cs"/>
              </a:rPr>
              <a:t> (HTTP/3) - UDP-based but adds reliability, faster setup. </a:t>
            </a:r>
            <a:r>
              <a:rPr lang="en-IN" sz="1200" b="1" i="0" kern="1200" dirty="0">
                <a:solidFill>
                  <a:schemeClr val="tx1"/>
                </a:solidFill>
                <a:effectLst/>
                <a:latin typeface="+mn-lt"/>
                <a:ea typeface="+mn-ea"/>
                <a:cs typeface="+mn-cs"/>
              </a:rPr>
              <a:t>Custom protocols</a:t>
            </a:r>
            <a:r>
              <a:rPr lang="en-IN" sz="1200" b="0" i="0" kern="1200" dirty="0">
                <a:solidFill>
                  <a:schemeClr val="tx1"/>
                </a:solidFill>
                <a:effectLst/>
                <a:latin typeface="+mn-lt"/>
                <a:ea typeface="+mn-ea"/>
                <a:cs typeface="+mn-cs"/>
              </a:rPr>
              <a:t> on UDP - add only needed features.</a:t>
            </a:r>
          </a:p>
          <a:p>
            <a:r>
              <a:rPr lang="en-IN" sz="1200" b="0" i="0" kern="1200" dirty="0">
                <a:solidFill>
                  <a:schemeClr val="tx1"/>
                </a:solidFill>
                <a:effectLst/>
                <a:latin typeface="+mn-lt"/>
                <a:ea typeface="+mn-ea"/>
                <a:cs typeface="+mn-cs"/>
              </a:rPr>
              <a:t>Performance: UDP has 0 RTT setup, 8-byte headers, send as fast as possible.</a:t>
            </a:r>
          </a:p>
          <a:p>
            <a:r>
              <a:rPr lang="en-IN" sz="1200" b="0" i="0" kern="1200" dirty="0">
                <a:solidFill>
                  <a:schemeClr val="tx1"/>
                </a:solidFill>
                <a:effectLst/>
                <a:latin typeface="+mn-lt"/>
                <a:ea typeface="+mn-ea"/>
                <a:cs typeface="+mn-cs"/>
              </a:rPr>
              <a:t>In distributed systems: </a:t>
            </a:r>
            <a:r>
              <a:rPr lang="en-IN" sz="1200" b="1" i="0" kern="1200" dirty="0">
                <a:solidFill>
                  <a:schemeClr val="tx1"/>
                </a:solidFill>
                <a:effectLst/>
                <a:latin typeface="+mn-lt"/>
                <a:ea typeface="+mn-ea"/>
                <a:cs typeface="+mn-cs"/>
              </a:rPr>
              <a:t>Service discovery</a:t>
            </a:r>
            <a:r>
              <a:rPr lang="en-IN" sz="1200" b="0" i="0" kern="1200" dirty="0">
                <a:solidFill>
                  <a:schemeClr val="tx1"/>
                </a:solidFill>
                <a:effectLst/>
                <a:latin typeface="+mn-lt"/>
                <a:ea typeface="+mn-ea"/>
                <a:cs typeface="+mn-cs"/>
              </a:rPr>
              <a:t> often UDP. </a:t>
            </a:r>
            <a:r>
              <a:rPr lang="en-IN" sz="1200" b="1" i="0" kern="1200" dirty="0">
                <a:solidFill>
                  <a:schemeClr val="tx1"/>
                </a:solidFill>
                <a:effectLst/>
                <a:latin typeface="+mn-lt"/>
                <a:ea typeface="+mn-ea"/>
                <a:cs typeface="+mn-cs"/>
              </a:rPr>
              <a:t>Monitoring</a:t>
            </a:r>
            <a:r>
              <a:rPr lang="en-IN" sz="1200" b="0" i="0" kern="1200" dirty="0">
                <a:solidFill>
                  <a:schemeClr val="tx1"/>
                </a:solidFill>
                <a:effectLst/>
                <a:latin typeface="+mn-lt"/>
                <a:ea typeface="+mn-ea"/>
                <a:cs typeface="+mn-cs"/>
              </a:rPr>
              <a:t> UDP (</a:t>
            </a:r>
            <a:r>
              <a:rPr lang="en-IN" sz="1200" b="0" i="0" kern="1200" dirty="0" err="1">
                <a:solidFill>
                  <a:schemeClr val="tx1"/>
                </a:solidFill>
                <a:effectLst/>
                <a:latin typeface="+mn-lt"/>
                <a:ea typeface="+mn-ea"/>
                <a:cs typeface="+mn-cs"/>
              </a:rPr>
              <a:t>StatsD</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Real-time</a:t>
            </a:r>
            <a:r>
              <a:rPr lang="en-IN" sz="1200" b="0" i="0" kern="1200" dirty="0">
                <a:solidFill>
                  <a:schemeClr val="tx1"/>
                </a:solidFill>
                <a:effectLst/>
                <a:latin typeface="+mn-lt"/>
                <a:ea typeface="+mn-ea"/>
                <a:cs typeface="+mn-cs"/>
              </a:rPr>
              <a:t> WebRTC (UDP).</a:t>
            </a:r>
          </a:p>
          <a:p>
            <a:r>
              <a:rPr lang="en-IN" sz="1200" b="0" i="0" kern="1200" dirty="0">
                <a:solidFill>
                  <a:schemeClr val="tx1"/>
                </a:solidFill>
                <a:effectLst/>
                <a:latin typeface="+mn-lt"/>
                <a:ea typeface="+mn-ea"/>
                <a:cs typeface="+mn-cs"/>
              </a:rPr>
              <a:t>Debugging: UDP issues - packet loss. Tools: </a:t>
            </a:r>
            <a:r>
              <a:rPr lang="en-IN" sz="1200" b="0" i="0" kern="1200" dirty="0" err="1">
                <a:solidFill>
                  <a:schemeClr val="tx1"/>
                </a:solidFill>
                <a:effectLst/>
                <a:latin typeface="+mn-lt"/>
                <a:ea typeface="+mn-ea"/>
                <a:cs typeface="+mn-cs"/>
              </a:rPr>
              <a:t>tcpdump</a:t>
            </a:r>
            <a:r>
              <a:rPr lang="en-IN" sz="1200" b="0" i="0" kern="1200" dirty="0">
                <a:solidFill>
                  <a:schemeClr val="tx1"/>
                </a:solidFill>
                <a:effectLst/>
                <a:latin typeface="+mn-lt"/>
                <a:ea typeface="+mn-ea"/>
                <a:cs typeface="+mn-cs"/>
              </a:rPr>
              <a:t>, Wireshark.</a:t>
            </a:r>
          </a:p>
          <a:p>
            <a:r>
              <a:rPr lang="en-IN" sz="1200" b="0" i="0" kern="1200" dirty="0">
                <a:solidFill>
                  <a:schemeClr val="tx1"/>
                </a:solidFill>
                <a:effectLst/>
                <a:latin typeface="+mn-lt"/>
                <a:ea typeface="+mn-ea"/>
                <a:cs typeface="+mn-cs"/>
              </a:rPr>
              <a:t>The choice isn't just technical - it's about what your application values: </a:t>
            </a:r>
            <a:r>
              <a:rPr lang="en-IN" sz="1200" b="1" i="0" kern="1200" dirty="0">
                <a:solidFill>
                  <a:schemeClr val="tx1"/>
                </a:solidFill>
                <a:effectLst/>
                <a:latin typeface="+mn-lt"/>
                <a:ea typeface="+mn-ea"/>
                <a:cs typeface="+mn-cs"/>
              </a:rPr>
              <a:t>reliability or speed</a:t>
            </a:r>
            <a:r>
              <a:rPr lang="en-IN" sz="1200" b="0" i="0" kern="1200" dirty="0">
                <a:solidFill>
                  <a:schemeClr val="tx1"/>
                </a:solidFill>
                <a:effectLst/>
                <a:latin typeface="+mn-lt"/>
                <a:ea typeface="+mn-ea"/>
                <a:cs typeface="+mn-cs"/>
              </a:rPr>
              <a:t>.</a:t>
            </a:r>
          </a:p>
          <a:p>
            <a:endParaRPr lang="en-IN" dirty="0"/>
          </a:p>
        </p:txBody>
      </p:sp>
      <p:sp>
        <p:nvSpPr>
          <p:cNvPr id="4" name="Slide Number Placeholder 3">
            <a:extLst>
              <a:ext uri="{FF2B5EF4-FFF2-40B4-BE49-F238E27FC236}">
                <a16:creationId xmlns:a16="http://schemas.microsoft.com/office/drawing/2014/main" id="{52E5D339-3D3C-90E1-2BC6-3929F5B5866A}"/>
              </a:ext>
            </a:extLst>
          </p:cNvPr>
          <p:cNvSpPr>
            <a:spLocks noGrp="1"/>
          </p:cNvSpPr>
          <p:nvPr>
            <p:ph type="sldNum" sz="quarter" idx="5"/>
          </p:nvPr>
        </p:nvSpPr>
        <p:spPr/>
        <p:txBody>
          <a:bodyPr/>
          <a:lstStyle/>
          <a:p>
            <a:fld id="{72853293-4F00-4813-B74A-3945ABE0C2FC}" type="slidenum">
              <a:rPr lang="en-IN" smtClean="0"/>
              <a:t>11</a:t>
            </a:fld>
            <a:endParaRPr lang="en-IN"/>
          </a:p>
        </p:txBody>
      </p:sp>
    </p:spTree>
    <p:extLst>
      <p:ext uri="{BB962C8B-B14F-4D97-AF65-F5344CB8AC3E}">
        <p14:creationId xmlns:p14="http://schemas.microsoft.com/office/powerpoint/2010/main" val="2671939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4207D-BDB8-EDB3-183C-2B1379B6D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1777F-4711-38AB-1730-C66E79D86E1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0DFCE16-D5E7-8DE6-CCCF-261843A7B9D4}"/>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HTTP, short for Hypertext Transfer Protocol, is the application-layer protocol that defines how data is requested and transmitted over the Internet. It specifies the communication rules between two entities — a client, such as a web browser or mobile app, and a server, which hosts the requested resources. These resources could be anything from an HTML page or an image to a JSON response or a video file.</a:t>
            </a:r>
            <a:br>
              <a:rPr lang="en-IN" sz="1200" kern="1200" dirty="0">
                <a:solidFill>
                  <a:schemeClr val="tx1"/>
                </a:solidFill>
                <a:effectLst/>
                <a:latin typeface="+mn-lt"/>
                <a:ea typeface="+mn-ea"/>
                <a:cs typeface="+mn-cs"/>
              </a:rPr>
            </a:br>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HTTP operates on top of TCP (Transmission Control Protocol), ensuring reliable and ordered data transmission. Traditionally, it communicates over port 80, though its secure counterpart, HTTPS, uses port 443. One of HTTP’s most defining features is that it is text-based and human-readable — meaning its messages can be easily inspected or debugged using tools like browser consoles, </a:t>
            </a:r>
            <a:r>
              <a:rPr lang="en-IN" sz="1200" kern="1200" dirty="0" err="1">
                <a:solidFill>
                  <a:schemeClr val="tx1"/>
                </a:solidFill>
                <a:effectLst/>
                <a:latin typeface="+mn-lt"/>
                <a:ea typeface="+mn-ea"/>
                <a:cs typeface="+mn-cs"/>
              </a:rPr>
              <a:t>cURL</a:t>
            </a:r>
            <a:r>
              <a:rPr lang="en-IN" sz="1200" kern="1200" dirty="0">
                <a:solidFill>
                  <a:schemeClr val="tx1"/>
                </a:solidFill>
                <a:effectLst/>
                <a:latin typeface="+mn-lt"/>
                <a:ea typeface="+mn-ea"/>
                <a:cs typeface="+mn-cs"/>
              </a:rPr>
              <a:t>, or Postman.</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Another crucial characteristic of HTTP is that it is stateless. This means each client request is treated as an independent transaction, and the server does not retain any memory of previous interactions. This statelessness simplifies server design and improves scalability, but it also means that maintaining user-specific information — such as login sessions or shopping carts — requires additional mechanisms like cookies, sessions, or tokens. </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42302F1-1945-FAC5-C6B3-D8A949A88760}"/>
              </a:ext>
            </a:extLst>
          </p:cNvPr>
          <p:cNvSpPr>
            <a:spLocks noGrp="1"/>
          </p:cNvSpPr>
          <p:nvPr>
            <p:ph type="sldNum" sz="quarter" idx="5"/>
          </p:nvPr>
        </p:nvSpPr>
        <p:spPr/>
        <p:txBody>
          <a:bodyPr/>
          <a:lstStyle/>
          <a:p>
            <a:fld id="{72853293-4F00-4813-B74A-3945ABE0C2FC}" type="slidenum">
              <a:rPr lang="en-IN" smtClean="0"/>
              <a:t>12</a:t>
            </a:fld>
            <a:endParaRPr lang="en-IN"/>
          </a:p>
        </p:txBody>
      </p:sp>
    </p:spTree>
    <p:extLst>
      <p:ext uri="{BB962C8B-B14F-4D97-AF65-F5344CB8AC3E}">
        <p14:creationId xmlns:p14="http://schemas.microsoft.com/office/powerpoint/2010/main" val="565029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735-1B3D-49B5-B33B-EB4F1B3DD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55609-9031-AF76-70C2-4B714C8EAF9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CC9A2C-2F65-B659-859A-BF86ADDBB329}"/>
              </a:ext>
            </a:extLst>
          </p:cNvPr>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B660E4A-4A67-DFCA-8C9F-402575D5A045}"/>
              </a:ext>
            </a:extLst>
          </p:cNvPr>
          <p:cNvSpPr>
            <a:spLocks noGrp="1"/>
          </p:cNvSpPr>
          <p:nvPr>
            <p:ph type="sldNum" sz="quarter" idx="5"/>
          </p:nvPr>
        </p:nvSpPr>
        <p:spPr/>
        <p:txBody>
          <a:bodyPr/>
          <a:lstStyle/>
          <a:p>
            <a:fld id="{72853293-4F00-4813-B74A-3945ABE0C2FC}" type="slidenum">
              <a:rPr lang="en-IN" smtClean="0"/>
              <a:t>13</a:t>
            </a:fld>
            <a:endParaRPr lang="en-IN"/>
          </a:p>
        </p:txBody>
      </p:sp>
    </p:spTree>
    <p:extLst>
      <p:ext uri="{BB962C8B-B14F-4D97-AF65-F5344CB8AC3E}">
        <p14:creationId xmlns:p14="http://schemas.microsoft.com/office/powerpoint/2010/main" val="966540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AF9DB-56F3-71ED-69AC-CFC9111F0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D5BE2-6809-4283-6C34-7401287028A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8DCC740-DD87-8FD4-F0C8-17EF74F2133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t>
            </a:r>
            <a:r>
              <a:rPr lang="en-US" sz="1200" b="1" i="0" kern="1200" dirty="0">
                <a:solidFill>
                  <a:schemeClr val="tx1"/>
                </a:solidFill>
                <a:effectLst/>
                <a:latin typeface="+mn-lt"/>
                <a:ea typeface="+mn-ea"/>
                <a:cs typeface="+mn-cs"/>
              </a:rPr>
              <a:t>how data flows</a:t>
            </a:r>
            <a:r>
              <a:rPr lang="en-US" sz="1200" b="0" i="0" kern="1200" dirty="0">
                <a:solidFill>
                  <a:schemeClr val="tx1"/>
                </a:solidFill>
                <a:effectLst/>
                <a:latin typeface="+mn-lt"/>
                <a:ea typeface="+mn-ea"/>
                <a:cs typeface="+mn-cs"/>
              </a:rPr>
              <a:t> - Push vs Pull communication.</a:t>
            </a:r>
          </a:p>
          <a:p>
            <a:r>
              <a:rPr lang="en-US" sz="1200" b="1" i="0" kern="1200" dirty="0">
                <a:solidFill>
                  <a:schemeClr val="tx1"/>
                </a:solidFill>
                <a:effectLst/>
                <a:latin typeface="+mn-lt"/>
                <a:ea typeface="+mn-ea"/>
                <a:cs typeface="+mn-cs"/>
              </a:rPr>
              <a:t>Pull</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client-initiated, request-response</a:t>
            </a:r>
            <a:r>
              <a:rPr lang="en-US" sz="1200" b="0" i="0" kern="1200" dirty="0">
                <a:solidFill>
                  <a:schemeClr val="tx1"/>
                </a:solidFill>
                <a:effectLst/>
                <a:latin typeface="+mn-lt"/>
                <a:ea typeface="+mn-ea"/>
                <a:cs typeface="+mn-cs"/>
              </a:rPr>
              <a:t>. Client asks when it wants data. Examples: HTTP REST APIs, polling. Simple, stateless, but can be inefficient (constant polling) and have latency (delay until client asks).</a:t>
            </a:r>
          </a:p>
          <a:p>
            <a:r>
              <a:rPr lang="en-US" sz="1200" b="1" i="0" kern="1200" dirty="0">
                <a:solidFill>
                  <a:schemeClr val="tx1"/>
                </a:solidFill>
                <a:effectLst/>
                <a:latin typeface="+mn-lt"/>
                <a:ea typeface="+mn-ea"/>
                <a:cs typeface="+mn-cs"/>
              </a:rPr>
              <a:t>Push</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server-initiated, event-driven</a:t>
            </a:r>
            <a:r>
              <a:rPr lang="en-US" sz="1200" b="0" i="0" kern="1200" dirty="0">
                <a:solidFill>
                  <a:schemeClr val="tx1"/>
                </a:solidFill>
                <a:effectLst/>
                <a:latin typeface="+mn-lt"/>
                <a:ea typeface="+mn-ea"/>
                <a:cs typeface="+mn-cs"/>
              </a:rPr>
              <a:t>. Server sends data when available. Examples: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message queues, pub/sub. Real-time, efficient, but more complex and stateful (tracking connections).</a:t>
            </a:r>
          </a:p>
          <a:p>
            <a:r>
              <a:rPr lang="en-US" sz="1200" b="0" i="0" kern="1200" dirty="0">
                <a:solidFill>
                  <a:schemeClr val="tx1"/>
                </a:solidFill>
                <a:effectLst/>
                <a:latin typeface="+mn-lt"/>
                <a:ea typeface="+mn-ea"/>
                <a:cs typeface="+mn-cs"/>
              </a:rPr>
              <a:t>Pull patterns: </a:t>
            </a:r>
            <a:r>
              <a:rPr lang="en-US" sz="1200" b="1" i="0" kern="1200" dirty="0">
                <a:solidFill>
                  <a:schemeClr val="tx1"/>
                </a:solidFill>
                <a:effectLst/>
                <a:latin typeface="+mn-lt"/>
                <a:ea typeface="+mn-ea"/>
                <a:cs typeface="+mn-cs"/>
              </a:rPr>
              <a:t>Request-response</a:t>
            </a:r>
            <a:r>
              <a:rPr lang="en-US" sz="1200" b="0" i="0" kern="1200" dirty="0">
                <a:solidFill>
                  <a:schemeClr val="tx1"/>
                </a:solidFill>
                <a:effectLst/>
                <a:latin typeface="+mn-lt"/>
                <a:ea typeface="+mn-ea"/>
                <a:cs typeface="+mn-cs"/>
              </a:rPr>
              <a:t> (standard web). </a:t>
            </a:r>
            <a:r>
              <a:rPr lang="en-US" sz="1200" b="1" i="0" kern="1200" dirty="0">
                <a:solidFill>
                  <a:schemeClr val="tx1"/>
                </a:solidFill>
                <a:effectLst/>
                <a:latin typeface="+mn-lt"/>
                <a:ea typeface="+mn-ea"/>
                <a:cs typeface="+mn-cs"/>
              </a:rPr>
              <a:t>Polling</a:t>
            </a:r>
            <a:r>
              <a:rPr lang="en-US" sz="1200" b="0" i="0" kern="1200" dirty="0">
                <a:solidFill>
                  <a:schemeClr val="tx1"/>
                </a:solidFill>
                <a:effectLst/>
                <a:latin typeface="+mn-lt"/>
                <a:ea typeface="+mn-ea"/>
                <a:cs typeface="+mn-cs"/>
              </a:rPr>
              <a:t> - short (frequent requests) or long (request stays open). </a:t>
            </a:r>
            <a:r>
              <a:rPr lang="en-US" sz="1200" b="1" i="0" kern="1200" dirty="0">
                <a:solidFill>
                  <a:schemeClr val="tx1"/>
                </a:solidFill>
                <a:effectLst/>
                <a:latin typeface="+mn-lt"/>
                <a:ea typeface="+mn-ea"/>
                <a:cs typeface="+mn-cs"/>
              </a:rPr>
              <a:t>HTTP streaming</a:t>
            </a:r>
            <a:r>
              <a:rPr lang="en-US" sz="1200" b="0" i="0" kern="1200" dirty="0">
                <a:solidFill>
                  <a:schemeClr val="tx1"/>
                </a:solidFill>
                <a:effectLst/>
                <a:latin typeface="+mn-lt"/>
                <a:ea typeface="+mn-ea"/>
                <a:cs typeface="+mn-cs"/>
              </a:rPr>
              <a:t> (response stays open).</a:t>
            </a:r>
          </a:p>
          <a:p>
            <a:r>
              <a:rPr lang="en-US" sz="1200" b="0" i="0" kern="1200" dirty="0">
                <a:solidFill>
                  <a:schemeClr val="tx1"/>
                </a:solidFill>
                <a:effectLst/>
                <a:latin typeface="+mn-lt"/>
                <a:ea typeface="+mn-ea"/>
                <a:cs typeface="+mn-cs"/>
              </a:rPr>
              <a:t>Push patterns: </a:t>
            </a:r>
            <a:r>
              <a:rPr lang="en-US" sz="1200" b="1"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(full-duplex persistent connection). </a:t>
            </a:r>
            <a:r>
              <a:rPr lang="en-US" sz="1200" b="1" i="0" kern="1200" dirty="0">
                <a:solidFill>
                  <a:schemeClr val="tx1"/>
                </a:solidFill>
                <a:effectLst/>
                <a:latin typeface="+mn-lt"/>
                <a:ea typeface="+mn-ea"/>
                <a:cs typeface="+mn-cs"/>
              </a:rPr>
              <a:t>Server-Sent Events</a:t>
            </a:r>
            <a:r>
              <a:rPr lang="en-US" sz="1200" b="0" i="0" kern="1200" dirty="0">
                <a:solidFill>
                  <a:schemeClr val="tx1"/>
                </a:solidFill>
                <a:effectLst/>
                <a:latin typeface="+mn-lt"/>
                <a:ea typeface="+mn-ea"/>
                <a:cs typeface="+mn-cs"/>
              </a:rPr>
              <a:t> (server pushes over HTTP). </a:t>
            </a:r>
            <a:r>
              <a:rPr lang="en-US" sz="1200" b="1" i="0" kern="1200" dirty="0">
                <a:solidFill>
                  <a:schemeClr val="tx1"/>
                </a:solidFill>
                <a:effectLst/>
                <a:latin typeface="+mn-lt"/>
                <a:ea typeface="+mn-ea"/>
                <a:cs typeface="+mn-cs"/>
              </a:rPr>
              <a:t>Message queues</a:t>
            </a:r>
            <a:r>
              <a:rPr lang="en-US" sz="1200" b="0" i="0" kern="1200" dirty="0">
                <a:solidFill>
                  <a:schemeClr val="tx1"/>
                </a:solidFill>
                <a:effectLst/>
                <a:latin typeface="+mn-lt"/>
                <a:ea typeface="+mn-ea"/>
                <a:cs typeface="+mn-cs"/>
              </a:rPr>
              <a:t> (producers → queue → consumers). </a:t>
            </a:r>
            <a:r>
              <a:rPr lang="en-US" sz="1200" b="1" i="0" kern="1200" dirty="0">
                <a:solidFill>
                  <a:schemeClr val="tx1"/>
                </a:solidFill>
                <a:effectLst/>
                <a:latin typeface="+mn-lt"/>
                <a:ea typeface="+mn-ea"/>
                <a:cs typeface="+mn-cs"/>
              </a:rPr>
              <a:t>Pub/sub</a:t>
            </a:r>
            <a:r>
              <a:rPr lang="en-US" sz="1200" b="0" i="0" kern="1200" dirty="0">
                <a:solidFill>
                  <a:schemeClr val="tx1"/>
                </a:solidFill>
                <a:effectLst/>
                <a:latin typeface="+mn-lt"/>
                <a:ea typeface="+mn-ea"/>
                <a:cs typeface="+mn-cs"/>
              </a:rPr>
              <a:t> (publishers → topics → subscribers).</a:t>
            </a:r>
          </a:p>
          <a:p>
            <a:r>
              <a:rPr lang="en-US" sz="1200" b="0" i="0" kern="1200" dirty="0">
                <a:solidFill>
                  <a:schemeClr val="tx1"/>
                </a:solidFill>
                <a:effectLst/>
                <a:latin typeface="+mn-lt"/>
                <a:ea typeface="+mn-ea"/>
                <a:cs typeface="+mn-cs"/>
              </a:rPr>
              <a:t>Comparison: Pull gives client control but has latency. Push gives real-time but needs connection management. Pull is stateless, push is stateful. Pull simpler, push more complex.</a:t>
            </a:r>
          </a:p>
          <a:p>
            <a:endParaRPr lang="en-IN" dirty="0"/>
          </a:p>
          <a:p>
            <a:r>
              <a:rPr lang="en-US" sz="1200" b="0" i="0" kern="1200" dirty="0">
                <a:solidFill>
                  <a:schemeClr val="tx1"/>
                </a:solidFill>
                <a:effectLst/>
                <a:latin typeface="+mn-lt"/>
                <a:ea typeface="+mn-ea"/>
                <a:cs typeface="+mn-cs"/>
              </a:rPr>
              <a:t>Hybrid approaches: </a:t>
            </a:r>
            <a:r>
              <a:rPr lang="en-US" sz="1200" b="1" i="0" kern="1200" dirty="0">
                <a:solidFill>
                  <a:schemeClr val="tx1"/>
                </a:solidFill>
                <a:effectLst/>
                <a:latin typeface="+mn-lt"/>
                <a:ea typeface="+mn-ea"/>
                <a:cs typeface="+mn-cs"/>
              </a:rPr>
              <a:t>HTTP/2 server push</a:t>
            </a:r>
            <a:r>
              <a:rPr lang="en-US" sz="1200" b="0" i="0" kern="1200" dirty="0">
                <a:solidFill>
                  <a:schemeClr val="tx1"/>
                </a:solidFill>
                <a:effectLst/>
                <a:latin typeface="+mn-lt"/>
                <a:ea typeface="+mn-ea"/>
                <a:cs typeface="+mn-cs"/>
              </a:rPr>
              <a:t> (server sends resources client will need). </a:t>
            </a:r>
            <a:r>
              <a:rPr lang="en-US" sz="1200" b="1" i="0" kern="1200" dirty="0" err="1">
                <a:solidFill>
                  <a:schemeClr val="tx1"/>
                </a:solidFill>
                <a:effectLst/>
                <a:latin typeface="+mn-lt"/>
                <a:ea typeface="+mn-ea"/>
                <a:cs typeface="+mn-cs"/>
              </a:rPr>
              <a:t>GraphQL</a:t>
            </a:r>
            <a:r>
              <a:rPr lang="en-US" sz="1200" b="1" i="0" kern="1200" dirty="0">
                <a:solidFill>
                  <a:schemeClr val="tx1"/>
                </a:solidFill>
                <a:effectLst/>
                <a:latin typeface="+mn-lt"/>
                <a:ea typeface="+mn-ea"/>
                <a:cs typeface="+mn-cs"/>
              </a:rPr>
              <a:t> subscriptions</a:t>
            </a:r>
            <a:r>
              <a:rPr lang="en-US" sz="1200" b="0" i="0" kern="1200" dirty="0">
                <a:solidFill>
                  <a:schemeClr val="tx1"/>
                </a:solidFill>
                <a:effectLst/>
                <a:latin typeface="+mn-lt"/>
                <a:ea typeface="+mn-ea"/>
                <a:cs typeface="+mn-cs"/>
              </a:rPr>
              <a:t> (request establishes subscription, then push updates). </a:t>
            </a:r>
            <a:r>
              <a:rPr lang="en-US" sz="1200" b="1" i="0" kern="1200" dirty="0">
                <a:solidFill>
                  <a:schemeClr val="tx1"/>
                </a:solidFill>
                <a:effectLst/>
                <a:latin typeface="+mn-lt"/>
                <a:ea typeface="+mn-ea"/>
                <a:cs typeface="+mn-cs"/>
              </a:rPr>
              <a:t>Webhooks</a:t>
            </a:r>
            <a:r>
              <a:rPr lang="en-US" sz="1200" b="0" i="0" kern="1200" dirty="0">
                <a:solidFill>
                  <a:schemeClr val="tx1"/>
                </a:solidFill>
                <a:effectLst/>
                <a:latin typeface="+mn-lt"/>
                <a:ea typeface="+mn-ea"/>
                <a:cs typeface="+mn-cs"/>
              </a:rPr>
              <a:t> (register callback, server calls it).</a:t>
            </a:r>
          </a:p>
          <a:p>
            <a:r>
              <a:rPr lang="en-US" sz="1200" b="0" i="0" kern="1200" dirty="0">
                <a:solidFill>
                  <a:schemeClr val="tx1"/>
                </a:solidFill>
                <a:effectLst/>
                <a:latin typeface="+mn-lt"/>
                <a:ea typeface="+mn-ea"/>
                <a:cs typeface="+mn-cs"/>
              </a:rPr>
              <a:t>Choosing: </a:t>
            </a:r>
            <a:r>
              <a:rPr lang="en-US" sz="1200" b="1" i="0" kern="1200" dirty="0">
                <a:solidFill>
                  <a:schemeClr val="tx1"/>
                </a:solidFill>
                <a:effectLst/>
                <a:latin typeface="+mn-lt"/>
                <a:ea typeface="+mn-ea"/>
                <a:cs typeface="+mn-cs"/>
              </a:rPr>
              <a:t>Use Pull</a:t>
            </a:r>
            <a:r>
              <a:rPr lang="en-US" sz="1200" b="0" i="0" kern="1200" dirty="0">
                <a:solidFill>
                  <a:schemeClr val="tx1"/>
                </a:solidFill>
                <a:effectLst/>
                <a:latin typeface="+mn-lt"/>
                <a:ea typeface="+mn-ea"/>
                <a:cs typeface="+mn-cs"/>
              </a:rPr>
              <a:t> for infrequent updates, simplicity, caching, statelessness. </a:t>
            </a:r>
            <a:r>
              <a:rPr lang="en-US" sz="1200" b="1" i="0" kern="1200" dirty="0">
                <a:solidFill>
                  <a:schemeClr val="tx1"/>
                </a:solidFill>
                <a:effectLst/>
                <a:latin typeface="+mn-lt"/>
                <a:ea typeface="+mn-ea"/>
                <a:cs typeface="+mn-cs"/>
              </a:rPr>
              <a:t>Use Push</a:t>
            </a:r>
            <a:r>
              <a:rPr lang="en-US" sz="1200" b="0" i="0" kern="1200" dirty="0">
                <a:solidFill>
                  <a:schemeClr val="tx1"/>
                </a:solidFill>
                <a:effectLst/>
                <a:latin typeface="+mn-lt"/>
                <a:ea typeface="+mn-ea"/>
                <a:cs typeface="+mn-cs"/>
              </a:rPr>
              <a:t> for real-time, frequent updates, many clients, event-driven architectures.</a:t>
            </a:r>
          </a:p>
          <a:p>
            <a:r>
              <a:rPr lang="en-US" sz="1200" b="0" i="0" kern="1200" dirty="0">
                <a:solidFill>
                  <a:schemeClr val="tx1"/>
                </a:solidFill>
                <a:effectLst/>
                <a:latin typeface="+mn-lt"/>
                <a:ea typeface="+mn-ea"/>
                <a:cs typeface="+mn-cs"/>
              </a:rPr>
              <a:t>In distributed systems: </a:t>
            </a:r>
            <a:r>
              <a:rPr lang="en-US" sz="1200" b="1" i="0" kern="1200" dirty="0">
                <a:solidFill>
                  <a:schemeClr val="tx1"/>
                </a:solidFill>
                <a:effectLst/>
                <a:latin typeface="+mn-lt"/>
                <a:ea typeface="+mn-ea"/>
                <a:cs typeface="+mn-cs"/>
              </a:rPr>
              <a:t>Service mesh</a:t>
            </a:r>
            <a:r>
              <a:rPr lang="en-US" sz="1200" b="0" i="0" kern="1200" dirty="0">
                <a:solidFill>
                  <a:schemeClr val="tx1"/>
                </a:solidFill>
                <a:effectLst/>
                <a:latin typeface="+mn-lt"/>
                <a:ea typeface="+mn-ea"/>
                <a:cs typeface="+mn-cs"/>
              </a:rPr>
              <a:t> can implement patterns. </a:t>
            </a:r>
            <a:r>
              <a:rPr lang="en-US" sz="1200" b="1" i="0" kern="1200" dirty="0">
                <a:solidFill>
                  <a:schemeClr val="tx1"/>
                </a:solidFill>
                <a:effectLst/>
                <a:latin typeface="+mn-lt"/>
                <a:ea typeface="+mn-ea"/>
                <a:cs typeface="+mn-cs"/>
              </a:rPr>
              <a:t>Message brokers</a:t>
            </a:r>
            <a:r>
              <a:rPr lang="en-US" sz="1200" b="0" i="0" kern="1200" dirty="0">
                <a:solidFill>
                  <a:schemeClr val="tx1"/>
                </a:solidFill>
                <a:effectLst/>
                <a:latin typeface="+mn-lt"/>
                <a:ea typeface="+mn-ea"/>
                <a:cs typeface="+mn-cs"/>
              </a:rPr>
              <a:t> (Kafka, RabbitMQ) for push. </a:t>
            </a:r>
            <a:r>
              <a:rPr lang="en-US" sz="1200" b="1" i="0" kern="1200" dirty="0">
                <a:solidFill>
                  <a:schemeClr val="tx1"/>
                </a:solidFill>
                <a:effectLst/>
                <a:latin typeface="+mn-lt"/>
                <a:ea typeface="+mn-ea"/>
                <a:cs typeface="+mn-cs"/>
              </a:rPr>
              <a:t>API gateways</a:t>
            </a:r>
            <a:r>
              <a:rPr lang="en-US" sz="1200" b="0" i="0" kern="1200" dirty="0">
                <a:solidFill>
                  <a:schemeClr val="tx1"/>
                </a:solidFill>
                <a:effectLst/>
                <a:latin typeface="+mn-lt"/>
                <a:ea typeface="+mn-ea"/>
                <a:cs typeface="+mn-cs"/>
              </a:rPr>
              <a:t> can convert push to pull. </a:t>
            </a:r>
            <a:r>
              <a:rPr lang="en-US" sz="1200" b="1" i="0" kern="1200" dirty="0">
                <a:solidFill>
                  <a:schemeClr val="tx1"/>
                </a:solidFill>
                <a:effectLst/>
                <a:latin typeface="+mn-lt"/>
                <a:ea typeface="+mn-ea"/>
                <a:cs typeface="+mn-cs"/>
              </a:rPr>
              <a:t>CDNs</a:t>
            </a:r>
            <a:r>
              <a:rPr lang="en-US" sz="1200" b="0" i="0" kern="1200" dirty="0">
                <a:solidFill>
                  <a:schemeClr val="tx1"/>
                </a:solidFill>
                <a:effectLst/>
                <a:latin typeface="+mn-lt"/>
                <a:ea typeface="+mn-ea"/>
                <a:cs typeface="+mn-cs"/>
              </a:rPr>
              <a:t> handle both.</a:t>
            </a:r>
          </a:p>
          <a:p>
            <a:r>
              <a:rPr lang="en-US" sz="1200" b="0" i="0" kern="1200" dirty="0">
                <a:solidFill>
                  <a:schemeClr val="tx1"/>
                </a:solidFill>
                <a:effectLst/>
                <a:latin typeface="+mn-lt"/>
                <a:ea typeface="+mn-ea"/>
                <a:cs typeface="+mn-cs"/>
              </a:rPr>
              <a:t>Implementation: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for bidirectional. SSE for server-to-client. Polling as simple fallback.</a:t>
            </a:r>
          </a:p>
          <a:p>
            <a:r>
              <a:rPr lang="en-US" sz="1200" b="0" i="0" kern="1200" dirty="0">
                <a:solidFill>
                  <a:schemeClr val="tx1"/>
                </a:solidFill>
                <a:effectLst/>
                <a:latin typeface="+mn-lt"/>
                <a:ea typeface="+mn-ea"/>
                <a:cs typeface="+mn-cs"/>
              </a:rPr>
              <a:t>Best practices: </a:t>
            </a:r>
            <a:r>
              <a:rPr lang="en-US" sz="1200" b="1" i="0" kern="1200" dirty="0">
                <a:solidFill>
                  <a:schemeClr val="tx1"/>
                </a:solidFill>
                <a:effectLst/>
                <a:latin typeface="+mn-lt"/>
                <a:ea typeface="+mn-ea"/>
                <a:cs typeface="+mn-cs"/>
              </a:rPr>
              <a:t>Start with Pull</a:t>
            </a:r>
            <a:r>
              <a:rPr lang="en-US" sz="1200" b="0" i="0" kern="1200" dirty="0">
                <a:solidFill>
                  <a:schemeClr val="tx1"/>
                </a:solidFill>
                <a:effectLst/>
                <a:latin typeface="+mn-lt"/>
                <a:ea typeface="+mn-ea"/>
                <a:cs typeface="+mn-cs"/>
              </a:rPr>
              <a:t>, move to Push when needed. </a:t>
            </a:r>
            <a:r>
              <a:rPr lang="en-US" sz="1200" b="1" i="0" kern="1200" dirty="0">
                <a:solidFill>
                  <a:schemeClr val="tx1"/>
                </a:solidFill>
                <a:effectLst/>
                <a:latin typeface="+mn-lt"/>
                <a:ea typeface="+mn-ea"/>
                <a:cs typeface="+mn-cs"/>
              </a:rPr>
              <a:t>Handle reconnection</a:t>
            </a:r>
            <a:r>
              <a:rPr lang="en-US" sz="1200" b="0" i="0" kern="1200" dirty="0">
                <a:solidFill>
                  <a:schemeClr val="tx1"/>
                </a:solidFill>
                <a:effectLst/>
                <a:latin typeface="+mn-lt"/>
                <a:ea typeface="+mn-ea"/>
                <a:cs typeface="+mn-cs"/>
              </a:rPr>
              <a:t> for push. </a:t>
            </a:r>
            <a:r>
              <a:rPr lang="en-US" sz="1200" b="1" i="0" kern="1200" dirty="0">
                <a:solidFill>
                  <a:schemeClr val="tx1"/>
                </a:solidFill>
                <a:effectLst/>
                <a:latin typeface="+mn-lt"/>
                <a:ea typeface="+mn-ea"/>
                <a:cs typeface="+mn-cs"/>
              </a:rPr>
              <a:t>Monitor connections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Consider scalability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choice affects architecture, scalability, and user experience.</a:t>
            </a:r>
          </a:p>
          <a:p>
            <a:endParaRPr lang="en-IN" dirty="0"/>
          </a:p>
        </p:txBody>
      </p:sp>
      <p:sp>
        <p:nvSpPr>
          <p:cNvPr id="4" name="Slide Number Placeholder 3">
            <a:extLst>
              <a:ext uri="{FF2B5EF4-FFF2-40B4-BE49-F238E27FC236}">
                <a16:creationId xmlns:a16="http://schemas.microsoft.com/office/drawing/2014/main" id="{9EDC2C92-52C5-B16B-3749-3EE1E347D8FD}"/>
              </a:ext>
            </a:extLst>
          </p:cNvPr>
          <p:cNvSpPr>
            <a:spLocks noGrp="1"/>
          </p:cNvSpPr>
          <p:nvPr>
            <p:ph type="sldNum" sz="quarter" idx="5"/>
          </p:nvPr>
        </p:nvSpPr>
        <p:spPr/>
        <p:txBody>
          <a:bodyPr/>
          <a:lstStyle/>
          <a:p>
            <a:fld id="{72853293-4F00-4813-B74A-3945ABE0C2FC}" type="slidenum">
              <a:rPr lang="en-IN" smtClean="0"/>
              <a:t>14</a:t>
            </a:fld>
            <a:endParaRPr lang="en-IN"/>
          </a:p>
        </p:txBody>
      </p:sp>
    </p:spTree>
    <p:extLst>
      <p:ext uri="{BB962C8B-B14F-4D97-AF65-F5344CB8AC3E}">
        <p14:creationId xmlns:p14="http://schemas.microsoft.com/office/powerpoint/2010/main" val="737259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8743C-F99A-08CB-C6BB-364D9417B9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AD522-7829-ACFA-D8E4-94D74C9E61D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8697B0-3A8D-E4F7-CF15-B29F0706A2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3DF152-9827-76CE-196C-F61D3F48FF7B}"/>
              </a:ext>
            </a:extLst>
          </p:cNvPr>
          <p:cNvSpPr>
            <a:spLocks noGrp="1"/>
          </p:cNvSpPr>
          <p:nvPr>
            <p:ph type="sldNum" sz="quarter" idx="5"/>
          </p:nvPr>
        </p:nvSpPr>
        <p:spPr/>
        <p:txBody>
          <a:bodyPr/>
          <a:lstStyle/>
          <a:p>
            <a:fld id="{72853293-4F00-4813-B74A-3945ABE0C2FC}" type="slidenum">
              <a:rPr lang="en-IN" smtClean="0"/>
              <a:t>15</a:t>
            </a:fld>
            <a:endParaRPr lang="en-IN"/>
          </a:p>
        </p:txBody>
      </p:sp>
    </p:spTree>
    <p:extLst>
      <p:ext uri="{BB962C8B-B14F-4D97-AF65-F5344CB8AC3E}">
        <p14:creationId xmlns:p14="http://schemas.microsoft.com/office/powerpoint/2010/main" val="1246534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532ED-37A4-5F5E-DB1C-AD4663097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5891E-74D8-E1DF-0AEA-AB840C0D38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7F99191-FBC8-6394-AE55-DA987FF7A3C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RPC is like calling a specialist at a service desk and asking them to perform a specific task for you.</a:t>
            </a:r>
            <a:r>
              <a:rPr lang="en-US" sz="1200" b="0" i="0" kern="1200" dirty="0">
                <a:solidFill>
                  <a:schemeClr val="tx1"/>
                </a:solidFill>
                <a:effectLst/>
                <a:latin typeface="+mn-lt"/>
                <a:ea typeface="+mn-ea"/>
                <a:cs typeface="+mn-cs"/>
              </a:rPr>
              <a:t> The mental model is about </a:t>
            </a:r>
            <a:r>
              <a:rPr lang="en-US" sz="1200" b="1" i="0" kern="1200" dirty="0">
                <a:solidFill>
                  <a:schemeClr val="tx1"/>
                </a:solidFill>
                <a:effectLst/>
                <a:latin typeface="+mn-lt"/>
                <a:ea typeface="+mn-ea"/>
                <a:cs typeface="+mn-cs"/>
              </a:rPr>
              <a:t>actions</a:t>
            </a:r>
            <a:r>
              <a:rPr lang="en-US" sz="1200" b="0" i="0" kern="1200" dirty="0">
                <a:solidFill>
                  <a:schemeClr val="tx1"/>
                </a:solidFill>
                <a:effectLst/>
                <a:latin typeface="+mn-lt"/>
                <a:ea typeface="+mn-ea"/>
                <a:cs typeface="+mn-cs"/>
              </a:rPr>
              <a:t>, not resources.</a:t>
            </a:r>
          </a:p>
          <a:p>
            <a:r>
              <a:rPr lang="en-US" sz="1200" b="0" i="0" kern="1200" dirty="0">
                <a:solidFill>
                  <a:schemeClr val="tx1"/>
                </a:solidFill>
                <a:effectLst/>
                <a:latin typeface="+mn-lt"/>
                <a:ea typeface="+mn-ea"/>
                <a:cs typeface="+mn-cs"/>
              </a:rPr>
              <a:t>In an RPC-style API, you're primarily thinking: </a:t>
            </a:r>
            <a:r>
              <a:rPr lang="en-US" sz="1200" b="0" i="1" kern="1200" dirty="0">
                <a:solidFill>
                  <a:schemeClr val="tx1"/>
                </a:solidFill>
                <a:effectLst/>
                <a:latin typeface="+mn-lt"/>
                <a:ea typeface="+mn-ea"/>
                <a:cs typeface="+mn-cs"/>
              </a:rPr>
              <a:t>'Server, please </a:t>
            </a:r>
            <a:r>
              <a:rPr lang="en-US" sz="1200" b="1" i="1" kern="1200" dirty="0">
                <a:solidFill>
                  <a:schemeClr val="tx1"/>
                </a:solidFill>
                <a:effectLst/>
                <a:latin typeface="+mn-lt"/>
                <a:ea typeface="+mn-ea"/>
                <a:cs typeface="+mn-cs"/>
              </a:rPr>
              <a:t>execute this command</a:t>
            </a:r>
            <a:r>
              <a:rPr lang="en-US" sz="1200" b="0" i="1"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endpoints are </a:t>
            </a:r>
            <a:r>
              <a:rPr lang="en-US" sz="1200" b="1" i="0" kern="1200" dirty="0">
                <a:solidFill>
                  <a:schemeClr val="tx1"/>
                </a:solidFill>
                <a:effectLst/>
                <a:latin typeface="+mn-lt"/>
                <a:ea typeface="+mn-ea"/>
                <a:cs typeface="+mn-cs"/>
              </a:rPr>
              <a:t>function names</a:t>
            </a:r>
            <a:r>
              <a:rPr lang="en-US" sz="1200" b="0" i="0" kern="1200" dirty="0">
                <a:solidFill>
                  <a:schemeClr val="tx1"/>
                </a:solidFill>
                <a:effectLst/>
                <a:latin typeface="+mn-lt"/>
                <a:ea typeface="+mn-ea"/>
                <a:cs typeface="+mn-cs"/>
              </a:rPr>
              <a:t>, not resource nouns. You might call </a:t>
            </a:r>
            <a:r>
              <a:rPr lang="en-US" sz="1200" b="0" i="0" kern="1200" dirty="0" err="1">
                <a:solidFill>
                  <a:schemeClr val="tx1"/>
                </a:solidFill>
                <a:effectLst/>
                <a:latin typeface="+mn-lt"/>
                <a:ea typeface="+mn-ea"/>
                <a:cs typeface="+mn-cs"/>
              </a:rPr>
              <a:t>ProcessOrder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CalculateInvoice</a:t>
            </a:r>
            <a:r>
              <a:rPr lang="en-US" sz="1200" b="0" i="0" kern="1200" dirty="0">
                <a:solidFill>
                  <a:schemeClr val="tx1"/>
                </a:solidFill>
                <a:effectLst/>
                <a:latin typeface="+mn-lt"/>
                <a:ea typeface="+mn-ea"/>
                <a:cs typeface="+mn-cs"/>
              </a:rPr>
              <a:t>(), or </a:t>
            </a:r>
            <a:r>
              <a:rPr lang="en-US" sz="1200" b="0" i="0" kern="1200" dirty="0" err="1">
                <a:solidFill>
                  <a:schemeClr val="tx1"/>
                </a:solidFill>
                <a:effectLst/>
                <a:latin typeface="+mn-lt"/>
                <a:ea typeface="+mn-ea"/>
                <a:cs typeface="+mn-cs"/>
              </a:rPr>
              <a:t>NotifyUser</a:t>
            </a:r>
            <a:r>
              <a:rPr lang="en-US" sz="1200" b="0" i="0" kern="1200" dirty="0">
                <a:solidFill>
                  <a:schemeClr val="tx1"/>
                </a:solidFill>
                <a:effectLst/>
                <a:latin typeface="+mn-lt"/>
                <a:ea typeface="+mn-ea"/>
                <a:cs typeface="+mn-cs"/>
              </a:rPr>
              <a:t>() over the network. The framework's job is to make that remote call look and feel as much like a local function call as possible.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RPC landscape has evolved significantly. On one end, we have </a:t>
            </a:r>
            <a:r>
              <a:rPr lang="en-US" sz="1200" b="1" i="0" kern="1200" dirty="0">
                <a:solidFill>
                  <a:schemeClr val="tx1"/>
                </a:solidFill>
                <a:effectLst/>
                <a:latin typeface="+mn-lt"/>
                <a:ea typeface="+mn-ea"/>
                <a:cs typeface="+mn-cs"/>
              </a:rPr>
              <a:t>SOAP/WS-</a:t>
            </a:r>
            <a:r>
              <a:rPr lang="en-US" sz="1200" b="0" i="0" kern="1200" dirty="0">
                <a:solidFill>
                  <a:schemeClr val="tx1"/>
                </a:solidFill>
                <a:effectLst/>
                <a:latin typeface="+mn-lt"/>
                <a:ea typeface="+mn-ea"/>
                <a:cs typeface="+mn-cs"/>
              </a:rPr>
              <a:t>* - the enterprise heavyweight using XML with strict contracts and built-in enterprise features. On the modern end, we have </a:t>
            </a:r>
            <a:r>
              <a:rPr lang="en-US" sz="1200" b="1" i="0" kern="1200" dirty="0">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using HTTP/2 and binary Protocol Buffers for high performance in microservices.</a:t>
            </a:r>
          </a:p>
          <a:p>
            <a:r>
              <a:rPr lang="en-US" sz="1200" b="0" i="0" kern="1200" dirty="0">
                <a:solidFill>
                  <a:schemeClr val="tx1"/>
                </a:solidFill>
                <a:effectLst/>
                <a:latin typeface="+mn-lt"/>
                <a:ea typeface="+mn-ea"/>
                <a:cs typeface="+mn-cs"/>
              </a:rPr>
              <a:t>This leads to a </a:t>
            </a:r>
            <a:r>
              <a:rPr lang="en-US" sz="1200" b="1" i="0" kern="1200" dirty="0">
                <a:solidFill>
                  <a:schemeClr val="tx1"/>
                </a:solidFill>
                <a:effectLst/>
                <a:latin typeface="+mn-lt"/>
                <a:ea typeface="+mn-ea"/>
                <a:cs typeface="+mn-cs"/>
              </a:rPr>
              <a:t>tight contract</a:t>
            </a:r>
            <a:r>
              <a:rPr lang="en-US" sz="1200" b="0" i="0" kern="1200" dirty="0">
                <a:solidFill>
                  <a:schemeClr val="tx1"/>
                </a:solidFill>
                <a:effectLst/>
                <a:latin typeface="+mn-lt"/>
                <a:ea typeface="+mn-ea"/>
                <a:cs typeface="+mn-cs"/>
              </a:rPr>
              <a:t>. The client needs to know the exact procedure name, parameter types, and return type. This tight coupling enables efficiency but sacrifices some of the loose coupling benefits of REST</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leads to a </a:t>
            </a:r>
            <a:r>
              <a:rPr lang="en-US" sz="1200" b="1" i="0" kern="1200" dirty="0">
                <a:solidFill>
                  <a:schemeClr val="tx1"/>
                </a:solidFill>
                <a:effectLst/>
                <a:latin typeface="+mn-lt"/>
                <a:ea typeface="+mn-ea"/>
                <a:cs typeface="+mn-cs"/>
              </a:rPr>
              <a:t>tight contract</a:t>
            </a:r>
            <a:r>
              <a:rPr lang="en-US" sz="1200" b="0" i="0" kern="1200" dirty="0">
                <a:solidFill>
                  <a:schemeClr val="tx1"/>
                </a:solidFill>
                <a:effectLst/>
                <a:latin typeface="+mn-lt"/>
                <a:ea typeface="+mn-ea"/>
                <a:cs typeface="+mn-cs"/>
              </a:rPr>
              <a:t>. The client needs to know the exact procedure name, the order and type of all parameters, and the return type—much like programming against a software library. Because of this tight coupling, RPC frameworks like </a:t>
            </a:r>
            <a:r>
              <a:rPr lang="en-US" sz="1200" b="1" i="0" kern="1200" dirty="0">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often use </a:t>
            </a:r>
            <a:r>
              <a:rPr lang="en-US" sz="1200" b="1" i="0" kern="1200" dirty="0">
                <a:solidFill>
                  <a:schemeClr val="tx1"/>
                </a:solidFill>
                <a:effectLst/>
                <a:latin typeface="+mn-lt"/>
                <a:ea typeface="+mn-ea"/>
                <a:cs typeface="+mn-cs"/>
              </a:rPr>
              <a:t>IDLs—Interface Definition Languages</a:t>
            </a:r>
            <a:r>
              <a:rPr lang="en-US" sz="1200" b="0" i="0" kern="1200" dirty="0">
                <a:solidFill>
                  <a:schemeClr val="tx1"/>
                </a:solidFill>
                <a:effectLst/>
                <a:latin typeface="+mn-lt"/>
                <a:ea typeface="+mn-ea"/>
                <a:cs typeface="+mn-cs"/>
              </a:rPr>
              <a:t>—to strictly define this contract upfront and can use highly efficient binary formats like Protocol Buffers.</a:t>
            </a:r>
          </a:p>
          <a:p>
            <a:endParaRPr lang="en-IN" dirty="0"/>
          </a:p>
          <a:p>
            <a:r>
              <a:rPr lang="en-US" sz="1200" b="0" i="0" kern="1200" dirty="0">
                <a:solidFill>
                  <a:schemeClr val="tx1"/>
                </a:solidFill>
                <a:effectLst/>
                <a:latin typeface="+mn-lt"/>
                <a:ea typeface="+mn-ea"/>
                <a:cs typeface="+mn-cs"/>
              </a:rPr>
              <a:t>The main trade-off? RPC can be </a:t>
            </a:r>
            <a:r>
              <a:rPr lang="en-US" sz="1200" b="1" i="0" kern="1200" dirty="0">
                <a:solidFill>
                  <a:schemeClr val="tx1"/>
                </a:solidFill>
                <a:effectLst/>
                <a:latin typeface="+mn-lt"/>
                <a:ea typeface="+mn-ea"/>
                <a:cs typeface="+mn-cs"/>
              </a:rPr>
              <a:t>very efficient and natural for certain operations</a:t>
            </a:r>
            <a:r>
              <a:rPr lang="en-US" sz="1200" b="0" i="0" kern="1200" dirty="0">
                <a:solidFill>
                  <a:schemeClr val="tx1"/>
                </a:solidFill>
                <a:effectLst/>
                <a:latin typeface="+mn-lt"/>
                <a:ea typeface="+mn-ea"/>
                <a:cs typeface="+mn-cs"/>
              </a:rPr>
              <a:t> (especially command-oriented or transactional ones), but it sacrifices some of the uniformity, discoverability, and loose coupling that REST provides. The server's internal implementation is much more exposed in the API design.</a:t>
            </a:r>
            <a:endParaRPr lang="en-IN" dirty="0"/>
          </a:p>
        </p:txBody>
      </p:sp>
      <p:sp>
        <p:nvSpPr>
          <p:cNvPr id="4" name="Slide Number Placeholder 3">
            <a:extLst>
              <a:ext uri="{FF2B5EF4-FFF2-40B4-BE49-F238E27FC236}">
                <a16:creationId xmlns:a16="http://schemas.microsoft.com/office/drawing/2014/main" id="{AD9C2D52-4698-D3D6-2060-45756F9831F3}"/>
              </a:ext>
            </a:extLst>
          </p:cNvPr>
          <p:cNvSpPr>
            <a:spLocks noGrp="1"/>
          </p:cNvSpPr>
          <p:nvPr>
            <p:ph type="sldNum" sz="quarter" idx="5"/>
          </p:nvPr>
        </p:nvSpPr>
        <p:spPr/>
        <p:txBody>
          <a:bodyPr/>
          <a:lstStyle/>
          <a:p>
            <a:fld id="{72853293-4F00-4813-B74A-3945ABE0C2FC}" type="slidenum">
              <a:rPr lang="en-IN" smtClean="0"/>
              <a:t>16</a:t>
            </a:fld>
            <a:endParaRPr lang="en-IN"/>
          </a:p>
        </p:txBody>
      </p:sp>
    </p:spTree>
    <p:extLst>
      <p:ext uri="{BB962C8B-B14F-4D97-AF65-F5344CB8AC3E}">
        <p14:creationId xmlns:p14="http://schemas.microsoft.com/office/powerpoint/2010/main" val="2896829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3790-6538-5CF9-AFD5-3CAD5BC85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9F857-EC4A-6371-448A-BF8CA42B0F5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013325A-5FFD-B03B-A5DF-62E937FB90B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dive deeper into </a:t>
            </a:r>
            <a:r>
              <a:rPr lang="en-US" sz="1200" b="1" i="0" kern="1200" dirty="0">
                <a:solidFill>
                  <a:schemeClr val="tx1"/>
                </a:solidFill>
                <a:effectLst/>
                <a:latin typeface="+mn-lt"/>
                <a:ea typeface="+mn-ea"/>
                <a:cs typeface="+mn-cs"/>
              </a:rPr>
              <a:t>SOAP</a:t>
            </a:r>
            <a:r>
              <a:rPr lang="en-US" sz="1200" b="0" i="0" kern="1200" dirty="0">
                <a:solidFill>
                  <a:schemeClr val="tx1"/>
                </a:solidFill>
                <a:effectLst/>
                <a:latin typeface="+mn-lt"/>
                <a:ea typeface="+mn-ea"/>
                <a:cs typeface="+mn-cs"/>
              </a:rPr>
              <a:t> - the protocol that defined enterprise web services for a generation.</a:t>
            </a:r>
          </a:p>
          <a:p>
            <a:r>
              <a:rPr lang="en-US" sz="1200" b="1" i="0" kern="1200" dirty="0">
                <a:solidFill>
                  <a:schemeClr val="tx1"/>
                </a:solidFill>
                <a:effectLst/>
                <a:latin typeface="+mn-lt"/>
                <a:ea typeface="+mn-ea"/>
                <a:cs typeface="+mn-cs"/>
              </a:rPr>
              <a:t>SOAP</a:t>
            </a:r>
            <a:r>
              <a:rPr lang="en-US" sz="1200" b="0" i="0" kern="1200" dirty="0">
                <a:solidFill>
                  <a:schemeClr val="tx1"/>
                </a:solidFill>
                <a:effectLst/>
                <a:latin typeface="+mn-lt"/>
                <a:ea typeface="+mn-ea"/>
                <a:cs typeface="+mn-cs"/>
              </a:rPr>
              <a:t> stands for Simple Object Access Protocol, though it's anything but simple. It's an </a:t>
            </a:r>
            <a:r>
              <a:rPr lang="en-US" sz="1200" b="1" i="0" kern="1200" dirty="0">
                <a:solidFill>
                  <a:schemeClr val="tx1"/>
                </a:solidFill>
                <a:effectLst/>
                <a:latin typeface="+mn-lt"/>
                <a:ea typeface="+mn-ea"/>
                <a:cs typeface="+mn-cs"/>
              </a:rPr>
              <a:t>XML-based protocol</a:t>
            </a:r>
            <a:r>
              <a:rPr lang="en-US" sz="1200" b="0" i="0" kern="1200" dirty="0">
                <a:solidFill>
                  <a:schemeClr val="tx1"/>
                </a:solidFill>
                <a:effectLst/>
                <a:latin typeface="+mn-lt"/>
                <a:ea typeface="+mn-ea"/>
                <a:cs typeface="+mn-cs"/>
              </a:rPr>
              <a:t> with a formal envelope structure containing headers and body. But SOAP's real power comes from the </a:t>
            </a:r>
            <a:r>
              <a:rPr lang="en-US" sz="1200" b="0" i="1" kern="1200" dirty="0">
                <a:solidFill>
                  <a:schemeClr val="tx1"/>
                </a:solidFill>
                <a:effectLst/>
                <a:latin typeface="+mn-lt"/>
                <a:ea typeface="+mn-ea"/>
                <a:cs typeface="+mn-cs"/>
              </a:rPr>
              <a:t>*WS-* standards</a:t>
            </a:r>
            <a:r>
              <a:rPr lang="en-US" sz="1200" b="0" i="0" kern="1200" dirty="0">
                <a:solidFill>
                  <a:schemeClr val="tx1"/>
                </a:solidFill>
                <a:effectLst/>
                <a:latin typeface="+mn-lt"/>
                <a:ea typeface="+mn-ea"/>
                <a:cs typeface="+mn-cs"/>
              </a:rPr>
              <a:t>* - a whole suite of specifications that add enterprise-grade capabilities.</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WSDL contract</a:t>
            </a:r>
            <a:r>
              <a:rPr lang="en-US" sz="1200" b="0" i="0" kern="1200" dirty="0">
                <a:solidFill>
                  <a:schemeClr val="tx1"/>
                </a:solidFill>
                <a:effectLst/>
                <a:latin typeface="+mn-lt"/>
                <a:ea typeface="+mn-ea"/>
                <a:cs typeface="+mn-cs"/>
              </a:rPr>
              <a:t> is central to SOAP development. You define your service interface upfront in XML: operations, messages, data types, and binding information. From this WSDL, tools can automatically generate client and server code in multiple languages - this is </a:t>
            </a:r>
            <a:r>
              <a:rPr lang="en-US" sz="1200" b="1" i="0" kern="1200" dirty="0">
                <a:solidFill>
                  <a:schemeClr val="tx1"/>
                </a:solidFill>
                <a:effectLst/>
                <a:latin typeface="+mn-lt"/>
                <a:ea typeface="+mn-ea"/>
                <a:cs typeface="+mn-cs"/>
              </a:rPr>
              <a:t>contract-first development</a:t>
            </a:r>
            <a:r>
              <a:rPr lang="en-US" sz="1200" b="0" i="0" kern="1200" dirty="0">
                <a:solidFill>
                  <a:schemeClr val="tx1"/>
                </a:solidFill>
                <a:effectLst/>
                <a:latin typeface="+mn-lt"/>
                <a:ea typeface="+mn-ea"/>
                <a:cs typeface="+mn-cs"/>
              </a:rPr>
              <a:t>.</a:t>
            </a:r>
          </a:p>
          <a:p>
            <a:endParaRPr lang="en-IN" dirty="0"/>
          </a:p>
          <a:p>
            <a:endParaRPr lang="en-IN" dirty="0"/>
          </a:p>
          <a:p>
            <a:r>
              <a:rPr lang="en-US" sz="1200" b="0" i="0" kern="1200" dirty="0">
                <a:solidFill>
                  <a:schemeClr val="tx1"/>
                </a:solidFill>
                <a:effectLst/>
                <a:latin typeface="+mn-lt"/>
                <a:ea typeface="+mn-ea"/>
                <a:cs typeface="+mn-cs"/>
              </a:rPr>
              <a:t>SOAP includes built-in standards for:</a:t>
            </a:r>
          </a:p>
          <a:p>
            <a:r>
              <a:rPr lang="en-US" sz="1200" b="1" i="0" kern="1200" dirty="0">
                <a:solidFill>
                  <a:schemeClr val="tx1"/>
                </a:solidFill>
                <a:effectLst/>
                <a:latin typeface="+mn-lt"/>
                <a:ea typeface="+mn-ea"/>
                <a:cs typeface="+mn-cs"/>
              </a:rPr>
              <a:t>WS-Security</a:t>
            </a:r>
            <a:r>
              <a:rPr lang="en-US" sz="1200" b="0" i="0" kern="1200" dirty="0">
                <a:solidFill>
                  <a:schemeClr val="tx1"/>
                </a:solidFill>
                <a:effectLst/>
                <a:latin typeface="+mn-lt"/>
                <a:ea typeface="+mn-ea"/>
                <a:cs typeface="+mn-cs"/>
              </a:rPr>
              <a:t> for authentication, encryption, and digital signatures</a:t>
            </a:r>
          </a:p>
          <a:p>
            <a:r>
              <a:rPr lang="en-US" sz="1200" b="1" i="0" kern="1200" dirty="0">
                <a:solidFill>
                  <a:schemeClr val="tx1"/>
                </a:solidFill>
                <a:effectLst/>
                <a:latin typeface="+mn-lt"/>
                <a:ea typeface="+mn-ea"/>
                <a:cs typeface="+mn-cs"/>
              </a:rPr>
              <a:t>WS-Transactions</a:t>
            </a:r>
            <a:r>
              <a:rPr lang="en-US" sz="1200" b="0" i="0" kern="1200" dirty="0">
                <a:solidFill>
                  <a:schemeClr val="tx1"/>
                </a:solidFill>
                <a:effectLst/>
                <a:latin typeface="+mn-lt"/>
                <a:ea typeface="+mn-ea"/>
                <a:cs typeface="+mn-cs"/>
              </a:rPr>
              <a:t> for distributed transaction coordination</a:t>
            </a:r>
          </a:p>
          <a:p>
            <a:r>
              <a:rPr lang="en-US" sz="1200" b="1" i="0" kern="1200" dirty="0">
                <a:solidFill>
                  <a:schemeClr val="tx1"/>
                </a:solidFill>
                <a:effectLst/>
                <a:latin typeface="+mn-lt"/>
                <a:ea typeface="+mn-ea"/>
                <a:cs typeface="+mn-cs"/>
              </a:rPr>
              <a:t>WS-</a:t>
            </a:r>
            <a:r>
              <a:rPr lang="en-US" sz="1200" b="1" i="0" kern="1200" dirty="0" err="1">
                <a:solidFill>
                  <a:schemeClr val="tx1"/>
                </a:solidFill>
                <a:effectLst/>
                <a:latin typeface="+mn-lt"/>
                <a:ea typeface="+mn-ea"/>
                <a:cs typeface="+mn-cs"/>
              </a:rPr>
              <a:t>ReliableMessaging</a:t>
            </a:r>
            <a:r>
              <a:rPr lang="en-US" sz="1200" b="0" i="0" kern="1200" dirty="0">
                <a:solidFill>
                  <a:schemeClr val="tx1"/>
                </a:solidFill>
                <a:effectLst/>
                <a:latin typeface="+mn-lt"/>
                <a:ea typeface="+mn-ea"/>
                <a:cs typeface="+mn-cs"/>
              </a:rPr>
              <a:t> for guaranteed message delivery</a:t>
            </a:r>
          </a:p>
          <a:p>
            <a:r>
              <a:rPr lang="en-US" sz="1200" b="1" i="0" kern="1200" dirty="0">
                <a:solidFill>
                  <a:schemeClr val="tx1"/>
                </a:solidFill>
                <a:effectLst/>
                <a:latin typeface="+mn-lt"/>
                <a:ea typeface="+mn-ea"/>
                <a:cs typeface="+mn-cs"/>
              </a:rPr>
              <a:t>WS-Addressing</a:t>
            </a:r>
            <a:r>
              <a:rPr lang="en-US" sz="1200" b="0" i="0" kern="1200" dirty="0">
                <a:solidFill>
                  <a:schemeClr val="tx1"/>
                </a:solidFill>
                <a:effectLst/>
                <a:latin typeface="+mn-lt"/>
                <a:ea typeface="+mn-ea"/>
                <a:cs typeface="+mn-cs"/>
              </a:rPr>
              <a:t> for routing information</a:t>
            </a:r>
          </a:p>
          <a:p>
            <a:r>
              <a:rPr lang="en-US" sz="1200" b="0" i="0" kern="1200" dirty="0">
                <a:solidFill>
                  <a:schemeClr val="tx1"/>
                </a:solidFill>
                <a:effectLst/>
                <a:latin typeface="+mn-lt"/>
                <a:ea typeface="+mn-ea"/>
                <a:cs typeface="+mn-cs"/>
              </a:rPr>
              <a:t>This made SOAP ideal for </a:t>
            </a:r>
            <a:r>
              <a:rPr lang="en-US" sz="1200" b="1" i="0" kern="1200" dirty="0">
                <a:solidFill>
                  <a:schemeClr val="tx1"/>
                </a:solidFill>
                <a:effectLst/>
                <a:latin typeface="+mn-lt"/>
                <a:ea typeface="+mn-ea"/>
                <a:cs typeface="+mn-cs"/>
              </a:rPr>
              <a:t>enterprise integration scenarios</a:t>
            </a:r>
            <a:r>
              <a:rPr lang="en-US" sz="1200" b="0" i="0" kern="1200" dirty="0">
                <a:solidFill>
                  <a:schemeClr val="tx1"/>
                </a:solidFill>
                <a:effectLst/>
                <a:latin typeface="+mn-lt"/>
                <a:ea typeface="+mn-ea"/>
                <a:cs typeface="+mn-cs"/>
              </a:rPr>
              <a:t> - connecting banking systems, healthcare systems, or government services where reliability, security, and transaction integrity are non-negotiable.</a:t>
            </a:r>
          </a:p>
          <a:p>
            <a:r>
              <a:rPr lang="en-US" sz="1200" b="0" i="0" kern="1200" dirty="0">
                <a:solidFill>
                  <a:schemeClr val="tx1"/>
                </a:solidFill>
                <a:effectLst/>
                <a:latin typeface="+mn-lt"/>
                <a:ea typeface="+mn-ea"/>
                <a:cs typeface="+mn-cs"/>
              </a:rPr>
              <a:t>However, this power came at a cost: </a:t>
            </a:r>
            <a:r>
              <a:rPr lang="en-US" sz="1200" b="1" i="0" kern="1200" dirty="0">
                <a:solidFill>
                  <a:schemeClr val="tx1"/>
                </a:solidFill>
                <a:effectLst/>
                <a:latin typeface="+mn-lt"/>
                <a:ea typeface="+mn-ea"/>
                <a:cs typeface="+mn-cs"/>
              </a:rPr>
              <a:t>complexity and verbosity</a:t>
            </a:r>
            <a:r>
              <a:rPr lang="en-US" sz="1200" b="0" i="0" kern="1200" dirty="0">
                <a:solidFill>
                  <a:schemeClr val="tx1"/>
                </a:solidFill>
                <a:effectLst/>
                <a:latin typeface="+mn-lt"/>
                <a:ea typeface="+mn-ea"/>
                <a:cs typeface="+mn-cs"/>
              </a:rPr>
              <a:t>. SOAP messages could be huge, and the learning curve was steep. This eventually led to the rise of simpler alternatives like REST for many use cases.</a:t>
            </a:r>
          </a:p>
          <a:p>
            <a:endParaRPr lang="en-IN" dirty="0"/>
          </a:p>
        </p:txBody>
      </p:sp>
      <p:sp>
        <p:nvSpPr>
          <p:cNvPr id="4" name="Slide Number Placeholder 3">
            <a:extLst>
              <a:ext uri="{FF2B5EF4-FFF2-40B4-BE49-F238E27FC236}">
                <a16:creationId xmlns:a16="http://schemas.microsoft.com/office/drawing/2014/main" id="{ECC0DD61-78FF-158C-0CBC-8A7458DC3019}"/>
              </a:ext>
            </a:extLst>
          </p:cNvPr>
          <p:cNvSpPr>
            <a:spLocks noGrp="1"/>
          </p:cNvSpPr>
          <p:nvPr>
            <p:ph type="sldNum" sz="quarter" idx="5"/>
          </p:nvPr>
        </p:nvSpPr>
        <p:spPr/>
        <p:txBody>
          <a:bodyPr/>
          <a:lstStyle/>
          <a:p>
            <a:fld id="{72853293-4F00-4813-B74A-3945ABE0C2FC}" type="slidenum">
              <a:rPr lang="en-IN" smtClean="0"/>
              <a:t>17</a:t>
            </a:fld>
            <a:endParaRPr lang="en-IN"/>
          </a:p>
        </p:txBody>
      </p:sp>
    </p:spTree>
    <p:extLst>
      <p:ext uri="{BB962C8B-B14F-4D97-AF65-F5344CB8AC3E}">
        <p14:creationId xmlns:p14="http://schemas.microsoft.com/office/powerpoint/2010/main" val="894251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DCEF-8395-9D3C-D1F8-D1D78D5B5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21D08-D962-2942-2FC0-FD6321864E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7C73A1A-2C07-70D6-83EA-AAD039D83EB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the modern evolution of RPC: </a:t>
            </a:r>
            <a:r>
              <a:rPr lang="en-US" sz="1200" b="1" i="0" kern="1200" dirty="0">
                <a:solidFill>
                  <a:schemeClr val="tx1"/>
                </a:solidFill>
                <a:effectLst/>
                <a:latin typeface="+mn-lt"/>
                <a:ea typeface="+mn-ea"/>
                <a:cs typeface="+mn-cs"/>
              </a:rPr>
              <a:t>gRPC</a:t>
            </a:r>
            <a:r>
              <a:rPr lang="en-US" sz="1200" b="0" i="0" kern="1200" dirty="0">
                <a:solidFill>
                  <a:schemeClr val="tx1"/>
                </a:solidFill>
                <a:effectLst/>
                <a:latin typeface="+mn-lt"/>
                <a:ea typeface="+mn-ea"/>
                <a:cs typeface="+mn-cs"/>
              </a:rPr>
              <a:t>, developed by Google and now a CNCF project.</a:t>
            </a:r>
          </a:p>
          <a:p>
            <a:r>
              <a:rPr lang="en-US" sz="1200" b="0" i="0" kern="1200" dirty="0">
                <a:solidFill>
                  <a:schemeClr val="tx1"/>
                </a:solidFill>
                <a:effectLst/>
                <a:latin typeface="+mn-lt"/>
                <a:ea typeface="+mn-ea"/>
                <a:cs typeface="+mn-cs"/>
              </a:rPr>
              <a:t>Where SOAP was about enterprise features, </a:t>
            </a:r>
            <a:r>
              <a:rPr lang="en-US" sz="1200" b="1" i="0" kern="1200" dirty="0">
                <a:solidFill>
                  <a:schemeClr val="tx1"/>
                </a:solidFill>
                <a:effectLst/>
                <a:latin typeface="+mn-lt"/>
                <a:ea typeface="+mn-ea"/>
                <a:cs typeface="+mn-cs"/>
              </a:rPr>
              <a:t>gRPC is about performance and developer productivity</a:t>
            </a:r>
            <a:r>
              <a:rPr lang="en-US" sz="1200" b="0" i="0" kern="1200" dirty="0">
                <a:solidFill>
                  <a:schemeClr val="tx1"/>
                </a:solidFill>
                <a:effectLst/>
                <a:latin typeface="+mn-lt"/>
                <a:ea typeface="+mn-ea"/>
                <a:cs typeface="+mn-cs"/>
              </a:rPr>
              <a:t> in distributed systems. It uses </a:t>
            </a:r>
            <a:r>
              <a:rPr lang="en-US" sz="1200" b="1" i="0" kern="1200" dirty="0">
                <a:solidFill>
                  <a:schemeClr val="tx1"/>
                </a:solidFill>
                <a:effectLst/>
                <a:latin typeface="+mn-lt"/>
                <a:ea typeface="+mn-ea"/>
                <a:cs typeface="+mn-cs"/>
              </a:rPr>
              <a:t>HTTP/2</a:t>
            </a:r>
            <a:r>
              <a:rPr lang="en-US" sz="1200" b="0" i="0" kern="1200" dirty="0">
                <a:solidFill>
                  <a:schemeClr val="tx1"/>
                </a:solidFill>
                <a:effectLst/>
                <a:latin typeface="+mn-lt"/>
                <a:ea typeface="+mn-ea"/>
                <a:cs typeface="+mn-cs"/>
              </a:rPr>
              <a:t> as its transport protocol, which gives us multiplexing—multiple streams over a single TCP connection—header compression, and binary framing.</a:t>
            </a:r>
          </a:p>
          <a:p>
            <a:r>
              <a:rPr lang="en-US" sz="1200" b="0" i="0" kern="1200" dirty="0">
                <a:solidFill>
                  <a:schemeClr val="tx1"/>
                </a:solidFill>
                <a:effectLst/>
                <a:latin typeface="+mn-lt"/>
                <a:ea typeface="+mn-ea"/>
                <a:cs typeface="+mn-cs"/>
              </a:rPr>
              <a:t>The real magic is in </a:t>
            </a:r>
            <a:r>
              <a:rPr lang="en-US" sz="1200" b="1" i="0" kern="1200" dirty="0">
                <a:solidFill>
                  <a:schemeClr val="tx1"/>
                </a:solidFill>
                <a:effectLst/>
                <a:latin typeface="+mn-lt"/>
                <a:ea typeface="+mn-ea"/>
                <a:cs typeface="+mn-cs"/>
              </a:rPr>
              <a:t>Protocol Buffers (</a:t>
            </a:r>
            <a:r>
              <a:rPr lang="en-US" sz="1200" b="1" i="0" kern="1200" dirty="0" err="1">
                <a:solidFill>
                  <a:schemeClr val="tx1"/>
                </a:solidFill>
                <a:effectLst/>
                <a:latin typeface="+mn-lt"/>
                <a:ea typeface="+mn-ea"/>
                <a:cs typeface="+mn-cs"/>
              </a:rPr>
              <a:t>protobuf</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 a binary serialization format that's incredibly compact and fast. A </a:t>
            </a:r>
            <a:r>
              <a:rPr lang="en-US" sz="1200" b="0" i="0" kern="1200" dirty="0" err="1">
                <a:solidFill>
                  <a:schemeClr val="tx1"/>
                </a:solidFill>
                <a:effectLst/>
                <a:latin typeface="+mn-lt"/>
                <a:ea typeface="+mn-ea"/>
                <a:cs typeface="+mn-cs"/>
              </a:rPr>
              <a:t>protobuf</a:t>
            </a:r>
            <a:r>
              <a:rPr lang="en-US" sz="1200" b="0" i="0" kern="1200" dirty="0">
                <a:solidFill>
                  <a:schemeClr val="tx1"/>
                </a:solidFill>
                <a:effectLst/>
                <a:latin typeface="+mn-lt"/>
                <a:ea typeface="+mn-ea"/>
                <a:cs typeface="+mn-cs"/>
              </a:rPr>
              <a:t> message can be 3-10x smaller than equivalent JSON and serialize/deserialize much faster.</a:t>
            </a:r>
          </a:p>
          <a:p>
            <a:r>
              <a:rPr lang="en-US" sz="1200" b="0" i="0" kern="1200" dirty="0">
                <a:solidFill>
                  <a:schemeClr val="tx1"/>
                </a:solidFill>
                <a:effectLst/>
                <a:latin typeface="+mn-lt"/>
                <a:ea typeface="+mn-ea"/>
                <a:cs typeface="+mn-cs"/>
              </a:rPr>
              <a:t>Like SOAP, gRPC is </a:t>
            </a:r>
            <a:r>
              <a:rPr lang="en-US" sz="1200" b="1" i="0" kern="1200" dirty="0">
                <a:solidFill>
                  <a:schemeClr val="tx1"/>
                </a:solidFill>
                <a:effectLst/>
                <a:latin typeface="+mn-lt"/>
                <a:ea typeface="+mn-ea"/>
                <a:cs typeface="+mn-cs"/>
              </a:rPr>
              <a:t>contract-first</a:t>
            </a:r>
            <a:r>
              <a:rPr lang="en-US" sz="1200" b="0" i="0" kern="1200" dirty="0">
                <a:solidFill>
                  <a:schemeClr val="tx1"/>
                </a:solidFill>
                <a:effectLst/>
                <a:latin typeface="+mn-lt"/>
                <a:ea typeface="+mn-ea"/>
                <a:cs typeface="+mn-cs"/>
              </a:rPr>
              <a:t>. You define your service in a .proto file specifying:</a:t>
            </a:r>
          </a:p>
          <a:p>
            <a:r>
              <a:rPr lang="en-US" sz="1200" b="0" i="0" kern="1200" dirty="0">
                <a:solidFill>
                  <a:schemeClr val="tx1"/>
                </a:solidFill>
                <a:effectLst/>
                <a:latin typeface="+mn-lt"/>
                <a:ea typeface="+mn-ea"/>
                <a:cs typeface="+mn-cs"/>
              </a:rPr>
              <a:t>Service methods with request/response types</a:t>
            </a:r>
          </a:p>
          <a:p>
            <a:r>
              <a:rPr lang="en-US" sz="1200" b="0" i="0" kern="1200" dirty="0">
                <a:solidFill>
                  <a:schemeClr val="tx1"/>
                </a:solidFill>
                <a:effectLst/>
                <a:latin typeface="+mn-lt"/>
                <a:ea typeface="+mn-ea"/>
                <a:cs typeface="+mn-cs"/>
              </a:rPr>
              <a:t>Message structures with typed fields</a:t>
            </a:r>
          </a:p>
          <a:p>
            <a:r>
              <a:rPr lang="en-US" sz="1200" b="0" i="0" kern="1200" dirty="0">
                <a:solidFill>
                  <a:schemeClr val="tx1"/>
                </a:solidFill>
                <a:effectLst/>
                <a:latin typeface="+mn-lt"/>
                <a:ea typeface="+mn-ea"/>
                <a:cs typeface="+mn-cs"/>
              </a:rPr>
              <a:t>Options for streaming (client, server, or bidirectional)</a:t>
            </a:r>
          </a:p>
          <a:p>
            <a:r>
              <a:rPr lang="en-US" sz="1200" b="0" i="0" kern="1200" dirty="0">
                <a:solidFill>
                  <a:schemeClr val="tx1"/>
                </a:solidFill>
                <a:effectLst/>
                <a:latin typeface="+mn-lt"/>
                <a:ea typeface="+mn-ea"/>
                <a:cs typeface="+mn-cs"/>
              </a:rPr>
              <a:t>From this .proto file, you generate idiomatic client and server code in any supported language—Go, Java, Python, C#, even JavaScript/TypeScript.</a:t>
            </a:r>
          </a:p>
          <a:p>
            <a:endParaRPr lang="en-IN" dirty="0"/>
          </a:p>
        </p:txBody>
      </p:sp>
      <p:sp>
        <p:nvSpPr>
          <p:cNvPr id="4" name="Slide Number Placeholder 3">
            <a:extLst>
              <a:ext uri="{FF2B5EF4-FFF2-40B4-BE49-F238E27FC236}">
                <a16:creationId xmlns:a16="http://schemas.microsoft.com/office/drawing/2014/main" id="{919ED1B5-5E18-C443-F47E-10642ACD881A}"/>
              </a:ext>
            </a:extLst>
          </p:cNvPr>
          <p:cNvSpPr>
            <a:spLocks noGrp="1"/>
          </p:cNvSpPr>
          <p:nvPr>
            <p:ph type="sldNum" sz="quarter" idx="5"/>
          </p:nvPr>
        </p:nvSpPr>
        <p:spPr/>
        <p:txBody>
          <a:bodyPr/>
          <a:lstStyle/>
          <a:p>
            <a:fld id="{72853293-4F00-4813-B74A-3945ABE0C2FC}" type="slidenum">
              <a:rPr lang="en-IN" smtClean="0"/>
              <a:t>18</a:t>
            </a:fld>
            <a:endParaRPr lang="en-IN"/>
          </a:p>
        </p:txBody>
      </p:sp>
    </p:spTree>
    <p:extLst>
      <p:ext uri="{BB962C8B-B14F-4D97-AF65-F5344CB8AC3E}">
        <p14:creationId xmlns:p14="http://schemas.microsoft.com/office/powerpoint/2010/main" val="4088211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96ED-A775-89A0-E75B-31C256346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1E229-EC00-78E5-6B02-BDE212AB618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46478E-C177-68E0-EDE9-AA3DE639306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talk about the </a:t>
            </a:r>
            <a:r>
              <a:rPr lang="en-US" sz="1200" b="1" i="0" kern="1200" dirty="0">
                <a:solidFill>
                  <a:schemeClr val="tx1"/>
                </a:solidFill>
                <a:effectLst/>
                <a:latin typeface="+mn-lt"/>
                <a:ea typeface="+mn-ea"/>
                <a:cs typeface="+mn-cs"/>
              </a:rPr>
              <a:t>architectural context</a:t>
            </a:r>
            <a:r>
              <a:rPr lang="en-US" sz="1200" b="0" i="0" kern="1200" dirty="0">
                <a:solidFill>
                  <a:schemeClr val="tx1"/>
                </a:solidFill>
                <a:effectLst/>
                <a:latin typeface="+mn-lt"/>
                <a:ea typeface="+mn-ea"/>
                <a:cs typeface="+mn-cs"/>
              </a:rPr>
              <a:t> where RPC, particularly SOAP, thrived: </a:t>
            </a:r>
            <a:r>
              <a:rPr lang="en-US" sz="1200" b="1" i="0" kern="1200" dirty="0">
                <a:solidFill>
                  <a:schemeClr val="tx1"/>
                </a:solidFill>
                <a:effectLst/>
                <a:latin typeface="+mn-lt"/>
                <a:ea typeface="+mn-ea"/>
                <a:cs typeface="+mn-cs"/>
              </a:rPr>
              <a:t>Service-Oriented Architecture or SOA</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SOA emerged in the early 2000s as a way to solve enterprise integration problems. The goal was to expose business capabilities—like 'process order' or 'check credit'—as reusable services that could be composed into applications.</a:t>
            </a:r>
          </a:p>
          <a:p>
            <a:r>
              <a:rPr lang="en-US" sz="1200" b="0" i="0" kern="1200" dirty="0">
                <a:solidFill>
                  <a:schemeClr val="tx1"/>
                </a:solidFill>
                <a:effectLst/>
                <a:latin typeface="+mn-lt"/>
                <a:ea typeface="+mn-ea"/>
                <a:cs typeface="+mn-cs"/>
              </a:rPr>
              <a:t>The heart of SOA is the </a:t>
            </a:r>
            <a:r>
              <a:rPr lang="en-US" sz="1200" b="1" i="0" kern="1200" dirty="0">
                <a:solidFill>
                  <a:schemeClr val="tx1"/>
                </a:solidFill>
                <a:effectLst/>
                <a:latin typeface="+mn-lt"/>
                <a:ea typeface="+mn-ea"/>
                <a:cs typeface="+mn-cs"/>
              </a:rPr>
              <a:t>Enterprise Service Bus or ESB</a:t>
            </a:r>
            <a:r>
              <a:rPr lang="en-US" sz="1200" b="0" i="0" kern="1200" dirty="0">
                <a:solidFill>
                  <a:schemeClr val="tx1"/>
                </a:solidFill>
                <a:effectLst/>
                <a:latin typeface="+mn-lt"/>
                <a:ea typeface="+mn-ea"/>
                <a:cs typeface="+mn-cs"/>
              </a:rPr>
              <a:t>. Think of it as the central nervous system of the enterprise. Instead of services talking directly to each other, they communicate through the ESB. This bus handles:</a:t>
            </a:r>
          </a:p>
          <a:p>
            <a:r>
              <a:rPr lang="en-US" sz="1200" b="0" i="0" kern="1200" dirty="0">
                <a:solidFill>
                  <a:schemeClr val="tx1"/>
                </a:solidFill>
                <a:effectLst/>
                <a:latin typeface="+mn-lt"/>
                <a:ea typeface="+mn-ea"/>
                <a:cs typeface="+mn-cs"/>
              </a:rPr>
              <a:t>Protocol transformation (SOAP to REST, or legacy protocols to modern ones)</a:t>
            </a:r>
          </a:p>
          <a:p>
            <a:r>
              <a:rPr lang="en-US" sz="1200" b="0" i="0" kern="1200" dirty="0">
                <a:solidFill>
                  <a:schemeClr val="tx1"/>
                </a:solidFill>
                <a:effectLst/>
                <a:latin typeface="+mn-lt"/>
                <a:ea typeface="+mn-ea"/>
                <a:cs typeface="+mn-cs"/>
              </a:rPr>
              <a:t>Message routing and orchestration</a:t>
            </a:r>
          </a:p>
          <a:p>
            <a:r>
              <a:rPr lang="en-US" sz="1200" b="0" i="0" kern="1200" dirty="0">
                <a:solidFill>
                  <a:schemeClr val="tx1"/>
                </a:solidFill>
                <a:effectLst/>
                <a:latin typeface="+mn-lt"/>
                <a:ea typeface="+mn-ea"/>
                <a:cs typeface="+mn-cs"/>
              </a:rPr>
              <a:t>Security, monitoring, and governance</a:t>
            </a:r>
          </a:p>
          <a:p>
            <a:r>
              <a:rPr lang="en-US" sz="1200" b="0" i="0" kern="1200" dirty="0">
                <a:solidFill>
                  <a:schemeClr val="tx1"/>
                </a:solidFill>
                <a:effectLst/>
                <a:latin typeface="+mn-lt"/>
                <a:ea typeface="+mn-ea"/>
                <a:cs typeface="+mn-cs"/>
              </a:rPr>
              <a:t>Service discovery</a:t>
            </a:r>
          </a:p>
          <a:p>
            <a:r>
              <a:rPr lang="en-US" sz="1200" b="0" i="0" kern="1200" dirty="0">
                <a:solidFill>
                  <a:schemeClr val="tx1"/>
                </a:solidFill>
                <a:effectLst/>
                <a:latin typeface="+mn-lt"/>
                <a:ea typeface="+mn-ea"/>
                <a:cs typeface="+mn-cs"/>
              </a:rPr>
              <a:t>Services in SOA were typically implemented as </a:t>
            </a:r>
            <a:r>
              <a:rPr lang="en-US" sz="1200" b="1" i="0" kern="1200" dirty="0">
                <a:solidFill>
                  <a:schemeClr val="tx1"/>
                </a:solidFill>
                <a:effectLst/>
                <a:latin typeface="+mn-lt"/>
                <a:ea typeface="+mn-ea"/>
                <a:cs typeface="+mn-cs"/>
              </a:rPr>
              <a:t>SOAP/WS-</a:t>
            </a:r>
            <a:r>
              <a:rPr lang="en-US" sz="1200" b="0" i="0" kern="1200" dirty="0">
                <a:solidFill>
                  <a:schemeClr val="tx1"/>
                </a:solidFill>
                <a:effectLst/>
                <a:latin typeface="+mn-lt"/>
                <a:ea typeface="+mn-ea"/>
                <a:cs typeface="+mn-cs"/>
              </a:rPr>
              <a:t>* services with strict WSDL contracts. This was about </a:t>
            </a:r>
            <a:r>
              <a:rPr lang="en-US" sz="1200" b="1" i="0" kern="1200" dirty="0">
                <a:solidFill>
                  <a:schemeClr val="tx1"/>
                </a:solidFill>
                <a:effectLst/>
                <a:latin typeface="+mn-lt"/>
                <a:ea typeface="+mn-ea"/>
                <a:cs typeface="+mn-cs"/>
              </a:rPr>
              <a:t>enterprise-grade reliability, security, and governance</a:t>
            </a:r>
            <a:r>
              <a:rPr lang="en-US" sz="1200" b="0" i="0" kern="1200" dirty="0">
                <a:solidFill>
                  <a:schemeClr val="tx1"/>
                </a:solidFill>
                <a:effectLst/>
                <a:latin typeface="+mn-lt"/>
                <a:ea typeface="+mn-ea"/>
                <a:cs typeface="+mn-cs"/>
              </a:rPr>
              <a:t>—connecting mainframes with modern applications, ensuring transactional integrity across systems.</a:t>
            </a:r>
          </a:p>
          <a:p>
            <a:r>
              <a:rPr lang="en-US" sz="1200" b="0" i="0" kern="1200" dirty="0">
                <a:solidFill>
                  <a:schemeClr val="tx1"/>
                </a:solidFill>
                <a:effectLst/>
                <a:latin typeface="+mn-lt"/>
                <a:ea typeface="+mn-ea"/>
                <a:cs typeface="+mn-cs"/>
              </a:rPr>
              <a:t>While SOA solved important enterprise problems, it often led to </a:t>
            </a:r>
            <a:r>
              <a:rPr lang="en-US" sz="1200" b="1" i="0" kern="1200" dirty="0">
                <a:solidFill>
                  <a:schemeClr val="tx1"/>
                </a:solidFill>
                <a:effectLst/>
                <a:latin typeface="+mn-lt"/>
                <a:ea typeface="+mn-ea"/>
                <a:cs typeface="+mn-cs"/>
              </a:rPr>
              <a:t>centralized bottlenecks</a:t>
            </a:r>
            <a:r>
              <a:rPr lang="en-US" sz="1200" b="0" i="0" kern="1200" dirty="0">
                <a:solidFill>
                  <a:schemeClr val="tx1"/>
                </a:solidFill>
                <a:effectLst/>
                <a:latin typeface="+mn-lt"/>
                <a:ea typeface="+mn-ea"/>
                <a:cs typeface="+mn-cs"/>
              </a:rPr>
              <a:t> at the ESB and </a:t>
            </a:r>
            <a:r>
              <a:rPr lang="en-US" sz="1200" b="1" i="0" kern="1200" dirty="0">
                <a:solidFill>
                  <a:schemeClr val="tx1"/>
                </a:solidFill>
                <a:effectLst/>
                <a:latin typeface="+mn-lt"/>
                <a:ea typeface="+mn-ea"/>
                <a:cs typeface="+mn-cs"/>
              </a:rPr>
              <a:t>complex governance</a:t>
            </a:r>
            <a:r>
              <a:rPr lang="en-US" sz="1200" b="0" i="0" kern="1200" dirty="0">
                <a:solidFill>
                  <a:schemeClr val="tx1"/>
                </a:solidFill>
                <a:effectLst/>
                <a:latin typeface="+mn-lt"/>
                <a:ea typeface="+mn-ea"/>
                <a:cs typeface="+mn-cs"/>
              </a:rPr>
              <a:t> that slowed development. This tension eventually led to the microservices movement, which took some SOA concepts but favored decentralization.</a:t>
            </a:r>
          </a:p>
          <a:p>
            <a:endParaRPr lang="en-IN" dirty="0"/>
          </a:p>
        </p:txBody>
      </p:sp>
      <p:sp>
        <p:nvSpPr>
          <p:cNvPr id="4" name="Slide Number Placeholder 3">
            <a:extLst>
              <a:ext uri="{FF2B5EF4-FFF2-40B4-BE49-F238E27FC236}">
                <a16:creationId xmlns:a16="http://schemas.microsoft.com/office/drawing/2014/main" id="{B0E7B22B-8E4D-4DD5-1478-32E179792168}"/>
              </a:ext>
            </a:extLst>
          </p:cNvPr>
          <p:cNvSpPr>
            <a:spLocks noGrp="1"/>
          </p:cNvSpPr>
          <p:nvPr>
            <p:ph type="sldNum" sz="quarter" idx="5"/>
          </p:nvPr>
        </p:nvSpPr>
        <p:spPr/>
        <p:txBody>
          <a:bodyPr/>
          <a:lstStyle/>
          <a:p>
            <a:fld id="{72853293-4F00-4813-B74A-3945ABE0C2FC}" type="slidenum">
              <a:rPr lang="en-IN" smtClean="0"/>
              <a:t>19</a:t>
            </a:fld>
            <a:endParaRPr lang="en-IN"/>
          </a:p>
        </p:txBody>
      </p:sp>
    </p:spTree>
    <p:extLst>
      <p:ext uri="{BB962C8B-B14F-4D97-AF65-F5344CB8AC3E}">
        <p14:creationId xmlns:p14="http://schemas.microsoft.com/office/powerpoint/2010/main" val="1620564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B985E-9FC7-EACD-5EE6-3CADCA840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5AA88F-BFFC-6265-D7E4-43C96AEC84D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13785E-DCA0-8F2E-89D5-9601BA75C0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the realm of distributed computing and modern system design, </a:t>
            </a:r>
            <a:r>
              <a:rPr lang="en-IN" sz="1200" b="1" kern="1200" dirty="0">
                <a:solidFill>
                  <a:schemeClr val="tx1"/>
                </a:solidFill>
                <a:effectLst/>
                <a:latin typeface="+mn-lt"/>
                <a:ea typeface="+mn-ea"/>
                <a:cs typeface="+mn-cs"/>
              </a:rPr>
              <a:t>REST</a:t>
            </a:r>
            <a:r>
              <a:rPr lang="en-IN" sz="1200" kern="1200" dirty="0">
                <a:solidFill>
                  <a:schemeClr val="tx1"/>
                </a:solidFill>
                <a:effectLst/>
                <a:latin typeface="+mn-lt"/>
                <a:ea typeface="+mn-ea"/>
                <a:cs typeface="+mn-cs"/>
              </a:rPr>
              <a:t>, or </a:t>
            </a:r>
            <a:r>
              <a:rPr lang="en-IN" sz="1200" b="1" kern="1200" dirty="0">
                <a:solidFill>
                  <a:schemeClr val="tx1"/>
                </a:solidFill>
                <a:effectLst/>
                <a:latin typeface="+mn-lt"/>
                <a:ea typeface="+mn-ea"/>
                <a:cs typeface="+mn-cs"/>
              </a:rPr>
              <a:t>Representational State Transfer</a:t>
            </a:r>
            <a:r>
              <a:rPr lang="en-IN" sz="1200" kern="1200" dirty="0">
                <a:solidFill>
                  <a:schemeClr val="tx1"/>
                </a:solidFill>
                <a:effectLst/>
                <a:latin typeface="+mn-lt"/>
                <a:ea typeface="+mn-ea"/>
                <a:cs typeface="+mn-cs"/>
              </a:rPr>
              <a:t>, stands as one of the most influential architectural styles ever devised. REST defines a structured way of building scalable, stateless, and interoperable web services using existing web standards — most notably, the </a:t>
            </a:r>
            <a:r>
              <a:rPr lang="en-IN" sz="1200" b="1" kern="1200" dirty="0">
                <a:solidFill>
                  <a:schemeClr val="tx1"/>
                </a:solidFill>
                <a:effectLst/>
                <a:latin typeface="+mn-lt"/>
                <a:ea typeface="+mn-ea"/>
                <a:cs typeface="+mn-cs"/>
              </a:rPr>
              <a:t>HTTP protocol</a:t>
            </a:r>
            <a:r>
              <a:rPr lang="en-IN" sz="1200" kern="1200" dirty="0">
                <a:solidFill>
                  <a:schemeClr val="tx1"/>
                </a:solidFill>
                <a:effectLst/>
                <a:latin typeface="+mn-lt"/>
                <a:ea typeface="+mn-ea"/>
                <a:cs typeface="+mn-cs"/>
              </a:rPr>
              <a:t>. Instead of introducing new and complex mechanisms, REST leverages the simplicity and universality of HTTP to facilitate communication between clients and servers. Whether you are interacting with a web service, a mobile backend, or a cloud API like those provided by Twitter, GitHub, or Google, you are almost certainly relying on REST principles.</a:t>
            </a:r>
          </a:p>
          <a:p>
            <a:endParaRPr lang="en-IN" dirty="0"/>
          </a:p>
          <a:p>
            <a:endParaRPr lang="en-IN" dirty="0"/>
          </a:p>
          <a:p>
            <a:r>
              <a:rPr lang="en-IN" sz="1200" kern="1200" dirty="0">
                <a:solidFill>
                  <a:schemeClr val="tx1"/>
                </a:solidFill>
                <a:effectLst/>
                <a:latin typeface="+mn-lt"/>
                <a:ea typeface="+mn-ea"/>
                <a:cs typeface="+mn-cs"/>
              </a:rPr>
              <a:t>REST became the foundation of modern APIs because of its </a:t>
            </a:r>
            <a:r>
              <a:rPr lang="en-IN" sz="1200" b="1" kern="1200" dirty="0">
                <a:solidFill>
                  <a:schemeClr val="tx1"/>
                </a:solidFill>
                <a:effectLst/>
                <a:latin typeface="+mn-lt"/>
                <a:ea typeface="+mn-ea"/>
                <a:cs typeface="+mn-cs"/>
              </a:rPr>
              <a:t>simplicity, scalability, and interoperability</a:t>
            </a:r>
            <a:r>
              <a:rPr lang="en-IN" sz="1200" kern="1200" dirty="0">
                <a:solidFill>
                  <a:schemeClr val="tx1"/>
                </a:solidFill>
                <a:effectLst/>
                <a:latin typeface="+mn-lt"/>
                <a:ea typeface="+mn-ea"/>
                <a:cs typeface="+mn-cs"/>
              </a:rPr>
              <a:t>. Its use of standard HTTP methods makes it easy to implement and understand across languages and platforms. Being </a:t>
            </a:r>
            <a:r>
              <a:rPr lang="en-IN" sz="1200" b="1" kern="1200" dirty="0">
                <a:solidFill>
                  <a:schemeClr val="tx1"/>
                </a:solidFill>
                <a:effectLst/>
                <a:latin typeface="+mn-lt"/>
                <a:ea typeface="+mn-ea"/>
                <a:cs typeface="+mn-cs"/>
              </a:rPr>
              <a:t>platform-agnostic</a:t>
            </a:r>
            <a:r>
              <a:rPr lang="en-IN" sz="1200" kern="1200" dirty="0">
                <a:solidFill>
                  <a:schemeClr val="tx1"/>
                </a:solidFill>
                <a:effectLst/>
                <a:latin typeface="+mn-lt"/>
                <a:ea typeface="+mn-ea"/>
                <a:cs typeface="+mn-cs"/>
              </a:rPr>
              <a:t>, RESTful APIs can be consumed by clients running on different devices, operating systems, and technologies — from web browsers and mobile apps to IoT devices.</a:t>
            </a:r>
          </a:p>
          <a:p>
            <a:r>
              <a:rPr lang="en-IN" sz="1200" kern="1200" dirty="0">
                <a:solidFill>
                  <a:schemeClr val="tx1"/>
                </a:solidFill>
                <a:effectLst/>
                <a:latin typeface="+mn-lt"/>
                <a:ea typeface="+mn-ea"/>
                <a:cs typeface="+mn-cs"/>
              </a:rPr>
              <a:t>Another crucial advantage of REST is </a:t>
            </a:r>
            <a:r>
              <a:rPr lang="en-IN" sz="1200" b="1" kern="1200" dirty="0">
                <a:solidFill>
                  <a:schemeClr val="tx1"/>
                </a:solidFill>
                <a:effectLst/>
                <a:latin typeface="+mn-lt"/>
                <a:ea typeface="+mn-ea"/>
                <a:cs typeface="+mn-cs"/>
              </a:rPr>
              <a:t>efficiency</a:t>
            </a:r>
            <a:r>
              <a:rPr lang="en-IN" sz="1200" kern="1200" dirty="0">
                <a:solidFill>
                  <a:schemeClr val="tx1"/>
                </a:solidFill>
                <a:effectLst/>
                <a:latin typeface="+mn-lt"/>
                <a:ea typeface="+mn-ea"/>
                <a:cs typeface="+mn-cs"/>
              </a:rPr>
              <a:t>. REST APIs can leverage caching at multiple levels (client, proxy, and server), reducing redundant requests and minimizing latency. Since REST avoids session overhead, it is inherently well-suited for </a:t>
            </a:r>
            <a:r>
              <a:rPr lang="en-IN" sz="1200" b="1" kern="1200" dirty="0">
                <a:solidFill>
                  <a:schemeClr val="tx1"/>
                </a:solidFill>
                <a:effectLst/>
                <a:latin typeface="+mn-lt"/>
                <a:ea typeface="+mn-ea"/>
                <a:cs typeface="+mn-cs"/>
              </a:rPr>
              <a:t>distributed architectures</a:t>
            </a:r>
            <a:r>
              <a:rPr lang="en-IN" sz="1200" kern="1200" dirty="0">
                <a:solidFill>
                  <a:schemeClr val="tx1"/>
                </a:solidFill>
                <a:effectLst/>
                <a:latin typeface="+mn-lt"/>
                <a:ea typeface="+mn-ea"/>
                <a:cs typeface="+mn-cs"/>
              </a:rPr>
              <a:t> like cloud-native systems and microservices, where scaling out horizontally is a core requirement.</a:t>
            </a:r>
          </a:p>
          <a:p>
            <a:endParaRPr lang="en-IN" dirty="0"/>
          </a:p>
          <a:p>
            <a:endParaRPr lang="en-IN" dirty="0"/>
          </a:p>
        </p:txBody>
      </p:sp>
      <p:sp>
        <p:nvSpPr>
          <p:cNvPr id="4" name="Slide Number Placeholder 3">
            <a:extLst>
              <a:ext uri="{FF2B5EF4-FFF2-40B4-BE49-F238E27FC236}">
                <a16:creationId xmlns:a16="http://schemas.microsoft.com/office/drawing/2014/main" id="{A72BC5FE-35C2-A5B4-415F-9483E961D07A}"/>
              </a:ext>
            </a:extLst>
          </p:cNvPr>
          <p:cNvSpPr>
            <a:spLocks noGrp="1"/>
          </p:cNvSpPr>
          <p:nvPr>
            <p:ph type="sldNum" sz="quarter" idx="5"/>
          </p:nvPr>
        </p:nvSpPr>
        <p:spPr/>
        <p:txBody>
          <a:bodyPr/>
          <a:lstStyle/>
          <a:p>
            <a:fld id="{72853293-4F00-4813-B74A-3945ABE0C2FC}" type="slidenum">
              <a:rPr lang="en-IN" smtClean="0"/>
              <a:t>20</a:t>
            </a:fld>
            <a:endParaRPr lang="en-IN"/>
          </a:p>
        </p:txBody>
      </p:sp>
    </p:spTree>
    <p:extLst>
      <p:ext uri="{BB962C8B-B14F-4D97-AF65-F5344CB8AC3E}">
        <p14:creationId xmlns:p14="http://schemas.microsoft.com/office/powerpoint/2010/main" val="2665079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7D8B-5A3C-68A4-FFF7-9C1DA90DC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6C446-60A4-8E3E-7C7B-D48EA774BB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36259CE-878B-44DC-5278-7EB09C7B11F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Here are the </a:t>
            </a:r>
            <a:r>
              <a:rPr lang="en-US" sz="1200" b="1" i="0" kern="1200" dirty="0">
                <a:solidFill>
                  <a:schemeClr val="tx1"/>
                </a:solidFill>
                <a:effectLst/>
                <a:latin typeface="+mn-lt"/>
                <a:ea typeface="+mn-ea"/>
                <a:cs typeface="+mn-cs"/>
              </a:rPr>
              <a:t>six constraints</a:t>
            </a:r>
            <a:r>
              <a:rPr lang="en-US" sz="1200" b="0" i="0" kern="1200" dirty="0">
                <a:solidFill>
                  <a:schemeClr val="tx1"/>
                </a:solidFill>
                <a:effectLst/>
                <a:latin typeface="+mn-lt"/>
                <a:ea typeface="+mn-ea"/>
                <a:cs typeface="+mn-cs"/>
              </a:rPr>
              <a:t> that define REST architecture. Apply all six, and you have REST. Miss any, and it's not RESTful.</a:t>
            </a:r>
          </a:p>
          <a:p>
            <a:r>
              <a:rPr lang="en-US" sz="1200" b="1" i="0" kern="1200" dirty="0">
                <a:solidFill>
                  <a:schemeClr val="tx1"/>
                </a:solidFill>
                <a:effectLst/>
                <a:latin typeface="+mn-lt"/>
                <a:ea typeface="+mn-ea"/>
                <a:cs typeface="+mn-cs"/>
              </a:rPr>
              <a:t>Client-Server:</a:t>
            </a:r>
            <a:r>
              <a:rPr lang="en-US" sz="1200" b="0" i="0" kern="1200" dirty="0">
                <a:solidFill>
                  <a:schemeClr val="tx1"/>
                </a:solidFill>
                <a:effectLst/>
                <a:latin typeface="+mn-lt"/>
                <a:ea typeface="+mn-ea"/>
                <a:cs typeface="+mn-cs"/>
              </a:rPr>
              <a:t> Clear separation. Client handles UI. Server handles data. Enables independent evolution.</a:t>
            </a:r>
          </a:p>
          <a:p>
            <a:r>
              <a:rPr lang="en-US" sz="1200" b="1" i="0" kern="1200" dirty="0">
                <a:solidFill>
                  <a:schemeClr val="tx1"/>
                </a:solidFill>
                <a:effectLst/>
                <a:latin typeface="+mn-lt"/>
                <a:ea typeface="+mn-ea"/>
                <a:cs typeface="+mn-cs"/>
              </a:rPr>
              <a:t>Stateless:</a:t>
            </a:r>
            <a:r>
              <a:rPr lang="en-US" sz="1200" b="0" i="0" kern="1200" dirty="0">
                <a:solidFill>
                  <a:schemeClr val="tx1"/>
                </a:solidFill>
                <a:effectLst/>
                <a:latin typeface="+mn-lt"/>
                <a:ea typeface="+mn-ea"/>
                <a:cs typeface="+mn-cs"/>
              </a:rPr>
              <a:t> No client context stored on server. Each request self-contained. Enables visibility, reliability, scalability.</a:t>
            </a:r>
          </a:p>
          <a:p>
            <a:r>
              <a:rPr lang="en-US" sz="1200" b="1" i="0" kern="1200" dirty="0">
                <a:solidFill>
                  <a:schemeClr val="tx1"/>
                </a:solidFill>
                <a:effectLst/>
                <a:latin typeface="+mn-lt"/>
                <a:ea typeface="+mn-ea"/>
                <a:cs typeface="+mn-cs"/>
              </a:rPr>
              <a:t>Cacheable:</a:t>
            </a:r>
            <a:r>
              <a:rPr lang="en-US" sz="1200" b="0" i="0" kern="1200" dirty="0">
                <a:solidFill>
                  <a:schemeClr val="tx1"/>
                </a:solidFill>
                <a:effectLst/>
                <a:latin typeface="+mn-lt"/>
                <a:ea typeface="+mn-ea"/>
                <a:cs typeface="+mn-cs"/>
              </a:rPr>
              <a:t> Responses define if/how they can be cached. Reduces interactions, improves efficiency.</a:t>
            </a:r>
          </a:p>
          <a:p>
            <a:r>
              <a:rPr lang="en-US" sz="1200" b="1" i="0" kern="1200" dirty="0">
                <a:solidFill>
                  <a:schemeClr val="tx1"/>
                </a:solidFill>
                <a:effectLst/>
                <a:latin typeface="+mn-lt"/>
                <a:ea typeface="+mn-ea"/>
                <a:cs typeface="+mn-cs"/>
              </a:rPr>
              <a:t>Uniform Interface:</a:t>
            </a:r>
            <a:r>
              <a:rPr lang="en-US" sz="1200" b="0" i="0" kern="1200" dirty="0">
                <a:solidFill>
                  <a:schemeClr val="tx1"/>
                </a:solidFill>
                <a:effectLst/>
                <a:latin typeface="+mn-lt"/>
                <a:ea typeface="+mn-ea"/>
                <a:cs typeface="+mn-cs"/>
              </a:rPr>
              <a:t> Has four parts: Resources identified by URIs. Manipulate through representations. Messages are self-descriptive. Hypermedia (HATEOAS) drives state.</a:t>
            </a:r>
          </a:p>
          <a:p>
            <a:r>
              <a:rPr lang="en-US" sz="1200" b="1" i="0" kern="1200" dirty="0">
                <a:solidFill>
                  <a:schemeClr val="tx1"/>
                </a:solidFill>
                <a:effectLst/>
                <a:latin typeface="+mn-lt"/>
                <a:ea typeface="+mn-ea"/>
                <a:cs typeface="+mn-cs"/>
              </a:rPr>
              <a:t>Layered System:</a:t>
            </a:r>
            <a:r>
              <a:rPr lang="en-US" sz="1200" b="0" i="0" kern="1200" dirty="0">
                <a:solidFill>
                  <a:schemeClr val="tx1"/>
                </a:solidFill>
                <a:effectLst/>
                <a:latin typeface="+mn-lt"/>
                <a:ea typeface="+mn-ea"/>
                <a:cs typeface="+mn-cs"/>
              </a:rPr>
              <a:t> Hierarchical layers. Client doesn't know about intermediaries. Enables proxies, load balancers, security layers.</a:t>
            </a:r>
          </a:p>
          <a:p>
            <a:r>
              <a:rPr lang="en-US" sz="1200" b="1" i="0" kern="1200" dirty="0">
                <a:solidFill>
                  <a:schemeClr val="tx1"/>
                </a:solidFill>
                <a:effectLst/>
                <a:latin typeface="+mn-lt"/>
                <a:ea typeface="+mn-ea"/>
                <a:cs typeface="+mn-cs"/>
              </a:rPr>
              <a:t>Code on Demand:</a:t>
            </a:r>
            <a:r>
              <a:rPr lang="en-US" sz="1200" b="0" i="0" kern="1200" dirty="0">
                <a:solidFill>
                  <a:schemeClr val="tx1"/>
                </a:solidFill>
                <a:effectLst/>
                <a:latin typeface="+mn-lt"/>
                <a:ea typeface="+mn-ea"/>
                <a:cs typeface="+mn-cs"/>
              </a:rPr>
              <a:t> Optional constraint. Server can send executable code to extend client. Like JavaScript in browsers.</a:t>
            </a:r>
          </a:p>
          <a:p>
            <a:r>
              <a:rPr lang="en-US" sz="1200" b="0" i="0" kern="1200" dirty="0">
                <a:solidFill>
                  <a:schemeClr val="tx1"/>
                </a:solidFill>
                <a:effectLst/>
                <a:latin typeface="+mn-lt"/>
                <a:ea typeface="+mn-ea"/>
                <a:cs typeface="+mn-cs"/>
              </a:rPr>
              <a:t>All six together create the REST architectural style that enables scalable, reliable web systems.</a:t>
            </a:r>
          </a:p>
        </p:txBody>
      </p:sp>
      <p:sp>
        <p:nvSpPr>
          <p:cNvPr id="4" name="Slide Number Placeholder 3">
            <a:extLst>
              <a:ext uri="{FF2B5EF4-FFF2-40B4-BE49-F238E27FC236}">
                <a16:creationId xmlns:a16="http://schemas.microsoft.com/office/drawing/2014/main" id="{74B4DBCF-2935-0907-0DBB-10180F5A51E0}"/>
              </a:ext>
            </a:extLst>
          </p:cNvPr>
          <p:cNvSpPr>
            <a:spLocks noGrp="1"/>
          </p:cNvSpPr>
          <p:nvPr>
            <p:ph type="sldNum" sz="quarter" idx="5"/>
          </p:nvPr>
        </p:nvSpPr>
        <p:spPr/>
        <p:txBody>
          <a:bodyPr/>
          <a:lstStyle/>
          <a:p>
            <a:fld id="{72853293-4F00-4813-B74A-3945ABE0C2FC}" type="slidenum">
              <a:rPr lang="en-IN" smtClean="0"/>
              <a:t>21</a:t>
            </a:fld>
            <a:endParaRPr lang="en-IN"/>
          </a:p>
        </p:txBody>
      </p:sp>
    </p:spTree>
    <p:extLst>
      <p:ext uri="{BB962C8B-B14F-4D97-AF65-F5344CB8AC3E}">
        <p14:creationId xmlns:p14="http://schemas.microsoft.com/office/powerpoint/2010/main" val="567745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FDB44-74AE-700F-9BA2-2190C5CC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1F2EA-060A-7C42-39EB-1A1ED0667A4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B6F8D4-394E-3384-D5F5-F6DA068E65CE}"/>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In REST, everything is treated as a </a:t>
            </a:r>
            <a:r>
              <a:rPr lang="en-IN" sz="1200" b="1" kern="1200" dirty="0">
                <a:solidFill>
                  <a:schemeClr val="tx1"/>
                </a:solidFill>
                <a:effectLst/>
                <a:latin typeface="+mn-lt"/>
                <a:ea typeface="+mn-ea"/>
                <a:cs typeface="+mn-cs"/>
              </a:rPr>
              <a:t>resource</a:t>
            </a:r>
            <a:r>
              <a:rPr lang="en-IN" sz="1200" kern="1200" dirty="0">
                <a:solidFill>
                  <a:schemeClr val="tx1"/>
                </a:solidFill>
                <a:effectLst/>
                <a:latin typeface="+mn-lt"/>
                <a:ea typeface="+mn-ea"/>
                <a:cs typeface="+mn-cs"/>
              </a:rPr>
              <a:t> — users, posts, comments, products, or orders. Each resource is uniquely identified using a </a:t>
            </a:r>
            <a:r>
              <a:rPr lang="en-IN" sz="1200" b="1" kern="1200" dirty="0">
                <a:solidFill>
                  <a:schemeClr val="tx1"/>
                </a:solidFill>
                <a:effectLst/>
                <a:latin typeface="+mn-lt"/>
                <a:ea typeface="+mn-ea"/>
                <a:cs typeface="+mn-cs"/>
              </a:rPr>
              <a:t>URI (Uniform Resource Identifier)</a:t>
            </a:r>
            <a:r>
              <a:rPr lang="en-IN" sz="1200" kern="1200" dirty="0">
                <a:solidFill>
                  <a:schemeClr val="tx1"/>
                </a:solidFill>
                <a:effectLst/>
                <a:latin typeface="+mn-lt"/>
                <a:ea typeface="+mn-ea"/>
                <a:cs typeface="+mn-cs"/>
              </a:rPr>
              <a:t>. For instance, /users/123 represents a specific user with the ID 123, while /orders might represent the collection of all orders.</a:t>
            </a:r>
          </a:p>
          <a:p>
            <a:r>
              <a:rPr lang="en-IN" sz="1200" kern="1200" dirty="0">
                <a:solidFill>
                  <a:schemeClr val="tx1"/>
                </a:solidFill>
                <a:effectLst/>
                <a:latin typeface="+mn-lt"/>
                <a:ea typeface="+mn-ea"/>
                <a:cs typeface="+mn-cs"/>
              </a:rPr>
              <a:t>Unlike older RPC-style interfaces that focus on actions (e.g., /</a:t>
            </a:r>
            <a:r>
              <a:rPr lang="en-IN" sz="1200" kern="1200" dirty="0" err="1">
                <a:solidFill>
                  <a:schemeClr val="tx1"/>
                </a:solidFill>
                <a:effectLst/>
                <a:latin typeface="+mn-lt"/>
                <a:ea typeface="+mn-ea"/>
                <a:cs typeface="+mn-cs"/>
              </a:rPr>
              <a:t>createUser</a:t>
            </a:r>
            <a:r>
              <a:rPr lang="en-IN" sz="1200" kern="1200" dirty="0">
                <a:solidFill>
                  <a:schemeClr val="tx1"/>
                </a:solidFill>
                <a:effectLst/>
                <a:latin typeface="+mn-lt"/>
                <a:ea typeface="+mn-ea"/>
                <a:cs typeface="+mn-cs"/>
              </a:rPr>
              <a:t>), REST focuses on </a:t>
            </a:r>
            <a:r>
              <a:rPr lang="en-IN" sz="1200" b="1" kern="1200" dirty="0">
                <a:solidFill>
                  <a:schemeClr val="tx1"/>
                </a:solidFill>
                <a:effectLst/>
                <a:latin typeface="+mn-lt"/>
                <a:ea typeface="+mn-ea"/>
                <a:cs typeface="+mn-cs"/>
              </a:rPr>
              <a:t>nouns</a:t>
            </a:r>
            <a:r>
              <a:rPr lang="en-IN" sz="1200" kern="1200" dirty="0">
                <a:solidFill>
                  <a:schemeClr val="tx1"/>
                </a:solidFill>
                <a:effectLst/>
                <a:latin typeface="+mn-lt"/>
                <a:ea typeface="+mn-ea"/>
                <a:cs typeface="+mn-cs"/>
              </a:rPr>
              <a:t> rather than </a:t>
            </a:r>
            <a:r>
              <a:rPr lang="en-IN" sz="1200" b="1" kern="1200" dirty="0">
                <a:solidFill>
                  <a:schemeClr val="tx1"/>
                </a:solidFill>
                <a:effectLst/>
                <a:latin typeface="+mn-lt"/>
                <a:ea typeface="+mn-ea"/>
                <a:cs typeface="+mn-cs"/>
              </a:rPr>
              <a:t>verbs</a:t>
            </a:r>
            <a:r>
              <a:rPr lang="en-IN" sz="1200" kern="1200" dirty="0">
                <a:solidFill>
                  <a:schemeClr val="tx1"/>
                </a:solidFill>
                <a:effectLst/>
                <a:latin typeface="+mn-lt"/>
                <a:ea typeface="+mn-ea"/>
                <a:cs typeface="+mn-cs"/>
              </a:rPr>
              <a:t>. You do not “</a:t>
            </a:r>
            <a:r>
              <a:rPr lang="en-IN" sz="1200" kern="1200" dirty="0" err="1">
                <a:solidFill>
                  <a:schemeClr val="tx1"/>
                </a:solidFill>
                <a:effectLst/>
                <a:latin typeface="+mn-lt"/>
                <a:ea typeface="+mn-ea"/>
                <a:cs typeface="+mn-cs"/>
              </a:rPr>
              <a:t>createUser</a:t>
            </a:r>
            <a:r>
              <a:rPr lang="en-IN" sz="1200" kern="1200" dirty="0">
                <a:solidFill>
                  <a:schemeClr val="tx1"/>
                </a:solidFill>
                <a:effectLst/>
                <a:latin typeface="+mn-lt"/>
                <a:ea typeface="+mn-ea"/>
                <a:cs typeface="+mn-cs"/>
              </a:rPr>
              <a:t>”; you perform a POST request to /users. You do not “</a:t>
            </a:r>
            <a:r>
              <a:rPr lang="en-IN" sz="1200" kern="1200" dirty="0" err="1">
                <a:solidFill>
                  <a:schemeClr val="tx1"/>
                </a:solidFill>
                <a:effectLst/>
                <a:latin typeface="+mn-lt"/>
                <a:ea typeface="+mn-ea"/>
                <a:cs typeface="+mn-cs"/>
              </a:rPr>
              <a:t>deleteUser</a:t>
            </a:r>
            <a:r>
              <a:rPr lang="en-IN" sz="1200" kern="1200" dirty="0">
                <a:solidFill>
                  <a:schemeClr val="tx1"/>
                </a:solidFill>
                <a:effectLst/>
                <a:latin typeface="+mn-lt"/>
                <a:ea typeface="+mn-ea"/>
                <a:cs typeface="+mn-cs"/>
              </a:rPr>
              <a:t>”; you perform a DELETE request to /users/{id}. This resource-oriented thinking keeps APIs </a:t>
            </a:r>
            <a:r>
              <a:rPr lang="en-IN" sz="1200" b="1" kern="1200" dirty="0">
                <a:solidFill>
                  <a:schemeClr val="tx1"/>
                </a:solidFill>
                <a:effectLst/>
                <a:latin typeface="+mn-lt"/>
                <a:ea typeface="+mn-ea"/>
                <a:cs typeface="+mn-cs"/>
              </a:rPr>
              <a:t>clean, logical, and intuitive</a:t>
            </a:r>
            <a:r>
              <a:rPr lang="en-IN" sz="1200" kern="1200" dirty="0">
                <a:solidFill>
                  <a:schemeClr val="tx1"/>
                </a:solidFill>
                <a:effectLst/>
                <a:latin typeface="+mn-lt"/>
                <a:ea typeface="+mn-ea"/>
                <a:cs typeface="+mn-cs"/>
              </a:rPr>
              <a:t>.</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RESTful APIs rely on a small set of standard </a:t>
            </a:r>
            <a:r>
              <a:rPr lang="en-IN" sz="1200" b="1" kern="1200" dirty="0">
                <a:solidFill>
                  <a:schemeClr val="tx1"/>
                </a:solidFill>
                <a:effectLst/>
                <a:latin typeface="+mn-lt"/>
                <a:ea typeface="+mn-ea"/>
                <a:cs typeface="+mn-cs"/>
              </a:rPr>
              <a:t>HTTP methods</a:t>
            </a:r>
            <a:r>
              <a:rPr lang="en-IN" sz="1200" kern="1200" dirty="0">
                <a:solidFill>
                  <a:schemeClr val="tx1"/>
                </a:solidFill>
                <a:effectLst/>
                <a:latin typeface="+mn-lt"/>
                <a:ea typeface="+mn-ea"/>
                <a:cs typeface="+mn-cs"/>
              </a:rPr>
              <a:t>, each with a specific purpose and expected </a:t>
            </a:r>
            <a:r>
              <a:rPr lang="en-IN" sz="1200" kern="1200" dirty="0" err="1">
                <a:solidFill>
                  <a:schemeClr val="tx1"/>
                </a:solidFill>
                <a:effectLst/>
                <a:latin typeface="+mn-lt"/>
                <a:ea typeface="+mn-ea"/>
                <a:cs typeface="+mn-cs"/>
              </a:rPr>
              <a:t>behavior</a:t>
            </a:r>
            <a:r>
              <a:rPr lang="en-IN" sz="1200" kern="1200" dirty="0">
                <a:solidFill>
                  <a:schemeClr val="tx1"/>
                </a:solidFill>
                <a:effectLst/>
                <a:latin typeface="+mn-lt"/>
                <a:ea typeface="+mn-ea"/>
                <a:cs typeface="+mn-cs"/>
              </a:rPr>
              <a:t>. These methods also define whether an operation is </a:t>
            </a:r>
            <a:r>
              <a:rPr lang="en-IN" sz="1200" b="1" kern="1200" dirty="0">
                <a:solidFill>
                  <a:schemeClr val="tx1"/>
                </a:solidFill>
                <a:effectLst/>
                <a:latin typeface="+mn-lt"/>
                <a:ea typeface="+mn-ea"/>
                <a:cs typeface="+mn-cs"/>
              </a:rPr>
              <a:t>safe</a:t>
            </a:r>
            <a:r>
              <a:rPr lang="en-IN" sz="1200" kern="1200" dirty="0">
                <a:solidFill>
                  <a:schemeClr val="tx1"/>
                </a:solidFill>
                <a:effectLst/>
                <a:latin typeface="+mn-lt"/>
                <a:ea typeface="+mn-ea"/>
                <a:cs typeface="+mn-cs"/>
              </a:rPr>
              <a:t> (does not modify the state) or </a:t>
            </a:r>
            <a:r>
              <a:rPr lang="en-IN" sz="1200" b="1" kern="1200" dirty="0">
                <a:solidFill>
                  <a:schemeClr val="tx1"/>
                </a:solidFill>
                <a:effectLst/>
                <a:latin typeface="+mn-lt"/>
                <a:ea typeface="+mn-ea"/>
                <a:cs typeface="+mn-cs"/>
              </a:rPr>
              <a:t>idempotent</a:t>
            </a:r>
            <a:r>
              <a:rPr lang="en-IN" sz="1200" kern="1200" dirty="0">
                <a:solidFill>
                  <a:schemeClr val="tx1"/>
                </a:solidFill>
                <a:effectLst/>
                <a:latin typeface="+mn-lt"/>
                <a:ea typeface="+mn-ea"/>
                <a:cs typeface="+mn-cs"/>
              </a:rPr>
              <a:t> (repeating the same request multiple times results in the same outcome). Understanding these properties is essential for designing reliable APIs.</a:t>
            </a:r>
          </a:p>
          <a:p>
            <a:pPr lvl="0"/>
            <a:r>
              <a:rPr lang="en-IN" sz="1200" b="1" kern="1200" dirty="0">
                <a:solidFill>
                  <a:schemeClr val="tx1"/>
                </a:solidFill>
                <a:effectLst/>
                <a:latin typeface="+mn-lt"/>
                <a:ea typeface="+mn-ea"/>
                <a:cs typeface="+mn-cs"/>
              </a:rPr>
              <a:t>GET</a:t>
            </a:r>
            <a:r>
              <a:rPr lang="en-IN" sz="1200" kern="1200" dirty="0">
                <a:solidFill>
                  <a:schemeClr val="tx1"/>
                </a:solidFill>
                <a:effectLst/>
                <a:latin typeface="+mn-lt"/>
                <a:ea typeface="+mn-ea"/>
                <a:cs typeface="+mn-cs"/>
              </a:rPr>
              <a:t> –</a:t>
            </a: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Retrieve a resource or a collection of resources from the server.</a:t>
            </a:r>
          </a:p>
          <a:p>
            <a:pPr lvl="1"/>
            <a:r>
              <a:rPr lang="en-IN" sz="1200" b="1" kern="1200" dirty="0" err="1">
                <a:solidFill>
                  <a:schemeClr val="tx1"/>
                </a:solidFill>
                <a:effectLst/>
                <a:latin typeface="+mn-lt"/>
                <a:ea typeface="+mn-ea"/>
                <a:cs typeface="+mn-cs"/>
              </a:rPr>
              <a:t>Behavior</a:t>
            </a:r>
            <a:r>
              <a:rPr lang="en-IN" sz="1200" b="1" kern="1200" dirty="0">
                <a:solidFill>
                  <a:schemeClr val="tx1"/>
                </a:solidFill>
                <a:effectLst/>
                <a:latin typeface="+mn-lt"/>
                <a:ea typeface="+mn-ea"/>
                <a:cs typeface="+mn-cs"/>
              </a:rPr>
              <a:t>:</a:t>
            </a:r>
            <a:r>
              <a:rPr lang="en-IN" sz="1200" kern="1200" dirty="0">
                <a:solidFill>
                  <a:schemeClr val="tx1"/>
                </a:solidFill>
                <a:effectLst/>
                <a:latin typeface="+mn-lt"/>
                <a:ea typeface="+mn-ea"/>
                <a:cs typeface="+mn-cs"/>
              </a:rPr>
              <a:t> Safe and </a:t>
            </a:r>
            <a:r>
              <a:rPr lang="en-IN" sz="1200" b="1" kern="1200" dirty="0">
                <a:solidFill>
                  <a:schemeClr val="tx1"/>
                </a:solidFill>
                <a:effectLst/>
                <a:latin typeface="+mn-lt"/>
                <a:ea typeface="+mn-ea"/>
                <a:cs typeface="+mn-cs"/>
              </a:rPr>
              <a:t>idempotent</a:t>
            </a:r>
            <a:r>
              <a:rPr lang="en-IN" sz="1200" kern="1200" dirty="0">
                <a:solidFill>
                  <a:schemeClr val="tx1"/>
                </a:solidFill>
                <a:effectLst/>
                <a:latin typeface="+mn-lt"/>
                <a:ea typeface="+mn-ea"/>
                <a:cs typeface="+mn-cs"/>
              </a:rPr>
              <a:t>, meaning it does not alter the server’s state and can be repeated any number of times without side effects.</a:t>
            </a: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GET /users/123 fetches the details of the user with ID 123.</a:t>
            </a:r>
          </a:p>
          <a:p>
            <a:pPr lvl="0"/>
            <a:r>
              <a:rPr lang="en-IN" sz="1200" b="1" kern="1200" dirty="0">
                <a:solidFill>
                  <a:schemeClr val="tx1"/>
                </a:solidFill>
                <a:effectLst/>
                <a:latin typeface="+mn-lt"/>
                <a:ea typeface="+mn-ea"/>
                <a:cs typeface="+mn-cs"/>
              </a:rPr>
              <a:t>POST</a:t>
            </a:r>
            <a:r>
              <a:rPr lang="en-IN" sz="1200" kern="1200" dirty="0">
                <a:solidFill>
                  <a:schemeClr val="tx1"/>
                </a:solidFill>
                <a:effectLst/>
                <a:latin typeface="+mn-lt"/>
                <a:ea typeface="+mn-ea"/>
                <a:cs typeface="+mn-cs"/>
              </a:rPr>
              <a:t> –</a:t>
            </a: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Create a new resource on the server.</a:t>
            </a:r>
          </a:p>
          <a:p>
            <a:pPr lvl="1"/>
            <a:r>
              <a:rPr lang="en-IN" sz="1200" b="1" kern="1200" dirty="0" err="1">
                <a:solidFill>
                  <a:schemeClr val="tx1"/>
                </a:solidFill>
                <a:effectLst/>
                <a:latin typeface="+mn-lt"/>
                <a:ea typeface="+mn-ea"/>
                <a:cs typeface="+mn-cs"/>
              </a:rPr>
              <a:t>Behavior</a:t>
            </a:r>
            <a:r>
              <a:rPr lang="en-IN" sz="1200" b="1" kern="1200" dirty="0">
                <a:solidFill>
                  <a:schemeClr val="tx1"/>
                </a:solidFill>
                <a:effectLst/>
                <a:latin typeface="+mn-lt"/>
                <a:ea typeface="+mn-ea"/>
                <a:cs typeface="+mn-cs"/>
              </a:rPr>
              <a:t>:</a:t>
            </a:r>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Not idempotent</a:t>
            </a:r>
            <a:r>
              <a:rPr lang="en-IN" sz="1200" kern="1200" dirty="0">
                <a:solidFill>
                  <a:schemeClr val="tx1"/>
                </a:solidFill>
                <a:effectLst/>
                <a:latin typeface="+mn-lt"/>
                <a:ea typeface="+mn-ea"/>
                <a:cs typeface="+mn-cs"/>
              </a:rPr>
              <a:t>, because sending the same POST request multiple times may result in multiple identical resources being created.</a:t>
            </a: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POST /users creates a new user record.</a:t>
            </a:r>
          </a:p>
          <a:p>
            <a:pPr lvl="0"/>
            <a:r>
              <a:rPr lang="en-IN" sz="1200" b="1" kern="1200" dirty="0">
                <a:solidFill>
                  <a:schemeClr val="tx1"/>
                </a:solidFill>
                <a:effectLst/>
                <a:latin typeface="+mn-lt"/>
                <a:ea typeface="+mn-ea"/>
                <a:cs typeface="+mn-cs"/>
              </a:rPr>
              <a:t>PUT</a:t>
            </a:r>
            <a:r>
              <a:rPr lang="en-IN" sz="1200" kern="1200" dirty="0">
                <a:solidFill>
                  <a:schemeClr val="tx1"/>
                </a:solidFill>
                <a:effectLst/>
                <a:latin typeface="+mn-lt"/>
                <a:ea typeface="+mn-ea"/>
                <a:cs typeface="+mn-cs"/>
              </a:rPr>
              <a:t> –</a:t>
            </a: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Update or replace an existing resource.</a:t>
            </a:r>
          </a:p>
          <a:p>
            <a:pPr lvl="1"/>
            <a:r>
              <a:rPr lang="en-IN" sz="1200" b="1" kern="1200" dirty="0" err="1">
                <a:solidFill>
                  <a:schemeClr val="tx1"/>
                </a:solidFill>
                <a:effectLst/>
                <a:latin typeface="+mn-lt"/>
                <a:ea typeface="+mn-ea"/>
                <a:cs typeface="+mn-cs"/>
              </a:rPr>
              <a:t>Behavior</a:t>
            </a:r>
            <a:r>
              <a:rPr lang="en-IN" sz="1200" b="1" kern="1200" dirty="0">
                <a:solidFill>
                  <a:schemeClr val="tx1"/>
                </a:solidFill>
                <a:effectLst/>
                <a:latin typeface="+mn-lt"/>
                <a:ea typeface="+mn-ea"/>
                <a:cs typeface="+mn-cs"/>
              </a:rPr>
              <a:t>:</a:t>
            </a:r>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Idempotent</a:t>
            </a:r>
            <a:r>
              <a:rPr lang="en-IN" sz="1200" kern="1200" dirty="0">
                <a:solidFill>
                  <a:schemeClr val="tx1"/>
                </a:solidFill>
                <a:effectLst/>
                <a:latin typeface="+mn-lt"/>
                <a:ea typeface="+mn-ea"/>
                <a:cs typeface="+mn-cs"/>
              </a:rPr>
              <a:t>, as repeating the same request results in the same final state of the resource.</a:t>
            </a: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PUT /users/123 updates the user with ID 123 to the new data provided.</a:t>
            </a:r>
          </a:p>
          <a:p>
            <a:pPr lvl="0"/>
            <a:r>
              <a:rPr lang="en-IN" sz="1200" b="1" kern="1200" dirty="0">
                <a:solidFill>
                  <a:schemeClr val="tx1"/>
                </a:solidFill>
                <a:effectLst/>
                <a:latin typeface="+mn-lt"/>
                <a:ea typeface="+mn-ea"/>
                <a:cs typeface="+mn-cs"/>
              </a:rPr>
              <a:t>PATCH</a:t>
            </a:r>
            <a:r>
              <a:rPr lang="en-IN" sz="1200" kern="1200" dirty="0">
                <a:solidFill>
                  <a:schemeClr val="tx1"/>
                </a:solidFill>
                <a:effectLst/>
                <a:latin typeface="+mn-lt"/>
                <a:ea typeface="+mn-ea"/>
                <a:cs typeface="+mn-cs"/>
              </a:rPr>
              <a:t> –</a:t>
            </a: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Partially update an existing resource.</a:t>
            </a:r>
          </a:p>
          <a:p>
            <a:pPr lvl="1"/>
            <a:r>
              <a:rPr lang="en-IN" sz="1200" b="1" kern="1200" dirty="0" err="1">
                <a:solidFill>
                  <a:schemeClr val="tx1"/>
                </a:solidFill>
                <a:effectLst/>
                <a:latin typeface="+mn-lt"/>
                <a:ea typeface="+mn-ea"/>
                <a:cs typeface="+mn-cs"/>
              </a:rPr>
              <a:t>Behavior</a:t>
            </a:r>
            <a:r>
              <a:rPr lang="en-IN" sz="1200" b="1" kern="1200" dirty="0">
                <a:solidFill>
                  <a:schemeClr val="tx1"/>
                </a:solidFill>
                <a:effectLst/>
                <a:latin typeface="+mn-lt"/>
                <a:ea typeface="+mn-ea"/>
                <a:cs typeface="+mn-cs"/>
              </a:rPr>
              <a:t>:</a:t>
            </a:r>
            <a:r>
              <a:rPr lang="en-IN" sz="1200" kern="1200" dirty="0">
                <a:solidFill>
                  <a:schemeClr val="tx1"/>
                </a:solidFill>
                <a:effectLst/>
                <a:latin typeface="+mn-lt"/>
                <a:ea typeface="+mn-ea"/>
                <a:cs typeface="+mn-cs"/>
              </a:rPr>
              <a:t> Not guaranteed to be idempotent, since multiple partial updates may produce different outcomes based on intermediate states.</a:t>
            </a: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PATCH /users/123 updates only specific fields like email or phone number.</a:t>
            </a:r>
          </a:p>
          <a:p>
            <a:pPr lvl="0"/>
            <a:r>
              <a:rPr lang="en-IN" sz="1200" b="1" kern="1200" dirty="0">
                <a:solidFill>
                  <a:schemeClr val="tx1"/>
                </a:solidFill>
                <a:effectLst/>
                <a:latin typeface="+mn-lt"/>
                <a:ea typeface="+mn-ea"/>
                <a:cs typeface="+mn-cs"/>
              </a:rPr>
              <a:t>DELETE</a:t>
            </a:r>
            <a:r>
              <a:rPr lang="en-IN" sz="1200" kern="1200" dirty="0">
                <a:solidFill>
                  <a:schemeClr val="tx1"/>
                </a:solidFill>
                <a:effectLst/>
                <a:latin typeface="+mn-lt"/>
                <a:ea typeface="+mn-ea"/>
                <a:cs typeface="+mn-cs"/>
              </a:rPr>
              <a:t> –</a:t>
            </a:r>
          </a:p>
          <a:p>
            <a:pPr lvl="1"/>
            <a:r>
              <a:rPr lang="en-IN" sz="1200" b="1" kern="1200" dirty="0">
                <a:solidFill>
                  <a:schemeClr val="tx1"/>
                </a:solidFill>
                <a:effectLst/>
                <a:latin typeface="+mn-lt"/>
                <a:ea typeface="+mn-ea"/>
                <a:cs typeface="+mn-cs"/>
              </a:rPr>
              <a:t>Purpose:</a:t>
            </a:r>
            <a:r>
              <a:rPr lang="en-IN" sz="1200" kern="1200" dirty="0">
                <a:solidFill>
                  <a:schemeClr val="tx1"/>
                </a:solidFill>
                <a:effectLst/>
                <a:latin typeface="+mn-lt"/>
                <a:ea typeface="+mn-ea"/>
                <a:cs typeface="+mn-cs"/>
              </a:rPr>
              <a:t> Remove a resource from the server.</a:t>
            </a:r>
          </a:p>
          <a:p>
            <a:pPr lvl="1"/>
            <a:r>
              <a:rPr lang="en-IN" sz="1200" b="1" kern="1200" dirty="0" err="1">
                <a:solidFill>
                  <a:schemeClr val="tx1"/>
                </a:solidFill>
                <a:effectLst/>
                <a:latin typeface="+mn-lt"/>
                <a:ea typeface="+mn-ea"/>
                <a:cs typeface="+mn-cs"/>
              </a:rPr>
              <a:t>Behavior</a:t>
            </a:r>
            <a:r>
              <a:rPr lang="en-IN" sz="1200" b="1" kern="1200" dirty="0">
                <a:solidFill>
                  <a:schemeClr val="tx1"/>
                </a:solidFill>
                <a:effectLst/>
                <a:latin typeface="+mn-lt"/>
                <a:ea typeface="+mn-ea"/>
                <a:cs typeface="+mn-cs"/>
              </a:rPr>
              <a:t>:</a:t>
            </a:r>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Idempotent</a:t>
            </a:r>
            <a:r>
              <a:rPr lang="en-IN" sz="1200" kern="1200" dirty="0">
                <a:solidFill>
                  <a:schemeClr val="tx1"/>
                </a:solidFill>
                <a:effectLst/>
                <a:latin typeface="+mn-lt"/>
                <a:ea typeface="+mn-ea"/>
                <a:cs typeface="+mn-cs"/>
              </a:rPr>
              <a:t>, as deleting the same resource multiple times has no additional effect after the first deletion.</a:t>
            </a:r>
          </a:p>
          <a:p>
            <a:pPr lvl="1"/>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DELETE /users/123 deletes the user with ID 123.</a:t>
            </a:r>
          </a:p>
          <a:p>
            <a:r>
              <a:rPr lang="en-IN" sz="1200" kern="1200" dirty="0">
                <a:solidFill>
                  <a:schemeClr val="tx1"/>
                </a:solidFill>
                <a:effectLst/>
                <a:latin typeface="+mn-lt"/>
                <a:ea typeface="+mn-ea"/>
                <a:cs typeface="+mn-cs"/>
              </a:rPr>
              <a:t>By consistently applying these HTTP verbs, developers create APIs that are predictable, consistent, and aligned with RESTful conventions.</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E1D43CA-B1A7-5165-984A-9E7FB0ABF0F5}"/>
              </a:ext>
            </a:extLst>
          </p:cNvPr>
          <p:cNvSpPr>
            <a:spLocks noGrp="1"/>
          </p:cNvSpPr>
          <p:nvPr>
            <p:ph type="sldNum" sz="quarter" idx="5"/>
          </p:nvPr>
        </p:nvSpPr>
        <p:spPr/>
        <p:txBody>
          <a:bodyPr/>
          <a:lstStyle/>
          <a:p>
            <a:fld id="{72853293-4F00-4813-B74A-3945ABE0C2FC}" type="slidenum">
              <a:rPr lang="en-IN" smtClean="0"/>
              <a:t>22</a:t>
            </a:fld>
            <a:endParaRPr lang="en-IN"/>
          </a:p>
        </p:txBody>
      </p:sp>
    </p:spTree>
    <p:extLst>
      <p:ext uri="{BB962C8B-B14F-4D97-AF65-F5344CB8AC3E}">
        <p14:creationId xmlns:p14="http://schemas.microsoft.com/office/powerpoint/2010/main" val="733907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8C62C-4D3B-F24C-DA80-6A7BFA88E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191C7-A8CA-500F-4D03-33622E05368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7A48AC-3126-8461-5639-34ADE9AF200E}"/>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Every interaction between a client and a server in a RESTful system concludes with an </a:t>
            </a:r>
            <a:r>
              <a:rPr lang="en-IN" sz="1200" b="1" kern="1200" dirty="0">
                <a:solidFill>
                  <a:schemeClr val="tx1"/>
                </a:solidFill>
                <a:effectLst/>
                <a:latin typeface="+mn-lt"/>
                <a:ea typeface="+mn-ea"/>
                <a:cs typeface="+mn-cs"/>
              </a:rPr>
              <a:t>HTTP status code</a:t>
            </a:r>
            <a:r>
              <a:rPr lang="en-IN" sz="1200" kern="1200" dirty="0">
                <a:solidFill>
                  <a:schemeClr val="tx1"/>
                </a:solidFill>
                <a:effectLst/>
                <a:latin typeface="+mn-lt"/>
                <a:ea typeface="+mn-ea"/>
                <a:cs typeface="+mn-cs"/>
              </a:rPr>
              <a:t>. These codes are an essential part of the HTTP protocol, serving as standardized responses that communicate the result of a client’s request. Instead of relying on custom messages, status codes provide a universal language of success, error, or redirection—understood across all platforms and frameworks.</a:t>
            </a:r>
          </a:p>
          <a:p>
            <a:r>
              <a:rPr lang="en-IN" sz="1200" kern="1200" dirty="0">
                <a:solidFill>
                  <a:schemeClr val="tx1"/>
                </a:solidFill>
                <a:effectLst/>
                <a:latin typeface="+mn-lt"/>
                <a:ea typeface="+mn-ea"/>
                <a:cs typeface="+mn-cs"/>
              </a:rPr>
              <a:t>Each status code is a </a:t>
            </a:r>
            <a:r>
              <a:rPr lang="en-IN" sz="1200" b="1" kern="1200" dirty="0">
                <a:solidFill>
                  <a:schemeClr val="tx1"/>
                </a:solidFill>
                <a:effectLst/>
                <a:latin typeface="+mn-lt"/>
                <a:ea typeface="+mn-ea"/>
                <a:cs typeface="+mn-cs"/>
              </a:rPr>
              <a:t>three-digit number</a:t>
            </a:r>
            <a:r>
              <a:rPr lang="en-IN" sz="1200" kern="1200" dirty="0">
                <a:solidFill>
                  <a:schemeClr val="tx1"/>
                </a:solidFill>
                <a:effectLst/>
                <a:latin typeface="+mn-lt"/>
                <a:ea typeface="+mn-ea"/>
                <a:cs typeface="+mn-cs"/>
              </a:rPr>
              <a:t>, where the </a:t>
            </a:r>
            <a:r>
              <a:rPr lang="en-IN" sz="1200" b="1" kern="1200" dirty="0">
                <a:solidFill>
                  <a:schemeClr val="tx1"/>
                </a:solidFill>
                <a:effectLst/>
                <a:latin typeface="+mn-lt"/>
                <a:ea typeface="+mn-ea"/>
                <a:cs typeface="+mn-cs"/>
              </a:rPr>
              <a:t>first digit</a:t>
            </a:r>
            <a:r>
              <a:rPr lang="en-IN" sz="1200" kern="1200" dirty="0">
                <a:solidFill>
                  <a:schemeClr val="tx1"/>
                </a:solidFill>
                <a:effectLst/>
                <a:latin typeface="+mn-lt"/>
                <a:ea typeface="+mn-ea"/>
                <a:cs typeface="+mn-cs"/>
              </a:rPr>
              <a:t> determines the </a:t>
            </a:r>
            <a:r>
              <a:rPr lang="en-IN" sz="1200" b="1" kern="1200" dirty="0">
                <a:solidFill>
                  <a:schemeClr val="tx1"/>
                </a:solidFill>
                <a:effectLst/>
                <a:latin typeface="+mn-lt"/>
                <a:ea typeface="+mn-ea"/>
                <a:cs typeface="+mn-cs"/>
              </a:rPr>
              <a:t>category</a:t>
            </a:r>
            <a:r>
              <a:rPr lang="en-IN" sz="1200" kern="1200" dirty="0">
                <a:solidFill>
                  <a:schemeClr val="tx1"/>
                </a:solidFill>
                <a:effectLst/>
                <a:latin typeface="+mn-lt"/>
                <a:ea typeface="+mn-ea"/>
                <a:cs typeface="+mn-cs"/>
              </a:rPr>
              <a:t> of the response. This categorization helps both developers and automated systems interpret what occurred during the transaction. For example, codes beginning with “2” indicate success, while those beginning with “4” represent client-side errors.</a:t>
            </a:r>
          </a:p>
          <a:p>
            <a:r>
              <a:rPr lang="en-IN" sz="1200" kern="1200" dirty="0">
                <a:solidFill>
                  <a:schemeClr val="tx1"/>
                </a:solidFill>
                <a:effectLst/>
                <a:latin typeface="+mn-lt"/>
                <a:ea typeface="+mn-ea"/>
                <a:cs typeface="+mn-cs"/>
              </a:rPr>
              <a:t>There are </a:t>
            </a:r>
            <a:r>
              <a:rPr lang="en-IN" sz="1200" b="1" kern="1200" dirty="0">
                <a:solidFill>
                  <a:schemeClr val="tx1"/>
                </a:solidFill>
                <a:effectLst/>
                <a:latin typeface="+mn-lt"/>
                <a:ea typeface="+mn-ea"/>
                <a:cs typeface="+mn-cs"/>
              </a:rPr>
              <a:t>five major classes</a:t>
            </a:r>
            <a:r>
              <a:rPr lang="en-IN" sz="1200" kern="1200" dirty="0">
                <a:solidFill>
                  <a:schemeClr val="tx1"/>
                </a:solidFill>
                <a:effectLst/>
                <a:latin typeface="+mn-lt"/>
                <a:ea typeface="+mn-ea"/>
                <a:cs typeface="+mn-cs"/>
              </a:rPr>
              <a:t> of HTTP status codes: informational, success, redirection, client error, and server error. Let’s explore each category in detail.</a:t>
            </a:r>
          </a:p>
          <a:p>
            <a:r>
              <a:rPr lang="en-IN" sz="1200" kern="1200" dirty="0">
                <a:solidFill>
                  <a:schemeClr val="tx1"/>
                </a:solidFill>
                <a:effectLst/>
                <a:latin typeface="+mn-lt"/>
                <a:ea typeface="+mn-ea"/>
                <a:cs typeface="+mn-cs"/>
              </a:rPr>
              <a:t> </a:t>
            </a:r>
          </a:p>
          <a:p>
            <a:r>
              <a:rPr lang="en-IN" sz="1200" b="1" i="1" kern="1200" dirty="0">
                <a:solidFill>
                  <a:schemeClr val="tx1"/>
                </a:solidFill>
                <a:effectLst/>
                <a:latin typeface="+mn-lt"/>
                <a:ea typeface="+mn-ea"/>
                <a:cs typeface="+mn-cs"/>
              </a:rPr>
              <a:t>1xx – Informational Responses</a:t>
            </a:r>
          </a:p>
          <a:p>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1xx class</a:t>
            </a:r>
            <a:r>
              <a:rPr lang="en-IN" sz="1200" kern="1200" dirty="0">
                <a:solidFill>
                  <a:schemeClr val="tx1"/>
                </a:solidFill>
                <a:effectLst/>
                <a:latin typeface="+mn-lt"/>
                <a:ea typeface="+mn-ea"/>
                <a:cs typeface="+mn-cs"/>
              </a:rPr>
              <a:t> of status codes is rarely seen by end users but plays an important role in communication between clients and servers. These codes indicate that the </a:t>
            </a:r>
            <a:r>
              <a:rPr lang="en-IN" sz="1200" b="1" kern="1200" dirty="0">
                <a:solidFill>
                  <a:schemeClr val="tx1"/>
                </a:solidFill>
                <a:effectLst/>
                <a:latin typeface="+mn-lt"/>
                <a:ea typeface="+mn-ea"/>
                <a:cs typeface="+mn-cs"/>
              </a:rPr>
              <a:t>request has been received</a:t>
            </a:r>
            <a:r>
              <a:rPr lang="en-IN" sz="1200" kern="1200" dirty="0">
                <a:solidFill>
                  <a:schemeClr val="tx1"/>
                </a:solidFill>
                <a:effectLst/>
                <a:latin typeface="+mn-lt"/>
                <a:ea typeface="+mn-ea"/>
                <a:cs typeface="+mn-cs"/>
              </a:rPr>
              <a:t> and that the </a:t>
            </a:r>
            <a:r>
              <a:rPr lang="en-IN" sz="1200" b="1" kern="1200" dirty="0">
                <a:solidFill>
                  <a:schemeClr val="tx1"/>
                </a:solidFill>
                <a:effectLst/>
                <a:latin typeface="+mn-lt"/>
                <a:ea typeface="+mn-ea"/>
                <a:cs typeface="+mn-cs"/>
              </a:rPr>
              <a:t>server is continuing the process</a:t>
            </a:r>
            <a:r>
              <a:rPr lang="en-IN" sz="1200" kern="1200" dirty="0">
                <a:solidFill>
                  <a:schemeClr val="tx1"/>
                </a:solidFill>
                <a:effectLst/>
                <a:latin typeface="+mn-lt"/>
                <a:ea typeface="+mn-ea"/>
                <a:cs typeface="+mn-cs"/>
              </a:rPr>
              <a:t>. They are primarily used for control and protocol negotiation.</a:t>
            </a:r>
          </a:p>
          <a:p>
            <a:pPr lvl="0"/>
            <a:r>
              <a:rPr lang="en-IN" sz="1200" b="1" kern="1200" dirty="0">
                <a:solidFill>
                  <a:schemeClr val="tx1"/>
                </a:solidFill>
                <a:effectLst/>
                <a:latin typeface="+mn-lt"/>
                <a:ea typeface="+mn-ea"/>
                <a:cs typeface="+mn-cs"/>
              </a:rPr>
              <a:t>100 Continue:</a:t>
            </a:r>
            <a:r>
              <a:rPr lang="en-IN" sz="1200" kern="1200" dirty="0">
                <a:solidFill>
                  <a:schemeClr val="tx1"/>
                </a:solidFill>
                <a:effectLst/>
                <a:latin typeface="+mn-lt"/>
                <a:ea typeface="+mn-ea"/>
                <a:cs typeface="+mn-cs"/>
              </a:rPr>
              <a:t> This response informs the client that it may proceed with sending the request body. It is often used in situations where the client wants to ensure the server is ready before sending large payloads.</a:t>
            </a:r>
          </a:p>
          <a:p>
            <a:pPr lvl="0"/>
            <a:r>
              <a:rPr lang="en-IN" sz="1200" b="1" kern="1200" dirty="0">
                <a:solidFill>
                  <a:schemeClr val="tx1"/>
                </a:solidFill>
                <a:effectLst/>
                <a:latin typeface="+mn-lt"/>
                <a:ea typeface="+mn-ea"/>
                <a:cs typeface="+mn-cs"/>
              </a:rPr>
              <a:t>101 Switching Protocols:</a:t>
            </a:r>
            <a:r>
              <a:rPr lang="en-IN" sz="1200" kern="1200" dirty="0">
                <a:solidFill>
                  <a:schemeClr val="tx1"/>
                </a:solidFill>
                <a:effectLst/>
                <a:latin typeface="+mn-lt"/>
                <a:ea typeface="+mn-ea"/>
                <a:cs typeface="+mn-cs"/>
              </a:rPr>
              <a:t> Indicates that the server is switching to a different protocol as requested by the client—for example, upgrading from HTTP to WebSocket.</a:t>
            </a:r>
          </a:p>
          <a:p>
            <a:r>
              <a:rPr lang="en-IN" sz="1200" kern="1200" dirty="0">
                <a:solidFill>
                  <a:schemeClr val="tx1"/>
                </a:solidFill>
                <a:effectLst/>
                <a:latin typeface="+mn-lt"/>
                <a:ea typeface="+mn-ea"/>
                <a:cs typeface="+mn-cs"/>
              </a:rPr>
              <a:t>Informational responses help establish smoother communication, ensuring that the client and server remain synchronized during ongoing exchanges.</a:t>
            </a:r>
          </a:p>
          <a:p>
            <a:r>
              <a:rPr lang="en-IN" sz="1200" kern="1200" dirty="0">
                <a:solidFill>
                  <a:schemeClr val="tx1"/>
                </a:solidFill>
                <a:effectLst/>
                <a:latin typeface="+mn-lt"/>
                <a:ea typeface="+mn-ea"/>
                <a:cs typeface="+mn-cs"/>
              </a:rPr>
              <a:t> </a:t>
            </a:r>
          </a:p>
          <a:p>
            <a:r>
              <a:rPr lang="en-IN" sz="1200" b="1" i="1" kern="1200" dirty="0">
                <a:solidFill>
                  <a:schemeClr val="tx1"/>
                </a:solidFill>
                <a:effectLst/>
                <a:latin typeface="+mn-lt"/>
                <a:ea typeface="+mn-ea"/>
                <a:cs typeface="+mn-cs"/>
              </a:rPr>
              <a:t>2xx – Success Responses</a:t>
            </a:r>
          </a:p>
          <a:p>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2xx series</a:t>
            </a:r>
            <a:r>
              <a:rPr lang="en-IN" sz="1200" kern="1200" dirty="0">
                <a:solidFill>
                  <a:schemeClr val="tx1"/>
                </a:solidFill>
                <a:effectLst/>
                <a:latin typeface="+mn-lt"/>
                <a:ea typeface="+mn-ea"/>
                <a:cs typeface="+mn-cs"/>
              </a:rPr>
              <a:t> represents successful operations. When a client receives a status code in this range, it means the request was </a:t>
            </a:r>
            <a:r>
              <a:rPr lang="en-IN" sz="1200" b="1" kern="1200" dirty="0">
                <a:solidFill>
                  <a:schemeClr val="tx1"/>
                </a:solidFill>
                <a:effectLst/>
                <a:latin typeface="+mn-lt"/>
                <a:ea typeface="+mn-ea"/>
                <a:cs typeface="+mn-cs"/>
              </a:rPr>
              <a:t>valid</a:t>
            </a:r>
            <a:r>
              <a:rPr lang="en-IN" sz="1200" kern="1200" dirty="0">
                <a:solidFill>
                  <a:schemeClr val="tx1"/>
                </a:solidFill>
                <a:effectLst/>
                <a:latin typeface="+mn-lt"/>
                <a:ea typeface="+mn-ea"/>
                <a:cs typeface="+mn-cs"/>
              </a:rPr>
              <a:t>, </a:t>
            </a:r>
            <a:r>
              <a:rPr lang="en-IN" sz="1200" b="1" kern="1200" dirty="0">
                <a:solidFill>
                  <a:schemeClr val="tx1"/>
                </a:solidFill>
                <a:effectLst/>
                <a:latin typeface="+mn-lt"/>
                <a:ea typeface="+mn-ea"/>
                <a:cs typeface="+mn-cs"/>
              </a:rPr>
              <a:t>understood</a:t>
            </a:r>
            <a:r>
              <a:rPr lang="en-IN" sz="1200" kern="1200" dirty="0">
                <a:solidFill>
                  <a:schemeClr val="tx1"/>
                </a:solidFill>
                <a:effectLst/>
                <a:latin typeface="+mn-lt"/>
                <a:ea typeface="+mn-ea"/>
                <a:cs typeface="+mn-cs"/>
              </a:rPr>
              <a:t>, and </a:t>
            </a:r>
            <a:r>
              <a:rPr lang="en-IN" sz="1200" b="1" kern="1200" dirty="0">
                <a:solidFill>
                  <a:schemeClr val="tx1"/>
                </a:solidFill>
                <a:effectLst/>
                <a:latin typeface="+mn-lt"/>
                <a:ea typeface="+mn-ea"/>
                <a:cs typeface="+mn-cs"/>
              </a:rPr>
              <a:t>processed successfully</a:t>
            </a:r>
            <a:r>
              <a:rPr lang="en-IN" sz="1200" kern="1200" dirty="0">
                <a:solidFill>
                  <a:schemeClr val="tx1"/>
                </a:solidFill>
                <a:effectLst/>
                <a:latin typeface="+mn-lt"/>
                <a:ea typeface="+mn-ea"/>
                <a:cs typeface="+mn-cs"/>
              </a:rPr>
              <a:t> by the server.</a:t>
            </a:r>
          </a:p>
          <a:p>
            <a:pPr lvl="0"/>
            <a:r>
              <a:rPr lang="en-IN" sz="1200" b="1" kern="1200" dirty="0">
                <a:solidFill>
                  <a:schemeClr val="tx1"/>
                </a:solidFill>
                <a:effectLst/>
                <a:latin typeface="+mn-lt"/>
                <a:ea typeface="+mn-ea"/>
                <a:cs typeface="+mn-cs"/>
              </a:rPr>
              <a:t>200 OK:</a:t>
            </a:r>
            <a:r>
              <a:rPr lang="en-IN" sz="1200" kern="1200" dirty="0">
                <a:solidFill>
                  <a:schemeClr val="tx1"/>
                </a:solidFill>
                <a:effectLst/>
                <a:latin typeface="+mn-lt"/>
                <a:ea typeface="+mn-ea"/>
                <a:cs typeface="+mn-cs"/>
              </a:rPr>
              <a:t> The most common and versatile status code. It indicates that the request has succeeded, and the response body (if any) contains the requested resource or information.</a:t>
            </a:r>
          </a:p>
          <a:p>
            <a:pPr lvl="0"/>
            <a:r>
              <a:rPr lang="en-IN" sz="1200" b="1" kern="1200" dirty="0">
                <a:solidFill>
                  <a:schemeClr val="tx1"/>
                </a:solidFill>
                <a:effectLst/>
                <a:latin typeface="+mn-lt"/>
                <a:ea typeface="+mn-ea"/>
                <a:cs typeface="+mn-cs"/>
              </a:rPr>
              <a:t>201 Created:</a:t>
            </a:r>
            <a:r>
              <a:rPr lang="en-IN" sz="1200" kern="1200" dirty="0">
                <a:solidFill>
                  <a:schemeClr val="tx1"/>
                </a:solidFill>
                <a:effectLst/>
                <a:latin typeface="+mn-lt"/>
                <a:ea typeface="+mn-ea"/>
                <a:cs typeface="+mn-cs"/>
              </a:rPr>
              <a:t> Indicates that a new resource has been successfully created on the server, usually in response to a POST request. The response often includes a Location header pointing to the new resource’s URI.</a:t>
            </a:r>
          </a:p>
          <a:p>
            <a:pPr lvl="0"/>
            <a:r>
              <a:rPr lang="en-IN" sz="1200" b="1" kern="1200" dirty="0">
                <a:solidFill>
                  <a:schemeClr val="tx1"/>
                </a:solidFill>
                <a:effectLst/>
                <a:latin typeface="+mn-lt"/>
                <a:ea typeface="+mn-ea"/>
                <a:cs typeface="+mn-cs"/>
              </a:rPr>
              <a:t>202 Accepted:</a:t>
            </a:r>
            <a:r>
              <a:rPr lang="en-IN" sz="1200" kern="1200" dirty="0">
                <a:solidFill>
                  <a:schemeClr val="tx1"/>
                </a:solidFill>
                <a:effectLst/>
                <a:latin typeface="+mn-lt"/>
                <a:ea typeface="+mn-ea"/>
                <a:cs typeface="+mn-cs"/>
              </a:rPr>
              <a:t> The request has been accepted for processing, but the actual processing may still be in progress. This is often used for asynchronous or background tasks.</a:t>
            </a:r>
          </a:p>
          <a:p>
            <a:pPr lvl="0"/>
            <a:r>
              <a:rPr lang="en-IN" sz="1200" b="1" kern="1200" dirty="0">
                <a:solidFill>
                  <a:schemeClr val="tx1"/>
                </a:solidFill>
                <a:effectLst/>
                <a:latin typeface="+mn-lt"/>
                <a:ea typeface="+mn-ea"/>
                <a:cs typeface="+mn-cs"/>
              </a:rPr>
              <a:t>204 No Content:</a:t>
            </a:r>
            <a:r>
              <a:rPr lang="en-IN" sz="1200" kern="1200" dirty="0">
                <a:solidFill>
                  <a:schemeClr val="tx1"/>
                </a:solidFill>
                <a:effectLst/>
                <a:latin typeface="+mn-lt"/>
                <a:ea typeface="+mn-ea"/>
                <a:cs typeface="+mn-cs"/>
              </a:rPr>
              <a:t> Indicates that the request was successful but that there is no additional content to return in the response body. Commonly used after DELETE or successful PUT operations.</a:t>
            </a:r>
          </a:p>
          <a:p>
            <a:r>
              <a:rPr lang="en-IN" sz="1200" kern="1200" dirty="0">
                <a:solidFill>
                  <a:schemeClr val="tx1"/>
                </a:solidFill>
                <a:effectLst/>
                <a:latin typeface="+mn-lt"/>
                <a:ea typeface="+mn-ea"/>
                <a:cs typeface="+mn-cs"/>
              </a:rPr>
              <a:t>Success codes provide confirmation that the client’s request achieved its intended result, forming the backbone of reliable communication between systems.</a:t>
            </a:r>
          </a:p>
          <a:p>
            <a:r>
              <a:rPr lang="en-IN" sz="1200" kern="1200" dirty="0">
                <a:solidFill>
                  <a:schemeClr val="tx1"/>
                </a:solidFill>
                <a:effectLst/>
                <a:latin typeface="+mn-lt"/>
                <a:ea typeface="+mn-ea"/>
                <a:cs typeface="+mn-cs"/>
              </a:rPr>
              <a:t> </a:t>
            </a:r>
          </a:p>
          <a:p>
            <a:r>
              <a:rPr lang="en-IN" sz="1200" b="1" i="1" kern="1200" dirty="0">
                <a:solidFill>
                  <a:schemeClr val="tx1"/>
                </a:solidFill>
                <a:effectLst/>
                <a:latin typeface="+mn-lt"/>
                <a:ea typeface="+mn-ea"/>
                <a:cs typeface="+mn-cs"/>
              </a:rPr>
              <a:t>3xx – Redirection Responses</a:t>
            </a:r>
          </a:p>
          <a:p>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3xx class</a:t>
            </a:r>
            <a:r>
              <a:rPr lang="en-IN" sz="1200" kern="1200" dirty="0">
                <a:solidFill>
                  <a:schemeClr val="tx1"/>
                </a:solidFill>
                <a:effectLst/>
                <a:latin typeface="+mn-lt"/>
                <a:ea typeface="+mn-ea"/>
                <a:cs typeface="+mn-cs"/>
              </a:rPr>
              <a:t> of status codes is used when a client must perform additional actions to complete a request—typically following a change in the location of a resource. Redirection responses allow the server to instruct the client to fetch the resource from another URI or endpoint. These responses play a vital role in maintaining </a:t>
            </a:r>
            <a:r>
              <a:rPr lang="en-IN" sz="1200" b="1" kern="1200" dirty="0">
                <a:solidFill>
                  <a:schemeClr val="tx1"/>
                </a:solidFill>
                <a:effectLst/>
                <a:latin typeface="+mn-lt"/>
                <a:ea typeface="+mn-ea"/>
                <a:cs typeface="+mn-cs"/>
              </a:rPr>
              <a:t>resource continuity</a:t>
            </a:r>
            <a:r>
              <a:rPr lang="en-IN" sz="1200" kern="1200" dirty="0">
                <a:solidFill>
                  <a:schemeClr val="tx1"/>
                </a:solidFill>
                <a:effectLst/>
                <a:latin typeface="+mn-lt"/>
                <a:ea typeface="+mn-ea"/>
                <a:cs typeface="+mn-cs"/>
              </a:rPr>
              <a:t>, particularly during URL restructuring, load balancing, and CDN-based content distribution.</a:t>
            </a:r>
          </a:p>
          <a:p>
            <a:pPr lvl="0"/>
            <a:r>
              <a:rPr lang="en-IN" sz="1200" b="1" kern="1200" dirty="0">
                <a:solidFill>
                  <a:schemeClr val="tx1"/>
                </a:solidFill>
                <a:effectLst/>
                <a:latin typeface="+mn-lt"/>
                <a:ea typeface="+mn-ea"/>
                <a:cs typeface="+mn-cs"/>
              </a:rPr>
              <a:t>301 Moved Permanently:</a:t>
            </a:r>
            <a:r>
              <a:rPr lang="en-IN" sz="1200" kern="1200" dirty="0">
                <a:solidFill>
                  <a:schemeClr val="tx1"/>
                </a:solidFill>
                <a:effectLst/>
                <a:latin typeface="+mn-lt"/>
                <a:ea typeface="+mn-ea"/>
                <a:cs typeface="+mn-cs"/>
              </a:rPr>
              <a:t> This response indicates that the requested resource has been </a:t>
            </a:r>
            <a:r>
              <a:rPr lang="en-IN" sz="1200" b="1" kern="1200" dirty="0">
                <a:solidFill>
                  <a:schemeClr val="tx1"/>
                </a:solidFill>
                <a:effectLst/>
                <a:latin typeface="+mn-lt"/>
                <a:ea typeface="+mn-ea"/>
                <a:cs typeface="+mn-cs"/>
              </a:rPr>
              <a:t>permanently moved</a:t>
            </a:r>
            <a:r>
              <a:rPr lang="en-IN" sz="1200" kern="1200" dirty="0">
                <a:solidFill>
                  <a:schemeClr val="tx1"/>
                </a:solidFill>
                <a:effectLst/>
                <a:latin typeface="+mn-lt"/>
                <a:ea typeface="+mn-ea"/>
                <a:cs typeface="+mn-cs"/>
              </a:rPr>
              <a:t> to a new URI. Future requests should be directed to this new address. Clients, search engines, and caching systems update their references accordingly.</a:t>
            </a:r>
          </a:p>
          <a:p>
            <a:pPr lvl="0"/>
            <a:r>
              <a:rPr lang="en-IN" sz="1200" b="1" kern="1200" dirty="0">
                <a:solidFill>
                  <a:schemeClr val="tx1"/>
                </a:solidFill>
                <a:effectLst/>
                <a:latin typeface="+mn-lt"/>
                <a:ea typeface="+mn-ea"/>
                <a:cs typeface="+mn-cs"/>
              </a:rPr>
              <a:t>302 Found:</a:t>
            </a:r>
            <a:r>
              <a:rPr lang="en-IN" sz="1200" kern="1200" dirty="0">
                <a:solidFill>
                  <a:schemeClr val="tx1"/>
                </a:solidFill>
                <a:effectLst/>
                <a:latin typeface="+mn-lt"/>
                <a:ea typeface="+mn-ea"/>
                <a:cs typeface="+mn-cs"/>
              </a:rPr>
              <a:t> This is one of the most commonly used redirection codes. It tells the client that the resource is temporarily located at a different URI, but that the same original URI should still be used for future requests. However, historically, different browsers handled this response inconsistently by converting the original HTTP method (like POST) to GET, which sometimes led to unexpected </a:t>
            </a:r>
            <a:r>
              <a:rPr lang="en-IN" sz="1200" kern="1200" dirty="0" err="1">
                <a:solidFill>
                  <a:schemeClr val="tx1"/>
                </a:solidFill>
                <a:effectLst/>
                <a:latin typeface="+mn-lt"/>
                <a:ea typeface="+mn-ea"/>
                <a:cs typeface="+mn-cs"/>
              </a:rPr>
              <a:t>behavior</a:t>
            </a:r>
            <a:r>
              <a:rPr lang="en-IN" sz="1200" kern="1200" dirty="0">
                <a:solidFill>
                  <a:schemeClr val="tx1"/>
                </a:solidFill>
                <a:effectLst/>
                <a:latin typeface="+mn-lt"/>
                <a:ea typeface="+mn-ea"/>
                <a:cs typeface="+mn-cs"/>
              </a:rPr>
              <a:t>.</a:t>
            </a:r>
          </a:p>
          <a:p>
            <a:pPr lvl="0"/>
            <a:r>
              <a:rPr lang="en-IN" sz="1200" b="1" kern="1200" dirty="0">
                <a:solidFill>
                  <a:schemeClr val="tx1"/>
                </a:solidFill>
                <a:effectLst/>
                <a:latin typeface="+mn-lt"/>
                <a:ea typeface="+mn-ea"/>
                <a:cs typeface="+mn-cs"/>
              </a:rPr>
              <a:t>303 See Other:</a:t>
            </a:r>
            <a:r>
              <a:rPr lang="en-IN" sz="1200" kern="1200" dirty="0">
                <a:solidFill>
                  <a:schemeClr val="tx1"/>
                </a:solidFill>
                <a:effectLst/>
                <a:latin typeface="+mn-lt"/>
                <a:ea typeface="+mn-ea"/>
                <a:cs typeface="+mn-cs"/>
              </a:rPr>
              <a:t> This code explicitly directs the client to retrieve the requested resource from another URI using a </a:t>
            </a:r>
            <a:r>
              <a:rPr lang="en-IN" sz="1200" b="1" kern="1200" dirty="0">
                <a:solidFill>
                  <a:schemeClr val="tx1"/>
                </a:solidFill>
                <a:effectLst/>
                <a:latin typeface="+mn-lt"/>
                <a:ea typeface="+mn-ea"/>
                <a:cs typeface="+mn-cs"/>
              </a:rPr>
              <a:t>GET</a:t>
            </a:r>
            <a:r>
              <a:rPr lang="en-IN" sz="1200" kern="1200" dirty="0">
                <a:solidFill>
                  <a:schemeClr val="tx1"/>
                </a:solidFill>
                <a:effectLst/>
                <a:latin typeface="+mn-lt"/>
                <a:ea typeface="+mn-ea"/>
                <a:cs typeface="+mn-cs"/>
              </a:rPr>
              <a:t> method. It is often used after a POST request to redirect clients to a confirmation page, ensuring idempotent retrieval of results.</a:t>
            </a:r>
          </a:p>
          <a:p>
            <a:pPr lvl="0"/>
            <a:r>
              <a:rPr lang="en-IN" sz="1200" b="1" kern="1200" dirty="0">
                <a:solidFill>
                  <a:schemeClr val="tx1"/>
                </a:solidFill>
                <a:effectLst/>
                <a:latin typeface="+mn-lt"/>
                <a:ea typeface="+mn-ea"/>
                <a:cs typeface="+mn-cs"/>
              </a:rPr>
              <a:t>307 Temporary Redirect:</a:t>
            </a:r>
            <a:r>
              <a:rPr lang="en-IN" sz="1200" kern="1200" dirty="0">
                <a:solidFill>
                  <a:schemeClr val="tx1"/>
                </a:solidFill>
                <a:effectLst/>
                <a:latin typeface="+mn-lt"/>
                <a:ea typeface="+mn-ea"/>
                <a:cs typeface="+mn-cs"/>
              </a:rPr>
              <a:t> The </a:t>
            </a:r>
            <a:r>
              <a:rPr lang="en-IN" sz="1200" b="1" kern="1200" dirty="0">
                <a:solidFill>
                  <a:schemeClr val="tx1"/>
                </a:solidFill>
                <a:effectLst/>
                <a:latin typeface="+mn-lt"/>
                <a:ea typeface="+mn-ea"/>
                <a:cs typeface="+mn-cs"/>
              </a:rPr>
              <a:t>307 status code</a:t>
            </a:r>
            <a:r>
              <a:rPr lang="en-IN" sz="1200" kern="1200" dirty="0">
                <a:solidFill>
                  <a:schemeClr val="tx1"/>
                </a:solidFill>
                <a:effectLst/>
                <a:latin typeface="+mn-lt"/>
                <a:ea typeface="+mn-ea"/>
                <a:cs typeface="+mn-cs"/>
              </a:rPr>
              <a:t> was introduced to </a:t>
            </a:r>
            <a:r>
              <a:rPr lang="en-IN" sz="1200" b="1" kern="1200" dirty="0">
                <a:solidFill>
                  <a:schemeClr val="tx1"/>
                </a:solidFill>
                <a:effectLst/>
                <a:latin typeface="+mn-lt"/>
                <a:ea typeface="+mn-ea"/>
                <a:cs typeface="+mn-cs"/>
              </a:rPr>
              <a:t>address the ambiguity</a:t>
            </a:r>
            <a:r>
              <a:rPr lang="en-IN" sz="1200" kern="1200" dirty="0">
                <a:solidFill>
                  <a:schemeClr val="tx1"/>
                </a:solidFill>
                <a:effectLst/>
                <a:latin typeface="+mn-lt"/>
                <a:ea typeface="+mn-ea"/>
                <a:cs typeface="+mn-cs"/>
              </a:rPr>
              <a:t> of the 302 response. It serves a similar purpose—indicating that the requested resource is temporarily available at a different URI—but with a crucial distinction: </a:t>
            </a:r>
            <a:r>
              <a:rPr lang="en-IN" sz="1200" b="1" kern="1200" dirty="0">
                <a:solidFill>
                  <a:schemeClr val="tx1"/>
                </a:solidFill>
                <a:effectLst/>
                <a:latin typeface="+mn-lt"/>
                <a:ea typeface="+mn-ea"/>
                <a:cs typeface="+mn-cs"/>
              </a:rPr>
              <a:t>the HTTP method and body of the original request must not change</a:t>
            </a:r>
            <a:r>
              <a:rPr lang="en-IN" sz="1200" kern="1200" dirty="0">
                <a:solidFill>
                  <a:schemeClr val="tx1"/>
                </a:solidFill>
                <a:effectLst/>
                <a:latin typeface="+mn-lt"/>
                <a:ea typeface="+mn-ea"/>
                <a:cs typeface="+mn-cs"/>
              </a:rPr>
              <a:t> when the client retries at the redirected location. This means if the original request was a POST, the redirected request must also remain a POST. This makes </a:t>
            </a:r>
            <a:r>
              <a:rPr lang="en-IN" sz="1200" b="1" kern="1200" dirty="0">
                <a:solidFill>
                  <a:schemeClr val="tx1"/>
                </a:solidFill>
                <a:effectLst/>
                <a:latin typeface="+mn-lt"/>
                <a:ea typeface="+mn-ea"/>
                <a:cs typeface="+mn-cs"/>
              </a:rPr>
              <a:t>307</a:t>
            </a:r>
            <a:r>
              <a:rPr lang="en-IN" sz="1200" kern="1200" dirty="0">
                <a:solidFill>
                  <a:schemeClr val="tx1"/>
                </a:solidFill>
                <a:effectLst/>
                <a:latin typeface="+mn-lt"/>
                <a:ea typeface="+mn-ea"/>
                <a:cs typeface="+mn-cs"/>
              </a:rPr>
              <a:t> especially valuable for maintaining consistency in APIs, form submissions, and secure data transfers where method integrity is essential.</a:t>
            </a:r>
          </a:p>
          <a:p>
            <a:pPr lvl="0"/>
            <a:r>
              <a:rPr lang="en-IN" sz="1200" b="1" kern="1200" dirty="0">
                <a:solidFill>
                  <a:schemeClr val="tx1"/>
                </a:solidFill>
                <a:effectLst/>
                <a:latin typeface="+mn-lt"/>
                <a:ea typeface="+mn-ea"/>
                <a:cs typeface="+mn-cs"/>
              </a:rPr>
              <a:t>308 Permanent Redirect:</a:t>
            </a:r>
            <a:r>
              <a:rPr lang="en-IN" sz="1200" kern="1200" dirty="0">
                <a:solidFill>
                  <a:schemeClr val="tx1"/>
                </a:solidFill>
                <a:effectLst/>
                <a:latin typeface="+mn-lt"/>
                <a:ea typeface="+mn-ea"/>
                <a:cs typeface="+mn-cs"/>
              </a:rPr>
              <a:t> The 308 code is similar to the 301 status, but it preserves the original HTTP method and body just like 307 does. It signals that the resource has been permanently moved to a new location, and future requests should use the new URI without altering the HTTP method.</a:t>
            </a:r>
          </a:p>
          <a:p>
            <a:r>
              <a:rPr lang="en-IN" sz="1200" kern="1200" dirty="0">
                <a:solidFill>
                  <a:schemeClr val="tx1"/>
                </a:solidFill>
                <a:effectLst/>
                <a:latin typeface="+mn-lt"/>
                <a:ea typeface="+mn-ea"/>
                <a:cs typeface="+mn-cs"/>
              </a:rPr>
              <a:t>Redirection codes thus ensure </a:t>
            </a:r>
            <a:r>
              <a:rPr lang="en-IN" sz="1200" b="1" kern="1200" dirty="0">
                <a:solidFill>
                  <a:schemeClr val="tx1"/>
                </a:solidFill>
                <a:effectLst/>
                <a:latin typeface="+mn-lt"/>
                <a:ea typeface="+mn-ea"/>
                <a:cs typeface="+mn-cs"/>
              </a:rPr>
              <a:t>smooth transitions</a:t>
            </a:r>
            <a:r>
              <a:rPr lang="en-IN" sz="1200" kern="1200" dirty="0">
                <a:solidFill>
                  <a:schemeClr val="tx1"/>
                </a:solidFill>
                <a:effectLst/>
                <a:latin typeface="+mn-lt"/>
                <a:ea typeface="+mn-ea"/>
                <a:cs typeface="+mn-cs"/>
              </a:rPr>
              <a:t> and </a:t>
            </a:r>
            <a:r>
              <a:rPr lang="en-IN" sz="1200" b="1" kern="1200" dirty="0">
                <a:solidFill>
                  <a:schemeClr val="tx1"/>
                </a:solidFill>
                <a:effectLst/>
                <a:latin typeface="+mn-lt"/>
                <a:ea typeface="+mn-ea"/>
                <a:cs typeface="+mn-cs"/>
              </a:rPr>
              <a:t>client adaptability</a:t>
            </a:r>
            <a:r>
              <a:rPr lang="en-IN" sz="1200" kern="1200" dirty="0">
                <a:solidFill>
                  <a:schemeClr val="tx1"/>
                </a:solidFill>
                <a:effectLst/>
                <a:latin typeface="+mn-lt"/>
                <a:ea typeface="+mn-ea"/>
                <a:cs typeface="+mn-cs"/>
              </a:rPr>
              <a:t> in dynamic network environments. Whether you’re redirecting for caching, version migration, or temporary routing, the 3xx family provides a structured and reliable framework for handling these interactions.</a:t>
            </a:r>
          </a:p>
          <a:p>
            <a:r>
              <a:rPr lang="en-IN" sz="1200" kern="1200" dirty="0">
                <a:solidFill>
                  <a:schemeClr val="tx1"/>
                </a:solidFill>
                <a:effectLst/>
                <a:latin typeface="+mn-lt"/>
                <a:ea typeface="+mn-ea"/>
                <a:cs typeface="+mn-cs"/>
              </a:rPr>
              <a:t> </a:t>
            </a:r>
          </a:p>
          <a:p>
            <a:r>
              <a:rPr lang="en-IN" sz="1200" b="1" i="1" kern="1200" dirty="0">
                <a:solidFill>
                  <a:schemeClr val="tx1"/>
                </a:solidFill>
                <a:effectLst/>
                <a:latin typeface="+mn-lt"/>
                <a:ea typeface="+mn-ea"/>
                <a:cs typeface="+mn-cs"/>
              </a:rPr>
              <a:t>4xx – Client Error Responses</a:t>
            </a:r>
          </a:p>
          <a:p>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4xx series</a:t>
            </a:r>
            <a:r>
              <a:rPr lang="en-IN" sz="1200" kern="1200" dirty="0">
                <a:solidFill>
                  <a:schemeClr val="tx1"/>
                </a:solidFill>
                <a:effectLst/>
                <a:latin typeface="+mn-lt"/>
                <a:ea typeface="+mn-ea"/>
                <a:cs typeface="+mn-cs"/>
              </a:rPr>
              <a:t> represents errors caused by the </a:t>
            </a:r>
            <a:r>
              <a:rPr lang="en-IN" sz="1200" b="1" kern="1200" dirty="0">
                <a:solidFill>
                  <a:schemeClr val="tx1"/>
                </a:solidFill>
                <a:effectLst/>
                <a:latin typeface="+mn-lt"/>
                <a:ea typeface="+mn-ea"/>
                <a:cs typeface="+mn-cs"/>
              </a:rPr>
              <a:t>client’s request</a:t>
            </a:r>
            <a:r>
              <a:rPr lang="en-IN" sz="1200" kern="1200" dirty="0">
                <a:solidFill>
                  <a:schemeClr val="tx1"/>
                </a:solidFill>
                <a:effectLst/>
                <a:latin typeface="+mn-lt"/>
                <a:ea typeface="+mn-ea"/>
                <a:cs typeface="+mn-cs"/>
              </a:rPr>
              <a:t>. These occur when the request is malformed, unauthorized, or violates server rules. Such responses help developers understand and correct issues on the client side rather than the server.</a:t>
            </a:r>
          </a:p>
          <a:p>
            <a:pPr lvl="0"/>
            <a:r>
              <a:rPr lang="en-IN" sz="1200" b="1" kern="1200" dirty="0">
                <a:solidFill>
                  <a:schemeClr val="tx1"/>
                </a:solidFill>
                <a:effectLst/>
                <a:latin typeface="+mn-lt"/>
                <a:ea typeface="+mn-ea"/>
                <a:cs typeface="+mn-cs"/>
              </a:rPr>
              <a:t>400 Bad Request:</a:t>
            </a:r>
            <a:r>
              <a:rPr lang="en-IN" sz="1200" kern="1200" dirty="0">
                <a:solidFill>
                  <a:schemeClr val="tx1"/>
                </a:solidFill>
                <a:effectLst/>
                <a:latin typeface="+mn-lt"/>
                <a:ea typeface="+mn-ea"/>
                <a:cs typeface="+mn-cs"/>
              </a:rPr>
              <a:t> The server cannot process the request due to invalid syntax or malformed input.</a:t>
            </a:r>
          </a:p>
          <a:p>
            <a:pPr lvl="0"/>
            <a:r>
              <a:rPr lang="en-IN" sz="1200" b="1" kern="1200" dirty="0">
                <a:solidFill>
                  <a:schemeClr val="tx1"/>
                </a:solidFill>
                <a:effectLst/>
                <a:latin typeface="+mn-lt"/>
                <a:ea typeface="+mn-ea"/>
                <a:cs typeface="+mn-cs"/>
              </a:rPr>
              <a:t>401 Unauthorized:</a:t>
            </a:r>
            <a:r>
              <a:rPr lang="en-IN" sz="1200" kern="1200" dirty="0">
                <a:solidFill>
                  <a:schemeClr val="tx1"/>
                </a:solidFill>
                <a:effectLst/>
                <a:latin typeface="+mn-lt"/>
                <a:ea typeface="+mn-ea"/>
                <a:cs typeface="+mn-cs"/>
              </a:rPr>
              <a:t> Authentication is required, or the provided credentials are invalid. The client must include valid credentials before retrying the request.</a:t>
            </a:r>
          </a:p>
          <a:p>
            <a:pPr lvl="0"/>
            <a:r>
              <a:rPr lang="en-IN" sz="1200" b="1" kern="1200" dirty="0">
                <a:solidFill>
                  <a:schemeClr val="tx1"/>
                </a:solidFill>
                <a:effectLst/>
                <a:latin typeface="+mn-lt"/>
                <a:ea typeface="+mn-ea"/>
                <a:cs typeface="+mn-cs"/>
              </a:rPr>
              <a:t>403 Forbidden:</a:t>
            </a:r>
            <a:r>
              <a:rPr lang="en-IN" sz="1200" kern="1200" dirty="0">
                <a:solidFill>
                  <a:schemeClr val="tx1"/>
                </a:solidFill>
                <a:effectLst/>
                <a:latin typeface="+mn-lt"/>
                <a:ea typeface="+mn-ea"/>
                <a:cs typeface="+mn-cs"/>
              </a:rPr>
              <a:t> The client is authenticated but not authorized to perform the requested action.</a:t>
            </a:r>
          </a:p>
          <a:p>
            <a:pPr lvl="0"/>
            <a:r>
              <a:rPr lang="en-IN" sz="1200" b="1" kern="1200" dirty="0">
                <a:solidFill>
                  <a:schemeClr val="tx1"/>
                </a:solidFill>
                <a:effectLst/>
                <a:latin typeface="+mn-lt"/>
                <a:ea typeface="+mn-ea"/>
                <a:cs typeface="+mn-cs"/>
              </a:rPr>
              <a:t>404 Not Found:</a:t>
            </a:r>
            <a:r>
              <a:rPr lang="en-IN" sz="1200" kern="1200" dirty="0">
                <a:solidFill>
                  <a:schemeClr val="tx1"/>
                </a:solidFill>
                <a:effectLst/>
                <a:latin typeface="+mn-lt"/>
                <a:ea typeface="+mn-ea"/>
                <a:cs typeface="+mn-cs"/>
              </a:rPr>
              <a:t> The requested resource does not exist or cannot be located on the server.</a:t>
            </a:r>
          </a:p>
          <a:p>
            <a:pPr lvl="0"/>
            <a:r>
              <a:rPr lang="en-IN" sz="1200" b="1" kern="1200" dirty="0">
                <a:solidFill>
                  <a:schemeClr val="tx1"/>
                </a:solidFill>
                <a:effectLst/>
                <a:latin typeface="+mn-lt"/>
                <a:ea typeface="+mn-ea"/>
                <a:cs typeface="+mn-cs"/>
              </a:rPr>
              <a:t>409 Conflict:</a:t>
            </a:r>
            <a:r>
              <a:rPr lang="en-IN" sz="1200" kern="1200" dirty="0">
                <a:solidFill>
                  <a:schemeClr val="tx1"/>
                </a:solidFill>
                <a:effectLst/>
                <a:latin typeface="+mn-lt"/>
                <a:ea typeface="+mn-ea"/>
                <a:cs typeface="+mn-cs"/>
              </a:rPr>
              <a:t> The request conflicts with the current state of the target resource—often used during simultaneous updates.</a:t>
            </a:r>
          </a:p>
          <a:p>
            <a:pPr lvl="0"/>
            <a:r>
              <a:rPr lang="en-IN" sz="1200" b="1" kern="1200" dirty="0">
                <a:solidFill>
                  <a:schemeClr val="tx1"/>
                </a:solidFill>
                <a:effectLst/>
                <a:latin typeface="+mn-lt"/>
                <a:ea typeface="+mn-ea"/>
                <a:cs typeface="+mn-cs"/>
              </a:rPr>
              <a:t>422 </a:t>
            </a:r>
            <a:r>
              <a:rPr lang="en-IN" sz="1200" b="1" kern="1200" dirty="0" err="1">
                <a:solidFill>
                  <a:schemeClr val="tx1"/>
                </a:solidFill>
                <a:effectLst/>
                <a:latin typeface="+mn-lt"/>
                <a:ea typeface="+mn-ea"/>
                <a:cs typeface="+mn-cs"/>
              </a:rPr>
              <a:t>Unprocessable</a:t>
            </a:r>
            <a:r>
              <a:rPr lang="en-IN" sz="1200" b="1" kern="1200" dirty="0">
                <a:solidFill>
                  <a:schemeClr val="tx1"/>
                </a:solidFill>
                <a:effectLst/>
                <a:latin typeface="+mn-lt"/>
                <a:ea typeface="+mn-ea"/>
                <a:cs typeface="+mn-cs"/>
              </a:rPr>
              <a:t> Entity:</a:t>
            </a:r>
            <a:r>
              <a:rPr lang="en-IN" sz="1200" kern="1200" dirty="0">
                <a:solidFill>
                  <a:schemeClr val="tx1"/>
                </a:solidFill>
                <a:effectLst/>
                <a:latin typeface="+mn-lt"/>
                <a:ea typeface="+mn-ea"/>
                <a:cs typeface="+mn-cs"/>
              </a:rPr>
              <a:t> The server understands the content type of the request and the syntax is correct, but it cannot process the request because of </a:t>
            </a:r>
            <a:r>
              <a:rPr lang="en-IN" sz="1200" b="1" kern="1200" dirty="0">
                <a:solidFill>
                  <a:schemeClr val="tx1"/>
                </a:solidFill>
                <a:effectLst/>
                <a:latin typeface="+mn-lt"/>
                <a:ea typeface="+mn-ea"/>
                <a:cs typeface="+mn-cs"/>
              </a:rPr>
              <a:t>semantic errors</a:t>
            </a:r>
            <a:r>
              <a:rPr lang="en-IN" sz="1200" kern="1200" dirty="0">
                <a:solidFill>
                  <a:schemeClr val="tx1"/>
                </a:solidFill>
                <a:effectLst/>
                <a:latin typeface="+mn-lt"/>
                <a:ea typeface="+mn-ea"/>
                <a:cs typeface="+mn-cs"/>
              </a:rPr>
              <a:t> or </a:t>
            </a:r>
            <a:r>
              <a:rPr lang="en-IN" sz="1200" b="1" kern="1200" dirty="0">
                <a:solidFill>
                  <a:schemeClr val="tx1"/>
                </a:solidFill>
                <a:effectLst/>
                <a:latin typeface="+mn-lt"/>
                <a:ea typeface="+mn-ea"/>
                <a:cs typeface="+mn-cs"/>
              </a:rPr>
              <a:t>validation failures</a:t>
            </a:r>
            <a:r>
              <a:rPr lang="en-IN" sz="1200" kern="1200" dirty="0">
                <a:solidFill>
                  <a:schemeClr val="tx1"/>
                </a:solidFill>
                <a:effectLst/>
                <a:latin typeface="+mn-lt"/>
                <a:ea typeface="+mn-ea"/>
                <a:cs typeface="+mn-cs"/>
              </a:rPr>
              <a:t>. This status code is frequently used in APIs that enforce strict data validation rules—for example, when required fields are missing or contain invalid values. Unlike a 400 Bad Request, which signals a syntactical issue, a 422 specifically highlights </a:t>
            </a:r>
            <a:r>
              <a:rPr lang="en-IN" sz="1200" b="1" kern="1200" dirty="0">
                <a:solidFill>
                  <a:schemeClr val="tx1"/>
                </a:solidFill>
                <a:effectLst/>
                <a:latin typeface="+mn-lt"/>
                <a:ea typeface="+mn-ea"/>
                <a:cs typeface="+mn-cs"/>
              </a:rPr>
              <a:t>logical or domain-level issues</a:t>
            </a:r>
            <a:r>
              <a:rPr lang="en-IN" sz="1200" kern="1200" dirty="0">
                <a:solidFill>
                  <a:schemeClr val="tx1"/>
                </a:solidFill>
                <a:effectLst/>
                <a:latin typeface="+mn-lt"/>
                <a:ea typeface="+mn-ea"/>
                <a:cs typeface="+mn-cs"/>
              </a:rPr>
              <a:t> within the payload.</a:t>
            </a:r>
          </a:p>
          <a:p>
            <a:pPr lvl="0"/>
            <a:r>
              <a:rPr lang="en-IN" sz="1200" b="1" kern="1200" dirty="0">
                <a:solidFill>
                  <a:schemeClr val="tx1"/>
                </a:solidFill>
                <a:effectLst/>
                <a:latin typeface="+mn-lt"/>
                <a:ea typeface="+mn-ea"/>
                <a:cs typeface="+mn-cs"/>
              </a:rPr>
              <a:t>429 Too Many Requests:</a:t>
            </a:r>
            <a:r>
              <a:rPr lang="en-IN" sz="1200" kern="1200" dirty="0">
                <a:solidFill>
                  <a:schemeClr val="tx1"/>
                </a:solidFill>
                <a:effectLst/>
                <a:latin typeface="+mn-lt"/>
                <a:ea typeface="+mn-ea"/>
                <a:cs typeface="+mn-cs"/>
              </a:rPr>
              <a:t> Indicates that the client has sent too many requests within a specific time window and has been rate-limited.</a:t>
            </a:r>
          </a:p>
          <a:p>
            <a:r>
              <a:rPr lang="en-IN" sz="1200" kern="1200" dirty="0">
                <a:solidFill>
                  <a:schemeClr val="tx1"/>
                </a:solidFill>
                <a:effectLst/>
                <a:latin typeface="+mn-lt"/>
                <a:ea typeface="+mn-ea"/>
                <a:cs typeface="+mn-cs"/>
              </a:rPr>
              <a:t>These codes not only improve communication clarity but also play a key role in </a:t>
            </a:r>
            <a:r>
              <a:rPr lang="en-IN" sz="1200" b="1" kern="1200" dirty="0">
                <a:solidFill>
                  <a:schemeClr val="tx1"/>
                </a:solidFill>
                <a:effectLst/>
                <a:latin typeface="+mn-lt"/>
                <a:ea typeface="+mn-ea"/>
                <a:cs typeface="+mn-cs"/>
              </a:rPr>
              <a:t>security</a:t>
            </a:r>
            <a:r>
              <a:rPr lang="en-IN" sz="1200" kern="1200" dirty="0">
                <a:solidFill>
                  <a:schemeClr val="tx1"/>
                </a:solidFill>
                <a:effectLst/>
                <a:latin typeface="+mn-lt"/>
                <a:ea typeface="+mn-ea"/>
                <a:cs typeface="+mn-cs"/>
              </a:rPr>
              <a:t> and </a:t>
            </a:r>
            <a:r>
              <a:rPr lang="en-IN" sz="1200" b="1" kern="1200" dirty="0">
                <a:solidFill>
                  <a:schemeClr val="tx1"/>
                </a:solidFill>
                <a:effectLst/>
                <a:latin typeface="+mn-lt"/>
                <a:ea typeface="+mn-ea"/>
                <a:cs typeface="+mn-cs"/>
              </a:rPr>
              <a:t>API usability</a:t>
            </a:r>
            <a:r>
              <a:rPr lang="en-IN" sz="1200" kern="1200" dirty="0">
                <a:solidFill>
                  <a:schemeClr val="tx1"/>
                </a:solidFill>
                <a:effectLst/>
                <a:latin typeface="+mn-lt"/>
                <a:ea typeface="+mn-ea"/>
                <a:cs typeface="+mn-cs"/>
              </a:rPr>
              <a:t>, ensuring clients understand the reason for rejection or failure.</a:t>
            </a:r>
          </a:p>
          <a:p>
            <a:r>
              <a:rPr lang="en-IN" sz="1200" kern="1200" dirty="0">
                <a:solidFill>
                  <a:schemeClr val="tx1"/>
                </a:solidFill>
                <a:effectLst/>
                <a:latin typeface="+mn-lt"/>
                <a:ea typeface="+mn-ea"/>
                <a:cs typeface="+mn-cs"/>
              </a:rPr>
              <a:t> </a:t>
            </a:r>
          </a:p>
          <a:p>
            <a:r>
              <a:rPr lang="en-IN" sz="1200" b="1" i="1" kern="1200" dirty="0">
                <a:solidFill>
                  <a:schemeClr val="tx1"/>
                </a:solidFill>
                <a:effectLst/>
                <a:latin typeface="+mn-lt"/>
                <a:ea typeface="+mn-ea"/>
                <a:cs typeface="+mn-cs"/>
              </a:rPr>
              <a:t>5xx – Server Error Responses</a:t>
            </a:r>
          </a:p>
          <a:p>
            <a:r>
              <a:rPr lang="en-IN" sz="1200" kern="1200" dirty="0">
                <a:solidFill>
                  <a:schemeClr val="tx1"/>
                </a:solidFill>
                <a:effectLst/>
                <a:latin typeface="+mn-lt"/>
                <a:ea typeface="+mn-ea"/>
                <a:cs typeface="+mn-cs"/>
              </a:rPr>
              <a:t>While 4xx errors arise from client mistakes, </a:t>
            </a:r>
            <a:r>
              <a:rPr lang="en-IN" sz="1200" b="1" kern="1200" dirty="0">
                <a:solidFill>
                  <a:schemeClr val="tx1"/>
                </a:solidFill>
                <a:effectLst/>
                <a:latin typeface="+mn-lt"/>
                <a:ea typeface="+mn-ea"/>
                <a:cs typeface="+mn-cs"/>
              </a:rPr>
              <a:t>5xx codes</a:t>
            </a:r>
            <a:r>
              <a:rPr lang="en-IN" sz="1200" kern="1200" dirty="0">
                <a:solidFill>
                  <a:schemeClr val="tx1"/>
                </a:solidFill>
                <a:effectLst/>
                <a:latin typeface="+mn-lt"/>
                <a:ea typeface="+mn-ea"/>
                <a:cs typeface="+mn-cs"/>
              </a:rPr>
              <a:t> signify problems on the </a:t>
            </a:r>
            <a:r>
              <a:rPr lang="en-IN" sz="1200" b="1" kern="1200" dirty="0">
                <a:solidFill>
                  <a:schemeClr val="tx1"/>
                </a:solidFill>
                <a:effectLst/>
                <a:latin typeface="+mn-lt"/>
                <a:ea typeface="+mn-ea"/>
                <a:cs typeface="+mn-cs"/>
              </a:rPr>
              <a:t>server side</a:t>
            </a:r>
            <a:r>
              <a:rPr lang="en-IN" sz="1200" kern="1200" dirty="0">
                <a:solidFill>
                  <a:schemeClr val="tx1"/>
                </a:solidFill>
                <a:effectLst/>
                <a:latin typeface="+mn-lt"/>
                <a:ea typeface="+mn-ea"/>
                <a:cs typeface="+mn-cs"/>
              </a:rPr>
              <a:t>. These responses indicate that the client’s request was valid, but the server failed to </a:t>
            </a:r>
            <a:r>
              <a:rPr lang="en-IN" sz="1200" kern="1200" dirty="0" err="1">
                <a:solidFill>
                  <a:schemeClr val="tx1"/>
                </a:solidFill>
                <a:effectLst/>
                <a:latin typeface="+mn-lt"/>
                <a:ea typeface="+mn-ea"/>
                <a:cs typeface="+mn-cs"/>
              </a:rPr>
              <a:t>fulfill</a:t>
            </a:r>
            <a:r>
              <a:rPr lang="en-IN" sz="1200" kern="1200" dirty="0">
                <a:solidFill>
                  <a:schemeClr val="tx1"/>
                </a:solidFill>
                <a:effectLst/>
                <a:latin typeface="+mn-lt"/>
                <a:ea typeface="+mn-ea"/>
                <a:cs typeface="+mn-cs"/>
              </a:rPr>
              <a:t> it due to internal issues or dependency failures.</a:t>
            </a:r>
          </a:p>
          <a:p>
            <a:pPr lvl="0"/>
            <a:r>
              <a:rPr lang="en-IN" sz="1200" b="1" kern="1200" dirty="0">
                <a:solidFill>
                  <a:schemeClr val="tx1"/>
                </a:solidFill>
                <a:effectLst/>
                <a:latin typeface="+mn-lt"/>
                <a:ea typeface="+mn-ea"/>
                <a:cs typeface="+mn-cs"/>
              </a:rPr>
              <a:t>500 Internal Server Error:</a:t>
            </a:r>
            <a:r>
              <a:rPr lang="en-IN" sz="1200" kern="1200" dirty="0">
                <a:solidFill>
                  <a:schemeClr val="tx1"/>
                </a:solidFill>
                <a:effectLst/>
                <a:latin typeface="+mn-lt"/>
                <a:ea typeface="+mn-ea"/>
                <a:cs typeface="+mn-cs"/>
              </a:rPr>
              <a:t> A generic and common error indicating an unexpected condition that prevented the server from completing the request.</a:t>
            </a:r>
          </a:p>
          <a:p>
            <a:pPr lvl="0"/>
            <a:r>
              <a:rPr lang="en-IN" sz="1200" b="1" kern="1200" dirty="0">
                <a:solidFill>
                  <a:schemeClr val="tx1"/>
                </a:solidFill>
                <a:effectLst/>
                <a:latin typeface="+mn-lt"/>
                <a:ea typeface="+mn-ea"/>
                <a:cs typeface="+mn-cs"/>
              </a:rPr>
              <a:t>502 Bad Gateway:</a:t>
            </a:r>
            <a:r>
              <a:rPr lang="en-IN" sz="1200" kern="1200" dirty="0">
                <a:solidFill>
                  <a:schemeClr val="tx1"/>
                </a:solidFill>
                <a:effectLst/>
                <a:latin typeface="+mn-lt"/>
                <a:ea typeface="+mn-ea"/>
                <a:cs typeface="+mn-cs"/>
              </a:rPr>
              <a:t> The server, acting as a gateway or proxy, received an invalid response from an upstream server.</a:t>
            </a:r>
          </a:p>
          <a:p>
            <a:pPr lvl="0"/>
            <a:r>
              <a:rPr lang="en-IN" sz="1200" b="1" kern="1200" dirty="0">
                <a:solidFill>
                  <a:schemeClr val="tx1"/>
                </a:solidFill>
                <a:effectLst/>
                <a:latin typeface="+mn-lt"/>
                <a:ea typeface="+mn-ea"/>
                <a:cs typeface="+mn-cs"/>
              </a:rPr>
              <a:t>503 Service Unavailable:</a:t>
            </a:r>
            <a:r>
              <a:rPr lang="en-IN" sz="1200" kern="1200" dirty="0">
                <a:solidFill>
                  <a:schemeClr val="tx1"/>
                </a:solidFill>
                <a:effectLst/>
                <a:latin typeface="+mn-lt"/>
                <a:ea typeface="+mn-ea"/>
                <a:cs typeface="+mn-cs"/>
              </a:rPr>
              <a:t> The server is temporarily unable to handle requests, typically due to overload or maintenance. Clients are encouraged to retry after some delay.</a:t>
            </a:r>
          </a:p>
          <a:p>
            <a:pPr lvl="0"/>
            <a:r>
              <a:rPr lang="en-IN" sz="1200" b="1" kern="1200" dirty="0">
                <a:solidFill>
                  <a:schemeClr val="tx1"/>
                </a:solidFill>
                <a:effectLst/>
                <a:latin typeface="+mn-lt"/>
                <a:ea typeface="+mn-ea"/>
                <a:cs typeface="+mn-cs"/>
              </a:rPr>
              <a:t>504 Gateway Timeout:</a:t>
            </a:r>
            <a:r>
              <a:rPr lang="en-IN" sz="1200" kern="1200" dirty="0">
                <a:solidFill>
                  <a:schemeClr val="tx1"/>
                </a:solidFill>
                <a:effectLst/>
                <a:latin typeface="+mn-lt"/>
                <a:ea typeface="+mn-ea"/>
                <a:cs typeface="+mn-cs"/>
              </a:rPr>
              <a:t> The server did not receive a timely response from another service while processing the request.</a:t>
            </a:r>
          </a:p>
          <a:p>
            <a:r>
              <a:rPr lang="en-IN" sz="1200" kern="1200" dirty="0">
                <a:solidFill>
                  <a:schemeClr val="tx1"/>
                </a:solidFill>
                <a:effectLst/>
                <a:latin typeface="+mn-lt"/>
                <a:ea typeface="+mn-ea"/>
                <a:cs typeface="+mn-cs"/>
              </a:rPr>
              <a:t>Server error responses are crucial for diagnosing system health, stability, and dependency reliability in distributed architectures.</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 </a:t>
            </a:r>
          </a:p>
          <a:p>
            <a:endParaRPr lang="en-IN" dirty="0"/>
          </a:p>
        </p:txBody>
      </p:sp>
      <p:sp>
        <p:nvSpPr>
          <p:cNvPr id="4" name="Slide Number Placeholder 3">
            <a:extLst>
              <a:ext uri="{FF2B5EF4-FFF2-40B4-BE49-F238E27FC236}">
                <a16:creationId xmlns:a16="http://schemas.microsoft.com/office/drawing/2014/main" id="{2CC6E4E8-9898-391D-6D73-3F185C0F2912}"/>
              </a:ext>
            </a:extLst>
          </p:cNvPr>
          <p:cNvSpPr>
            <a:spLocks noGrp="1"/>
          </p:cNvSpPr>
          <p:nvPr>
            <p:ph type="sldNum" sz="quarter" idx="5"/>
          </p:nvPr>
        </p:nvSpPr>
        <p:spPr/>
        <p:txBody>
          <a:bodyPr/>
          <a:lstStyle/>
          <a:p>
            <a:fld id="{72853293-4F00-4813-B74A-3945ABE0C2FC}" type="slidenum">
              <a:rPr lang="en-IN" smtClean="0"/>
              <a:t>23</a:t>
            </a:fld>
            <a:endParaRPr lang="en-IN"/>
          </a:p>
        </p:txBody>
      </p:sp>
    </p:spTree>
    <p:extLst>
      <p:ext uri="{BB962C8B-B14F-4D97-AF65-F5344CB8AC3E}">
        <p14:creationId xmlns:p14="http://schemas.microsoft.com/office/powerpoint/2010/main" val="1207338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00B1-C881-009B-7A65-99080F901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7D828-BECC-B044-A24B-DE9B71F052F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E0BBF0C-A8E3-6AA0-49E8-9826FA93DCD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paradigm that fundamentally rethinks how clients interact with APIs: </a:t>
            </a:r>
            <a:r>
              <a:rPr lang="en-US" sz="1200" b="1" i="0" kern="1200" dirty="0" err="1">
                <a:solidFill>
                  <a:schemeClr val="tx1"/>
                </a:solidFill>
                <a:effectLst/>
                <a:latin typeface="+mn-lt"/>
                <a:ea typeface="+mn-ea"/>
                <a:cs typeface="+mn-cs"/>
              </a:rPr>
              <a:t>GraphQL</a:t>
            </a:r>
            <a:r>
              <a:rPr lang="en-US" sz="1200" b="0" i="0" kern="1200" dirty="0">
                <a:solidFill>
                  <a:schemeClr val="tx1"/>
                </a:solidFill>
                <a:effectLst/>
                <a:latin typeface="+mn-lt"/>
                <a:ea typeface="+mn-ea"/>
                <a:cs typeface="+mn-cs"/>
              </a:rPr>
              <a:t>, originally developed by Facebook.</a:t>
            </a:r>
          </a:p>
          <a:p>
            <a:r>
              <a:rPr lang="en-US" sz="1200" b="0" i="0" kern="1200" dirty="0">
                <a:solidFill>
                  <a:schemeClr val="tx1"/>
                </a:solidFill>
                <a:effectLst/>
                <a:latin typeface="+mn-lt"/>
                <a:ea typeface="+mn-ea"/>
                <a:cs typeface="+mn-cs"/>
              </a:rPr>
              <a:t>Imagine you're building a user profile page. With REST, you might need to:</a:t>
            </a:r>
          </a:p>
          <a:p>
            <a:r>
              <a:rPr lang="en-US" sz="1200" b="0" i="0" kern="1200" dirty="0">
                <a:solidFill>
                  <a:schemeClr val="tx1"/>
                </a:solidFill>
                <a:effectLst/>
                <a:latin typeface="+mn-lt"/>
                <a:ea typeface="+mn-ea"/>
                <a:cs typeface="+mn-cs"/>
              </a:rPr>
              <a:t>Call /users/123 for user details</a:t>
            </a:r>
          </a:p>
          <a:p>
            <a:r>
              <a:rPr lang="en-US" sz="1200" b="0" i="0" kern="1200" dirty="0">
                <a:solidFill>
                  <a:schemeClr val="tx1"/>
                </a:solidFill>
                <a:effectLst/>
                <a:latin typeface="+mn-lt"/>
                <a:ea typeface="+mn-ea"/>
                <a:cs typeface="+mn-cs"/>
              </a:rPr>
              <a:t>Call /users/123/posts for their posts</a:t>
            </a:r>
          </a:p>
          <a:p>
            <a:r>
              <a:rPr lang="en-US" sz="1200" b="0" i="0" kern="1200" dirty="0">
                <a:solidFill>
                  <a:schemeClr val="tx1"/>
                </a:solidFill>
                <a:effectLst/>
                <a:latin typeface="+mn-lt"/>
                <a:ea typeface="+mn-ea"/>
                <a:cs typeface="+mn-cs"/>
              </a:rPr>
              <a:t>Call /users/123/friends for their friends</a:t>
            </a:r>
          </a:p>
          <a:p>
            <a:r>
              <a:rPr lang="en-US" sz="1200" b="0" i="0" kern="1200" dirty="0">
                <a:solidFill>
                  <a:schemeClr val="tx1"/>
                </a:solidFill>
                <a:effectLst/>
                <a:latin typeface="+mn-lt"/>
                <a:ea typeface="+mn-ea"/>
                <a:cs typeface="+mn-cs"/>
              </a:rPr>
              <a:t>That's three round trips, fetching complete resources each time—even if you only need a few fields. This is the </a:t>
            </a:r>
            <a:r>
              <a:rPr lang="en-US" sz="1200" b="1" i="0" kern="1200" dirty="0">
                <a:solidFill>
                  <a:schemeClr val="tx1"/>
                </a:solidFill>
                <a:effectLst/>
                <a:latin typeface="+mn-lt"/>
                <a:ea typeface="+mn-ea"/>
                <a:cs typeface="+mn-cs"/>
              </a:rPr>
              <a:t>N+1 problem</a:t>
            </a:r>
            <a:r>
              <a:rPr lang="en-US" sz="1200" b="0" i="0" kern="1200" dirty="0">
                <a:solidFill>
                  <a:schemeClr val="tx1"/>
                </a:solidFill>
                <a:effectLst/>
                <a:latin typeface="+mn-lt"/>
                <a:ea typeface="+mn-ea"/>
                <a:cs typeface="+mn-cs"/>
              </a:rPr>
              <a:t> and leads to both </a:t>
            </a:r>
            <a:r>
              <a:rPr lang="en-US" sz="1200" b="1" i="0" kern="1200" dirty="0">
                <a:solidFill>
                  <a:schemeClr val="tx1"/>
                </a:solidFill>
                <a:effectLst/>
                <a:latin typeface="+mn-lt"/>
                <a:ea typeface="+mn-ea"/>
                <a:cs typeface="+mn-cs"/>
              </a:rPr>
              <a:t>over-fetching</a:t>
            </a:r>
            <a:r>
              <a:rPr lang="en-US" sz="1200" b="0" i="0" kern="1200" dirty="0">
                <a:solidFill>
                  <a:schemeClr val="tx1"/>
                </a:solidFill>
                <a:effectLst/>
                <a:latin typeface="+mn-lt"/>
                <a:ea typeface="+mn-ea"/>
                <a:cs typeface="+mn-cs"/>
              </a:rPr>
              <a:t> (getting data you don't need) and </a:t>
            </a:r>
            <a:r>
              <a:rPr lang="en-US" sz="1200" b="1" i="0" kern="1200" dirty="0">
                <a:solidFill>
                  <a:schemeClr val="tx1"/>
                </a:solidFill>
                <a:effectLst/>
                <a:latin typeface="+mn-lt"/>
                <a:ea typeface="+mn-ea"/>
                <a:cs typeface="+mn-cs"/>
              </a:rPr>
              <a:t>under-fetching</a:t>
            </a:r>
            <a:r>
              <a:rPr lang="en-US" sz="1200" b="0" i="0" kern="1200" dirty="0">
                <a:solidFill>
                  <a:schemeClr val="tx1"/>
                </a:solidFill>
                <a:effectLst/>
                <a:latin typeface="+mn-lt"/>
                <a:ea typeface="+mn-ea"/>
                <a:cs typeface="+mn-cs"/>
              </a:rPr>
              <a:t> (not getting enough in one request).</a:t>
            </a:r>
          </a:p>
          <a:p>
            <a:r>
              <a:rPr lang="en-US" sz="1200" b="1" i="0" kern="1200" dirty="0" err="1">
                <a:solidFill>
                  <a:schemeClr val="tx1"/>
                </a:solidFill>
                <a:effectLst/>
                <a:latin typeface="+mn-lt"/>
                <a:ea typeface="+mn-ea"/>
                <a:cs typeface="+mn-cs"/>
              </a:rPr>
              <a:t>GraphQL</a:t>
            </a:r>
            <a:r>
              <a:rPr lang="en-US" sz="1200" b="1" i="0" kern="1200" dirty="0">
                <a:solidFill>
                  <a:schemeClr val="tx1"/>
                </a:solidFill>
                <a:effectLst/>
                <a:latin typeface="+mn-lt"/>
                <a:ea typeface="+mn-ea"/>
                <a:cs typeface="+mn-cs"/>
              </a:rPr>
              <a:t> flips this model entirely.</a:t>
            </a:r>
            <a:r>
              <a:rPr lang="en-US" sz="1200" b="0" i="0" kern="1200" dirty="0">
                <a:solidFill>
                  <a:schemeClr val="tx1"/>
                </a:solidFill>
                <a:effectLst/>
                <a:latin typeface="+mn-lt"/>
                <a:ea typeface="+mn-ea"/>
                <a:cs typeface="+mn-cs"/>
              </a:rPr>
              <a:t> Instead of multiple endpoints returning fixed data structures, you have </a:t>
            </a:r>
            <a:r>
              <a:rPr lang="en-US" sz="1200" b="1" i="0" kern="1200" dirty="0">
                <a:solidFill>
                  <a:schemeClr val="tx1"/>
                </a:solidFill>
                <a:effectLst/>
                <a:latin typeface="+mn-lt"/>
                <a:ea typeface="+mn-ea"/>
                <a:cs typeface="+mn-cs"/>
              </a:rPr>
              <a:t>one intelligent endpoint</a:t>
            </a:r>
            <a:r>
              <a:rPr lang="en-US" sz="1200" b="0" i="0" kern="1200" dirty="0">
                <a:solidFill>
                  <a:schemeClr val="tx1"/>
                </a:solidFill>
                <a:effectLst/>
                <a:latin typeface="+mn-lt"/>
                <a:ea typeface="+mn-ea"/>
                <a:cs typeface="+mn-cs"/>
              </a:rPr>
              <a:t> at /</a:t>
            </a:r>
            <a:r>
              <a:rPr lang="en-US" sz="1200" b="0" i="0" kern="1200" dirty="0" err="1">
                <a:solidFill>
                  <a:schemeClr val="tx1"/>
                </a:solidFill>
                <a:effectLst/>
                <a:latin typeface="+mn-lt"/>
                <a:ea typeface="+mn-ea"/>
                <a:cs typeface="+mn-cs"/>
              </a:rPr>
              <a:t>graphql</a:t>
            </a:r>
            <a:r>
              <a:rPr lang="en-US" sz="1200" b="0" i="0" kern="1200" dirty="0">
                <a:solidFill>
                  <a:schemeClr val="tx1"/>
                </a:solidFill>
                <a:effectLst/>
                <a:latin typeface="+mn-lt"/>
                <a:ea typeface="+mn-ea"/>
                <a:cs typeface="+mn-cs"/>
              </a:rPr>
              <a:t>. The client sends a </a:t>
            </a:r>
            <a:r>
              <a:rPr lang="en-US" sz="1200" b="1" i="0" kern="1200" dirty="0">
                <a:solidFill>
                  <a:schemeClr val="tx1"/>
                </a:solidFill>
                <a:effectLst/>
                <a:latin typeface="+mn-lt"/>
                <a:ea typeface="+mn-ea"/>
                <a:cs typeface="+mn-cs"/>
              </a:rPr>
              <a:t>declarative query</a:t>
            </a:r>
            <a:r>
              <a:rPr lang="en-US" sz="1200" b="0" i="0" kern="1200" dirty="0">
                <a:solidFill>
                  <a:schemeClr val="tx1"/>
                </a:solidFill>
                <a:effectLst/>
                <a:latin typeface="+mn-lt"/>
                <a:ea typeface="+mn-ea"/>
                <a:cs typeface="+mn-cs"/>
              </a:rPr>
              <a:t> describing exactly what data it needs, and the server responds with JSON in exactly that shape.</a:t>
            </a:r>
          </a:p>
          <a:p>
            <a:endParaRPr lang="en-IN" dirty="0"/>
          </a:p>
          <a:p>
            <a:endParaRPr lang="en-IN" dirty="0"/>
          </a:p>
          <a:p>
            <a:r>
              <a:rPr lang="en-US" sz="1200" b="0" i="0" kern="1200" dirty="0">
                <a:solidFill>
                  <a:schemeClr val="tx1"/>
                </a:solidFill>
                <a:effectLst/>
                <a:latin typeface="+mn-lt"/>
                <a:ea typeface="+mn-ea"/>
                <a:cs typeface="+mn-cs"/>
              </a:rPr>
              <a:t>Look at this example: In one request, we can ask for a user's name and email, their three most recent posts with just titles and like counts, and their friends' names. The response mirrors our query structure perfectly. This eliminates over-fetching completely.</a:t>
            </a:r>
          </a:p>
          <a:p>
            <a:r>
              <a:rPr lang="en-US" sz="1200" b="0" i="0" kern="1200" dirty="0">
                <a:solidFill>
                  <a:schemeClr val="tx1"/>
                </a:solidFill>
                <a:effectLst/>
                <a:latin typeface="+mn-lt"/>
                <a:ea typeface="+mn-ea"/>
                <a:cs typeface="+mn-cs"/>
              </a:rPr>
              <a:t>The foundation is a </a:t>
            </a:r>
            <a:r>
              <a:rPr lang="en-US" sz="1200" b="1" i="0" kern="1200" dirty="0">
                <a:solidFill>
                  <a:schemeClr val="tx1"/>
                </a:solidFill>
                <a:effectLst/>
                <a:latin typeface="+mn-lt"/>
                <a:ea typeface="+mn-ea"/>
                <a:cs typeface="+mn-cs"/>
              </a:rPr>
              <a:t>strongly typed schema</a:t>
            </a:r>
            <a:r>
              <a:rPr lang="en-US" sz="1200" b="0" i="0" kern="1200" dirty="0">
                <a:solidFill>
                  <a:schemeClr val="tx1"/>
                </a:solidFill>
                <a:effectLst/>
                <a:latin typeface="+mn-lt"/>
                <a:ea typeface="+mn-ea"/>
                <a:cs typeface="+mn-cs"/>
              </a:rPr>
              <a:t>—a contract that defines all available data types, fields, and relationships. This schema is self-documenting and enables powerful developer tools like </a:t>
            </a:r>
            <a:r>
              <a:rPr lang="en-US" sz="1200" b="0" i="0" kern="1200" dirty="0" err="1">
                <a:solidFill>
                  <a:schemeClr val="tx1"/>
                </a:solidFill>
                <a:effectLst/>
                <a:latin typeface="+mn-lt"/>
                <a:ea typeface="+mn-ea"/>
                <a:cs typeface="+mn-cs"/>
              </a:rPr>
              <a:t>GraphiQL</a:t>
            </a:r>
            <a:r>
              <a:rPr lang="en-US" sz="1200" b="0" i="0" kern="1200" dirty="0">
                <a:solidFill>
                  <a:schemeClr val="tx1"/>
                </a:solidFill>
                <a:effectLst/>
                <a:latin typeface="+mn-lt"/>
                <a:ea typeface="+mn-ea"/>
                <a:cs typeface="+mn-cs"/>
              </a:rPr>
              <a:t>, where you can explore the API interactively.</a:t>
            </a:r>
          </a:p>
          <a:p>
            <a:r>
              <a:rPr lang="en-US" sz="1200" b="0" i="0" kern="1200" dirty="0" err="1">
                <a:solidFill>
                  <a:schemeClr val="tx1"/>
                </a:solidFill>
                <a:effectLst/>
                <a:latin typeface="+mn-lt"/>
                <a:ea typeface="+mn-ea"/>
                <a:cs typeface="+mn-cs"/>
              </a:rPr>
              <a:t>GraphQL</a:t>
            </a:r>
            <a:r>
              <a:rPr lang="en-US" sz="1200" b="0" i="0" kern="1200" dirty="0">
                <a:solidFill>
                  <a:schemeClr val="tx1"/>
                </a:solidFill>
                <a:effectLst/>
                <a:latin typeface="+mn-lt"/>
                <a:ea typeface="+mn-ea"/>
                <a:cs typeface="+mn-cs"/>
              </a:rPr>
              <a:t> supports three operation types: </a:t>
            </a:r>
            <a:r>
              <a:rPr lang="en-US" sz="1200" b="1" i="0" kern="1200" dirty="0">
                <a:solidFill>
                  <a:schemeClr val="tx1"/>
                </a:solidFill>
                <a:effectLst/>
                <a:latin typeface="+mn-lt"/>
                <a:ea typeface="+mn-ea"/>
                <a:cs typeface="+mn-cs"/>
              </a:rPr>
              <a:t>queries</a:t>
            </a:r>
            <a:r>
              <a:rPr lang="en-US" sz="1200" b="0" i="0" kern="1200" dirty="0">
                <a:solidFill>
                  <a:schemeClr val="tx1"/>
                </a:solidFill>
                <a:effectLst/>
                <a:latin typeface="+mn-lt"/>
                <a:ea typeface="+mn-ea"/>
                <a:cs typeface="+mn-cs"/>
              </a:rPr>
              <a:t> for reading data, </a:t>
            </a:r>
            <a:r>
              <a:rPr lang="en-US" sz="1200" b="1" i="0" kern="1200" dirty="0">
                <a:solidFill>
                  <a:schemeClr val="tx1"/>
                </a:solidFill>
                <a:effectLst/>
                <a:latin typeface="+mn-lt"/>
                <a:ea typeface="+mn-ea"/>
                <a:cs typeface="+mn-cs"/>
              </a:rPr>
              <a:t>mutations</a:t>
            </a:r>
            <a:r>
              <a:rPr lang="en-US" sz="1200" b="0" i="0" kern="1200" dirty="0">
                <a:solidFill>
                  <a:schemeClr val="tx1"/>
                </a:solidFill>
                <a:effectLst/>
                <a:latin typeface="+mn-lt"/>
                <a:ea typeface="+mn-ea"/>
                <a:cs typeface="+mn-cs"/>
              </a:rPr>
              <a:t> for writing data (though they're still sent via POST), and </a:t>
            </a:r>
            <a:r>
              <a:rPr lang="en-US" sz="1200" b="1" i="0" kern="1200" dirty="0">
                <a:solidFill>
                  <a:schemeClr val="tx1"/>
                </a:solidFill>
                <a:effectLst/>
                <a:latin typeface="+mn-lt"/>
                <a:ea typeface="+mn-ea"/>
                <a:cs typeface="+mn-cs"/>
              </a:rPr>
              <a:t>subscriptions</a:t>
            </a:r>
            <a:r>
              <a:rPr lang="en-US" sz="1200" b="0" i="0" kern="1200" dirty="0">
                <a:solidFill>
                  <a:schemeClr val="tx1"/>
                </a:solidFill>
                <a:effectLst/>
                <a:latin typeface="+mn-lt"/>
                <a:ea typeface="+mn-ea"/>
                <a:cs typeface="+mn-cs"/>
              </a:rPr>
              <a:t> for real-time updates via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trade-off? This flexibility shifts complexity. The server needs </a:t>
            </a:r>
            <a:r>
              <a:rPr lang="en-US" sz="1200" b="1" i="0" kern="1200" dirty="0">
                <a:solidFill>
                  <a:schemeClr val="tx1"/>
                </a:solidFill>
                <a:effectLst/>
                <a:latin typeface="+mn-lt"/>
                <a:ea typeface="+mn-ea"/>
                <a:cs typeface="+mn-cs"/>
              </a:rPr>
              <a:t>resolvers</a:t>
            </a:r>
            <a:r>
              <a:rPr lang="en-US" sz="1200" b="0" i="0" kern="1200" dirty="0">
                <a:solidFill>
                  <a:schemeClr val="tx1"/>
                </a:solidFill>
                <a:effectLst/>
                <a:latin typeface="+mn-lt"/>
                <a:ea typeface="+mn-ea"/>
                <a:cs typeface="+mn-cs"/>
              </a:rPr>
              <a:t> to fetch each field, which can lead to the </a:t>
            </a:r>
            <a:r>
              <a:rPr lang="en-US" sz="1200" b="1" i="0" kern="1200" dirty="0">
                <a:solidFill>
                  <a:schemeClr val="tx1"/>
                </a:solidFill>
                <a:effectLst/>
                <a:latin typeface="+mn-lt"/>
                <a:ea typeface="+mn-ea"/>
                <a:cs typeface="+mn-cs"/>
              </a:rPr>
              <a:t>N+1 problem on the server-side</a:t>
            </a:r>
            <a:r>
              <a:rPr lang="en-US" sz="1200" b="0" i="0" kern="1200" dirty="0">
                <a:solidFill>
                  <a:schemeClr val="tx1"/>
                </a:solidFill>
                <a:effectLst/>
                <a:latin typeface="+mn-lt"/>
                <a:ea typeface="+mn-ea"/>
                <a:cs typeface="+mn-cs"/>
              </a:rPr>
              <a:t> if not carefully optimized with techniques like </a:t>
            </a:r>
            <a:r>
              <a:rPr lang="en-US" sz="1200" b="0" i="0" kern="1200" dirty="0" err="1">
                <a:solidFill>
                  <a:schemeClr val="tx1"/>
                </a:solidFill>
                <a:effectLst/>
                <a:latin typeface="+mn-lt"/>
                <a:ea typeface="+mn-ea"/>
                <a:cs typeface="+mn-cs"/>
              </a:rPr>
              <a:t>DataLoader</a:t>
            </a:r>
            <a:r>
              <a:rPr lang="en-US" sz="1200" b="0" i="0" kern="1200" dirty="0">
                <a:solidFill>
                  <a:schemeClr val="tx1"/>
                </a:solidFill>
                <a:effectLst/>
                <a:latin typeface="+mn-lt"/>
                <a:ea typeface="+mn-ea"/>
                <a:cs typeface="+mn-cs"/>
              </a:rPr>
              <a:t> batching. HTTP caching also becomes more challenging compared to REST's simple cacheable GET requests.</a:t>
            </a:r>
          </a:p>
          <a:p>
            <a:endParaRPr lang="en-IN" dirty="0"/>
          </a:p>
        </p:txBody>
      </p:sp>
      <p:sp>
        <p:nvSpPr>
          <p:cNvPr id="4" name="Slide Number Placeholder 3">
            <a:extLst>
              <a:ext uri="{FF2B5EF4-FFF2-40B4-BE49-F238E27FC236}">
                <a16:creationId xmlns:a16="http://schemas.microsoft.com/office/drawing/2014/main" id="{8ACD899E-FA31-46AA-7118-B242A469DA18}"/>
              </a:ext>
            </a:extLst>
          </p:cNvPr>
          <p:cNvSpPr>
            <a:spLocks noGrp="1"/>
          </p:cNvSpPr>
          <p:nvPr>
            <p:ph type="sldNum" sz="quarter" idx="5"/>
          </p:nvPr>
        </p:nvSpPr>
        <p:spPr/>
        <p:txBody>
          <a:bodyPr/>
          <a:lstStyle/>
          <a:p>
            <a:fld id="{72853293-4F00-4813-B74A-3945ABE0C2FC}" type="slidenum">
              <a:rPr lang="en-IN" smtClean="0"/>
              <a:t>24</a:t>
            </a:fld>
            <a:endParaRPr lang="en-IN"/>
          </a:p>
        </p:txBody>
      </p:sp>
    </p:spTree>
    <p:extLst>
      <p:ext uri="{BB962C8B-B14F-4D97-AF65-F5344CB8AC3E}">
        <p14:creationId xmlns:p14="http://schemas.microsoft.com/office/powerpoint/2010/main" val="34122348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066-5459-CC36-4D72-86B27768A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A87DD-8AD8-0E64-B6E5-857F22BCBC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B121A8-F5AA-1247-53CE-55A7813F826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First, let's explore </a:t>
            </a:r>
            <a:r>
              <a:rPr lang="en-US" sz="1200" b="1" i="0" kern="1200" dirty="0">
                <a:solidFill>
                  <a:schemeClr val="tx1"/>
                </a:solidFill>
                <a:effectLst/>
                <a:latin typeface="+mn-lt"/>
                <a:ea typeface="+mn-ea"/>
                <a:cs typeface="+mn-cs"/>
              </a:rPr>
              <a:t>AMQP</a:t>
            </a:r>
            <a:r>
              <a:rPr lang="en-US" sz="1200" b="0" i="0" kern="1200" dirty="0">
                <a:solidFill>
                  <a:schemeClr val="tx1"/>
                </a:solidFill>
                <a:effectLst/>
                <a:latin typeface="+mn-lt"/>
                <a:ea typeface="+mn-ea"/>
                <a:cs typeface="+mn-cs"/>
              </a:rPr>
              <a:t> - the Advanced Message Queuing Protocol, with </a:t>
            </a:r>
            <a:r>
              <a:rPr lang="en-US" sz="1200" b="1" i="0" kern="1200" dirty="0">
                <a:solidFill>
                  <a:schemeClr val="tx1"/>
                </a:solidFill>
                <a:effectLst/>
                <a:latin typeface="+mn-lt"/>
                <a:ea typeface="+mn-ea"/>
                <a:cs typeface="+mn-cs"/>
              </a:rPr>
              <a:t>RabbitMQ</a:t>
            </a:r>
            <a:r>
              <a:rPr lang="en-US" sz="1200" b="0" i="0" kern="1200" dirty="0">
                <a:solidFill>
                  <a:schemeClr val="tx1"/>
                </a:solidFill>
                <a:effectLst/>
                <a:latin typeface="+mn-lt"/>
                <a:ea typeface="+mn-ea"/>
                <a:cs typeface="+mn-cs"/>
              </a:rPr>
              <a:t> as its most popular implementation. This is the enterprise workhorse for reliable messaging.</a:t>
            </a:r>
          </a:p>
          <a:p>
            <a:r>
              <a:rPr lang="en-US" sz="1200" b="0" i="0" kern="1200" dirty="0">
                <a:solidFill>
                  <a:schemeClr val="tx1"/>
                </a:solidFill>
                <a:effectLst/>
                <a:latin typeface="+mn-lt"/>
                <a:ea typeface="+mn-ea"/>
                <a:cs typeface="+mn-cs"/>
              </a:rPr>
              <a:t>AMQP introduces a sophisticated routing model centered around three concepts:</a:t>
            </a:r>
          </a:p>
          <a:p>
            <a:r>
              <a:rPr lang="en-US" sz="1200" b="1" i="0" kern="1200" dirty="0">
                <a:solidFill>
                  <a:schemeClr val="tx1"/>
                </a:solidFill>
                <a:effectLst/>
                <a:latin typeface="+mn-lt"/>
                <a:ea typeface="+mn-ea"/>
                <a:cs typeface="+mn-cs"/>
              </a:rPr>
              <a:t>Exchanges</a:t>
            </a:r>
            <a:r>
              <a:rPr lang="en-US" sz="1200" b="0" i="0" kern="1200" dirty="0">
                <a:solidFill>
                  <a:schemeClr val="tx1"/>
                </a:solidFill>
                <a:effectLst/>
                <a:latin typeface="+mn-lt"/>
                <a:ea typeface="+mn-ea"/>
                <a:cs typeface="+mn-cs"/>
              </a:rPr>
              <a:t> are where producers publish messages. They don't store messages but route them using different strategies:</a:t>
            </a:r>
          </a:p>
          <a:p>
            <a:r>
              <a:rPr lang="en-US" sz="1200" b="1" i="0" kern="1200" dirty="0">
                <a:solidFill>
                  <a:schemeClr val="tx1"/>
                </a:solidFill>
                <a:effectLst/>
                <a:latin typeface="+mn-lt"/>
                <a:ea typeface="+mn-ea"/>
                <a:cs typeface="+mn-cs"/>
              </a:rPr>
              <a:t>Direct exchanges</a:t>
            </a:r>
            <a:r>
              <a:rPr lang="en-US" sz="1200" b="0" i="0" kern="1200" dirty="0">
                <a:solidFill>
                  <a:schemeClr val="tx1"/>
                </a:solidFill>
                <a:effectLst/>
                <a:latin typeface="+mn-lt"/>
                <a:ea typeface="+mn-ea"/>
                <a:cs typeface="+mn-cs"/>
              </a:rPr>
              <a:t>: Route by exact routing key match</a:t>
            </a:r>
          </a:p>
          <a:p>
            <a:r>
              <a:rPr lang="en-US" sz="1200" b="1" i="0" kern="1200" dirty="0">
                <a:solidFill>
                  <a:schemeClr val="tx1"/>
                </a:solidFill>
                <a:effectLst/>
                <a:latin typeface="+mn-lt"/>
                <a:ea typeface="+mn-ea"/>
                <a:cs typeface="+mn-cs"/>
              </a:rPr>
              <a:t>Topic exchanges</a:t>
            </a:r>
            <a:r>
              <a:rPr lang="en-US" sz="1200" b="0" i="0" kern="1200" dirty="0">
                <a:solidFill>
                  <a:schemeClr val="tx1"/>
                </a:solidFill>
                <a:effectLst/>
                <a:latin typeface="+mn-lt"/>
                <a:ea typeface="+mn-ea"/>
                <a:cs typeface="+mn-cs"/>
              </a:rPr>
              <a:t>: Pattern matching (e.g., logs.*.error)</a:t>
            </a:r>
          </a:p>
          <a:p>
            <a:r>
              <a:rPr lang="en-US" sz="1200" b="1" i="0" kern="1200" dirty="0">
                <a:solidFill>
                  <a:schemeClr val="tx1"/>
                </a:solidFill>
                <a:effectLst/>
                <a:latin typeface="+mn-lt"/>
                <a:ea typeface="+mn-ea"/>
                <a:cs typeface="+mn-cs"/>
              </a:rPr>
              <a:t>Fanout exchanges</a:t>
            </a:r>
            <a:r>
              <a:rPr lang="en-US" sz="1200" b="0" i="0" kern="1200" dirty="0">
                <a:solidFill>
                  <a:schemeClr val="tx1"/>
                </a:solidFill>
                <a:effectLst/>
                <a:latin typeface="+mn-lt"/>
                <a:ea typeface="+mn-ea"/>
                <a:cs typeface="+mn-cs"/>
              </a:rPr>
              <a:t>: Broadcast to all bound queues</a:t>
            </a:r>
          </a:p>
          <a:p>
            <a:r>
              <a:rPr lang="en-US" sz="1200" b="1" i="0" kern="1200" dirty="0">
                <a:solidFill>
                  <a:schemeClr val="tx1"/>
                </a:solidFill>
                <a:effectLst/>
                <a:latin typeface="+mn-lt"/>
                <a:ea typeface="+mn-ea"/>
                <a:cs typeface="+mn-cs"/>
              </a:rPr>
              <a:t>Headers exchanges</a:t>
            </a:r>
            <a:r>
              <a:rPr lang="en-US" sz="1200" b="0" i="0" kern="1200" dirty="0">
                <a:solidFill>
                  <a:schemeClr val="tx1"/>
                </a:solidFill>
                <a:effectLst/>
                <a:latin typeface="+mn-lt"/>
                <a:ea typeface="+mn-ea"/>
                <a:cs typeface="+mn-cs"/>
              </a:rPr>
              <a:t>: Route based on message headers</a:t>
            </a:r>
          </a:p>
          <a:p>
            <a:endParaRPr lang="en-IN" dirty="0"/>
          </a:p>
          <a:p>
            <a:endParaRPr lang="en-IN" dirty="0"/>
          </a:p>
          <a:p>
            <a:r>
              <a:rPr lang="en-US" sz="1200" b="1" i="0" kern="1200" dirty="0">
                <a:solidFill>
                  <a:schemeClr val="tx1"/>
                </a:solidFill>
                <a:effectLst/>
                <a:latin typeface="+mn-lt"/>
                <a:ea typeface="+mn-ea"/>
                <a:cs typeface="+mn-cs"/>
              </a:rPr>
              <a:t>Queues</a:t>
            </a:r>
            <a:r>
              <a:rPr lang="en-US" sz="1200" b="0" i="0" kern="1200" dirty="0">
                <a:solidFill>
                  <a:schemeClr val="tx1"/>
                </a:solidFill>
                <a:effectLst/>
                <a:latin typeface="+mn-lt"/>
                <a:ea typeface="+mn-ea"/>
                <a:cs typeface="+mn-cs"/>
              </a:rPr>
              <a:t> store messages until consumers are ready. They can be:</a:t>
            </a:r>
          </a:p>
          <a:p>
            <a:r>
              <a:rPr lang="en-US" sz="1200" b="0" i="0" kern="1200" dirty="0">
                <a:solidFill>
                  <a:schemeClr val="tx1"/>
                </a:solidFill>
                <a:effectLst/>
                <a:latin typeface="+mn-lt"/>
                <a:ea typeface="+mn-ea"/>
                <a:cs typeface="+mn-cs"/>
              </a:rPr>
              <a:t>Durable (survive broker restart)</a:t>
            </a:r>
          </a:p>
          <a:p>
            <a:r>
              <a:rPr lang="en-US" sz="1200" b="0" i="0" kern="1200" dirty="0">
                <a:solidFill>
                  <a:schemeClr val="tx1"/>
                </a:solidFill>
                <a:effectLst/>
                <a:latin typeface="+mn-lt"/>
                <a:ea typeface="+mn-ea"/>
                <a:cs typeface="+mn-cs"/>
              </a:rPr>
              <a:t>Exclusive (for temporary connections)</a:t>
            </a:r>
          </a:p>
          <a:p>
            <a:r>
              <a:rPr lang="en-US" sz="1200" b="0" i="0" kern="1200" dirty="0">
                <a:solidFill>
                  <a:schemeClr val="tx1"/>
                </a:solidFill>
                <a:effectLst/>
                <a:latin typeface="+mn-lt"/>
                <a:ea typeface="+mn-ea"/>
                <a:cs typeface="+mn-cs"/>
              </a:rPr>
              <a:t>With dead-letter routing for failed messages</a:t>
            </a:r>
          </a:p>
          <a:p>
            <a:r>
              <a:rPr lang="en-US" sz="1200" b="1" i="0" kern="1200" dirty="0">
                <a:solidFill>
                  <a:schemeClr val="tx1"/>
                </a:solidFill>
                <a:effectLst/>
                <a:latin typeface="+mn-lt"/>
                <a:ea typeface="+mn-ea"/>
                <a:cs typeface="+mn-cs"/>
              </a:rPr>
              <a:t>Bindings</a:t>
            </a:r>
            <a:r>
              <a:rPr lang="en-US" sz="1200" b="0" i="0" kern="1200" dirty="0">
                <a:solidFill>
                  <a:schemeClr val="tx1"/>
                </a:solidFill>
                <a:effectLst/>
                <a:latin typeface="+mn-lt"/>
                <a:ea typeface="+mn-ea"/>
                <a:cs typeface="+mn-cs"/>
              </a:rPr>
              <a:t> are the rules that connect exchanges to queues, defining how messages flow through the system.</a:t>
            </a:r>
          </a:p>
          <a:p>
            <a:r>
              <a:rPr lang="en-US" sz="1200" b="0" i="0" kern="1200" dirty="0">
                <a:solidFill>
                  <a:schemeClr val="tx1"/>
                </a:solidFill>
                <a:effectLst/>
                <a:latin typeface="+mn-lt"/>
                <a:ea typeface="+mn-ea"/>
                <a:cs typeface="+mn-cs"/>
              </a:rPr>
              <a:t>RabbitMQ ensures </a:t>
            </a:r>
            <a:r>
              <a:rPr lang="en-US" sz="1200" b="1" i="0" kern="1200" dirty="0">
                <a:solidFill>
                  <a:schemeClr val="tx1"/>
                </a:solidFill>
                <a:effectLst/>
                <a:latin typeface="+mn-lt"/>
                <a:ea typeface="+mn-ea"/>
                <a:cs typeface="+mn-cs"/>
              </a:rPr>
              <a:t>reliability</a:t>
            </a:r>
            <a:r>
              <a:rPr lang="en-US" sz="1200" b="0" i="0" kern="1200" dirty="0">
                <a:solidFill>
                  <a:schemeClr val="tx1"/>
                </a:solidFill>
                <a:effectLst/>
                <a:latin typeface="+mn-lt"/>
                <a:ea typeface="+mn-ea"/>
                <a:cs typeface="+mn-cs"/>
              </a:rPr>
              <a:t> through:</a:t>
            </a:r>
          </a:p>
          <a:p>
            <a:r>
              <a:rPr lang="en-US" sz="1200" b="1" i="0" kern="1200" dirty="0">
                <a:solidFill>
                  <a:schemeClr val="tx1"/>
                </a:solidFill>
                <a:effectLst/>
                <a:latin typeface="+mn-lt"/>
                <a:ea typeface="+mn-ea"/>
                <a:cs typeface="+mn-cs"/>
              </a:rPr>
              <a:t>Message acknowledgments</a:t>
            </a:r>
            <a:r>
              <a:rPr lang="en-US" sz="1200" b="0" i="0" kern="1200" dirty="0">
                <a:solidFill>
                  <a:schemeClr val="tx1"/>
                </a:solidFill>
                <a:effectLst/>
                <a:latin typeface="+mn-lt"/>
                <a:ea typeface="+mn-ea"/>
                <a:cs typeface="+mn-cs"/>
              </a:rPr>
              <a:t>: Consumers confirm processing</a:t>
            </a:r>
          </a:p>
          <a:p>
            <a:r>
              <a:rPr lang="en-US" sz="1200" b="1" i="0" kern="1200" dirty="0">
                <a:solidFill>
                  <a:schemeClr val="tx1"/>
                </a:solidFill>
                <a:effectLst/>
                <a:latin typeface="+mn-lt"/>
                <a:ea typeface="+mn-ea"/>
                <a:cs typeface="+mn-cs"/>
              </a:rPr>
              <a:t>Persistence</a:t>
            </a:r>
            <a:r>
              <a:rPr lang="en-US" sz="1200" b="0" i="0" kern="1200" dirty="0">
                <a:solidFill>
                  <a:schemeClr val="tx1"/>
                </a:solidFill>
                <a:effectLst/>
                <a:latin typeface="+mn-lt"/>
                <a:ea typeface="+mn-ea"/>
                <a:cs typeface="+mn-cs"/>
              </a:rPr>
              <a:t>: Messages written to disk</a:t>
            </a:r>
          </a:p>
          <a:p>
            <a:r>
              <a:rPr lang="en-US" sz="1200" b="1" i="0" kern="1200" dirty="0">
                <a:solidFill>
                  <a:schemeClr val="tx1"/>
                </a:solidFill>
                <a:effectLst/>
                <a:latin typeface="+mn-lt"/>
                <a:ea typeface="+mn-ea"/>
                <a:cs typeface="+mn-cs"/>
              </a:rPr>
              <a:t>Clustering</a:t>
            </a:r>
            <a:r>
              <a:rPr lang="en-US" sz="1200" b="0" i="0" kern="1200" dirty="0">
                <a:solidFill>
                  <a:schemeClr val="tx1"/>
                </a:solidFill>
                <a:effectLst/>
                <a:latin typeface="+mn-lt"/>
                <a:ea typeface="+mn-ea"/>
                <a:cs typeface="+mn-cs"/>
              </a:rPr>
              <a:t>: High availability across multiple nodes</a:t>
            </a:r>
          </a:p>
          <a:p>
            <a:r>
              <a:rPr lang="en-US" sz="1200" b="0" i="0" kern="1200" dirty="0">
                <a:solidFill>
                  <a:schemeClr val="tx1"/>
                </a:solidFill>
                <a:effectLst/>
                <a:latin typeface="+mn-lt"/>
                <a:ea typeface="+mn-ea"/>
                <a:cs typeface="+mn-cs"/>
              </a:rPr>
              <a:t>This makes AMQP ideal for </a:t>
            </a:r>
            <a:r>
              <a:rPr lang="en-US" sz="1200" b="1" i="0" kern="1200" dirty="0">
                <a:solidFill>
                  <a:schemeClr val="tx1"/>
                </a:solidFill>
                <a:effectLst/>
                <a:latin typeface="+mn-lt"/>
                <a:ea typeface="+mn-ea"/>
                <a:cs typeface="+mn-cs"/>
              </a:rPr>
              <a:t>business-critical workflows</a:t>
            </a:r>
            <a:r>
              <a:rPr lang="en-US" sz="1200" b="0" i="0" kern="1200" dirty="0">
                <a:solidFill>
                  <a:schemeClr val="tx1"/>
                </a:solidFill>
                <a:effectLst/>
                <a:latin typeface="+mn-lt"/>
                <a:ea typeface="+mn-ea"/>
                <a:cs typeface="+mn-cs"/>
              </a:rPr>
              <a:t> like order processing, payment systems, and legacy integration where every message must be delivered and processed exactly as intended.</a:t>
            </a:r>
          </a:p>
          <a:p>
            <a:endParaRPr lang="en-IN" dirty="0"/>
          </a:p>
        </p:txBody>
      </p:sp>
      <p:sp>
        <p:nvSpPr>
          <p:cNvPr id="4" name="Slide Number Placeholder 3">
            <a:extLst>
              <a:ext uri="{FF2B5EF4-FFF2-40B4-BE49-F238E27FC236}">
                <a16:creationId xmlns:a16="http://schemas.microsoft.com/office/drawing/2014/main" id="{00F77D41-F37E-F8E1-A470-3F78A4DCA2E2}"/>
              </a:ext>
            </a:extLst>
          </p:cNvPr>
          <p:cNvSpPr>
            <a:spLocks noGrp="1"/>
          </p:cNvSpPr>
          <p:nvPr>
            <p:ph type="sldNum" sz="quarter" idx="5"/>
          </p:nvPr>
        </p:nvSpPr>
        <p:spPr/>
        <p:txBody>
          <a:bodyPr/>
          <a:lstStyle/>
          <a:p>
            <a:fld id="{72853293-4F00-4813-B74A-3945ABE0C2FC}" type="slidenum">
              <a:rPr lang="en-IN" smtClean="0"/>
              <a:t>25</a:t>
            </a:fld>
            <a:endParaRPr lang="en-IN"/>
          </a:p>
        </p:txBody>
      </p:sp>
    </p:spTree>
    <p:extLst>
      <p:ext uri="{BB962C8B-B14F-4D97-AF65-F5344CB8AC3E}">
        <p14:creationId xmlns:p14="http://schemas.microsoft.com/office/powerpoint/2010/main" val="2028076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61D45-E4EB-1900-5DB9-66489833C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9698E-2A8E-BB3B-2012-6AFAEF509D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40B76C-CC8B-3663-B80F-2ECAF4E9B3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0931DD-D4AC-F561-9F16-4E5EE9327E9A}"/>
              </a:ext>
            </a:extLst>
          </p:cNvPr>
          <p:cNvSpPr>
            <a:spLocks noGrp="1"/>
          </p:cNvSpPr>
          <p:nvPr>
            <p:ph type="sldNum" sz="quarter" idx="5"/>
          </p:nvPr>
        </p:nvSpPr>
        <p:spPr/>
        <p:txBody>
          <a:bodyPr/>
          <a:lstStyle/>
          <a:p>
            <a:fld id="{72853293-4F00-4813-B74A-3945ABE0C2FC}" type="slidenum">
              <a:rPr lang="en-IN" smtClean="0"/>
              <a:t>26</a:t>
            </a:fld>
            <a:endParaRPr lang="en-IN"/>
          </a:p>
        </p:txBody>
      </p:sp>
    </p:spTree>
    <p:extLst>
      <p:ext uri="{BB962C8B-B14F-4D97-AF65-F5344CB8AC3E}">
        <p14:creationId xmlns:p14="http://schemas.microsoft.com/office/powerpoint/2010/main" val="1767617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AE1F-F5FC-4A09-4273-AE0354DAE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EFEF5-AB53-EC61-630D-893ED308379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DF1C43D-6121-DB2A-4C4B-9FEA17F9B09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to </a:t>
            </a:r>
            <a:r>
              <a:rPr lang="en-US" sz="1200" b="1" i="0" kern="1200" dirty="0">
                <a:solidFill>
                  <a:schemeClr val="tx1"/>
                </a:solidFill>
                <a:effectLst/>
                <a:latin typeface="+mn-lt"/>
                <a:ea typeface="+mn-ea"/>
                <a:cs typeface="+mn-cs"/>
              </a:rPr>
              <a:t>MQTT</a:t>
            </a:r>
            <a:r>
              <a:rPr lang="en-US" sz="1200" b="0" i="0" kern="1200" dirty="0">
                <a:solidFill>
                  <a:schemeClr val="tx1"/>
                </a:solidFill>
                <a:effectLst/>
                <a:latin typeface="+mn-lt"/>
                <a:ea typeface="+mn-ea"/>
                <a:cs typeface="+mn-cs"/>
              </a:rPr>
              <a:t> - a protocol designed for oil pipeline monitoring that became the </a:t>
            </a:r>
            <a:r>
              <a:rPr lang="en-US" sz="1200" b="1" i="0" kern="1200" dirty="0">
                <a:solidFill>
                  <a:schemeClr val="tx1"/>
                </a:solidFill>
                <a:effectLst/>
                <a:latin typeface="+mn-lt"/>
                <a:ea typeface="+mn-ea"/>
                <a:cs typeface="+mn-cs"/>
              </a:rPr>
              <a:t>standard for IoT communication</a:t>
            </a:r>
            <a:r>
              <a:rPr lang="en-US" sz="1200" b="0" i="0" kern="1200" dirty="0">
                <a:solidFill>
                  <a:schemeClr val="tx1"/>
                </a:solidFill>
                <a:effectLst/>
                <a:latin typeface="+mn-lt"/>
                <a:ea typeface="+mn-ea"/>
                <a:cs typeface="+mn-cs"/>
              </a:rPr>
              <a:t>. Where AMQP is feature-rich, MQTT is minimalist by design.</a:t>
            </a:r>
          </a:p>
          <a:p>
            <a:r>
              <a:rPr lang="en-US" sz="1200" b="0" i="0" kern="1200" dirty="0">
                <a:solidFill>
                  <a:schemeClr val="tx1"/>
                </a:solidFill>
                <a:effectLst/>
                <a:latin typeface="+mn-lt"/>
                <a:ea typeface="+mn-ea"/>
                <a:cs typeface="+mn-cs"/>
              </a:rPr>
              <a:t>The protocol is incredibly </a:t>
            </a:r>
            <a:r>
              <a:rPr lang="en-US" sz="1200" b="1" i="0" kern="1200" dirty="0">
                <a:solidFill>
                  <a:schemeClr val="tx1"/>
                </a:solidFill>
                <a:effectLst/>
                <a:latin typeface="+mn-lt"/>
                <a:ea typeface="+mn-ea"/>
                <a:cs typeface="+mn-cs"/>
              </a:rPr>
              <a:t>lightweight</a:t>
            </a:r>
            <a:r>
              <a:rPr lang="en-US" sz="1200" b="0" i="0" kern="1200" dirty="0">
                <a:solidFill>
                  <a:schemeClr val="tx1"/>
                </a:solidFill>
                <a:effectLst/>
                <a:latin typeface="+mn-lt"/>
                <a:ea typeface="+mn-ea"/>
                <a:cs typeface="+mn-cs"/>
              </a:rPr>
              <a:t> - messages can start with just a 2-byte header. This makes it perfect for:</a:t>
            </a:r>
          </a:p>
          <a:p>
            <a:r>
              <a:rPr lang="en-US" sz="1200" b="0" i="0" kern="1200" dirty="0">
                <a:solidFill>
                  <a:schemeClr val="tx1"/>
                </a:solidFill>
                <a:effectLst/>
                <a:latin typeface="+mn-lt"/>
                <a:ea typeface="+mn-ea"/>
                <a:cs typeface="+mn-cs"/>
              </a:rPr>
              <a:t>Battery-powered sensors that sleep most of the time</a:t>
            </a:r>
          </a:p>
          <a:p>
            <a:r>
              <a:rPr lang="en-US" sz="1200" b="0" i="0" kern="1200" dirty="0">
                <a:solidFill>
                  <a:schemeClr val="tx1"/>
                </a:solidFill>
                <a:effectLst/>
                <a:latin typeface="+mn-lt"/>
                <a:ea typeface="+mn-ea"/>
                <a:cs typeface="+mn-cs"/>
              </a:rPr>
              <a:t>Mobile networks where bandwidth is expensive</a:t>
            </a:r>
          </a:p>
          <a:p>
            <a:r>
              <a:rPr lang="en-US" sz="1200" b="0" i="0" kern="1200" dirty="0">
                <a:solidFill>
                  <a:schemeClr val="tx1"/>
                </a:solidFill>
                <a:effectLst/>
                <a:latin typeface="+mn-lt"/>
                <a:ea typeface="+mn-ea"/>
                <a:cs typeface="+mn-cs"/>
              </a:rPr>
              <a:t>Unreliable connections that drop frequently</a:t>
            </a:r>
          </a:p>
          <a:p>
            <a:r>
              <a:rPr lang="en-IN" sz="1200" b="0" i="0" kern="1200" dirty="0">
                <a:solidFill>
                  <a:schemeClr val="tx1"/>
                </a:solidFill>
                <a:effectLst/>
                <a:latin typeface="+mn-lt"/>
                <a:ea typeface="+mn-ea"/>
                <a:cs typeface="+mn-cs"/>
              </a:rPr>
              <a:t>MQTT uses simple </a:t>
            </a:r>
            <a:r>
              <a:rPr lang="en-IN" sz="1200" b="1" i="0" kern="1200" dirty="0">
                <a:solidFill>
                  <a:schemeClr val="tx1"/>
                </a:solidFill>
                <a:effectLst/>
                <a:latin typeface="+mn-lt"/>
                <a:ea typeface="+mn-ea"/>
                <a:cs typeface="+mn-cs"/>
              </a:rPr>
              <a:t>topic-based publish/subscribe</a:t>
            </a:r>
            <a:r>
              <a:rPr lang="en-IN" sz="1200" b="0" i="0" kern="1200" dirty="0">
                <a:solidFill>
                  <a:schemeClr val="tx1"/>
                </a:solidFill>
                <a:effectLst/>
                <a:latin typeface="+mn-lt"/>
                <a:ea typeface="+mn-ea"/>
                <a:cs typeface="+mn-cs"/>
              </a:rPr>
              <a:t>. Devices publish to hierarchical topics like:</a:t>
            </a:r>
          </a:p>
          <a:p>
            <a:r>
              <a:rPr lang="en-IN" sz="1200" b="0" i="0" kern="1200" dirty="0">
                <a:solidFill>
                  <a:schemeClr val="tx1"/>
                </a:solidFill>
                <a:effectLst/>
                <a:latin typeface="+mn-lt"/>
                <a:ea typeface="+mn-ea"/>
                <a:cs typeface="+mn-cs"/>
              </a:rPr>
              <a:t>factory/sensor1/temperature</a:t>
            </a:r>
          </a:p>
          <a:p>
            <a:r>
              <a:rPr lang="en-IN" sz="1200" b="0" i="0" kern="1200" dirty="0">
                <a:solidFill>
                  <a:schemeClr val="tx1"/>
                </a:solidFill>
                <a:effectLst/>
                <a:latin typeface="+mn-lt"/>
                <a:ea typeface="+mn-ea"/>
                <a:cs typeface="+mn-cs"/>
              </a:rPr>
              <a:t>vehicle/truck42/location</a:t>
            </a:r>
          </a:p>
          <a:p>
            <a:r>
              <a:rPr lang="en-IN" sz="1200" b="0" i="0" kern="1200" dirty="0">
                <a:solidFill>
                  <a:schemeClr val="tx1"/>
                </a:solidFill>
                <a:effectLst/>
                <a:latin typeface="+mn-lt"/>
                <a:ea typeface="+mn-ea"/>
                <a:cs typeface="+mn-cs"/>
              </a:rPr>
              <a:t>Subscribers use wildcards:</a:t>
            </a:r>
          </a:p>
          <a:p>
            <a:r>
              <a:rPr lang="en-IN" sz="1200" b="0" i="0" kern="1200" dirty="0">
                <a:solidFill>
                  <a:schemeClr val="tx1"/>
                </a:solidFill>
                <a:effectLst/>
                <a:latin typeface="+mn-lt"/>
                <a:ea typeface="+mn-ea"/>
                <a:cs typeface="+mn-cs"/>
              </a:rPr>
              <a:t>factory/+/temperature (single level)</a:t>
            </a:r>
          </a:p>
          <a:p>
            <a:r>
              <a:rPr lang="en-IN" sz="1200" b="0" i="0" kern="1200" dirty="0">
                <a:solidFill>
                  <a:schemeClr val="tx1"/>
                </a:solidFill>
                <a:effectLst/>
                <a:latin typeface="+mn-lt"/>
                <a:ea typeface="+mn-ea"/>
                <a:cs typeface="+mn-cs"/>
              </a:rPr>
              <a:t>vehicle/# (multi-level)</a:t>
            </a:r>
          </a:p>
          <a:p>
            <a:r>
              <a:rPr lang="en-IN" sz="1200" b="1" i="0" kern="1200" dirty="0">
                <a:solidFill>
                  <a:schemeClr val="tx1"/>
                </a:solidFill>
                <a:effectLst/>
                <a:latin typeface="+mn-lt"/>
                <a:ea typeface="+mn-ea"/>
                <a:cs typeface="+mn-cs"/>
              </a:rPr>
              <a:t>Quality of Service levels</a:t>
            </a:r>
            <a:r>
              <a:rPr lang="en-IN" sz="1200" b="0" i="0" kern="1200" dirty="0">
                <a:solidFill>
                  <a:schemeClr val="tx1"/>
                </a:solidFill>
                <a:effectLst/>
                <a:latin typeface="+mn-lt"/>
                <a:ea typeface="+mn-ea"/>
                <a:cs typeface="+mn-cs"/>
              </a:rPr>
              <a:t> are critical for IoT:</a:t>
            </a:r>
          </a:p>
          <a:p>
            <a:r>
              <a:rPr lang="en-IN" sz="1200" b="1" i="0" kern="1200" dirty="0">
                <a:solidFill>
                  <a:schemeClr val="tx1"/>
                </a:solidFill>
                <a:effectLst/>
                <a:latin typeface="+mn-lt"/>
                <a:ea typeface="+mn-ea"/>
                <a:cs typeface="+mn-cs"/>
              </a:rPr>
              <a:t>QoS 0</a:t>
            </a:r>
            <a:r>
              <a:rPr lang="en-IN" sz="1200" b="0" i="0" kern="1200" dirty="0">
                <a:solidFill>
                  <a:schemeClr val="tx1"/>
                </a:solidFill>
                <a:effectLst/>
                <a:latin typeface="+mn-lt"/>
                <a:ea typeface="+mn-ea"/>
                <a:cs typeface="+mn-cs"/>
              </a:rPr>
              <a:t>: Fire and forget - for non-critical sensor data</a:t>
            </a:r>
          </a:p>
          <a:p>
            <a:r>
              <a:rPr lang="en-IN" sz="1200" b="1" i="0" kern="1200" dirty="0">
                <a:solidFill>
                  <a:schemeClr val="tx1"/>
                </a:solidFill>
                <a:effectLst/>
                <a:latin typeface="+mn-lt"/>
                <a:ea typeface="+mn-ea"/>
                <a:cs typeface="+mn-cs"/>
              </a:rPr>
              <a:t>QoS 1</a:t>
            </a:r>
            <a:r>
              <a:rPr lang="en-IN" sz="1200" b="0" i="0" kern="1200" dirty="0">
                <a:solidFill>
                  <a:schemeClr val="tx1"/>
                </a:solidFill>
                <a:effectLst/>
                <a:latin typeface="+mn-lt"/>
                <a:ea typeface="+mn-ea"/>
                <a:cs typeface="+mn-cs"/>
              </a:rPr>
              <a:t>: At least once - for important measurements</a:t>
            </a:r>
          </a:p>
          <a:p>
            <a:r>
              <a:rPr lang="en-IN" sz="1200" b="1" i="0" kern="1200" dirty="0">
                <a:solidFill>
                  <a:schemeClr val="tx1"/>
                </a:solidFill>
                <a:effectLst/>
                <a:latin typeface="+mn-lt"/>
                <a:ea typeface="+mn-ea"/>
                <a:cs typeface="+mn-cs"/>
              </a:rPr>
              <a:t>QoS 2</a:t>
            </a:r>
            <a:r>
              <a:rPr lang="en-IN" sz="1200" b="0" i="0" kern="1200" dirty="0">
                <a:solidFill>
                  <a:schemeClr val="tx1"/>
                </a:solidFill>
                <a:effectLst/>
                <a:latin typeface="+mn-lt"/>
                <a:ea typeface="+mn-ea"/>
                <a:cs typeface="+mn-cs"/>
              </a:rPr>
              <a:t>: Exactly once - for critical commands (like "shut down valve")</a:t>
            </a:r>
          </a:p>
          <a:p>
            <a:br>
              <a:rPr lang="en-IN" dirty="0"/>
            </a:br>
            <a:r>
              <a:rPr lang="en-US" sz="1200" b="0" i="0" kern="1200" dirty="0">
                <a:solidFill>
                  <a:schemeClr val="tx1"/>
                </a:solidFill>
                <a:effectLst/>
                <a:latin typeface="+mn-lt"/>
                <a:ea typeface="+mn-ea"/>
                <a:cs typeface="+mn-cs"/>
              </a:rPr>
              <a:t>Clever features include:</a:t>
            </a:r>
          </a:p>
          <a:p>
            <a:r>
              <a:rPr lang="en-US" sz="1200" b="1" i="0" kern="1200" dirty="0">
                <a:solidFill>
                  <a:schemeClr val="tx1"/>
                </a:solidFill>
                <a:effectLst/>
                <a:latin typeface="+mn-lt"/>
                <a:ea typeface="+mn-ea"/>
                <a:cs typeface="+mn-cs"/>
              </a:rPr>
              <a:t>Last Will &amp; Testament</a:t>
            </a:r>
            <a:r>
              <a:rPr lang="en-US" sz="1200" b="0" i="0" kern="1200" dirty="0">
                <a:solidFill>
                  <a:schemeClr val="tx1"/>
                </a:solidFill>
                <a:effectLst/>
                <a:latin typeface="+mn-lt"/>
                <a:ea typeface="+mn-ea"/>
                <a:cs typeface="+mn-cs"/>
              </a:rPr>
              <a:t>: A message to publish if client disconnects unexpectedly</a:t>
            </a:r>
          </a:p>
          <a:p>
            <a:r>
              <a:rPr lang="en-US" sz="1200" b="1" i="0" kern="1200" dirty="0">
                <a:solidFill>
                  <a:schemeClr val="tx1"/>
                </a:solidFill>
                <a:effectLst/>
                <a:latin typeface="+mn-lt"/>
                <a:ea typeface="+mn-ea"/>
                <a:cs typeface="+mn-cs"/>
              </a:rPr>
              <a:t>Retained messages</a:t>
            </a:r>
            <a:r>
              <a:rPr lang="en-US" sz="1200" b="0" i="0" kern="1200" dirty="0">
                <a:solidFill>
                  <a:schemeClr val="tx1"/>
                </a:solidFill>
                <a:effectLst/>
                <a:latin typeface="+mn-lt"/>
                <a:ea typeface="+mn-ea"/>
                <a:cs typeface="+mn-cs"/>
              </a:rPr>
              <a:t>: Keep last message for new subscribers</a:t>
            </a:r>
          </a:p>
          <a:p>
            <a:r>
              <a:rPr lang="en-US" sz="1200" b="1" i="0" kern="1200" dirty="0">
                <a:solidFill>
                  <a:schemeClr val="tx1"/>
                </a:solidFill>
                <a:effectLst/>
                <a:latin typeface="+mn-lt"/>
                <a:ea typeface="+mn-ea"/>
                <a:cs typeface="+mn-cs"/>
              </a:rPr>
              <a:t>Clean session</a:t>
            </a:r>
            <a:r>
              <a:rPr lang="en-US" sz="1200" b="0" i="0" kern="1200" dirty="0">
                <a:solidFill>
                  <a:schemeClr val="tx1"/>
                </a:solidFill>
                <a:effectLst/>
                <a:latin typeface="+mn-lt"/>
                <a:ea typeface="+mn-ea"/>
                <a:cs typeface="+mn-cs"/>
              </a:rPr>
              <a:t>: Start fresh or resume where you left off</a:t>
            </a:r>
          </a:p>
          <a:p>
            <a:r>
              <a:rPr lang="en-US" sz="1200" b="0" i="0" kern="1200" dirty="0">
                <a:solidFill>
                  <a:schemeClr val="tx1"/>
                </a:solidFill>
                <a:effectLst/>
                <a:latin typeface="+mn-lt"/>
                <a:ea typeface="+mn-ea"/>
                <a:cs typeface="+mn-cs"/>
              </a:rPr>
              <a:t>This protocol powers </a:t>
            </a:r>
            <a:r>
              <a:rPr lang="en-US" sz="1200" b="1" i="0" kern="1200" dirty="0">
                <a:solidFill>
                  <a:schemeClr val="tx1"/>
                </a:solidFill>
                <a:effectLst/>
                <a:latin typeface="+mn-lt"/>
                <a:ea typeface="+mn-ea"/>
                <a:cs typeface="+mn-cs"/>
              </a:rPr>
              <a:t>smart cities, connected cars, home automation, and mobile push notifications</a:t>
            </a:r>
            <a:r>
              <a:rPr lang="en-US" sz="1200" b="0" i="0" kern="1200" dirty="0">
                <a:solidFill>
                  <a:schemeClr val="tx1"/>
                </a:solidFill>
                <a:effectLst/>
                <a:latin typeface="+mn-lt"/>
                <a:ea typeface="+mn-ea"/>
                <a:cs typeface="+mn-cs"/>
              </a:rPr>
              <a:t> - anywhere devices are resource-constrained but need reliable communication.</a:t>
            </a:r>
          </a:p>
          <a:p>
            <a:endParaRPr lang="en-IN" dirty="0"/>
          </a:p>
          <a:p>
            <a:endParaRPr lang="en-IN" dirty="0"/>
          </a:p>
        </p:txBody>
      </p:sp>
      <p:sp>
        <p:nvSpPr>
          <p:cNvPr id="4" name="Slide Number Placeholder 3">
            <a:extLst>
              <a:ext uri="{FF2B5EF4-FFF2-40B4-BE49-F238E27FC236}">
                <a16:creationId xmlns:a16="http://schemas.microsoft.com/office/drawing/2014/main" id="{07FFFB1A-527C-D77C-DF5A-71758BF6EEA5}"/>
              </a:ext>
            </a:extLst>
          </p:cNvPr>
          <p:cNvSpPr>
            <a:spLocks noGrp="1"/>
          </p:cNvSpPr>
          <p:nvPr>
            <p:ph type="sldNum" sz="quarter" idx="5"/>
          </p:nvPr>
        </p:nvSpPr>
        <p:spPr/>
        <p:txBody>
          <a:bodyPr/>
          <a:lstStyle/>
          <a:p>
            <a:fld id="{72853293-4F00-4813-B74A-3945ABE0C2FC}" type="slidenum">
              <a:rPr lang="en-IN" smtClean="0"/>
              <a:t>27</a:t>
            </a:fld>
            <a:endParaRPr lang="en-IN"/>
          </a:p>
        </p:txBody>
      </p:sp>
    </p:spTree>
    <p:extLst>
      <p:ext uri="{BB962C8B-B14F-4D97-AF65-F5344CB8AC3E}">
        <p14:creationId xmlns:p14="http://schemas.microsoft.com/office/powerpoint/2010/main" val="10027768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D6A59-B2EE-3B80-E6ED-91AF92BAF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F1089-572C-9DF3-0C24-EDCA772CBD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CAC1B14-53B9-3A01-1C9C-2B044C606F8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we dive into modern real-time protocols, let's understand the problems they solve by looking at the </a:t>
            </a:r>
            <a:r>
              <a:rPr lang="en-US" sz="1200" b="1" i="0" kern="1200" dirty="0">
                <a:solidFill>
                  <a:schemeClr val="tx1"/>
                </a:solidFill>
                <a:effectLst/>
                <a:latin typeface="+mn-lt"/>
                <a:ea typeface="+mn-ea"/>
                <a:cs typeface="+mn-cs"/>
              </a:rPr>
              <a:t>pre-WebSocket era techniques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Since HTTP is fundamentally </a:t>
            </a:r>
            <a:r>
              <a:rPr lang="en-US" sz="1200" b="1" i="0" kern="1200" dirty="0">
                <a:solidFill>
                  <a:schemeClr val="tx1"/>
                </a:solidFill>
                <a:effectLst/>
                <a:latin typeface="+mn-lt"/>
                <a:ea typeface="+mn-ea"/>
                <a:cs typeface="+mn-cs"/>
              </a:rPr>
              <a:t>request/response</a:t>
            </a:r>
            <a:r>
              <a:rPr lang="en-US" sz="1200" b="0" i="0" kern="1200" dirty="0">
                <a:solidFill>
                  <a:schemeClr val="tx1"/>
                </a:solidFill>
                <a:effectLst/>
                <a:latin typeface="+mn-lt"/>
                <a:ea typeface="+mn-ea"/>
                <a:cs typeface="+mn-cs"/>
              </a:rPr>
              <a:t>, clients had to invent ways to get real-time updates. The simplest approach was </a:t>
            </a:r>
            <a:r>
              <a:rPr lang="en-US" sz="1200" b="1" i="0" kern="1200" dirty="0">
                <a:solidFill>
                  <a:schemeClr val="tx1"/>
                </a:solidFill>
                <a:effectLst/>
                <a:latin typeface="+mn-lt"/>
                <a:ea typeface="+mn-ea"/>
                <a:cs typeface="+mn-cs"/>
              </a:rPr>
              <a:t>regular polling</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Regular Polling</a:t>
            </a:r>
            <a:r>
              <a:rPr lang="en-US" sz="1200" b="0" i="0" kern="1200" dirty="0">
                <a:solidFill>
                  <a:schemeClr val="tx1"/>
                </a:solidFill>
                <a:effectLst/>
                <a:latin typeface="+mn-lt"/>
                <a:ea typeface="+mn-ea"/>
                <a:cs typeface="+mn-cs"/>
              </a:rPr>
              <a:t> works like this: The client asks "Any new messages?" every few seconds. The server responds immediately, often with "No, nothing new." This creates several problems:</a:t>
            </a:r>
          </a:p>
          <a:p>
            <a:r>
              <a:rPr lang="en-US" sz="1200" b="1" i="0" kern="1200" dirty="0">
                <a:solidFill>
                  <a:schemeClr val="tx1"/>
                </a:solidFill>
                <a:effectLst/>
                <a:latin typeface="+mn-lt"/>
                <a:ea typeface="+mn-ea"/>
                <a:cs typeface="+mn-cs"/>
              </a:rPr>
              <a:t>High latency</a:t>
            </a:r>
            <a:r>
              <a:rPr lang="en-US" sz="1200" b="0" i="0" kern="1200" dirty="0">
                <a:solidFill>
                  <a:schemeClr val="tx1"/>
                </a:solidFill>
                <a:effectLst/>
                <a:latin typeface="+mn-lt"/>
                <a:ea typeface="+mn-ea"/>
                <a:cs typeface="+mn-cs"/>
              </a:rPr>
              <a:t>: Updates can be delayed up to the polling interval</a:t>
            </a:r>
          </a:p>
          <a:p>
            <a:r>
              <a:rPr lang="en-US" sz="1200" b="1" i="0" kern="1200" dirty="0">
                <a:solidFill>
                  <a:schemeClr val="tx1"/>
                </a:solidFill>
                <a:effectLst/>
                <a:latin typeface="+mn-lt"/>
                <a:ea typeface="+mn-ea"/>
                <a:cs typeface="+mn-cs"/>
              </a:rPr>
              <a:t>Wasted bandwidth</a:t>
            </a:r>
            <a:r>
              <a:rPr lang="en-US" sz="1200" b="0" i="0" kern="1200" dirty="0">
                <a:solidFill>
                  <a:schemeClr val="tx1"/>
                </a:solidFill>
                <a:effectLst/>
                <a:latin typeface="+mn-lt"/>
                <a:ea typeface="+mn-ea"/>
                <a:cs typeface="+mn-cs"/>
              </a:rPr>
              <a:t>: Most requests return empty responses</a:t>
            </a:r>
          </a:p>
          <a:p>
            <a:r>
              <a:rPr lang="en-US" sz="1200" b="1" i="0" kern="1200" dirty="0">
                <a:solidFill>
                  <a:schemeClr val="tx1"/>
                </a:solidFill>
                <a:effectLst/>
                <a:latin typeface="+mn-lt"/>
                <a:ea typeface="+mn-ea"/>
                <a:cs typeface="+mn-cs"/>
              </a:rPr>
              <a:t>Server load</a:t>
            </a:r>
            <a:r>
              <a:rPr lang="en-US" sz="1200" b="0" i="0" kern="1200" dirty="0">
                <a:solidFill>
                  <a:schemeClr val="tx1"/>
                </a:solidFill>
                <a:effectLst/>
                <a:latin typeface="+mn-lt"/>
                <a:ea typeface="+mn-ea"/>
                <a:cs typeface="+mn-cs"/>
              </a:rPr>
              <a:t>: Constant requests even when nothing has changed</a:t>
            </a:r>
          </a:p>
          <a:p>
            <a:r>
              <a:rPr lang="en-US" sz="1200" b="0" i="0" kern="1200" dirty="0">
                <a:solidFill>
                  <a:schemeClr val="tx1"/>
                </a:solidFill>
                <a:effectLst/>
                <a:latin typeface="+mn-lt"/>
                <a:ea typeface="+mn-ea"/>
                <a:cs typeface="+mn-cs"/>
              </a:rPr>
              <a:t>To improve this, developers invented </a:t>
            </a:r>
            <a:r>
              <a:rPr lang="en-US" sz="1200" b="1" i="0" kern="1200" dirty="0">
                <a:solidFill>
                  <a:schemeClr val="tx1"/>
                </a:solidFill>
                <a:effectLst/>
                <a:latin typeface="+mn-lt"/>
                <a:ea typeface="+mn-ea"/>
                <a:cs typeface="+mn-cs"/>
              </a:rPr>
              <a:t>Long Polling</a:t>
            </a:r>
            <a:r>
              <a:rPr lang="en-US" sz="1200" b="0" i="0" kern="1200" dirty="0">
                <a:solidFill>
                  <a:schemeClr val="tx1"/>
                </a:solidFill>
                <a:effectLst/>
                <a:latin typeface="+mn-lt"/>
                <a:ea typeface="+mn-ea"/>
                <a:cs typeface="+mn-cs"/>
              </a:rPr>
              <a:t>. Here's how it works:</a:t>
            </a:r>
          </a:p>
          <a:p>
            <a:endParaRPr lang="en-IN" dirty="0"/>
          </a:p>
          <a:p>
            <a:r>
              <a:rPr lang="en-US" sz="1200" b="0" i="0" kern="1200" dirty="0">
                <a:solidFill>
                  <a:schemeClr val="tx1"/>
                </a:solidFill>
                <a:effectLst/>
                <a:latin typeface="+mn-lt"/>
                <a:ea typeface="+mn-ea"/>
                <a:cs typeface="+mn-cs"/>
              </a:rPr>
              <a:t>Client makes a request asking "Any new messages?"</a:t>
            </a:r>
          </a:p>
          <a:p>
            <a:r>
              <a:rPr lang="en-US" sz="1200" b="0" i="0" kern="1200" dirty="0">
                <a:solidFill>
                  <a:schemeClr val="tx1"/>
                </a:solidFill>
                <a:effectLst/>
                <a:latin typeface="+mn-lt"/>
                <a:ea typeface="+mn-ea"/>
                <a:cs typeface="+mn-cs"/>
              </a:rPr>
              <a:t>Server </a:t>
            </a:r>
            <a:r>
              <a:rPr lang="en-US" sz="1200" b="1" i="0" kern="1200" dirty="0">
                <a:solidFill>
                  <a:schemeClr val="tx1"/>
                </a:solidFill>
                <a:effectLst/>
                <a:latin typeface="+mn-lt"/>
                <a:ea typeface="+mn-ea"/>
                <a:cs typeface="+mn-cs"/>
              </a:rPr>
              <a:t>holds the request open</a:t>
            </a:r>
            <a:r>
              <a:rPr lang="en-US" sz="1200" b="0" i="0" kern="1200" dirty="0">
                <a:solidFill>
                  <a:schemeClr val="tx1"/>
                </a:solidFill>
                <a:effectLst/>
                <a:latin typeface="+mn-lt"/>
                <a:ea typeface="+mn-ea"/>
                <a:cs typeface="+mn-cs"/>
              </a:rPr>
              <a:t> until it actually has data</a:t>
            </a:r>
          </a:p>
          <a:p>
            <a:r>
              <a:rPr lang="en-US" sz="1200" b="0" i="0" kern="1200" dirty="0">
                <a:solidFill>
                  <a:schemeClr val="tx1"/>
                </a:solidFill>
                <a:effectLst/>
                <a:latin typeface="+mn-lt"/>
                <a:ea typeface="+mn-ea"/>
                <a:cs typeface="+mn-cs"/>
              </a:rPr>
              <a:t>When data arrives, server responds immediately</a:t>
            </a:r>
          </a:p>
          <a:p>
            <a:r>
              <a:rPr lang="en-US" sz="1200" b="0" i="0" kern="1200" dirty="0">
                <a:solidFill>
                  <a:schemeClr val="tx1"/>
                </a:solidFill>
                <a:effectLst/>
                <a:latin typeface="+mn-lt"/>
                <a:ea typeface="+mn-ea"/>
                <a:cs typeface="+mn-cs"/>
              </a:rPr>
              <a:t>Client receives data and immediately makes a new request</a:t>
            </a:r>
          </a:p>
          <a:p>
            <a:r>
              <a:rPr lang="en-US" sz="1200" b="0" i="0" kern="1200" dirty="0">
                <a:solidFill>
                  <a:schemeClr val="tx1"/>
                </a:solidFill>
                <a:effectLst/>
                <a:latin typeface="+mn-lt"/>
                <a:ea typeface="+mn-ea"/>
                <a:cs typeface="+mn-cs"/>
              </a:rPr>
              <a:t>This reduces empty responses, but still has issues:</a:t>
            </a:r>
          </a:p>
          <a:p>
            <a:r>
              <a:rPr lang="en-US" sz="1200" b="0" i="0" kern="1200" dirty="0">
                <a:solidFill>
                  <a:schemeClr val="tx1"/>
                </a:solidFill>
                <a:effectLst/>
                <a:latin typeface="+mn-lt"/>
                <a:ea typeface="+mn-ea"/>
                <a:cs typeface="+mn-cs"/>
              </a:rPr>
              <a:t>Each message requires a new HTTP request/response cycle</a:t>
            </a:r>
          </a:p>
          <a:p>
            <a:r>
              <a:rPr lang="en-US" sz="1200" b="0" i="0" kern="1200" dirty="0">
                <a:solidFill>
                  <a:schemeClr val="tx1"/>
                </a:solidFill>
                <a:effectLst/>
                <a:latin typeface="+mn-lt"/>
                <a:ea typeface="+mn-ea"/>
                <a:cs typeface="+mn-cs"/>
              </a:rPr>
              <a:t>Connections time out (usually 30-60 seconds)</a:t>
            </a:r>
          </a:p>
          <a:p>
            <a:r>
              <a:rPr lang="en-US" sz="1200" b="0" i="0" kern="1200" dirty="0">
                <a:solidFill>
                  <a:schemeClr val="tx1"/>
                </a:solidFill>
                <a:effectLst/>
                <a:latin typeface="+mn-lt"/>
                <a:ea typeface="+mn-ea"/>
                <a:cs typeface="+mn-cs"/>
              </a:rPr>
              <a:t>Implementation complexity on both client and server</a:t>
            </a:r>
          </a:p>
          <a:p>
            <a:r>
              <a:rPr lang="en-US" sz="1200" b="0" i="0" kern="1200" dirty="0">
                <a:solidFill>
                  <a:schemeClr val="tx1"/>
                </a:solidFill>
                <a:effectLst/>
                <a:latin typeface="+mn-lt"/>
                <a:ea typeface="+mn-ea"/>
                <a:cs typeface="+mn-cs"/>
              </a:rPr>
              <a:t>Headers are retransmitted with every request</a:t>
            </a:r>
          </a:p>
          <a:p>
            <a:r>
              <a:rPr lang="en-US" sz="1200" b="0" i="0" kern="1200" dirty="0">
                <a:solidFill>
                  <a:schemeClr val="tx1"/>
                </a:solidFill>
                <a:effectLst/>
                <a:latin typeface="+mn-lt"/>
                <a:ea typeface="+mn-ea"/>
                <a:cs typeface="+mn-cs"/>
              </a:rPr>
              <a:t>Long polling powered many early "real-time" web applications like Gmail chat and Facebook notifications. However, both polling techniques were workarounds for HTTP's limitations. This need for better solutions led to the development of </a:t>
            </a:r>
            <a:r>
              <a:rPr lang="en-US" sz="1200" b="1" i="0" kern="1200" dirty="0" err="1">
                <a:solidFill>
                  <a:schemeClr val="tx1"/>
                </a:solidFill>
                <a:effectLst/>
                <a:latin typeface="+mn-lt"/>
                <a:ea typeface="+mn-ea"/>
                <a:cs typeface="+mn-cs"/>
              </a:rPr>
              <a:t>WebSockets</a:t>
            </a:r>
            <a:r>
              <a:rPr lang="en-US" sz="1200" b="1" i="0" kern="1200" dirty="0">
                <a:solidFill>
                  <a:schemeClr val="tx1"/>
                </a:solidFill>
                <a:effectLst/>
                <a:latin typeface="+mn-lt"/>
                <a:ea typeface="+mn-ea"/>
                <a:cs typeface="+mn-cs"/>
              </a:rPr>
              <a:t>, SSE, and WebRTC</a:t>
            </a:r>
            <a:r>
              <a:rPr lang="en-US" sz="1200" b="0" i="0" kern="1200" dirty="0">
                <a:solidFill>
                  <a:schemeClr val="tx1"/>
                </a:solidFill>
                <a:effectLst/>
                <a:latin typeface="+mn-lt"/>
                <a:ea typeface="+mn-ea"/>
                <a:cs typeface="+mn-cs"/>
              </a:rPr>
              <a:t> which we'll explore next.</a:t>
            </a:r>
          </a:p>
          <a:p>
            <a:endParaRPr lang="en-IN" dirty="0"/>
          </a:p>
        </p:txBody>
      </p:sp>
      <p:sp>
        <p:nvSpPr>
          <p:cNvPr id="4" name="Slide Number Placeholder 3">
            <a:extLst>
              <a:ext uri="{FF2B5EF4-FFF2-40B4-BE49-F238E27FC236}">
                <a16:creationId xmlns:a16="http://schemas.microsoft.com/office/drawing/2014/main" id="{1C68E626-9711-97CC-FC52-C73FE63108F9}"/>
              </a:ext>
            </a:extLst>
          </p:cNvPr>
          <p:cNvSpPr>
            <a:spLocks noGrp="1"/>
          </p:cNvSpPr>
          <p:nvPr>
            <p:ph type="sldNum" sz="quarter" idx="5"/>
          </p:nvPr>
        </p:nvSpPr>
        <p:spPr/>
        <p:txBody>
          <a:bodyPr/>
          <a:lstStyle/>
          <a:p>
            <a:fld id="{72853293-4F00-4813-B74A-3945ABE0C2FC}" type="slidenum">
              <a:rPr lang="en-IN" smtClean="0"/>
              <a:t>28</a:t>
            </a:fld>
            <a:endParaRPr lang="en-IN"/>
          </a:p>
        </p:txBody>
      </p:sp>
    </p:spTree>
    <p:extLst>
      <p:ext uri="{BB962C8B-B14F-4D97-AF65-F5344CB8AC3E}">
        <p14:creationId xmlns:p14="http://schemas.microsoft.com/office/powerpoint/2010/main" val="40556571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41762-0D08-678A-73D2-68E4150CA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BBED0-5232-887B-128C-2748E398862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F21A0E7-B0C2-06D9-CED5-27A70B3B3D0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explore real-time web communication, starting with </a:t>
            </a:r>
            <a:r>
              <a:rPr lang="en-US" sz="1200" b="1"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This protocol solves a fundamental limitation of HTTP: the need for clients to constantly poll for updates.</a:t>
            </a:r>
          </a:p>
          <a:p>
            <a:r>
              <a:rPr lang="en-US" sz="1200" b="0" i="0" kern="1200" dirty="0">
                <a:solidFill>
                  <a:schemeClr val="tx1"/>
                </a:solidFill>
                <a:effectLst/>
                <a:latin typeface="+mn-lt"/>
                <a:ea typeface="+mn-ea"/>
                <a:cs typeface="+mn-cs"/>
              </a:rPr>
              <a:t>The WebSocket connection begins with an </a:t>
            </a:r>
            <a:r>
              <a:rPr lang="en-US" sz="1200" b="1" i="0" kern="1200" dirty="0">
                <a:solidFill>
                  <a:schemeClr val="tx1"/>
                </a:solidFill>
                <a:effectLst/>
                <a:latin typeface="+mn-lt"/>
                <a:ea typeface="+mn-ea"/>
                <a:cs typeface="+mn-cs"/>
              </a:rPr>
              <a:t>HTTP handshake</a:t>
            </a:r>
            <a:r>
              <a:rPr lang="en-US" sz="1200" b="0" i="0" kern="1200" dirty="0">
                <a:solidFill>
                  <a:schemeClr val="tx1"/>
                </a:solidFill>
                <a:effectLst/>
                <a:latin typeface="+mn-lt"/>
                <a:ea typeface="+mn-ea"/>
                <a:cs typeface="+mn-cs"/>
              </a:rPr>
              <a:t> - the client sends an upgrade request, and if the server agrees, they switch from HTTP to the WebSocket protocol. This establishes a </a:t>
            </a:r>
            <a:r>
              <a:rPr lang="en-US" sz="1200" b="1" i="0" kern="1200" dirty="0">
                <a:solidFill>
                  <a:schemeClr val="tx1"/>
                </a:solidFill>
                <a:effectLst/>
                <a:latin typeface="+mn-lt"/>
                <a:ea typeface="+mn-ea"/>
                <a:cs typeface="+mn-cs"/>
              </a:rPr>
              <a:t>persistent, full-duplex TCP connection</a:t>
            </a:r>
            <a:r>
              <a:rPr lang="en-US" sz="1200" b="0" i="0" kern="1200" dirty="0">
                <a:solidFill>
                  <a:schemeClr val="tx1"/>
                </a:solidFill>
                <a:effectLst/>
                <a:latin typeface="+mn-lt"/>
                <a:ea typeface="+mn-ea"/>
                <a:cs typeface="+mn-cs"/>
              </a:rPr>
              <a:t> that remains open until explicitly closed.</a:t>
            </a:r>
          </a:p>
          <a:p>
            <a:r>
              <a:rPr lang="en-US" sz="1200" b="0" i="0" kern="1200" dirty="0">
                <a:solidFill>
                  <a:schemeClr val="tx1"/>
                </a:solidFill>
                <a:effectLst/>
                <a:latin typeface="+mn-lt"/>
                <a:ea typeface="+mn-ea"/>
                <a:cs typeface="+mn-cs"/>
              </a:rPr>
              <a:t>Once connected, both client and server can send messages </a:t>
            </a:r>
            <a:r>
              <a:rPr lang="en-US" sz="1200" b="1" i="0" kern="1200" dirty="0">
                <a:solidFill>
                  <a:schemeClr val="tx1"/>
                </a:solidFill>
                <a:effectLst/>
                <a:latin typeface="+mn-lt"/>
                <a:ea typeface="+mn-ea"/>
                <a:cs typeface="+mn-cs"/>
              </a:rPr>
              <a:t>at any time, in either direction</a:t>
            </a:r>
            <a:r>
              <a:rPr lang="en-US" sz="1200" b="0" i="0" kern="1200" dirty="0">
                <a:solidFill>
                  <a:schemeClr val="tx1"/>
                </a:solidFill>
                <a:effectLst/>
                <a:latin typeface="+mn-lt"/>
                <a:ea typeface="+mn-ea"/>
                <a:cs typeface="+mn-cs"/>
              </a:rPr>
              <a:t>, with minimal overhead. Each WebSocket frame has just a small header (2-14 bytes), making it extremely efficient compared to HTTP headers.</a:t>
            </a:r>
          </a:p>
          <a:p>
            <a:r>
              <a:rPr lang="en-US" sz="1200" b="0" i="0" kern="1200" dirty="0">
                <a:solidFill>
                  <a:schemeClr val="tx1"/>
                </a:solidFill>
                <a:effectLst/>
                <a:latin typeface="+mn-lt"/>
                <a:ea typeface="+mn-ea"/>
                <a:cs typeface="+mn-cs"/>
              </a:rPr>
              <a:t>This enables truly </a:t>
            </a:r>
            <a:r>
              <a:rPr lang="en-US" sz="1200" b="1" i="0" kern="1200" dirty="0">
                <a:solidFill>
                  <a:schemeClr val="tx1"/>
                </a:solidFill>
                <a:effectLst/>
                <a:latin typeface="+mn-lt"/>
                <a:ea typeface="+mn-ea"/>
                <a:cs typeface="+mn-cs"/>
              </a:rPr>
              <a:t>interactive applications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Chat applications</a:t>
            </a:r>
            <a:r>
              <a:rPr lang="en-US" sz="1200" b="0" i="0" kern="1200" dirty="0">
                <a:solidFill>
                  <a:schemeClr val="tx1"/>
                </a:solidFill>
                <a:effectLst/>
                <a:latin typeface="+mn-lt"/>
                <a:ea typeface="+mn-ea"/>
                <a:cs typeface="+mn-cs"/>
              </a:rPr>
              <a:t> where messages flow instantly both ways</a:t>
            </a:r>
          </a:p>
          <a:p>
            <a:r>
              <a:rPr lang="en-US" sz="1200" b="1" i="0" kern="1200" dirty="0">
                <a:solidFill>
                  <a:schemeClr val="tx1"/>
                </a:solidFill>
                <a:effectLst/>
                <a:latin typeface="+mn-lt"/>
                <a:ea typeface="+mn-ea"/>
                <a:cs typeface="+mn-cs"/>
              </a:rPr>
              <a:t>Live sports scores</a:t>
            </a:r>
            <a:r>
              <a:rPr lang="en-US" sz="1200" b="0" i="0" kern="1200" dirty="0">
                <a:solidFill>
                  <a:schemeClr val="tx1"/>
                </a:solidFill>
                <a:effectLst/>
                <a:latin typeface="+mn-lt"/>
                <a:ea typeface="+mn-ea"/>
                <a:cs typeface="+mn-cs"/>
              </a:rPr>
              <a:t> updating in real-time</a:t>
            </a:r>
          </a:p>
          <a:p>
            <a:r>
              <a:rPr lang="en-US" sz="1200" b="1" i="0" kern="1200" dirty="0">
                <a:solidFill>
                  <a:schemeClr val="tx1"/>
                </a:solidFill>
                <a:effectLst/>
                <a:latin typeface="+mn-lt"/>
                <a:ea typeface="+mn-ea"/>
                <a:cs typeface="+mn-cs"/>
              </a:rPr>
              <a:t>Collaborative document editing</a:t>
            </a:r>
            <a:r>
              <a:rPr lang="en-US" sz="1200" b="0" i="0" kern="1200" dirty="0">
                <a:solidFill>
                  <a:schemeClr val="tx1"/>
                </a:solidFill>
                <a:effectLst/>
                <a:latin typeface="+mn-lt"/>
                <a:ea typeface="+mn-ea"/>
                <a:cs typeface="+mn-cs"/>
              </a:rPr>
              <a:t> with simultaneous user updates</a:t>
            </a:r>
          </a:p>
          <a:p>
            <a:r>
              <a:rPr lang="en-US" sz="1200" b="1" i="0" kern="1200" dirty="0">
                <a:solidFill>
                  <a:schemeClr val="tx1"/>
                </a:solidFill>
                <a:effectLst/>
                <a:latin typeface="+mn-lt"/>
                <a:ea typeface="+mn-ea"/>
                <a:cs typeface="+mn-cs"/>
              </a:rPr>
              <a:t>Financial trading platforms</a:t>
            </a:r>
            <a:r>
              <a:rPr lang="en-US" sz="1200" b="0" i="0" kern="1200" dirty="0">
                <a:solidFill>
                  <a:schemeClr val="tx1"/>
                </a:solidFill>
                <a:effectLst/>
                <a:latin typeface="+mn-lt"/>
                <a:ea typeface="+mn-ea"/>
                <a:cs typeface="+mn-cs"/>
              </a:rPr>
              <a:t> with real-time market data</a:t>
            </a:r>
          </a:p>
          <a:p>
            <a:r>
              <a:rPr lang="en-US" sz="1200" b="1" i="0" kern="1200" dirty="0">
                <a:solidFill>
                  <a:schemeClr val="tx1"/>
                </a:solidFill>
                <a:effectLst/>
                <a:latin typeface="+mn-lt"/>
                <a:ea typeface="+mn-ea"/>
                <a:cs typeface="+mn-cs"/>
              </a:rPr>
              <a:t>Multiplayer browser games</a:t>
            </a:r>
            <a:r>
              <a:rPr lang="en-US" sz="1200" b="0" i="0" kern="1200" dirty="0">
                <a:solidFill>
                  <a:schemeClr val="tx1"/>
                </a:solidFill>
                <a:effectLst/>
                <a:latin typeface="+mn-lt"/>
                <a:ea typeface="+mn-ea"/>
                <a:cs typeface="+mn-cs"/>
              </a:rPr>
              <a:t> with immediate player interactions</a:t>
            </a:r>
          </a:p>
          <a:p>
            <a:br>
              <a:rPr lang="en-IN" dirty="0"/>
            </a:br>
            <a:r>
              <a:rPr lang="en-US" sz="1200" b="0" i="0" kern="1200" dirty="0">
                <a:solidFill>
                  <a:schemeClr val="tx1"/>
                </a:solidFill>
                <a:effectLst/>
                <a:latin typeface="+mn-lt"/>
                <a:ea typeface="+mn-ea"/>
                <a:cs typeface="+mn-cs"/>
              </a:rPr>
              <a:t>Unlike traditional HTTP polling (which wastes bandwidth) or long-polling (which holds connections open),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provide </a:t>
            </a:r>
            <a:r>
              <a:rPr lang="en-US" sz="1200" b="1" i="0" kern="1200" dirty="0">
                <a:solidFill>
                  <a:schemeClr val="tx1"/>
                </a:solidFill>
                <a:effectLst/>
                <a:latin typeface="+mn-lt"/>
                <a:ea typeface="+mn-ea"/>
                <a:cs typeface="+mn-cs"/>
              </a:rPr>
              <a:t>persistent, low-latency communication</a:t>
            </a:r>
            <a:r>
              <a:rPr lang="en-US" sz="1200" b="0" i="0" kern="1200" dirty="0">
                <a:solidFill>
                  <a:schemeClr val="tx1"/>
                </a:solidFill>
                <a:effectLst/>
                <a:latin typeface="+mn-lt"/>
                <a:ea typeface="+mn-ea"/>
                <a:cs typeface="+mn-cs"/>
              </a:rPr>
              <a:t> perfect for applications where timing matters.</a:t>
            </a:r>
          </a:p>
          <a:p>
            <a:endParaRPr lang="en-IN" dirty="0"/>
          </a:p>
        </p:txBody>
      </p:sp>
      <p:sp>
        <p:nvSpPr>
          <p:cNvPr id="4" name="Slide Number Placeholder 3">
            <a:extLst>
              <a:ext uri="{FF2B5EF4-FFF2-40B4-BE49-F238E27FC236}">
                <a16:creationId xmlns:a16="http://schemas.microsoft.com/office/drawing/2014/main" id="{EF15C680-7A4B-46D9-832E-9ACB33D7F86B}"/>
              </a:ext>
            </a:extLst>
          </p:cNvPr>
          <p:cNvSpPr>
            <a:spLocks noGrp="1"/>
          </p:cNvSpPr>
          <p:nvPr>
            <p:ph type="sldNum" sz="quarter" idx="5"/>
          </p:nvPr>
        </p:nvSpPr>
        <p:spPr/>
        <p:txBody>
          <a:bodyPr/>
          <a:lstStyle/>
          <a:p>
            <a:fld id="{72853293-4F00-4813-B74A-3945ABE0C2FC}" type="slidenum">
              <a:rPr lang="en-IN" smtClean="0"/>
              <a:t>29</a:t>
            </a:fld>
            <a:endParaRPr lang="en-IN"/>
          </a:p>
        </p:txBody>
      </p:sp>
    </p:spTree>
    <p:extLst>
      <p:ext uri="{BB962C8B-B14F-4D97-AF65-F5344CB8AC3E}">
        <p14:creationId xmlns:p14="http://schemas.microsoft.com/office/powerpoint/2010/main" val="3536185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03D83-703C-538C-0DE7-E4A6FDE18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87B44-3FD3-D112-3C8E-9964E24ED94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D660086-610F-BFE2-B715-F06B0EB17A4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While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connect browsers to servers, </a:t>
            </a:r>
            <a:r>
              <a:rPr lang="en-US" sz="1200" b="1" i="0" kern="1200" dirty="0">
                <a:solidFill>
                  <a:schemeClr val="tx1"/>
                </a:solidFill>
                <a:effectLst/>
                <a:latin typeface="+mn-lt"/>
                <a:ea typeface="+mn-ea"/>
                <a:cs typeface="+mn-cs"/>
              </a:rPr>
              <a:t>WebRTC</a:t>
            </a:r>
            <a:r>
              <a:rPr lang="en-US" sz="1200" b="0" i="0" kern="1200" dirty="0">
                <a:solidFill>
                  <a:schemeClr val="tx1"/>
                </a:solidFill>
                <a:effectLst/>
                <a:latin typeface="+mn-lt"/>
                <a:ea typeface="+mn-ea"/>
                <a:cs typeface="+mn-cs"/>
              </a:rPr>
              <a:t> enables </a:t>
            </a:r>
            <a:r>
              <a:rPr lang="en-US" sz="1200" b="1" i="0" kern="1200" dirty="0">
                <a:solidFill>
                  <a:schemeClr val="tx1"/>
                </a:solidFill>
                <a:effectLst/>
                <a:latin typeface="+mn-lt"/>
                <a:ea typeface="+mn-ea"/>
                <a:cs typeface="+mn-cs"/>
              </a:rPr>
              <a:t>direct browser-to-browser communication</a:t>
            </a:r>
            <a:r>
              <a:rPr lang="en-US" sz="1200" b="0" i="0" kern="1200" dirty="0">
                <a:solidFill>
                  <a:schemeClr val="tx1"/>
                </a:solidFill>
                <a:effectLst/>
                <a:latin typeface="+mn-lt"/>
                <a:ea typeface="+mn-ea"/>
                <a:cs typeface="+mn-cs"/>
              </a:rPr>
              <a:t> - perfect for real-time media and data sharing.</a:t>
            </a:r>
          </a:p>
          <a:p>
            <a:r>
              <a:rPr lang="en-US" sz="1200" b="0" i="0" kern="1200" dirty="0">
                <a:solidFill>
                  <a:schemeClr val="tx1"/>
                </a:solidFill>
                <a:effectLst/>
                <a:latin typeface="+mn-lt"/>
                <a:ea typeface="+mn-ea"/>
                <a:cs typeface="+mn-cs"/>
              </a:rPr>
              <a:t>The magic of WebRTC is in </a:t>
            </a:r>
            <a:r>
              <a:rPr lang="en-US" sz="1200" b="1" i="0" kern="1200" dirty="0">
                <a:solidFill>
                  <a:schemeClr val="tx1"/>
                </a:solidFill>
                <a:effectLst/>
                <a:latin typeface="+mn-lt"/>
                <a:ea typeface="+mn-ea"/>
                <a:cs typeface="+mn-cs"/>
              </a:rPr>
              <a:t>NAT traversal</a:t>
            </a:r>
            <a:r>
              <a:rPr lang="en-US" sz="1200" b="0" i="0" kern="1200" dirty="0">
                <a:solidFill>
                  <a:schemeClr val="tx1"/>
                </a:solidFill>
                <a:effectLst/>
                <a:latin typeface="+mn-lt"/>
                <a:ea typeface="+mn-ea"/>
                <a:cs typeface="+mn-cs"/>
              </a:rPr>
              <a:t>. Most devices are behind firewalls and routers, making direct connections impossible. WebRTC uses:</a:t>
            </a:r>
          </a:p>
          <a:p>
            <a:r>
              <a:rPr lang="en-US" sz="1200" b="1" i="0" kern="1200" dirty="0">
                <a:solidFill>
                  <a:schemeClr val="tx1"/>
                </a:solidFill>
                <a:effectLst/>
                <a:latin typeface="+mn-lt"/>
                <a:ea typeface="+mn-ea"/>
                <a:cs typeface="+mn-cs"/>
              </a:rPr>
              <a:t>STUN servers</a:t>
            </a:r>
            <a:r>
              <a:rPr lang="en-US" sz="1200" b="0" i="0" kern="1200" dirty="0">
                <a:solidFill>
                  <a:schemeClr val="tx1"/>
                </a:solidFill>
                <a:effectLst/>
                <a:latin typeface="+mn-lt"/>
                <a:ea typeface="+mn-ea"/>
                <a:cs typeface="+mn-cs"/>
              </a:rPr>
              <a:t>: Discover public IP addresses</a:t>
            </a:r>
          </a:p>
          <a:p>
            <a:r>
              <a:rPr lang="en-US" sz="1200" b="1" i="0" kern="1200" dirty="0">
                <a:solidFill>
                  <a:schemeClr val="tx1"/>
                </a:solidFill>
                <a:effectLst/>
                <a:latin typeface="+mn-lt"/>
                <a:ea typeface="+mn-ea"/>
                <a:cs typeface="+mn-cs"/>
              </a:rPr>
              <a:t>TURN servers</a:t>
            </a:r>
            <a:r>
              <a:rPr lang="en-US" sz="1200" b="0" i="0" kern="1200" dirty="0">
                <a:solidFill>
                  <a:schemeClr val="tx1"/>
                </a:solidFill>
                <a:effectLst/>
                <a:latin typeface="+mn-lt"/>
                <a:ea typeface="+mn-ea"/>
                <a:cs typeface="+mn-cs"/>
              </a:rPr>
              <a:t>: Relay traffic when direct connection fails</a:t>
            </a:r>
          </a:p>
          <a:p>
            <a:r>
              <a:rPr lang="en-US" sz="1200" b="1" i="0" kern="1200" dirty="0">
                <a:solidFill>
                  <a:schemeClr val="tx1"/>
                </a:solidFill>
                <a:effectLst/>
                <a:latin typeface="+mn-lt"/>
                <a:ea typeface="+mn-ea"/>
                <a:cs typeface="+mn-cs"/>
              </a:rPr>
              <a:t>Signaling servers</a:t>
            </a:r>
            <a:r>
              <a:rPr lang="en-US" sz="1200" b="0" i="0" kern="1200" dirty="0">
                <a:solidFill>
                  <a:schemeClr val="tx1"/>
                </a:solidFill>
                <a:effectLst/>
                <a:latin typeface="+mn-lt"/>
                <a:ea typeface="+mn-ea"/>
                <a:cs typeface="+mn-cs"/>
              </a:rPr>
              <a:t>: Exchange connection metadata (using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SSE, or any protocol)</a:t>
            </a:r>
          </a:p>
          <a:p>
            <a:r>
              <a:rPr lang="en-US" sz="1200" b="0" i="0" kern="1200" dirty="0">
                <a:solidFill>
                  <a:schemeClr val="tx1"/>
                </a:solidFill>
                <a:effectLst/>
                <a:latin typeface="+mn-lt"/>
                <a:ea typeface="+mn-ea"/>
                <a:cs typeface="+mn-cs"/>
              </a:rPr>
              <a:t>The three main APIs are:</a:t>
            </a:r>
          </a:p>
          <a:p>
            <a:r>
              <a:rPr lang="en-US" sz="1200" b="1" i="0" kern="1200" dirty="0" err="1">
                <a:solidFill>
                  <a:schemeClr val="tx1"/>
                </a:solidFill>
                <a:effectLst/>
                <a:latin typeface="+mn-lt"/>
                <a:ea typeface="+mn-ea"/>
                <a:cs typeface="+mn-cs"/>
              </a:rPr>
              <a:t>getUserMedia</a:t>
            </a:r>
            <a:r>
              <a:rPr lang="en-US" sz="1200" b="0" i="0" kern="1200" dirty="0">
                <a:solidFill>
                  <a:schemeClr val="tx1"/>
                </a:solidFill>
                <a:effectLst/>
                <a:latin typeface="+mn-lt"/>
                <a:ea typeface="+mn-ea"/>
                <a:cs typeface="+mn-cs"/>
              </a:rPr>
              <a:t>: Access camera, microphone, screen share</a:t>
            </a:r>
          </a:p>
          <a:p>
            <a:r>
              <a:rPr lang="en-US" sz="1200" b="1" i="0" kern="1200" dirty="0" err="1">
                <a:solidFill>
                  <a:schemeClr val="tx1"/>
                </a:solidFill>
                <a:effectLst/>
                <a:latin typeface="+mn-lt"/>
                <a:ea typeface="+mn-ea"/>
                <a:cs typeface="+mn-cs"/>
              </a:rPr>
              <a:t>RTCPeerConnection</a:t>
            </a:r>
            <a:r>
              <a:rPr lang="en-US" sz="1200" b="0" i="0" kern="1200" dirty="0">
                <a:solidFill>
                  <a:schemeClr val="tx1"/>
                </a:solidFill>
                <a:effectLst/>
                <a:latin typeface="+mn-lt"/>
                <a:ea typeface="+mn-ea"/>
                <a:cs typeface="+mn-cs"/>
              </a:rPr>
              <a:t>: Establish encrypted P2P connection for audio/video</a:t>
            </a:r>
          </a:p>
          <a:p>
            <a:r>
              <a:rPr lang="en-US" sz="1200" b="1" i="0" kern="1200" dirty="0" err="1">
                <a:solidFill>
                  <a:schemeClr val="tx1"/>
                </a:solidFill>
                <a:effectLst/>
                <a:latin typeface="+mn-lt"/>
                <a:ea typeface="+mn-ea"/>
                <a:cs typeface="+mn-cs"/>
              </a:rPr>
              <a:t>RTCDataChannel</a:t>
            </a:r>
            <a:r>
              <a:rPr lang="en-US" sz="1200" b="0" i="0" kern="1200" dirty="0">
                <a:solidFill>
                  <a:schemeClr val="tx1"/>
                </a:solidFill>
                <a:effectLst/>
                <a:latin typeface="+mn-lt"/>
                <a:ea typeface="+mn-ea"/>
                <a:cs typeface="+mn-cs"/>
              </a:rPr>
              <a:t>: Send arbitrary data (files, game state, chat)</a:t>
            </a:r>
          </a:p>
          <a:p>
            <a:r>
              <a:rPr lang="en-US" sz="1200" b="0" i="0" kern="1200" dirty="0">
                <a:solidFill>
                  <a:schemeClr val="tx1"/>
                </a:solidFill>
                <a:effectLst/>
                <a:latin typeface="+mn-lt"/>
                <a:ea typeface="+mn-ea"/>
                <a:cs typeface="+mn-cs"/>
              </a:rPr>
              <a:t>This enables applications that were previously impossible without plugins:</a:t>
            </a:r>
          </a:p>
          <a:p>
            <a:endParaRPr lang="en-IN" dirty="0"/>
          </a:p>
          <a:p>
            <a:endParaRPr lang="en-IN" dirty="0"/>
          </a:p>
          <a:p>
            <a:r>
              <a:rPr lang="en-US" sz="1200" b="1" i="0" kern="1200" dirty="0">
                <a:solidFill>
                  <a:schemeClr val="tx1"/>
                </a:solidFill>
                <a:effectLst/>
                <a:latin typeface="+mn-lt"/>
                <a:ea typeface="+mn-ea"/>
                <a:cs typeface="+mn-cs"/>
              </a:rPr>
              <a:t>Zoom/Teams alternatives</a:t>
            </a:r>
            <a:r>
              <a:rPr lang="en-US" sz="1200" b="0" i="0" kern="1200" dirty="0">
                <a:solidFill>
                  <a:schemeClr val="tx1"/>
                </a:solidFill>
                <a:effectLst/>
                <a:latin typeface="+mn-lt"/>
                <a:ea typeface="+mn-ea"/>
                <a:cs typeface="+mn-cs"/>
              </a:rPr>
              <a:t> running entirely in the browser</a:t>
            </a:r>
          </a:p>
          <a:p>
            <a:r>
              <a:rPr lang="en-US" sz="1200" b="1" i="0" kern="1200" dirty="0">
                <a:solidFill>
                  <a:schemeClr val="tx1"/>
                </a:solidFill>
                <a:effectLst/>
                <a:latin typeface="+mn-lt"/>
                <a:ea typeface="+mn-ea"/>
                <a:cs typeface="+mn-cs"/>
              </a:rPr>
              <a:t>P2P file sharing</a:t>
            </a:r>
            <a:r>
              <a:rPr lang="en-US" sz="1200" b="0" i="0" kern="1200" dirty="0">
                <a:solidFill>
                  <a:schemeClr val="tx1"/>
                </a:solidFill>
                <a:effectLst/>
                <a:latin typeface="+mn-lt"/>
                <a:ea typeface="+mn-ea"/>
                <a:cs typeface="+mn-cs"/>
              </a:rPr>
              <a:t> without uploading to servers</a:t>
            </a:r>
          </a:p>
          <a:p>
            <a:r>
              <a:rPr lang="en-US" sz="1200" b="1" i="0" kern="1200" dirty="0">
                <a:solidFill>
                  <a:schemeClr val="tx1"/>
                </a:solidFill>
                <a:effectLst/>
                <a:latin typeface="+mn-lt"/>
                <a:ea typeface="+mn-ea"/>
                <a:cs typeface="+mn-cs"/>
              </a:rPr>
              <a:t>Remote desktop access</a:t>
            </a:r>
            <a:r>
              <a:rPr lang="en-US" sz="1200" b="0" i="0" kern="1200" dirty="0">
                <a:solidFill>
                  <a:schemeClr val="tx1"/>
                </a:solidFill>
                <a:effectLst/>
                <a:latin typeface="+mn-lt"/>
                <a:ea typeface="+mn-ea"/>
                <a:cs typeface="+mn-cs"/>
              </a:rPr>
              <a:t> with low latency</a:t>
            </a:r>
          </a:p>
          <a:p>
            <a:r>
              <a:rPr lang="en-US" sz="1200" b="1" i="0" kern="1200" dirty="0">
                <a:solidFill>
                  <a:schemeClr val="tx1"/>
                </a:solidFill>
                <a:effectLst/>
                <a:latin typeface="+mn-lt"/>
                <a:ea typeface="+mn-ea"/>
                <a:cs typeface="+mn-cs"/>
              </a:rPr>
              <a:t>Real-time collaborative whiteboards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What's revolutionary is that </a:t>
            </a:r>
            <a:r>
              <a:rPr lang="en-US" sz="1200" b="1" i="0" kern="1200" dirty="0">
                <a:solidFill>
                  <a:schemeClr val="tx1"/>
                </a:solidFill>
                <a:effectLst/>
                <a:latin typeface="+mn-lt"/>
                <a:ea typeface="+mn-ea"/>
                <a:cs typeface="+mn-cs"/>
              </a:rPr>
              <a:t>media streams flow directly between users</a:t>
            </a:r>
            <a:r>
              <a:rPr lang="en-US" sz="1200" b="0" i="0" kern="1200" dirty="0">
                <a:solidFill>
                  <a:schemeClr val="tx1"/>
                </a:solidFill>
                <a:effectLst/>
                <a:latin typeface="+mn-lt"/>
                <a:ea typeface="+mn-ea"/>
                <a:cs typeface="+mn-cs"/>
              </a:rPr>
              <a:t>, reducing server costs and improving privacy. Servers are only needed for signaling and as fallback relays.</a:t>
            </a:r>
          </a:p>
          <a:p>
            <a:endParaRPr lang="en-IN" dirty="0"/>
          </a:p>
        </p:txBody>
      </p:sp>
      <p:sp>
        <p:nvSpPr>
          <p:cNvPr id="4" name="Slide Number Placeholder 3">
            <a:extLst>
              <a:ext uri="{FF2B5EF4-FFF2-40B4-BE49-F238E27FC236}">
                <a16:creationId xmlns:a16="http://schemas.microsoft.com/office/drawing/2014/main" id="{C5E7C46C-E8DA-308E-D4EC-0DA09794A908}"/>
              </a:ext>
            </a:extLst>
          </p:cNvPr>
          <p:cNvSpPr>
            <a:spLocks noGrp="1"/>
          </p:cNvSpPr>
          <p:nvPr>
            <p:ph type="sldNum" sz="quarter" idx="5"/>
          </p:nvPr>
        </p:nvSpPr>
        <p:spPr/>
        <p:txBody>
          <a:bodyPr/>
          <a:lstStyle/>
          <a:p>
            <a:fld id="{72853293-4F00-4813-B74A-3945ABE0C2FC}" type="slidenum">
              <a:rPr lang="en-IN" smtClean="0"/>
              <a:t>30</a:t>
            </a:fld>
            <a:endParaRPr lang="en-IN"/>
          </a:p>
        </p:txBody>
      </p:sp>
    </p:spTree>
    <p:extLst>
      <p:ext uri="{BB962C8B-B14F-4D97-AF65-F5344CB8AC3E}">
        <p14:creationId xmlns:p14="http://schemas.microsoft.com/office/powerpoint/2010/main" val="9711381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DA1E-F98B-ED4E-85D8-8128A421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D20C8-5BD4-7CBF-87A3-37145C43E46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3E78780-3568-F534-6F0A-78991B896BE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SSE is perfect for:</a:t>
            </a:r>
          </a:p>
          <a:p>
            <a:r>
              <a:rPr lang="en-US" sz="1200" b="1" i="0" kern="1200" dirty="0">
                <a:solidFill>
                  <a:schemeClr val="tx1"/>
                </a:solidFill>
                <a:effectLst/>
                <a:latin typeface="+mn-lt"/>
                <a:ea typeface="+mn-ea"/>
                <a:cs typeface="+mn-cs"/>
              </a:rPr>
              <a:t>Live sports scores</a:t>
            </a:r>
            <a:r>
              <a:rPr lang="en-US" sz="1200" b="0" i="0" kern="1200" dirty="0">
                <a:solidFill>
                  <a:schemeClr val="tx1"/>
                </a:solidFill>
                <a:effectLst/>
                <a:latin typeface="+mn-lt"/>
                <a:ea typeface="+mn-ea"/>
                <a:cs typeface="+mn-cs"/>
              </a:rPr>
              <a:t> or stock tickers</a:t>
            </a:r>
          </a:p>
          <a:p>
            <a:r>
              <a:rPr lang="en-US" sz="1200" b="1" i="0" kern="1200" dirty="0">
                <a:solidFill>
                  <a:schemeClr val="tx1"/>
                </a:solidFill>
                <a:effectLst/>
                <a:latin typeface="+mn-lt"/>
                <a:ea typeface="+mn-ea"/>
                <a:cs typeface="+mn-cs"/>
              </a:rPr>
              <a:t>Social media feeds</a:t>
            </a:r>
            <a:r>
              <a:rPr lang="en-US" sz="1200" b="0" i="0" kern="1200" dirty="0">
                <a:solidFill>
                  <a:schemeClr val="tx1"/>
                </a:solidFill>
                <a:effectLst/>
                <a:latin typeface="+mn-lt"/>
                <a:ea typeface="+mn-ea"/>
                <a:cs typeface="+mn-cs"/>
              </a:rPr>
              <a:t> updating in real-time</a:t>
            </a:r>
          </a:p>
          <a:p>
            <a:r>
              <a:rPr lang="en-US" sz="1200" b="1" i="0" kern="1200" dirty="0">
                <a:solidFill>
                  <a:schemeClr val="tx1"/>
                </a:solidFill>
                <a:effectLst/>
                <a:latin typeface="+mn-lt"/>
                <a:ea typeface="+mn-ea"/>
                <a:cs typeface="+mn-cs"/>
              </a:rPr>
              <a:t>Progress bars</a:t>
            </a:r>
            <a:r>
              <a:rPr lang="en-US" sz="1200" b="0" i="0" kern="1200" dirty="0">
                <a:solidFill>
                  <a:schemeClr val="tx1"/>
                </a:solidFill>
                <a:effectLst/>
                <a:latin typeface="+mn-lt"/>
                <a:ea typeface="+mn-ea"/>
                <a:cs typeface="+mn-cs"/>
              </a:rPr>
              <a:t> for long-running operations</a:t>
            </a:r>
          </a:p>
          <a:p>
            <a:r>
              <a:rPr lang="en-US" sz="1200" b="1" i="0" kern="1200" dirty="0">
                <a:solidFill>
                  <a:schemeClr val="tx1"/>
                </a:solidFill>
                <a:effectLst/>
                <a:latin typeface="+mn-lt"/>
                <a:ea typeface="+mn-ea"/>
                <a:cs typeface="+mn-cs"/>
              </a:rPr>
              <a:t>Dashboard metrics</a:t>
            </a:r>
            <a:r>
              <a:rPr lang="en-US" sz="1200" b="0" i="0" kern="1200" dirty="0">
                <a:solidFill>
                  <a:schemeClr val="tx1"/>
                </a:solidFill>
                <a:effectLst/>
                <a:latin typeface="+mn-lt"/>
                <a:ea typeface="+mn-ea"/>
                <a:cs typeface="+mn-cs"/>
              </a:rPr>
              <a:t> that update automatically</a:t>
            </a:r>
          </a:p>
          <a:p>
            <a:r>
              <a:rPr lang="en-US" sz="1200" b="0" i="0" kern="1200" dirty="0">
                <a:solidFill>
                  <a:schemeClr val="tx1"/>
                </a:solidFill>
                <a:effectLst/>
                <a:latin typeface="+mn-lt"/>
                <a:ea typeface="+mn-ea"/>
                <a:cs typeface="+mn-cs"/>
              </a:rPr>
              <a:t>Unlike </a:t>
            </a:r>
            <a:r>
              <a:rPr lang="en-US" sz="1200" b="0" i="0" kern="1200" dirty="0" err="1">
                <a:solidFill>
                  <a:schemeClr val="tx1"/>
                </a:solidFill>
                <a:effectLst/>
                <a:latin typeface="+mn-lt"/>
                <a:ea typeface="+mn-ea"/>
                <a:cs typeface="+mn-cs"/>
              </a:rPr>
              <a:t>WebSockets</a:t>
            </a:r>
            <a:r>
              <a:rPr lang="en-US" sz="1200" b="0" i="0" kern="1200" dirty="0">
                <a:solidFill>
                  <a:schemeClr val="tx1"/>
                </a:solidFill>
                <a:effectLst/>
                <a:latin typeface="+mn-lt"/>
                <a:ea typeface="+mn-ea"/>
                <a:cs typeface="+mn-cs"/>
              </a:rPr>
              <a:t>, SSE is </a:t>
            </a:r>
            <a:r>
              <a:rPr lang="en-US" sz="1200" b="1" i="0" kern="1200" dirty="0">
                <a:solidFill>
                  <a:schemeClr val="tx1"/>
                </a:solidFill>
                <a:effectLst/>
                <a:latin typeface="+mn-lt"/>
                <a:ea typeface="+mn-ea"/>
                <a:cs typeface="+mn-cs"/>
              </a:rPr>
              <a:t>unidirectional</a:t>
            </a:r>
            <a:r>
              <a:rPr lang="en-US" sz="1200" b="0" i="0" kern="1200" dirty="0">
                <a:solidFill>
                  <a:schemeClr val="tx1"/>
                </a:solidFill>
                <a:effectLst/>
                <a:latin typeface="+mn-lt"/>
                <a:ea typeface="+mn-ea"/>
                <a:cs typeface="+mn-cs"/>
              </a:rPr>
              <a:t> - perfect for scenarios where the client only needs to receive updates. And unlike polling, it's efficient with a single persistent connection.</a:t>
            </a:r>
          </a:p>
          <a:p>
            <a:endParaRPr lang="en-IN" dirty="0"/>
          </a:p>
        </p:txBody>
      </p:sp>
      <p:sp>
        <p:nvSpPr>
          <p:cNvPr id="4" name="Slide Number Placeholder 3">
            <a:extLst>
              <a:ext uri="{FF2B5EF4-FFF2-40B4-BE49-F238E27FC236}">
                <a16:creationId xmlns:a16="http://schemas.microsoft.com/office/drawing/2014/main" id="{74292A5B-49D5-6CE7-0782-3EA31CE0F90C}"/>
              </a:ext>
            </a:extLst>
          </p:cNvPr>
          <p:cNvSpPr>
            <a:spLocks noGrp="1"/>
          </p:cNvSpPr>
          <p:nvPr>
            <p:ph type="sldNum" sz="quarter" idx="5"/>
          </p:nvPr>
        </p:nvSpPr>
        <p:spPr/>
        <p:txBody>
          <a:bodyPr/>
          <a:lstStyle/>
          <a:p>
            <a:fld id="{72853293-4F00-4813-B74A-3945ABE0C2FC}" type="slidenum">
              <a:rPr lang="en-IN" smtClean="0"/>
              <a:t>31</a:t>
            </a:fld>
            <a:endParaRPr lang="en-IN"/>
          </a:p>
        </p:txBody>
      </p:sp>
    </p:spTree>
    <p:extLst>
      <p:ext uri="{BB962C8B-B14F-4D97-AF65-F5344CB8AC3E}">
        <p14:creationId xmlns:p14="http://schemas.microsoft.com/office/powerpoint/2010/main" val="4081528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76A15-C7BA-792D-A15B-80C7A83B3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C4EAB-54B5-E266-966F-4F4656CEF44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BB2B9F-9CEB-59D1-12F6-66A5925E207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protocol that defined the early era of online video: </a:t>
            </a:r>
            <a:r>
              <a:rPr lang="en-US" sz="1200" b="1" i="0" kern="1200" dirty="0">
                <a:solidFill>
                  <a:schemeClr val="tx1"/>
                </a:solidFill>
                <a:effectLst/>
                <a:latin typeface="+mn-lt"/>
                <a:ea typeface="+mn-ea"/>
                <a:cs typeface="+mn-cs"/>
              </a:rPr>
              <a:t>RTMP</a:t>
            </a:r>
            <a:r>
              <a:rPr lang="en-US" sz="1200" b="0" i="0" kern="1200" dirty="0">
                <a:solidFill>
                  <a:schemeClr val="tx1"/>
                </a:solidFill>
                <a:effectLst/>
                <a:latin typeface="+mn-lt"/>
                <a:ea typeface="+mn-ea"/>
                <a:cs typeface="+mn-cs"/>
              </a:rPr>
              <a:t>, the Real-Time Messaging Protocol.</a:t>
            </a:r>
          </a:p>
          <a:p>
            <a:r>
              <a:rPr lang="en-US" sz="1200" b="0" i="0" kern="1200" dirty="0">
                <a:solidFill>
                  <a:schemeClr val="tx1"/>
                </a:solidFill>
                <a:effectLst/>
                <a:latin typeface="+mn-lt"/>
                <a:ea typeface="+mn-ea"/>
                <a:cs typeface="+mn-cs"/>
              </a:rPr>
              <a:t>RTMP was the backbone of </a:t>
            </a:r>
            <a:r>
              <a:rPr lang="en-US" sz="1200" b="1" i="0" kern="1200" dirty="0">
                <a:solidFill>
                  <a:schemeClr val="tx1"/>
                </a:solidFill>
                <a:effectLst/>
                <a:latin typeface="+mn-lt"/>
                <a:ea typeface="+mn-ea"/>
                <a:cs typeface="+mn-cs"/>
              </a:rPr>
              <a:t>Adobe Flash</a:t>
            </a:r>
            <a:r>
              <a:rPr lang="en-US" sz="1200" b="0" i="0" kern="1200" dirty="0">
                <a:solidFill>
                  <a:schemeClr val="tx1"/>
                </a:solidFill>
                <a:effectLst/>
                <a:latin typeface="+mn-lt"/>
                <a:ea typeface="+mn-ea"/>
                <a:cs typeface="+mn-cs"/>
              </a:rPr>
              <a:t> video streaming. When YouTube launched in 2005 and live streaming emerged, RTMP was the technology that made it possible. The protocol establishes a </a:t>
            </a:r>
            <a:r>
              <a:rPr lang="en-US" sz="1200" b="1" i="0" kern="1200" dirty="0">
                <a:solidFill>
                  <a:schemeClr val="tx1"/>
                </a:solidFill>
                <a:effectLst/>
                <a:latin typeface="+mn-lt"/>
                <a:ea typeface="+mn-ea"/>
                <a:cs typeface="+mn-cs"/>
              </a:rPr>
              <a:t>persistent TCP connection</a:t>
            </a:r>
            <a:r>
              <a:rPr lang="en-US" sz="1200" b="0" i="0" kern="1200" dirty="0">
                <a:solidFill>
                  <a:schemeClr val="tx1"/>
                </a:solidFill>
                <a:effectLst/>
                <a:latin typeface="+mn-lt"/>
                <a:ea typeface="+mn-ea"/>
                <a:cs typeface="+mn-cs"/>
              </a:rPr>
              <a:t> between the Flash player and media server, with several clever features:</a:t>
            </a:r>
          </a:p>
          <a:p>
            <a:r>
              <a:rPr lang="en-US" sz="1200" b="0" i="0" kern="1200" dirty="0">
                <a:solidFill>
                  <a:schemeClr val="tx1"/>
                </a:solidFill>
                <a:effectLst/>
                <a:latin typeface="+mn-lt"/>
                <a:ea typeface="+mn-ea"/>
                <a:cs typeface="+mn-cs"/>
              </a:rPr>
              <a:t>It uses </a:t>
            </a:r>
            <a:r>
              <a:rPr lang="en-US" sz="1200" b="1" i="0" kern="1200" dirty="0">
                <a:solidFill>
                  <a:schemeClr val="tx1"/>
                </a:solidFill>
                <a:effectLst/>
                <a:latin typeface="+mn-lt"/>
                <a:ea typeface="+mn-ea"/>
                <a:cs typeface="+mn-cs"/>
              </a:rPr>
              <a:t>multiple virtual channels</a:t>
            </a:r>
            <a:r>
              <a:rPr lang="en-US" sz="1200" b="0" i="0" kern="1200" dirty="0">
                <a:solidFill>
                  <a:schemeClr val="tx1"/>
                </a:solidFill>
                <a:effectLst/>
                <a:latin typeface="+mn-lt"/>
                <a:ea typeface="+mn-ea"/>
                <a:cs typeface="+mn-cs"/>
              </a:rPr>
              <a:t> within one connection:</a:t>
            </a:r>
          </a:p>
          <a:p>
            <a:r>
              <a:rPr lang="en-US" sz="1200" b="0" i="0" kern="1200" dirty="0">
                <a:solidFill>
                  <a:schemeClr val="tx1"/>
                </a:solidFill>
                <a:effectLst/>
                <a:latin typeface="+mn-lt"/>
                <a:ea typeface="+mn-ea"/>
                <a:cs typeface="+mn-cs"/>
              </a:rPr>
              <a:t>Channel 0: Protocol control messages</a:t>
            </a:r>
          </a:p>
          <a:p>
            <a:r>
              <a:rPr lang="en-US" sz="1200" b="0" i="0" kern="1200" dirty="0">
                <a:solidFill>
                  <a:schemeClr val="tx1"/>
                </a:solidFill>
                <a:effectLst/>
                <a:latin typeface="+mn-lt"/>
                <a:ea typeface="+mn-ea"/>
                <a:cs typeface="+mn-cs"/>
              </a:rPr>
              <a:t>Channel 1: User control messages</a:t>
            </a:r>
          </a:p>
          <a:p>
            <a:r>
              <a:rPr lang="en-US" sz="1200" b="0" i="0" kern="1200" dirty="0">
                <a:solidFill>
                  <a:schemeClr val="tx1"/>
                </a:solidFill>
                <a:effectLst/>
                <a:latin typeface="+mn-lt"/>
                <a:ea typeface="+mn-ea"/>
                <a:cs typeface="+mn-cs"/>
              </a:rPr>
              <a:t>Channel 2-5: Command messages</a:t>
            </a:r>
          </a:p>
          <a:p>
            <a:r>
              <a:rPr lang="en-US" sz="1200" b="0" i="0" kern="1200" dirty="0">
                <a:solidFill>
                  <a:schemeClr val="tx1"/>
                </a:solidFill>
                <a:effectLst/>
                <a:latin typeface="+mn-lt"/>
                <a:ea typeface="+mn-ea"/>
                <a:cs typeface="+mn-cs"/>
              </a:rPr>
              <a:t>Channel 6+: Audio, video, and data streams</a:t>
            </a:r>
          </a:p>
          <a:p>
            <a:r>
              <a:rPr lang="en-US" sz="1200" b="0" i="0" kern="1200" dirty="0">
                <a:solidFill>
                  <a:schemeClr val="tx1"/>
                </a:solidFill>
                <a:effectLst/>
                <a:latin typeface="+mn-lt"/>
                <a:ea typeface="+mn-ea"/>
                <a:cs typeface="+mn-cs"/>
              </a:rPr>
              <a:t>This allowed synchronized delivery of audio, video, and metadata like captions or chat data.</a:t>
            </a:r>
          </a:p>
          <a:p>
            <a:r>
              <a:rPr lang="en-US" sz="1200" b="0" i="0" kern="1200" dirty="0">
                <a:solidFill>
                  <a:schemeClr val="tx1"/>
                </a:solidFill>
                <a:effectLst/>
                <a:latin typeface="+mn-lt"/>
                <a:ea typeface="+mn-ea"/>
                <a:cs typeface="+mn-cs"/>
              </a:rPr>
              <a:t>RTMP enabled both:</a:t>
            </a:r>
          </a:p>
          <a:p>
            <a:endParaRPr lang="en-IN" dirty="0"/>
          </a:p>
          <a:p>
            <a:r>
              <a:rPr lang="en-US" sz="1200" b="1" i="0" kern="1200" dirty="0">
                <a:solidFill>
                  <a:schemeClr val="tx1"/>
                </a:solidFill>
                <a:effectLst/>
                <a:latin typeface="+mn-lt"/>
                <a:ea typeface="+mn-ea"/>
                <a:cs typeface="+mn-cs"/>
              </a:rPr>
              <a:t>Live streaming</a:t>
            </a:r>
            <a:r>
              <a:rPr lang="en-US" sz="1200" b="0" i="0" kern="1200" dirty="0">
                <a:solidFill>
                  <a:schemeClr val="tx1"/>
                </a:solidFill>
                <a:effectLst/>
                <a:latin typeface="+mn-lt"/>
                <a:ea typeface="+mn-ea"/>
                <a:cs typeface="+mn-cs"/>
              </a:rPr>
              <a:t> with 2-5 second latency</a:t>
            </a:r>
          </a:p>
          <a:p>
            <a:r>
              <a:rPr lang="en-US" sz="1200" b="1" i="0" kern="1200" dirty="0">
                <a:solidFill>
                  <a:schemeClr val="tx1"/>
                </a:solidFill>
                <a:effectLst/>
                <a:latin typeface="+mn-lt"/>
                <a:ea typeface="+mn-ea"/>
                <a:cs typeface="+mn-cs"/>
              </a:rPr>
              <a:t>Video-on-demand</a:t>
            </a:r>
            <a:r>
              <a:rPr lang="en-US" sz="1200" b="0" i="0" kern="1200" dirty="0">
                <a:solidFill>
                  <a:schemeClr val="tx1"/>
                </a:solidFill>
                <a:effectLst/>
                <a:latin typeface="+mn-lt"/>
                <a:ea typeface="+mn-ea"/>
                <a:cs typeface="+mn-cs"/>
              </a:rPr>
              <a:t> with progressive playback</a:t>
            </a:r>
          </a:p>
          <a:p>
            <a:r>
              <a:rPr lang="en-US" sz="1200" b="0" i="0" kern="1200" dirty="0">
                <a:solidFill>
                  <a:schemeClr val="tx1"/>
                </a:solidFill>
                <a:effectLst/>
                <a:latin typeface="+mn-lt"/>
                <a:ea typeface="+mn-ea"/>
                <a:cs typeface="+mn-cs"/>
              </a:rPr>
              <a:t>However, RTMP's fate was tied to Flash. With Apple's refusal to support Flash on iOS (2010) and the eventual </a:t>
            </a:r>
            <a:r>
              <a:rPr lang="en-US" sz="1200" b="1" i="0" kern="1200" dirty="0">
                <a:solidFill>
                  <a:schemeClr val="tx1"/>
                </a:solidFill>
                <a:effectLst/>
                <a:latin typeface="+mn-lt"/>
                <a:ea typeface="+mn-ea"/>
                <a:cs typeface="+mn-cs"/>
              </a:rPr>
              <a:t>deprecation of Flash</a:t>
            </a:r>
            <a:r>
              <a:rPr lang="en-US" sz="1200" b="0" i="0" kern="1200" dirty="0">
                <a:solidFill>
                  <a:schemeClr val="tx1"/>
                </a:solidFill>
                <a:effectLst/>
                <a:latin typeface="+mn-lt"/>
                <a:ea typeface="+mn-ea"/>
                <a:cs typeface="+mn-cs"/>
              </a:rPr>
              <a:t> (ended 2020), RTMP faded from end-user delivery.</a:t>
            </a:r>
          </a:p>
          <a:p>
            <a:r>
              <a:rPr lang="en-US" sz="1200" b="0" i="0" kern="1200" dirty="0">
                <a:solidFill>
                  <a:schemeClr val="tx1"/>
                </a:solidFill>
                <a:effectLst/>
                <a:latin typeface="+mn-lt"/>
                <a:ea typeface="+mn-ea"/>
                <a:cs typeface="+mn-cs"/>
              </a:rPr>
              <a:t>But here's the twist: RTMP didn't disappear. It evolved into an </a:t>
            </a:r>
            <a:r>
              <a:rPr lang="en-US" sz="1200" b="1" i="0" kern="1200" dirty="0">
                <a:solidFill>
                  <a:schemeClr val="tx1"/>
                </a:solidFill>
                <a:effectLst/>
                <a:latin typeface="+mn-lt"/>
                <a:ea typeface="+mn-ea"/>
                <a:cs typeface="+mn-cs"/>
              </a:rPr>
              <a:t>ingest protocol</a:t>
            </a:r>
            <a:r>
              <a:rPr lang="en-US" sz="1200" b="0" i="0" kern="1200" dirty="0">
                <a:solidFill>
                  <a:schemeClr val="tx1"/>
                </a:solidFill>
                <a:effectLst/>
                <a:latin typeface="+mn-lt"/>
                <a:ea typeface="+mn-ea"/>
                <a:cs typeface="+mn-cs"/>
              </a:rPr>
              <a:t>. Today, streamers using OBS or other broadcasting software send their video to platforms like Twitch, YouTube, or Facebook using RTMP. The platforms then </a:t>
            </a:r>
            <a:r>
              <a:rPr lang="en-US" sz="1200" b="1" i="0" kern="1200" dirty="0">
                <a:solidFill>
                  <a:schemeClr val="tx1"/>
                </a:solidFill>
                <a:effectLst/>
                <a:latin typeface="+mn-lt"/>
                <a:ea typeface="+mn-ea"/>
                <a:cs typeface="+mn-cs"/>
              </a:rPr>
              <a:t>transcode and repackage</a:t>
            </a:r>
            <a:r>
              <a:rPr lang="en-US" sz="1200" b="0" i="0" kern="1200" dirty="0">
                <a:solidFill>
                  <a:schemeClr val="tx1"/>
                </a:solidFill>
                <a:effectLst/>
                <a:latin typeface="+mn-lt"/>
                <a:ea typeface="+mn-ea"/>
                <a:cs typeface="+mn-cs"/>
              </a:rPr>
              <a:t> the stream into modern HTTP-based formats like HLS or DASH for delivery to viewers.</a:t>
            </a:r>
          </a:p>
          <a:p>
            <a:r>
              <a:rPr lang="en-US" sz="1200" b="0" i="0" kern="1200" dirty="0">
                <a:solidFill>
                  <a:schemeClr val="tx1"/>
                </a:solidFill>
                <a:effectLst/>
                <a:latin typeface="+mn-lt"/>
                <a:ea typeface="+mn-ea"/>
                <a:cs typeface="+mn-cs"/>
              </a:rPr>
              <a:t>So while you don't watch via RTMP anymore, your favorite streamer is probably still using it to send their content to the platform.</a:t>
            </a:r>
          </a:p>
          <a:p>
            <a:endParaRPr lang="en-IN" dirty="0"/>
          </a:p>
          <a:p>
            <a:endParaRPr lang="en-IN" dirty="0"/>
          </a:p>
        </p:txBody>
      </p:sp>
      <p:sp>
        <p:nvSpPr>
          <p:cNvPr id="4" name="Slide Number Placeholder 3">
            <a:extLst>
              <a:ext uri="{FF2B5EF4-FFF2-40B4-BE49-F238E27FC236}">
                <a16:creationId xmlns:a16="http://schemas.microsoft.com/office/drawing/2014/main" id="{89BE4584-73D1-44D5-5EC4-9340484DAF69}"/>
              </a:ext>
            </a:extLst>
          </p:cNvPr>
          <p:cNvSpPr>
            <a:spLocks noGrp="1"/>
          </p:cNvSpPr>
          <p:nvPr>
            <p:ph type="sldNum" sz="quarter" idx="5"/>
          </p:nvPr>
        </p:nvSpPr>
        <p:spPr/>
        <p:txBody>
          <a:bodyPr/>
          <a:lstStyle/>
          <a:p>
            <a:fld id="{72853293-4F00-4813-B74A-3945ABE0C2FC}" type="slidenum">
              <a:rPr lang="en-IN" smtClean="0"/>
              <a:t>32</a:t>
            </a:fld>
            <a:endParaRPr lang="en-IN"/>
          </a:p>
        </p:txBody>
      </p:sp>
    </p:spTree>
    <p:extLst>
      <p:ext uri="{BB962C8B-B14F-4D97-AF65-F5344CB8AC3E}">
        <p14:creationId xmlns:p14="http://schemas.microsoft.com/office/powerpoint/2010/main" val="450866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A7BB7-40D0-4274-4FB8-CCC997D1F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38438-4B12-D68C-5327-9516C33BA1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4C49210-9A58-2EF8-BB45-EA8A56CA429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to a protocol that's revolutionizing web performance right now: </a:t>
            </a:r>
            <a:r>
              <a:rPr lang="en-US" sz="1200" b="1" i="0" kern="1200" dirty="0">
                <a:solidFill>
                  <a:schemeClr val="tx1"/>
                </a:solidFill>
                <a:effectLst/>
                <a:latin typeface="+mn-lt"/>
                <a:ea typeface="+mn-ea"/>
                <a:cs typeface="+mn-cs"/>
              </a:rPr>
              <a:t>QUIC</a:t>
            </a:r>
            <a:r>
              <a:rPr lang="en-US" sz="1200" b="0" i="0" kern="1200" dirty="0">
                <a:solidFill>
                  <a:schemeClr val="tx1"/>
                </a:solidFill>
                <a:effectLst/>
                <a:latin typeface="+mn-lt"/>
                <a:ea typeface="+mn-ea"/>
                <a:cs typeface="+mn-cs"/>
              </a:rPr>
              <a:t> (pronounced 'quick'), which forms the basis of </a:t>
            </a:r>
            <a:r>
              <a:rPr lang="en-US" sz="1200" b="1" i="0" kern="1200" dirty="0">
                <a:solidFill>
                  <a:schemeClr val="tx1"/>
                </a:solidFill>
                <a:effectLst/>
                <a:latin typeface="+mn-lt"/>
                <a:ea typeface="+mn-ea"/>
                <a:cs typeface="+mn-cs"/>
              </a:rPr>
              <a:t>HTTP/3</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QUIC was developed by Google in 2012 to address TCP's limitations. The fundamental breakthrough? </a:t>
            </a:r>
            <a:r>
              <a:rPr lang="en-US" sz="1200" b="1" i="0" kern="1200" dirty="0">
                <a:solidFill>
                  <a:schemeClr val="tx1"/>
                </a:solidFill>
                <a:effectLst/>
                <a:latin typeface="+mn-lt"/>
                <a:ea typeface="+mn-ea"/>
                <a:cs typeface="+mn-cs"/>
              </a:rPr>
              <a:t>QUIC runs on UDP instead of TCP</a:t>
            </a:r>
            <a:r>
              <a:rPr lang="en-US" sz="1200" b="0" i="0" kern="1200" dirty="0">
                <a:solidFill>
                  <a:schemeClr val="tx1"/>
                </a:solidFill>
                <a:effectLst/>
                <a:latin typeface="+mn-lt"/>
                <a:ea typeface="+mn-ea"/>
                <a:cs typeface="+mn-cs"/>
              </a:rPr>
              <a:t>, with encryption built into the protocol itself via TLS 1.3.</a:t>
            </a:r>
          </a:p>
          <a:p>
            <a:r>
              <a:rPr lang="en-US" sz="1200" b="0" i="0" kern="1200" dirty="0">
                <a:solidFill>
                  <a:schemeClr val="tx1"/>
                </a:solidFill>
                <a:effectLst/>
                <a:latin typeface="+mn-lt"/>
                <a:ea typeface="+mn-ea"/>
                <a:cs typeface="+mn-cs"/>
              </a:rPr>
              <a:t>Let's break down why this matters:</a:t>
            </a:r>
          </a:p>
          <a:p>
            <a:r>
              <a:rPr lang="en-US" sz="1200" b="1" i="0" kern="1200" dirty="0">
                <a:solidFill>
                  <a:schemeClr val="tx1"/>
                </a:solidFill>
                <a:effectLst/>
                <a:latin typeface="+mn-lt"/>
                <a:ea typeface="+mn-ea"/>
                <a:cs typeface="+mn-cs"/>
              </a:rPr>
              <a:t>Faster Connections</a:t>
            </a:r>
            <a:r>
              <a:rPr lang="en-US" sz="1200" b="0" i="0" kern="1200" dirty="0">
                <a:solidFill>
                  <a:schemeClr val="tx1"/>
                </a:solidFill>
                <a:effectLst/>
                <a:latin typeface="+mn-lt"/>
                <a:ea typeface="+mn-ea"/>
                <a:cs typeface="+mn-cs"/>
              </a:rPr>
              <a:t>: With </a:t>
            </a:r>
            <a:r>
              <a:rPr lang="en-US" sz="1200" b="1" i="0" kern="1200" dirty="0">
                <a:solidFill>
                  <a:schemeClr val="tx1"/>
                </a:solidFill>
                <a:effectLst/>
                <a:latin typeface="+mn-lt"/>
                <a:ea typeface="+mn-ea"/>
                <a:cs typeface="+mn-cs"/>
              </a:rPr>
              <a:t>0-RTT resumption</a:t>
            </a:r>
            <a:r>
              <a:rPr lang="en-US" sz="1200" b="0" i="0" kern="1200" dirty="0">
                <a:solidFill>
                  <a:schemeClr val="tx1"/>
                </a:solidFill>
                <a:effectLst/>
                <a:latin typeface="+mn-lt"/>
                <a:ea typeface="+mn-ea"/>
                <a:cs typeface="+mn-cs"/>
              </a:rPr>
              <a:t>, returning visitors can send data immediately—no handshake delay. This shaves 100-300ms off page loads.</a:t>
            </a:r>
          </a:p>
          <a:p>
            <a:r>
              <a:rPr lang="en-US" sz="1200" b="1" i="0" kern="1200" dirty="0">
                <a:solidFill>
                  <a:schemeClr val="tx1"/>
                </a:solidFill>
                <a:effectLst/>
                <a:latin typeface="+mn-lt"/>
                <a:ea typeface="+mn-ea"/>
                <a:cs typeface="+mn-cs"/>
              </a:rPr>
              <a:t>No Head-of-Line Blocking</a:t>
            </a:r>
            <a:r>
              <a:rPr lang="en-US" sz="1200" b="0" i="0" kern="1200" dirty="0">
                <a:solidFill>
                  <a:schemeClr val="tx1"/>
                </a:solidFill>
                <a:effectLst/>
                <a:latin typeface="+mn-lt"/>
                <a:ea typeface="+mn-ea"/>
                <a:cs typeface="+mn-cs"/>
              </a:rPr>
              <a:t>: In HTTP/2 over TCP, one lost packet stalls all streams. QUIC provides </a:t>
            </a:r>
            <a:r>
              <a:rPr lang="en-US" sz="1200" b="1" i="0" kern="1200" dirty="0">
                <a:solidFill>
                  <a:schemeClr val="tx1"/>
                </a:solidFill>
                <a:effectLst/>
                <a:latin typeface="+mn-lt"/>
                <a:ea typeface="+mn-ea"/>
                <a:cs typeface="+mn-cs"/>
              </a:rPr>
              <a:t>true stream multiplexing</a:t>
            </a:r>
            <a:r>
              <a:rPr lang="en-US" sz="1200" b="0" i="0" kern="1200" dirty="0">
                <a:solidFill>
                  <a:schemeClr val="tx1"/>
                </a:solidFill>
                <a:effectLst/>
                <a:latin typeface="+mn-lt"/>
                <a:ea typeface="+mn-ea"/>
                <a:cs typeface="+mn-cs"/>
              </a:rPr>
              <a:t>—each stream is independent.</a:t>
            </a:r>
          </a:p>
          <a:p>
            <a:r>
              <a:rPr lang="en-US" sz="1200" b="1" i="0" kern="1200" dirty="0">
                <a:solidFill>
                  <a:schemeClr val="tx1"/>
                </a:solidFill>
                <a:effectLst/>
                <a:latin typeface="+mn-lt"/>
                <a:ea typeface="+mn-ea"/>
                <a:cs typeface="+mn-cs"/>
              </a:rPr>
              <a:t>Connection Migration</a:t>
            </a:r>
            <a:r>
              <a:rPr lang="en-US" sz="1200" b="0" i="0" kern="1200" dirty="0">
                <a:solidFill>
                  <a:schemeClr val="tx1"/>
                </a:solidFill>
                <a:effectLst/>
                <a:latin typeface="+mn-lt"/>
                <a:ea typeface="+mn-ea"/>
                <a:cs typeface="+mn-cs"/>
              </a:rPr>
              <a:t>: Switch from </a:t>
            </a:r>
            <a:r>
              <a:rPr lang="en-US" sz="1200" b="0" i="0" kern="1200" dirty="0" err="1">
                <a:solidFill>
                  <a:schemeClr val="tx1"/>
                </a:solidFill>
                <a:effectLst/>
                <a:latin typeface="+mn-lt"/>
                <a:ea typeface="+mn-ea"/>
                <a:cs typeface="+mn-cs"/>
              </a:rPr>
              <a:t>WiFi</a:t>
            </a:r>
            <a:r>
              <a:rPr lang="en-US" sz="1200" b="0" i="0" kern="1200" dirty="0">
                <a:solidFill>
                  <a:schemeClr val="tx1"/>
                </a:solidFill>
                <a:effectLst/>
                <a:latin typeface="+mn-lt"/>
                <a:ea typeface="+mn-ea"/>
                <a:cs typeface="+mn-cs"/>
              </a:rPr>
              <a:t> to cellular? QUIC connections survive because they're identified by a connection ID, not IP/port pairs.</a:t>
            </a:r>
          </a:p>
          <a:p>
            <a:r>
              <a:rPr lang="en-US" sz="1200" b="1" i="0" kern="1200" dirty="0">
                <a:solidFill>
                  <a:schemeClr val="tx1"/>
                </a:solidFill>
                <a:effectLst/>
                <a:latin typeface="+mn-lt"/>
                <a:ea typeface="+mn-ea"/>
                <a:cs typeface="+mn-cs"/>
              </a:rPr>
              <a:t>Better Loss Recovery</a:t>
            </a:r>
            <a:r>
              <a:rPr lang="en-US" sz="1200" b="0" i="0" kern="1200" dirty="0">
                <a:solidFill>
                  <a:schemeClr val="tx1"/>
                </a:solidFill>
                <a:effectLst/>
                <a:latin typeface="+mn-lt"/>
                <a:ea typeface="+mn-ea"/>
                <a:cs typeface="+mn-cs"/>
              </a:rPr>
              <a:t>: More sophisticated congestion control than TCP, adapting better to network conditions.</a:t>
            </a:r>
          </a:p>
          <a:p>
            <a:endParaRPr lang="en-IN" dirty="0"/>
          </a:p>
          <a:p>
            <a:endParaRPr lang="en-IN" dirty="0"/>
          </a:p>
          <a:p>
            <a:r>
              <a:rPr lang="en-US" sz="1200" b="0" i="0" kern="1200" dirty="0">
                <a:solidFill>
                  <a:schemeClr val="tx1"/>
                </a:solidFill>
                <a:effectLst/>
                <a:latin typeface="+mn-lt"/>
                <a:ea typeface="+mn-ea"/>
                <a:cs typeface="+mn-cs"/>
              </a:rPr>
              <a:t>The performance gains are substantial:</a:t>
            </a:r>
          </a:p>
          <a:p>
            <a:r>
              <a:rPr lang="en-US" sz="1200" b="1" i="0" kern="1200" dirty="0">
                <a:solidFill>
                  <a:schemeClr val="tx1"/>
                </a:solidFill>
                <a:effectLst/>
                <a:latin typeface="+mn-lt"/>
                <a:ea typeface="+mn-ea"/>
                <a:cs typeface="+mn-cs"/>
              </a:rPr>
              <a:t>30-40% faster</a:t>
            </a:r>
            <a:r>
              <a:rPr lang="en-US" sz="1200" b="0" i="0" kern="1200" dirty="0">
                <a:solidFill>
                  <a:schemeClr val="tx1"/>
                </a:solidFill>
                <a:effectLst/>
                <a:latin typeface="+mn-lt"/>
                <a:ea typeface="+mn-ea"/>
                <a:cs typeface="+mn-cs"/>
              </a:rPr>
              <a:t> for poor networks</a:t>
            </a:r>
          </a:p>
          <a:p>
            <a:r>
              <a:rPr lang="en-US" sz="1200" b="1" i="0" kern="1200" dirty="0">
                <a:solidFill>
                  <a:schemeClr val="tx1"/>
                </a:solidFill>
                <a:effectLst/>
                <a:latin typeface="+mn-lt"/>
                <a:ea typeface="+mn-ea"/>
                <a:cs typeface="+mn-cs"/>
              </a:rPr>
              <a:t>10-15% faster</a:t>
            </a:r>
            <a:r>
              <a:rPr lang="en-US" sz="1200" b="0" i="0" kern="1200" dirty="0">
                <a:solidFill>
                  <a:schemeClr val="tx1"/>
                </a:solidFill>
                <a:effectLst/>
                <a:latin typeface="+mn-lt"/>
                <a:ea typeface="+mn-ea"/>
                <a:cs typeface="+mn-cs"/>
              </a:rPr>
              <a:t> even on good connections</a:t>
            </a:r>
          </a:p>
          <a:p>
            <a:r>
              <a:rPr lang="en-US" sz="1200" b="0" i="0" kern="1200" dirty="0">
                <a:solidFill>
                  <a:schemeClr val="tx1"/>
                </a:solidFill>
                <a:effectLst/>
                <a:latin typeface="+mn-lt"/>
                <a:ea typeface="+mn-ea"/>
                <a:cs typeface="+mn-cs"/>
              </a:rPr>
              <a:t>Particularly transformative for </a:t>
            </a:r>
            <a:r>
              <a:rPr lang="en-US" sz="1200" b="1" i="0" kern="1200" dirty="0">
                <a:solidFill>
                  <a:schemeClr val="tx1"/>
                </a:solidFill>
                <a:effectLst/>
                <a:latin typeface="+mn-lt"/>
                <a:ea typeface="+mn-ea"/>
                <a:cs typeface="+mn-cs"/>
              </a:rPr>
              <a:t>mobile users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high-latency connections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HTTP/3 is QUIC with HTTP semantics layered on top. Adoption is accelerating rapidly:</a:t>
            </a:r>
          </a:p>
          <a:p>
            <a:r>
              <a:rPr lang="en-US" sz="1200" b="0" i="0" kern="1200" dirty="0">
                <a:solidFill>
                  <a:schemeClr val="tx1"/>
                </a:solidFill>
                <a:effectLst/>
                <a:latin typeface="+mn-lt"/>
                <a:ea typeface="+mn-ea"/>
                <a:cs typeface="+mn-cs"/>
              </a:rPr>
              <a:t>Supported in </a:t>
            </a:r>
            <a:r>
              <a:rPr lang="en-US" sz="1200" b="1" i="0" kern="1200" dirty="0">
                <a:solidFill>
                  <a:schemeClr val="tx1"/>
                </a:solidFill>
                <a:effectLst/>
                <a:latin typeface="+mn-lt"/>
                <a:ea typeface="+mn-ea"/>
                <a:cs typeface="+mn-cs"/>
              </a:rPr>
              <a:t>Chrome, Firefox, Safari</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Major CDNs (Cloudflare, Fastly)</a:t>
            </a:r>
          </a:p>
          <a:p>
            <a:r>
              <a:rPr lang="en-US" sz="1200" b="0" i="0" kern="1200" dirty="0">
                <a:solidFill>
                  <a:schemeClr val="tx1"/>
                </a:solidFill>
                <a:effectLst/>
                <a:latin typeface="+mn-lt"/>
                <a:ea typeface="+mn-ea"/>
                <a:cs typeface="+mn-cs"/>
              </a:rPr>
              <a:t>Google services (YouTube, Search)</a:t>
            </a:r>
          </a:p>
          <a:p>
            <a:r>
              <a:rPr lang="en-US" sz="1200" b="0" i="0" kern="1200" dirty="0">
                <a:solidFill>
                  <a:schemeClr val="tx1"/>
                </a:solidFill>
                <a:effectLst/>
                <a:latin typeface="+mn-lt"/>
                <a:ea typeface="+mn-ea"/>
                <a:cs typeface="+mn-cs"/>
              </a:rPr>
              <a:t>This isn't just an incremental improvement—it's a </a:t>
            </a:r>
            <a:r>
              <a:rPr lang="en-US" sz="1200" b="1" i="0" kern="1200" dirty="0">
                <a:solidFill>
                  <a:schemeClr val="tx1"/>
                </a:solidFill>
                <a:effectLst/>
                <a:latin typeface="+mn-lt"/>
                <a:ea typeface="+mn-ea"/>
                <a:cs typeface="+mn-cs"/>
              </a:rPr>
              <a:t>fundamental rethinking of web transport</a:t>
            </a:r>
            <a:r>
              <a:rPr lang="en-US" sz="1200" b="0" i="0" kern="1200" dirty="0">
                <a:solidFill>
                  <a:schemeClr val="tx1"/>
                </a:solidFill>
                <a:effectLst/>
                <a:latin typeface="+mn-lt"/>
                <a:ea typeface="+mn-ea"/>
                <a:cs typeface="+mn-cs"/>
              </a:rPr>
              <a:t> that will make the entire internet faster, especially for the next billion users coming online via mobile networks.</a:t>
            </a:r>
          </a:p>
          <a:p>
            <a:endParaRPr lang="en-IN" dirty="0"/>
          </a:p>
        </p:txBody>
      </p:sp>
      <p:sp>
        <p:nvSpPr>
          <p:cNvPr id="4" name="Slide Number Placeholder 3">
            <a:extLst>
              <a:ext uri="{FF2B5EF4-FFF2-40B4-BE49-F238E27FC236}">
                <a16:creationId xmlns:a16="http://schemas.microsoft.com/office/drawing/2014/main" id="{EE83C2A4-6E0C-E643-9B77-071A955C7E2C}"/>
              </a:ext>
            </a:extLst>
          </p:cNvPr>
          <p:cNvSpPr>
            <a:spLocks noGrp="1"/>
          </p:cNvSpPr>
          <p:nvPr>
            <p:ph type="sldNum" sz="quarter" idx="5"/>
          </p:nvPr>
        </p:nvSpPr>
        <p:spPr/>
        <p:txBody>
          <a:bodyPr/>
          <a:lstStyle/>
          <a:p>
            <a:fld id="{72853293-4F00-4813-B74A-3945ABE0C2FC}" type="slidenum">
              <a:rPr lang="en-IN" smtClean="0"/>
              <a:t>33</a:t>
            </a:fld>
            <a:endParaRPr lang="en-IN"/>
          </a:p>
        </p:txBody>
      </p:sp>
    </p:spTree>
    <p:extLst>
      <p:ext uri="{BB962C8B-B14F-4D97-AF65-F5344CB8AC3E}">
        <p14:creationId xmlns:p14="http://schemas.microsoft.com/office/powerpoint/2010/main" val="3518352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17" name="bg object 17"/>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18" name="bg object 18"/>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19" name="bg object 19"/>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20" name="bg object 20"/>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21" name="bg object 21"/>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2" name="Holder 2"/>
          <p:cNvSpPr>
            <a:spLocks noGrp="1"/>
          </p:cNvSpPr>
          <p:nvPr>
            <p:ph type="ctrTitle"/>
          </p:nvPr>
        </p:nvSpPr>
        <p:spPr>
          <a:xfrm>
            <a:off x="2075352" y="1815086"/>
            <a:ext cx="4993295" cy="690244"/>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498097" y="425399"/>
            <a:ext cx="6419816" cy="459975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4861560"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521273" y="1333256"/>
            <a:ext cx="5205730" cy="3009900"/>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1/4/2026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0600" y="1815086"/>
            <a:ext cx="7162800" cy="683520"/>
          </a:xfrm>
          <a:prstGeom prst="rect">
            <a:avLst/>
          </a:prstGeom>
        </p:spPr>
        <p:txBody>
          <a:bodyPr vert="horz" wrap="square" lIns="0" tIns="13970" rIns="0" bIns="0" rtlCol="0">
            <a:spAutoFit/>
          </a:bodyPr>
          <a:lstStyle/>
          <a:p>
            <a:pPr marL="14604">
              <a:lnSpc>
                <a:spcPct val="100000"/>
              </a:lnSpc>
              <a:spcBef>
                <a:spcPts val="110"/>
              </a:spcBef>
            </a:pPr>
            <a:r>
              <a:rPr lang="en-IN" sz="4350" spc="-330" dirty="0"/>
              <a:t>Mastering Distributed</a:t>
            </a:r>
            <a:r>
              <a:rPr lang="en-IN" sz="4350" spc="-80" dirty="0"/>
              <a:t> </a:t>
            </a:r>
            <a:r>
              <a:rPr lang="en-IN" sz="4350" spc="-330" dirty="0"/>
              <a:t>System</a:t>
            </a:r>
            <a:r>
              <a:rPr lang="en-IN" sz="4350" spc="-65" dirty="0"/>
              <a:t> </a:t>
            </a:r>
            <a:r>
              <a:rPr lang="en-IN" sz="4350" spc="-275" dirty="0"/>
              <a:t>Design</a:t>
            </a:r>
            <a:endParaRPr sz="4350" dirty="0"/>
          </a:p>
        </p:txBody>
      </p:sp>
      <p:sp>
        <p:nvSpPr>
          <p:cNvPr id="3" name="object 3"/>
          <p:cNvSpPr txBox="1"/>
          <p:nvPr/>
        </p:nvSpPr>
        <p:spPr>
          <a:xfrm>
            <a:off x="1218341" y="2624935"/>
            <a:ext cx="670179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solidFill>
                  <a:srgbClr val="695D46"/>
                </a:solidFill>
                <a:latin typeface="Arial"/>
                <a:cs typeface="Arial"/>
              </a:rPr>
              <a:t>Communication Networks &amp; Protocols</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What This Section Covers</a:t>
            </a:r>
            <a:endParaRPr spc="-150" dirty="0"/>
          </a:p>
        </p:txBody>
      </p:sp>
      <p:sp>
        <p:nvSpPr>
          <p:cNvPr id="4" name="object 4"/>
          <p:cNvSpPr txBox="1"/>
          <p:nvPr/>
        </p:nvSpPr>
        <p:spPr>
          <a:xfrm>
            <a:off x="475248" y="1289060"/>
            <a:ext cx="8363952" cy="1674817"/>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Communication Models:</a:t>
            </a:r>
            <a:r>
              <a:rPr lang="en-IN" dirty="0"/>
              <a:t> OSI, TCP/IP models (the layered approach)</a:t>
            </a:r>
          </a:p>
          <a:p>
            <a:pPr marL="285750" indent="-285750">
              <a:buFont typeface="Wingdings" panose="05000000000000000000" pitchFamily="2" charset="2"/>
              <a:buChar char="v"/>
            </a:pPr>
            <a:r>
              <a:rPr lang="en-IN" b="1" dirty="0"/>
              <a:t>Networking Basics:</a:t>
            </a:r>
            <a:r>
              <a:rPr lang="en-IN" dirty="0"/>
              <a:t> IP addresses, ports, routing</a:t>
            </a:r>
          </a:p>
          <a:p>
            <a:pPr marL="285750" indent="-285750">
              <a:buFont typeface="Wingdings" panose="05000000000000000000" pitchFamily="2" charset="2"/>
              <a:buChar char="v"/>
            </a:pPr>
            <a:r>
              <a:rPr lang="en-IN" b="1" dirty="0"/>
              <a:t>Transport Protocols:</a:t>
            </a:r>
            <a:r>
              <a:rPr lang="en-IN" dirty="0"/>
              <a:t> TCP vs UDP (reliable vs fast)</a:t>
            </a:r>
          </a:p>
          <a:p>
            <a:pPr marL="285750" indent="-285750">
              <a:buFont typeface="Wingdings" panose="05000000000000000000" pitchFamily="2" charset="2"/>
              <a:buChar char="v"/>
            </a:pPr>
            <a:r>
              <a:rPr lang="en-IN" b="1" dirty="0"/>
              <a:t>Communication Patterns:</a:t>
            </a:r>
            <a:r>
              <a:rPr lang="en-IN" dirty="0"/>
              <a:t> Push vs Pull, synchronous vs asynchronous</a:t>
            </a:r>
          </a:p>
          <a:p>
            <a:pPr marL="285750" indent="-285750">
              <a:buFont typeface="Wingdings" panose="05000000000000000000" pitchFamily="2" charset="2"/>
              <a:buChar char="v"/>
            </a:pPr>
            <a:r>
              <a:rPr lang="en-IN" b="1" dirty="0"/>
              <a:t>Application Protocols:</a:t>
            </a:r>
            <a:r>
              <a:rPr lang="en-IN" dirty="0"/>
              <a:t> REST, RPC, </a:t>
            </a:r>
            <a:r>
              <a:rPr lang="en-IN" dirty="0" err="1"/>
              <a:t>GraphQL</a:t>
            </a:r>
            <a:r>
              <a:rPr lang="en-IN" dirty="0"/>
              <a:t>, </a:t>
            </a:r>
            <a:r>
              <a:rPr lang="en-IN" dirty="0" err="1"/>
              <a:t>WebSockets</a:t>
            </a:r>
            <a:endParaRPr lang="en-IN" dirty="0"/>
          </a:p>
          <a:p>
            <a:pPr marL="285750" indent="-285750">
              <a:buFont typeface="Wingdings" panose="05000000000000000000" pitchFamily="2" charset="2"/>
              <a:buChar char="v"/>
            </a:pPr>
            <a:r>
              <a:rPr lang="en-IN" b="1" dirty="0"/>
              <a:t>Real-time Communication:</a:t>
            </a:r>
            <a:r>
              <a:rPr lang="en-IN" dirty="0"/>
              <a:t> WebRTC, server-sent events, long polling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5287-179A-3AA1-19D3-C2542A8C073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C0F23B2-B4B5-F635-5075-5D3E87B480D3}"/>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Communication </a:t>
            </a:r>
            <a:r>
              <a:rPr lang="fr-FR" spc="-330" dirty="0" err="1"/>
              <a:t>Models</a:t>
            </a:r>
            <a:r>
              <a:rPr lang="fr-FR" spc="-330" dirty="0"/>
              <a:t> - OSI &amp; TCP/IP</a:t>
            </a:r>
            <a:endParaRPr spc="-150" dirty="0"/>
          </a:p>
        </p:txBody>
      </p:sp>
      <p:sp>
        <p:nvSpPr>
          <p:cNvPr id="4" name="object 4">
            <a:extLst>
              <a:ext uri="{FF2B5EF4-FFF2-40B4-BE49-F238E27FC236}">
                <a16:creationId xmlns:a16="http://schemas.microsoft.com/office/drawing/2014/main" id="{A7299B10-011D-082B-7087-EBAB40933B72}"/>
              </a:ext>
            </a:extLst>
          </p:cNvPr>
          <p:cNvSpPr txBox="1"/>
          <p:nvPr/>
        </p:nvSpPr>
        <p:spPr>
          <a:xfrm>
            <a:off x="475248" y="1289060"/>
            <a:ext cx="4782552" cy="3244478"/>
          </a:xfrm>
          <a:prstGeom prst="rect">
            <a:avLst/>
          </a:prstGeom>
        </p:spPr>
        <p:txBody>
          <a:bodyPr vert="horz" wrap="square" lIns="0" tIns="12700" rIns="0" bIns="0" rtlCol="0">
            <a:spAutoFit/>
          </a:bodyPr>
          <a:lstStyle/>
          <a:p>
            <a:pPr latinLnBrk="1"/>
            <a:r>
              <a:rPr lang="en-US" sz="1400" b="1" dirty="0"/>
              <a:t>OSI Model (7 Layers - Theoretical):</a:t>
            </a:r>
            <a:endParaRPr lang="en-IN" sz="1400" dirty="0"/>
          </a:p>
          <a:p>
            <a:pPr latinLnBrk="1"/>
            <a:r>
              <a:rPr lang="en-IN" sz="1400" dirty="0"/>
              <a:t>7. Application  (HTTP, SMTP, FTP)</a:t>
            </a:r>
          </a:p>
          <a:p>
            <a:pPr latinLnBrk="1"/>
            <a:r>
              <a:rPr lang="en-IN" sz="1400" dirty="0"/>
              <a:t>6. Presentation (SSL, TLS, encryption)</a:t>
            </a:r>
          </a:p>
          <a:p>
            <a:pPr latinLnBrk="1"/>
            <a:r>
              <a:rPr lang="en-IN" sz="1400" dirty="0"/>
              <a:t>5. Session     (Sockets, sessions)</a:t>
            </a:r>
          </a:p>
          <a:p>
            <a:pPr latinLnBrk="1"/>
            <a:r>
              <a:rPr lang="en-IN" sz="1400" dirty="0"/>
              <a:t>4. Transport   (TCP, UDP)</a:t>
            </a:r>
          </a:p>
          <a:p>
            <a:pPr latinLnBrk="1"/>
            <a:r>
              <a:rPr lang="en-IN" sz="1400" dirty="0"/>
              <a:t>3. Network     (IP, routers)</a:t>
            </a:r>
          </a:p>
          <a:p>
            <a:pPr latinLnBrk="1"/>
            <a:r>
              <a:rPr lang="en-IN" sz="1400" dirty="0"/>
              <a:t>2. Data Link   (Ethernet, switches)</a:t>
            </a:r>
          </a:p>
          <a:p>
            <a:pPr marL="342900" indent="-342900" latinLnBrk="1">
              <a:buAutoNum type="arabicPeriod"/>
            </a:pPr>
            <a:r>
              <a:rPr lang="en-IN" sz="1400" dirty="0"/>
              <a:t>Physical    (Cables, radio waves)</a:t>
            </a:r>
          </a:p>
          <a:p>
            <a:pPr marL="342900" indent="-342900" latinLnBrk="1">
              <a:buAutoNum type="arabicPeriod"/>
            </a:pPr>
            <a:endParaRPr lang="en-IN" sz="1400" dirty="0"/>
          </a:p>
          <a:p>
            <a:pPr latinLnBrk="1"/>
            <a:r>
              <a:rPr lang="en-US" sz="1400" b="1" dirty="0"/>
              <a:t>TCP/IP Model (4 Layers - Practical):</a:t>
            </a:r>
          </a:p>
          <a:p>
            <a:pPr latinLnBrk="1"/>
            <a:r>
              <a:rPr lang="en-IN" sz="1400" dirty="0"/>
              <a:t>4. Application (HTTP, FTP, SMTP, DNS)</a:t>
            </a:r>
          </a:p>
          <a:p>
            <a:pPr latinLnBrk="1"/>
            <a:r>
              <a:rPr lang="en-IN" sz="1400" dirty="0"/>
              <a:t>3. Transport   (TCP, UDP)</a:t>
            </a:r>
          </a:p>
          <a:p>
            <a:pPr latinLnBrk="1"/>
            <a:r>
              <a:rPr lang="en-IN" sz="1400" dirty="0"/>
              <a:t>2. Internet    (IP, ICMP)</a:t>
            </a:r>
          </a:p>
          <a:p>
            <a:pPr latinLnBrk="1"/>
            <a:r>
              <a:rPr lang="en-IN" sz="1400" dirty="0"/>
              <a:t>1. Link/Network Interface (Ethernet, </a:t>
            </a:r>
            <a:r>
              <a:rPr lang="en-IN" sz="1400" dirty="0" err="1"/>
              <a:t>WiFi</a:t>
            </a:r>
            <a:r>
              <a:rPr lang="en-IN" sz="1400" dirty="0"/>
              <a:t>)</a:t>
            </a:r>
          </a:p>
          <a:p>
            <a:pPr latinLnBrk="1"/>
            <a:endParaRPr lang="en-IN" sz="1400" dirty="0"/>
          </a:p>
        </p:txBody>
      </p:sp>
    </p:spTree>
    <p:extLst>
      <p:ext uri="{BB962C8B-B14F-4D97-AF65-F5344CB8AC3E}">
        <p14:creationId xmlns:p14="http://schemas.microsoft.com/office/powerpoint/2010/main" val="2017275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DEB7-DBF8-9C3A-AE89-FDCB2505D4B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63BAC9D-6820-49BC-72EB-0944259E7763}"/>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Switch vs Router</a:t>
            </a:r>
            <a:endParaRPr spc="-150" dirty="0"/>
          </a:p>
        </p:txBody>
      </p:sp>
      <p:sp>
        <p:nvSpPr>
          <p:cNvPr id="4" name="object 4">
            <a:extLst>
              <a:ext uri="{FF2B5EF4-FFF2-40B4-BE49-F238E27FC236}">
                <a16:creationId xmlns:a16="http://schemas.microsoft.com/office/drawing/2014/main" id="{8CFC1018-078E-C0ED-766E-3E182E14EFC0}"/>
              </a:ext>
            </a:extLst>
          </p:cNvPr>
          <p:cNvSpPr txBox="1"/>
          <p:nvPr/>
        </p:nvSpPr>
        <p:spPr>
          <a:xfrm>
            <a:off x="475248" y="1289060"/>
            <a:ext cx="7754352" cy="3336811"/>
          </a:xfrm>
          <a:prstGeom prst="rect">
            <a:avLst/>
          </a:prstGeom>
        </p:spPr>
        <p:txBody>
          <a:bodyPr vert="horz" wrap="square" lIns="0" tIns="12700" rIns="0" bIns="0" rtlCol="0">
            <a:spAutoFit/>
          </a:bodyPr>
          <a:lstStyle/>
          <a:p>
            <a:r>
              <a:rPr lang="en-US" b="1" dirty="0"/>
              <a:t>Switch (Layer 2 - Data Link):</a:t>
            </a:r>
            <a:endParaRPr lang="en-US" dirty="0"/>
          </a:p>
          <a:p>
            <a:pPr marL="285750" lvl="1" indent="-285750">
              <a:buFont typeface="Courier New" panose="02070309020205020404" pitchFamily="49" charset="0"/>
              <a:buChar char="o"/>
            </a:pPr>
            <a:r>
              <a:rPr lang="en-US" b="1" dirty="0"/>
              <a:t>Operates within a single network</a:t>
            </a:r>
            <a:r>
              <a:rPr lang="en-US" dirty="0"/>
              <a:t> (same IP subnet)</a:t>
            </a:r>
          </a:p>
          <a:p>
            <a:pPr marL="285750" lvl="1" indent="-285750">
              <a:buFont typeface="Courier New" panose="02070309020205020404" pitchFamily="49" charset="0"/>
              <a:buChar char="o"/>
            </a:pPr>
            <a:r>
              <a:rPr lang="en-US" dirty="0"/>
              <a:t>Uses </a:t>
            </a:r>
            <a:r>
              <a:rPr lang="en-US" b="1" dirty="0"/>
              <a:t>MAC addresses</a:t>
            </a:r>
            <a:r>
              <a:rPr lang="en-US" dirty="0"/>
              <a:t> to forward frames to specific devices</a:t>
            </a:r>
          </a:p>
          <a:p>
            <a:pPr marL="285750" lvl="1" indent="-285750">
              <a:buFont typeface="Courier New" panose="02070309020205020404" pitchFamily="49" charset="0"/>
              <a:buChar char="o"/>
            </a:pPr>
            <a:r>
              <a:rPr lang="en-US" b="1" dirty="0"/>
              <a:t>Flood, Filter, Forward</a:t>
            </a:r>
            <a:r>
              <a:rPr lang="en-US" dirty="0"/>
              <a:t> decisions based on MAC address table</a:t>
            </a:r>
          </a:p>
          <a:p>
            <a:pPr marL="285750" lvl="1" indent="-285750">
              <a:buFont typeface="Courier New" panose="02070309020205020404" pitchFamily="49" charset="0"/>
              <a:buChar char="o"/>
            </a:pPr>
            <a:r>
              <a:rPr lang="en-US" dirty="0"/>
              <a:t>Creates </a:t>
            </a:r>
            <a:r>
              <a:rPr lang="en-US" b="1" dirty="0"/>
              <a:t>collision domains</a:t>
            </a:r>
            <a:r>
              <a:rPr lang="en-US" dirty="0"/>
              <a:t> (full-duplex modern switches)</a:t>
            </a:r>
          </a:p>
          <a:p>
            <a:r>
              <a:rPr lang="en-US" b="1" dirty="0"/>
              <a:t>Router (Layer 3 - Network):</a:t>
            </a:r>
            <a:endParaRPr lang="en-US" dirty="0"/>
          </a:p>
          <a:p>
            <a:pPr marL="285750" lvl="1" indent="-285750">
              <a:buFont typeface="Courier New" panose="02070309020205020404" pitchFamily="49" charset="0"/>
              <a:buChar char="o"/>
            </a:pPr>
            <a:r>
              <a:rPr lang="en-US" b="1" dirty="0"/>
              <a:t>Connects different networks</a:t>
            </a:r>
            <a:r>
              <a:rPr lang="en-US" dirty="0"/>
              <a:t> (different IP subnets)</a:t>
            </a:r>
          </a:p>
          <a:p>
            <a:pPr marL="285750" lvl="1" indent="-285750">
              <a:buFont typeface="Courier New" panose="02070309020205020404" pitchFamily="49" charset="0"/>
              <a:buChar char="o"/>
            </a:pPr>
            <a:r>
              <a:rPr lang="en-US" dirty="0"/>
              <a:t>Uses </a:t>
            </a:r>
            <a:r>
              <a:rPr lang="en-US" b="1" dirty="0"/>
              <a:t>IP addresses</a:t>
            </a:r>
            <a:r>
              <a:rPr lang="en-US" dirty="0"/>
              <a:t> to route packets between networks</a:t>
            </a:r>
          </a:p>
          <a:p>
            <a:pPr marL="285750" lvl="1" indent="-285750">
              <a:buFont typeface="Courier New" panose="02070309020205020404" pitchFamily="49" charset="0"/>
              <a:buChar char="o"/>
            </a:pPr>
            <a:r>
              <a:rPr lang="en-US" dirty="0"/>
              <a:t>Maintains </a:t>
            </a:r>
            <a:r>
              <a:rPr lang="en-US" b="1" dirty="0"/>
              <a:t>routing tables</a:t>
            </a:r>
            <a:r>
              <a:rPr lang="en-US" dirty="0"/>
              <a:t> with paths to different networks</a:t>
            </a:r>
          </a:p>
          <a:p>
            <a:pPr marL="285750" lvl="1" indent="-285750">
              <a:buFont typeface="Courier New" panose="02070309020205020404" pitchFamily="49" charset="0"/>
              <a:buChar char="o"/>
            </a:pPr>
            <a:r>
              <a:rPr lang="en-US" dirty="0"/>
              <a:t>Creates </a:t>
            </a:r>
            <a:r>
              <a:rPr lang="en-US" b="1" dirty="0"/>
              <a:t>broadcast domains</a:t>
            </a:r>
            <a:r>
              <a:rPr lang="en-US" dirty="0"/>
              <a:t> (limits broadcast traffic)</a:t>
            </a:r>
          </a:p>
          <a:p>
            <a:r>
              <a:rPr lang="en-US" b="1" dirty="0"/>
              <a:t>Key Difference:</a:t>
            </a:r>
            <a:r>
              <a:rPr lang="en-US" dirty="0"/>
              <a:t> Switch = </a:t>
            </a:r>
            <a:r>
              <a:rPr lang="en-US" b="1" dirty="0"/>
              <a:t>Same network communication</a:t>
            </a:r>
            <a:r>
              <a:rPr lang="en-US" dirty="0"/>
              <a:t>, Router = </a:t>
            </a:r>
            <a:r>
              <a:rPr lang="en-US" b="1" dirty="0"/>
              <a:t>Different network communication</a:t>
            </a:r>
            <a:endParaRPr lang="en-US" dirty="0"/>
          </a:p>
        </p:txBody>
      </p:sp>
    </p:spTree>
    <p:extLst>
      <p:ext uri="{BB962C8B-B14F-4D97-AF65-F5344CB8AC3E}">
        <p14:creationId xmlns:p14="http://schemas.microsoft.com/office/powerpoint/2010/main" val="1912539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9ED3-39E6-37AD-CE92-D6DE83AD90A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E21467A-4911-0841-F788-4083A6096F66}"/>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err="1"/>
              <a:t>Why</a:t>
            </a:r>
            <a:r>
              <a:rPr lang="fr-FR" spc="-330" dirty="0"/>
              <a:t> </a:t>
            </a:r>
            <a:r>
              <a:rPr lang="fr-FR" spc="-330" dirty="0" err="1"/>
              <a:t>Routing</a:t>
            </a:r>
            <a:r>
              <a:rPr lang="fr-FR" spc="-330" dirty="0"/>
              <a:t>?</a:t>
            </a:r>
            <a:endParaRPr spc="-150" dirty="0"/>
          </a:p>
        </p:txBody>
      </p:sp>
      <p:sp>
        <p:nvSpPr>
          <p:cNvPr id="4" name="object 4">
            <a:extLst>
              <a:ext uri="{FF2B5EF4-FFF2-40B4-BE49-F238E27FC236}">
                <a16:creationId xmlns:a16="http://schemas.microsoft.com/office/drawing/2014/main" id="{817D643A-A71C-75EF-31EF-5DAA4C301616}"/>
              </a:ext>
            </a:extLst>
          </p:cNvPr>
          <p:cNvSpPr txBox="1"/>
          <p:nvPr/>
        </p:nvSpPr>
        <p:spPr>
          <a:xfrm>
            <a:off x="475248" y="1289060"/>
            <a:ext cx="7754352" cy="2505814"/>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Scale Problem:</a:t>
            </a:r>
            <a:r>
              <a:rPr lang="en-US" dirty="0"/>
              <a:t> </a:t>
            </a:r>
            <a:r>
              <a:rPr lang="en-US" b="1" dirty="0"/>
              <a:t>Billions of devices</a:t>
            </a:r>
            <a:r>
              <a:rPr lang="en-US" dirty="0"/>
              <a:t> can't all be in one network</a:t>
            </a:r>
          </a:p>
          <a:p>
            <a:pPr marL="285750" indent="-285750">
              <a:buFont typeface="Wingdings" panose="05000000000000000000" pitchFamily="2" charset="2"/>
              <a:buChar char="v"/>
            </a:pPr>
            <a:r>
              <a:rPr lang="en-US" b="1" dirty="0"/>
              <a:t>Administrative Control:</a:t>
            </a:r>
            <a:r>
              <a:rPr lang="en-US" dirty="0"/>
              <a:t> Organizations need to </a:t>
            </a:r>
            <a:r>
              <a:rPr lang="en-US" b="1" dirty="0"/>
              <a:t>manage their own networks</a:t>
            </a:r>
            <a:r>
              <a:rPr lang="en-US" dirty="0"/>
              <a:t> independently</a:t>
            </a:r>
          </a:p>
          <a:p>
            <a:pPr marL="285750" indent="-285750">
              <a:buFont typeface="Wingdings" panose="05000000000000000000" pitchFamily="2" charset="2"/>
              <a:buChar char="v"/>
            </a:pPr>
            <a:r>
              <a:rPr lang="en-US" b="1" dirty="0"/>
              <a:t>Traffic Isolation:</a:t>
            </a:r>
            <a:r>
              <a:rPr lang="en-US" dirty="0"/>
              <a:t> </a:t>
            </a:r>
            <a:r>
              <a:rPr lang="en-US" b="1" dirty="0"/>
              <a:t>Broadcast storms</a:t>
            </a:r>
            <a:r>
              <a:rPr lang="en-US" dirty="0"/>
              <a:t> limited to local networks</a:t>
            </a:r>
          </a:p>
          <a:p>
            <a:pPr marL="285750" indent="-285750">
              <a:buFont typeface="Wingdings" panose="05000000000000000000" pitchFamily="2" charset="2"/>
              <a:buChar char="v"/>
            </a:pPr>
            <a:r>
              <a:rPr lang="en-US" b="1" dirty="0"/>
              <a:t>Security &amp; Policy:</a:t>
            </a:r>
            <a:r>
              <a:rPr lang="en-US" dirty="0"/>
              <a:t> Control traffic </a:t>
            </a:r>
            <a:r>
              <a:rPr lang="en-US" b="1" dirty="0"/>
              <a:t>between networks</a:t>
            </a:r>
            <a:r>
              <a:rPr lang="en-US" dirty="0"/>
              <a:t> (firewalls, QoS, monitoring)</a:t>
            </a:r>
          </a:p>
          <a:p>
            <a:pPr marL="285750" indent="-285750">
              <a:buFont typeface="Wingdings" panose="05000000000000000000" pitchFamily="2" charset="2"/>
              <a:buChar char="v"/>
            </a:pPr>
            <a:r>
              <a:rPr lang="en-US" b="1" dirty="0"/>
              <a:t>Optimal Path Selection:</a:t>
            </a:r>
            <a:r>
              <a:rPr lang="en-US" dirty="0"/>
              <a:t> Find </a:t>
            </a:r>
            <a:r>
              <a:rPr lang="en-US" b="1" dirty="0"/>
              <a:t>best routes</a:t>
            </a:r>
            <a:r>
              <a:rPr lang="en-US" dirty="0"/>
              <a:t> among multiple possible paths</a:t>
            </a:r>
          </a:p>
          <a:p>
            <a:pPr marL="285750" indent="-285750">
              <a:buFont typeface="Wingdings" panose="05000000000000000000" pitchFamily="2" charset="2"/>
              <a:buChar char="v"/>
            </a:pPr>
            <a:r>
              <a:rPr lang="en-US" b="1" dirty="0"/>
              <a:t>Fault Tolerance:</a:t>
            </a:r>
            <a:r>
              <a:rPr lang="en-US" dirty="0"/>
              <a:t> </a:t>
            </a:r>
            <a:r>
              <a:rPr lang="en-US" b="1" dirty="0"/>
              <a:t>Automatic rerouting</a:t>
            </a:r>
            <a:r>
              <a:rPr lang="en-US" dirty="0"/>
              <a:t> when links fail</a:t>
            </a:r>
          </a:p>
        </p:txBody>
      </p:sp>
    </p:spTree>
    <p:extLst>
      <p:ext uri="{BB962C8B-B14F-4D97-AF65-F5344CB8AC3E}">
        <p14:creationId xmlns:p14="http://schemas.microsoft.com/office/powerpoint/2010/main" val="982014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BB0ED-82B8-9093-5B9E-F4648672716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9C2297D-0344-ACD2-A1E4-0604C49C1BE7}"/>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err="1"/>
              <a:t>Understanding</a:t>
            </a:r>
            <a:r>
              <a:rPr lang="fr-FR" spc="-330" dirty="0"/>
              <a:t> IP </a:t>
            </a:r>
            <a:r>
              <a:rPr lang="fr-FR" spc="-330" dirty="0" err="1"/>
              <a:t>Addresses</a:t>
            </a:r>
            <a:endParaRPr spc="-150" dirty="0"/>
          </a:p>
        </p:txBody>
      </p:sp>
      <p:sp>
        <p:nvSpPr>
          <p:cNvPr id="4" name="object 4">
            <a:extLst>
              <a:ext uri="{FF2B5EF4-FFF2-40B4-BE49-F238E27FC236}">
                <a16:creationId xmlns:a16="http://schemas.microsoft.com/office/drawing/2014/main" id="{CE7B9BBA-DF2E-9321-4D67-7B0AB1D5EE4E}"/>
              </a:ext>
            </a:extLst>
          </p:cNvPr>
          <p:cNvSpPr txBox="1"/>
          <p:nvPr/>
        </p:nvSpPr>
        <p:spPr>
          <a:xfrm>
            <a:off x="475248" y="1289060"/>
            <a:ext cx="6763752" cy="3244478"/>
          </a:xfrm>
          <a:prstGeom prst="rect">
            <a:avLst/>
          </a:prstGeom>
        </p:spPr>
        <p:txBody>
          <a:bodyPr vert="horz" wrap="square" lIns="0" tIns="12700" rIns="0" bIns="0" rtlCol="0">
            <a:spAutoFit/>
          </a:bodyPr>
          <a:lstStyle/>
          <a:p>
            <a:r>
              <a:rPr lang="en-IN" sz="1400" b="1" dirty="0"/>
              <a:t>What is an IP Address?</a:t>
            </a:r>
            <a:endParaRPr lang="en-IN" sz="1400" dirty="0"/>
          </a:p>
          <a:p>
            <a:pPr marL="285750" indent="-285750">
              <a:buFont typeface="Courier New" panose="02070309020205020404" pitchFamily="49" charset="0"/>
              <a:buChar char="o"/>
            </a:pPr>
            <a:r>
              <a:rPr lang="en-IN" sz="1400" b="1" dirty="0"/>
              <a:t>Unique identifier</a:t>
            </a:r>
            <a:r>
              <a:rPr lang="en-IN" sz="1400" dirty="0"/>
              <a:t> for devices on a network</a:t>
            </a:r>
          </a:p>
          <a:p>
            <a:pPr marL="285750" indent="-285750">
              <a:buFont typeface="Courier New" panose="02070309020205020404" pitchFamily="49" charset="0"/>
              <a:buChar char="o"/>
            </a:pPr>
            <a:r>
              <a:rPr lang="en-IN" sz="1400" b="1" dirty="0"/>
              <a:t>Logical address</a:t>
            </a:r>
            <a:r>
              <a:rPr lang="en-IN" sz="1400" dirty="0"/>
              <a:t> (not physical like MAC address)</a:t>
            </a:r>
          </a:p>
          <a:p>
            <a:pPr marL="285750" indent="-285750">
              <a:buFont typeface="Courier New" panose="02070309020205020404" pitchFamily="49" charset="0"/>
              <a:buChar char="o"/>
            </a:pPr>
            <a:r>
              <a:rPr lang="en-IN" sz="1400" dirty="0"/>
              <a:t>Used for </a:t>
            </a:r>
            <a:r>
              <a:rPr lang="en-IN" sz="1400" b="1" dirty="0"/>
              <a:t>routing</a:t>
            </a:r>
            <a:r>
              <a:rPr lang="en-IN" sz="1400" dirty="0"/>
              <a:t> packets across networks</a:t>
            </a:r>
          </a:p>
          <a:p>
            <a:pPr marL="285750" indent="-285750">
              <a:buFont typeface="Courier New" panose="02070309020205020404" pitchFamily="49" charset="0"/>
              <a:buChar char="o"/>
            </a:pPr>
            <a:r>
              <a:rPr lang="en-IN" sz="1400" dirty="0"/>
              <a:t>Two versions: </a:t>
            </a:r>
            <a:r>
              <a:rPr lang="en-IN" sz="1400" b="1" dirty="0"/>
              <a:t>IPv4</a:t>
            </a:r>
            <a:r>
              <a:rPr lang="en-IN" sz="1400" dirty="0"/>
              <a:t> (32-bit) and </a:t>
            </a:r>
            <a:r>
              <a:rPr lang="en-IN" sz="1400" b="1" dirty="0"/>
              <a:t>IPv6</a:t>
            </a:r>
            <a:r>
              <a:rPr lang="en-IN" sz="1400" dirty="0"/>
              <a:t> (128-bit)</a:t>
            </a:r>
          </a:p>
          <a:p>
            <a:r>
              <a:rPr lang="en-IN" sz="1400" b="1" dirty="0"/>
              <a:t>IPv4 (32-bit):</a:t>
            </a:r>
            <a:endParaRPr lang="en-IN" sz="1400" dirty="0"/>
          </a:p>
          <a:p>
            <a:pPr marL="285750" indent="-285750">
              <a:buFont typeface="Courier New" panose="02070309020205020404" pitchFamily="49" charset="0"/>
              <a:buChar char="o"/>
            </a:pPr>
            <a:r>
              <a:rPr lang="en-IN" sz="1400" dirty="0"/>
              <a:t>Format: </a:t>
            </a:r>
            <a:r>
              <a:rPr lang="en-IN" sz="1400" b="1" dirty="0"/>
              <a:t>xxx.xxx.xxx.xxx</a:t>
            </a:r>
            <a:r>
              <a:rPr lang="en-IN" sz="1400" dirty="0"/>
              <a:t> (four 8-bit numbers, 0-255)</a:t>
            </a:r>
          </a:p>
          <a:p>
            <a:pPr marL="285750" indent="-285750">
              <a:buFont typeface="Courier New" panose="02070309020205020404" pitchFamily="49" charset="0"/>
              <a:buChar char="o"/>
            </a:pPr>
            <a:r>
              <a:rPr lang="en-IN" sz="1400" dirty="0"/>
              <a:t>Example: 192.168.1.100, 10.0.0.1, 172.16.0.1</a:t>
            </a:r>
          </a:p>
          <a:p>
            <a:pPr marL="285750" indent="-285750">
              <a:buFont typeface="Courier New" panose="02070309020205020404" pitchFamily="49" charset="0"/>
              <a:buChar char="o"/>
            </a:pPr>
            <a:r>
              <a:rPr lang="en-IN" sz="1400" b="1" dirty="0"/>
              <a:t>Total addresses:</a:t>
            </a:r>
            <a:r>
              <a:rPr lang="en-IN" sz="1400" dirty="0"/>
              <a:t> ~4.3 billion (exhausted)</a:t>
            </a:r>
          </a:p>
          <a:p>
            <a:pPr marL="285750" indent="-285750">
              <a:buFont typeface="Courier New" panose="02070309020205020404" pitchFamily="49" charset="0"/>
              <a:buChar char="o"/>
            </a:pPr>
            <a:r>
              <a:rPr lang="en-IN" sz="1400" b="1" dirty="0"/>
              <a:t>Dotted decimal notation:</a:t>
            </a:r>
            <a:r>
              <a:rPr lang="en-IN" sz="1400" dirty="0"/>
              <a:t> Human-readable form</a:t>
            </a:r>
          </a:p>
          <a:p>
            <a:r>
              <a:rPr lang="en-IN" sz="1400" b="1" dirty="0"/>
              <a:t>IPv6 (128-bit):</a:t>
            </a:r>
            <a:endParaRPr lang="en-IN" sz="1400" dirty="0"/>
          </a:p>
          <a:p>
            <a:pPr marL="285750" indent="-285750">
              <a:buFont typeface="Courier New" panose="02070309020205020404" pitchFamily="49" charset="0"/>
              <a:buChar char="o"/>
            </a:pPr>
            <a:r>
              <a:rPr lang="en-IN" sz="1400" dirty="0"/>
              <a:t>Format: </a:t>
            </a:r>
            <a:r>
              <a:rPr lang="en-IN" sz="1400" b="1" dirty="0" err="1"/>
              <a:t>xxxx:xxxx:xxxx:xxxx:xxxx:xxxx:xxxx:xxxx</a:t>
            </a:r>
            <a:r>
              <a:rPr lang="en-IN" sz="1400" dirty="0"/>
              <a:t> (eight 16-bit hex numbers)</a:t>
            </a:r>
          </a:p>
          <a:p>
            <a:pPr marL="285750" indent="-285750">
              <a:buFont typeface="Courier New" panose="02070309020205020404" pitchFamily="49" charset="0"/>
              <a:buChar char="o"/>
            </a:pPr>
            <a:r>
              <a:rPr lang="en-IN" sz="1400" dirty="0"/>
              <a:t>Example: 2001:0db8:85a3:0000:0000:8a2e:0370:7334</a:t>
            </a:r>
          </a:p>
          <a:p>
            <a:pPr marL="285750" indent="-285750">
              <a:buFont typeface="Courier New" panose="02070309020205020404" pitchFamily="49" charset="0"/>
              <a:buChar char="o"/>
            </a:pPr>
            <a:r>
              <a:rPr lang="en-IN" sz="1400" b="1" dirty="0"/>
              <a:t>Total addresses:</a:t>
            </a:r>
            <a:r>
              <a:rPr lang="en-IN" sz="1400" dirty="0"/>
              <a:t> 3.4×10³⁸ (effectively unlimited)</a:t>
            </a:r>
          </a:p>
          <a:p>
            <a:pPr marL="285750" indent="-285750">
              <a:buFont typeface="Courier New" panose="02070309020205020404" pitchFamily="49" charset="0"/>
              <a:buChar char="o"/>
            </a:pPr>
            <a:r>
              <a:rPr lang="en-IN" sz="1400" b="1" dirty="0"/>
              <a:t>Benefits:</a:t>
            </a:r>
            <a:r>
              <a:rPr lang="en-IN" sz="1400" dirty="0"/>
              <a:t> More addresses, built-in security, better routing</a:t>
            </a:r>
          </a:p>
        </p:txBody>
      </p:sp>
    </p:spTree>
    <p:extLst>
      <p:ext uri="{BB962C8B-B14F-4D97-AF65-F5344CB8AC3E}">
        <p14:creationId xmlns:p14="http://schemas.microsoft.com/office/powerpoint/2010/main" val="2463292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A9D9-D9D7-5349-05CA-C12B8F58920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D1DD2D1-3896-4283-6483-8F863CCF0DFE}"/>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Reliable &amp; Secure Links</a:t>
            </a:r>
            <a:endParaRPr spc="-150" dirty="0"/>
          </a:p>
        </p:txBody>
      </p:sp>
      <p:sp>
        <p:nvSpPr>
          <p:cNvPr id="4" name="object 4">
            <a:extLst>
              <a:ext uri="{FF2B5EF4-FFF2-40B4-BE49-F238E27FC236}">
                <a16:creationId xmlns:a16="http://schemas.microsoft.com/office/drawing/2014/main" id="{AA2378F6-EAAF-8CC9-C60E-BB79AE9126DD}"/>
              </a:ext>
            </a:extLst>
          </p:cNvPr>
          <p:cNvSpPr txBox="1"/>
          <p:nvPr/>
        </p:nvSpPr>
        <p:spPr>
          <a:xfrm>
            <a:off x="475248" y="1289060"/>
            <a:ext cx="67637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The Problem:</a:t>
            </a:r>
            <a:r>
              <a:rPr lang="en-US" dirty="0"/>
              <a:t> IP provides only </a:t>
            </a:r>
            <a:r>
              <a:rPr lang="en-US" b="1" dirty="0"/>
              <a:t>best-effort delivery</a:t>
            </a:r>
            <a:r>
              <a:rPr lang="en-US" dirty="0"/>
              <a:t> - packets can be lost, arrive out of order, or be intercepted</a:t>
            </a:r>
          </a:p>
          <a:p>
            <a:pPr marL="285750" indent="-285750">
              <a:buFont typeface="Wingdings" panose="05000000000000000000" pitchFamily="2" charset="2"/>
              <a:buChar char="v"/>
            </a:pPr>
            <a:r>
              <a:rPr lang="en-US" b="1" dirty="0"/>
              <a:t>TCP Solution:</a:t>
            </a:r>
            <a:r>
              <a:rPr lang="en-US" dirty="0"/>
              <a:t> Creates </a:t>
            </a:r>
            <a:r>
              <a:rPr lang="en-US" b="1" dirty="0"/>
              <a:t>reliable, ordered connections</a:t>
            </a:r>
            <a:r>
              <a:rPr lang="en-US" dirty="0"/>
              <a:t> over unreliable IP</a:t>
            </a:r>
          </a:p>
          <a:p>
            <a:pPr marL="285750" indent="-285750">
              <a:buFont typeface="Wingdings" panose="05000000000000000000" pitchFamily="2" charset="2"/>
              <a:buChar char="v"/>
            </a:pPr>
            <a:r>
              <a:rPr lang="en-US" b="1" dirty="0"/>
              <a:t>TLS Solution:</a:t>
            </a:r>
            <a:r>
              <a:rPr lang="en-US" dirty="0"/>
              <a:t> Adds </a:t>
            </a:r>
            <a:r>
              <a:rPr lang="en-US" b="1" dirty="0"/>
              <a:t>encryption, authentication, integrity</a:t>
            </a:r>
            <a:r>
              <a:rPr lang="en-US" dirty="0"/>
              <a:t> to those connections</a:t>
            </a:r>
          </a:p>
          <a:p>
            <a:pPr marL="285750" indent="-285750">
              <a:buFont typeface="Wingdings" panose="05000000000000000000" pitchFamily="2" charset="2"/>
              <a:buChar char="v"/>
            </a:pPr>
            <a:r>
              <a:rPr lang="en-US" b="1" dirty="0"/>
              <a:t>Together:</a:t>
            </a:r>
            <a:r>
              <a:rPr lang="en-US" dirty="0"/>
              <a:t> They create the foundation for </a:t>
            </a:r>
            <a:r>
              <a:rPr lang="en-US" b="1" dirty="0"/>
              <a:t>trusted internet communication</a:t>
            </a:r>
            <a:endParaRPr lang="en-US" dirty="0"/>
          </a:p>
          <a:p>
            <a:pPr marL="285750" indent="-285750">
              <a:buFont typeface="Wingdings" panose="05000000000000000000" pitchFamily="2" charset="2"/>
              <a:buChar char="v"/>
            </a:pPr>
            <a:r>
              <a:rPr lang="en-US" b="1" dirty="0"/>
              <a:t>Key Guarantees:</a:t>
            </a:r>
            <a:r>
              <a:rPr lang="en-US" dirty="0"/>
              <a:t> Data arrives </a:t>
            </a:r>
            <a:r>
              <a:rPr lang="en-US" b="1" dirty="0"/>
              <a:t>complete, in order, error-free, and private</a:t>
            </a:r>
            <a:endParaRPr lang="en-US" dirty="0"/>
          </a:p>
        </p:txBody>
      </p:sp>
    </p:spTree>
    <p:extLst>
      <p:ext uri="{BB962C8B-B14F-4D97-AF65-F5344CB8AC3E}">
        <p14:creationId xmlns:p14="http://schemas.microsoft.com/office/powerpoint/2010/main" val="798611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2E74-A388-2CF0-3FBF-EBCC0E9C0DC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F223328-1038-05AE-7000-576589F35153}"/>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DNS - The </a:t>
            </a:r>
            <a:r>
              <a:rPr lang="fr-FR" spc="-330" dirty="0" err="1"/>
              <a:t>Internet's</a:t>
            </a:r>
            <a:r>
              <a:rPr lang="fr-FR" spc="-330" dirty="0"/>
              <a:t> </a:t>
            </a:r>
            <a:r>
              <a:rPr lang="fr-FR" spc="-330" dirty="0" err="1"/>
              <a:t>Phonebook</a:t>
            </a:r>
            <a:endParaRPr spc="-150" dirty="0"/>
          </a:p>
        </p:txBody>
      </p:sp>
      <p:sp>
        <p:nvSpPr>
          <p:cNvPr id="4" name="object 4">
            <a:extLst>
              <a:ext uri="{FF2B5EF4-FFF2-40B4-BE49-F238E27FC236}">
                <a16:creationId xmlns:a16="http://schemas.microsoft.com/office/drawing/2014/main" id="{468DCD6C-7158-D6CD-8F28-1161FCD2EE8C}"/>
              </a:ext>
            </a:extLst>
          </p:cNvPr>
          <p:cNvSpPr txBox="1"/>
          <p:nvPr/>
        </p:nvSpPr>
        <p:spPr>
          <a:xfrm>
            <a:off x="475248" y="1289060"/>
            <a:ext cx="5239752" cy="1951816"/>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Domain Name System:</a:t>
            </a:r>
            <a:r>
              <a:rPr lang="en-US" dirty="0"/>
              <a:t> Translates </a:t>
            </a:r>
            <a:r>
              <a:rPr lang="en-US" b="1" dirty="0"/>
              <a:t>names</a:t>
            </a:r>
            <a:r>
              <a:rPr lang="en-US" dirty="0"/>
              <a:t> to </a:t>
            </a:r>
            <a:r>
              <a:rPr lang="en-US" b="1" dirty="0"/>
              <a:t>IP addresses</a:t>
            </a:r>
            <a:endParaRPr lang="en-US" dirty="0"/>
          </a:p>
          <a:p>
            <a:pPr marL="285750" indent="-285750">
              <a:buFont typeface="Wingdings" panose="05000000000000000000" pitchFamily="2" charset="2"/>
              <a:buChar char="v"/>
            </a:pPr>
            <a:r>
              <a:rPr lang="en-US" b="1" dirty="0"/>
              <a:t>Distributed database:</a:t>
            </a:r>
            <a:r>
              <a:rPr lang="en-US" dirty="0"/>
              <a:t> No single point of failure</a:t>
            </a:r>
          </a:p>
          <a:p>
            <a:pPr marL="285750" indent="-285750">
              <a:buFont typeface="Wingdings" panose="05000000000000000000" pitchFamily="2" charset="2"/>
              <a:buChar char="v"/>
            </a:pPr>
            <a:r>
              <a:rPr lang="en-US" b="1" dirty="0"/>
              <a:t>Critical infrastructure:</a:t>
            </a:r>
            <a:r>
              <a:rPr lang="en-US" dirty="0"/>
              <a:t> Internet wouldn't work without it</a:t>
            </a:r>
          </a:p>
          <a:p>
            <a:pPr marL="285750" indent="-285750">
              <a:buFont typeface="Wingdings" panose="05000000000000000000" pitchFamily="2" charset="2"/>
              <a:buChar char="v"/>
            </a:pPr>
            <a:r>
              <a:rPr lang="en-US" b="1" dirty="0"/>
              <a:t>Hierarchical:</a:t>
            </a:r>
            <a:r>
              <a:rPr lang="en-US" dirty="0"/>
              <a:t> Like a phonebook with local, regional, national directories</a:t>
            </a:r>
          </a:p>
        </p:txBody>
      </p:sp>
    </p:spTree>
    <p:extLst>
      <p:ext uri="{BB962C8B-B14F-4D97-AF65-F5344CB8AC3E}">
        <p14:creationId xmlns:p14="http://schemas.microsoft.com/office/powerpoint/2010/main" val="3799008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A4600-5FD7-3DD1-BA5F-915126E9BE7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7077195-A71C-2236-EF0B-BC82498E001F}"/>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DNS </a:t>
            </a:r>
            <a:r>
              <a:rPr lang="fr-FR" spc="-330" dirty="0" err="1"/>
              <a:t>Resolution</a:t>
            </a:r>
            <a:r>
              <a:rPr lang="fr-FR" spc="-330" dirty="0"/>
              <a:t> Process</a:t>
            </a:r>
            <a:endParaRPr spc="-150" dirty="0"/>
          </a:p>
        </p:txBody>
      </p:sp>
      <p:sp>
        <p:nvSpPr>
          <p:cNvPr id="4" name="object 4">
            <a:extLst>
              <a:ext uri="{FF2B5EF4-FFF2-40B4-BE49-F238E27FC236}">
                <a16:creationId xmlns:a16="http://schemas.microsoft.com/office/drawing/2014/main" id="{52BE814F-6C23-9BBA-45FC-9F4F77677B8B}"/>
              </a:ext>
            </a:extLst>
          </p:cNvPr>
          <p:cNvSpPr txBox="1"/>
          <p:nvPr/>
        </p:nvSpPr>
        <p:spPr>
          <a:xfrm>
            <a:off x="475248" y="1047750"/>
            <a:ext cx="4553952" cy="3059812"/>
          </a:xfrm>
          <a:prstGeom prst="rect">
            <a:avLst/>
          </a:prstGeom>
        </p:spPr>
        <p:txBody>
          <a:bodyPr vert="horz" wrap="square" lIns="0" tIns="12700" rIns="0" bIns="0" rtlCol="0">
            <a:spAutoFit/>
          </a:bodyPr>
          <a:lstStyle/>
          <a:p>
            <a:endParaRPr lang="en-IN" dirty="0"/>
          </a:p>
          <a:p>
            <a:pPr marL="285750" indent="-285750">
              <a:buFont typeface="Wingdings" panose="05000000000000000000" pitchFamily="2" charset="2"/>
              <a:buChar char="v"/>
            </a:pPr>
            <a:r>
              <a:rPr lang="en-IN" b="1" dirty="0"/>
              <a:t>Browser cache:</a:t>
            </a:r>
            <a:r>
              <a:rPr lang="en-IN" dirty="0"/>
              <a:t> Check if recently resolved</a:t>
            </a:r>
          </a:p>
          <a:p>
            <a:pPr marL="285750" indent="-285750">
              <a:buFont typeface="Wingdings" panose="05000000000000000000" pitchFamily="2" charset="2"/>
              <a:buChar char="v"/>
            </a:pPr>
            <a:r>
              <a:rPr lang="en-IN" b="1" dirty="0"/>
              <a:t>OS cache/hosts file:</a:t>
            </a:r>
            <a:r>
              <a:rPr lang="en-IN" dirty="0"/>
              <a:t> Local system cache</a:t>
            </a:r>
          </a:p>
          <a:p>
            <a:pPr marL="285750" indent="-285750">
              <a:buFont typeface="Wingdings" panose="05000000000000000000" pitchFamily="2" charset="2"/>
              <a:buChar char="v"/>
            </a:pPr>
            <a:r>
              <a:rPr lang="en-IN" b="1" dirty="0"/>
              <a:t>Resolver (ISP/8.8.8.8):</a:t>
            </a:r>
            <a:r>
              <a:rPr lang="en-IN" dirty="0"/>
              <a:t> Your DNS server</a:t>
            </a:r>
          </a:p>
          <a:p>
            <a:pPr marL="285750" indent="-285750">
              <a:buFont typeface="Wingdings" panose="05000000000000000000" pitchFamily="2" charset="2"/>
              <a:buChar char="v"/>
            </a:pPr>
            <a:r>
              <a:rPr lang="en-IN" b="1" dirty="0"/>
              <a:t>Root servers:</a:t>
            </a:r>
            <a:r>
              <a:rPr lang="en-IN" dirty="0"/>
              <a:t> 13 root servers worldwide (a.root-servers.net to m.root-servers.net)</a:t>
            </a:r>
          </a:p>
          <a:p>
            <a:pPr marL="285750" indent="-285750">
              <a:buFont typeface="Wingdings" panose="05000000000000000000" pitchFamily="2" charset="2"/>
              <a:buChar char="v"/>
            </a:pPr>
            <a:r>
              <a:rPr lang="en-IN" b="1" dirty="0"/>
              <a:t>TLD servers:</a:t>
            </a:r>
            <a:r>
              <a:rPr lang="en-IN" dirty="0"/>
              <a:t> .com, .org, </a:t>
            </a:r>
            <a:r>
              <a:rPr lang="en-IN" dirty="0" err="1"/>
              <a:t>.net</a:t>
            </a:r>
            <a:r>
              <a:rPr lang="en-IN" dirty="0"/>
              <a:t> servers</a:t>
            </a:r>
          </a:p>
          <a:p>
            <a:pPr marL="285750" indent="-285750">
              <a:buFont typeface="Wingdings" panose="05000000000000000000" pitchFamily="2" charset="2"/>
              <a:buChar char="v"/>
            </a:pPr>
            <a:r>
              <a:rPr lang="en-IN" b="1" dirty="0"/>
              <a:t>Authoritative servers:</a:t>
            </a:r>
            <a:r>
              <a:rPr lang="en-IN" dirty="0"/>
              <a:t> Google's own DNS servers</a:t>
            </a:r>
          </a:p>
          <a:p>
            <a:pPr marL="285750" indent="-285750">
              <a:buFont typeface="Wingdings" panose="05000000000000000000" pitchFamily="2" charset="2"/>
              <a:buChar char="v"/>
            </a:pPr>
            <a:r>
              <a:rPr lang="en-IN" b="1" dirty="0"/>
              <a:t>Return IP:</a:t>
            </a:r>
            <a:r>
              <a:rPr lang="en-IN" dirty="0"/>
              <a:t> 142.250.185.78 (Google's IP)</a:t>
            </a:r>
          </a:p>
        </p:txBody>
      </p:sp>
    </p:spTree>
    <p:extLst>
      <p:ext uri="{BB962C8B-B14F-4D97-AF65-F5344CB8AC3E}">
        <p14:creationId xmlns:p14="http://schemas.microsoft.com/office/powerpoint/2010/main" val="277327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4D72E-4670-48EF-A7A2-F91E79D6AE5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82BFCF9-FA64-AF34-5FCF-7632A644006E}"/>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Transmission Control Protocol (TCP)</a:t>
            </a:r>
            <a:endParaRPr spc="-150" dirty="0"/>
          </a:p>
        </p:txBody>
      </p:sp>
      <p:sp>
        <p:nvSpPr>
          <p:cNvPr id="4" name="object 4">
            <a:extLst>
              <a:ext uri="{FF2B5EF4-FFF2-40B4-BE49-F238E27FC236}">
                <a16:creationId xmlns:a16="http://schemas.microsoft.com/office/drawing/2014/main" id="{2883DEBF-C07E-9BDB-AE7C-FA32E3A42834}"/>
              </a:ext>
            </a:extLst>
          </p:cNvPr>
          <p:cNvSpPr txBox="1"/>
          <p:nvPr/>
        </p:nvSpPr>
        <p:spPr>
          <a:xfrm>
            <a:off x="475248" y="1289060"/>
            <a:ext cx="50873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dirty="0"/>
              <a:t>🔄 </a:t>
            </a:r>
            <a:r>
              <a:rPr lang="en-IN" b="1" dirty="0"/>
              <a:t>Connection-oriented:</a:t>
            </a:r>
            <a:r>
              <a:rPr lang="en-IN" dirty="0"/>
              <a:t> Three-way handshake</a:t>
            </a:r>
          </a:p>
          <a:p>
            <a:pPr marL="285750" indent="-285750">
              <a:buFont typeface="Wingdings" panose="05000000000000000000" pitchFamily="2" charset="2"/>
              <a:buChar char="v"/>
            </a:pPr>
            <a:r>
              <a:rPr lang="en-IN" dirty="0"/>
              <a:t>✅ </a:t>
            </a:r>
            <a:r>
              <a:rPr lang="en-IN" b="1" dirty="0"/>
              <a:t>Reliable:</a:t>
            </a:r>
            <a:r>
              <a:rPr lang="en-IN" dirty="0"/>
              <a:t> Guaranteed delivery, in-order</a:t>
            </a:r>
          </a:p>
          <a:p>
            <a:pPr marL="285750" indent="-285750">
              <a:buFont typeface="Wingdings" panose="05000000000000000000" pitchFamily="2" charset="2"/>
              <a:buChar char="v"/>
            </a:pPr>
            <a:r>
              <a:rPr lang="en-IN" dirty="0"/>
              <a:t>📊 </a:t>
            </a:r>
            <a:r>
              <a:rPr lang="en-IN" b="1" dirty="0"/>
              <a:t>Flow control:</a:t>
            </a:r>
            <a:r>
              <a:rPr lang="en-IN" dirty="0"/>
              <a:t> Prevents overwhelming receiver</a:t>
            </a:r>
          </a:p>
          <a:p>
            <a:pPr marL="285750" indent="-285750">
              <a:buFont typeface="Wingdings" panose="05000000000000000000" pitchFamily="2" charset="2"/>
              <a:buChar char="v"/>
            </a:pPr>
            <a:r>
              <a:rPr lang="en-IN" dirty="0"/>
              <a:t>🚦 </a:t>
            </a:r>
            <a:r>
              <a:rPr lang="en-IN" b="1" dirty="0"/>
              <a:t>Congestion control:</a:t>
            </a:r>
            <a:r>
              <a:rPr lang="en-IN" dirty="0"/>
              <a:t> Adapts to network conditions</a:t>
            </a:r>
          </a:p>
          <a:p>
            <a:pPr marL="285750" indent="-285750">
              <a:buFont typeface="Wingdings" panose="05000000000000000000" pitchFamily="2" charset="2"/>
              <a:buChar char="v"/>
            </a:pPr>
            <a:r>
              <a:rPr lang="en-IN" dirty="0"/>
              <a:t>🐌 </a:t>
            </a:r>
            <a:r>
              <a:rPr lang="en-IN" b="1" dirty="0"/>
              <a:t>Slower:</a:t>
            </a:r>
            <a:r>
              <a:rPr lang="en-IN" dirty="0"/>
              <a:t> More overhead, latency</a:t>
            </a:r>
          </a:p>
          <a:p>
            <a:pPr marL="285750" indent="-285750">
              <a:buFont typeface="Wingdings" panose="05000000000000000000" pitchFamily="2" charset="2"/>
              <a:buChar char="v"/>
            </a:pPr>
            <a:r>
              <a:rPr lang="en-IN" b="1" dirty="0"/>
              <a:t>Use cases:</a:t>
            </a:r>
            <a:r>
              <a:rPr lang="en-IN" dirty="0"/>
              <a:t> Web (HTTP), email (SMTP), file transfer (FTP)</a:t>
            </a:r>
          </a:p>
        </p:txBody>
      </p:sp>
    </p:spTree>
    <p:extLst>
      <p:ext uri="{BB962C8B-B14F-4D97-AF65-F5344CB8AC3E}">
        <p14:creationId xmlns:p14="http://schemas.microsoft.com/office/powerpoint/2010/main" val="3758919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217F5-8BA1-D431-7F83-E8B12BC26F9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9CDECDE-2A2E-7FEF-99E3-CC4C10E6227A}"/>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User </a:t>
            </a:r>
            <a:r>
              <a:rPr lang="fr-FR" spc="-330" dirty="0" err="1"/>
              <a:t>Datagram</a:t>
            </a:r>
            <a:r>
              <a:rPr lang="fr-FR" spc="-330" dirty="0"/>
              <a:t> Protocol (UDP)</a:t>
            </a:r>
            <a:endParaRPr spc="-150" dirty="0"/>
          </a:p>
        </p:txBody>
      </p:sp>
      <p:sp>
        <p:nvSpPr>
          <p:cNvPr id="4" name="object 4">
            <a:extLst>
              <a:ext uri="{FF2B5EF4-FFF2-40B4-BE49-F238E27FC236}">
                <a16:creationId xmlns:a16="http://schemas.microsoft.com/office/drawing/2014/main" id="{B14FF3E5-4285-91C6-E8DF-04531611225F}"/>
              </a:ext>
            </a:extLst>
          </p:cNvPr>
          <p:cNvSpPr txBox="1"/>
          <p:nvPr/>
        </p:nvSpPr>
        <p:spPr>
          <a:xfrm>
            <a:off x="384724" y="1276350"/>
            <a:ext cx="6244676" cy="1397819"/>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dirty="0"/>
              <a:t>🚀 </a:t>
            </a:r>
            <a:r>
              <a:rPr lang="en-IN" b="1" dirty="0"/>
              <a:t>Connectionless:</a:t>
            </a:r>
            <a:r>
              <a:rPr lang="en-IN" dirty="0"/>
              <a:t> No setup, just send</a:t>
            </a:r>
          </a:p>
          <a:p>
            <a:pPr marL="285750" indent="-285750">
              <a:buFont typeface="Wingdings" panose="05000000000000000000" pitchFamily="2" charset="2"/>
              <a:buChar char="v"/>
            </a:pPr>
            <a:r>
              <a:rPr lang="en-IN" dirty="0"/>
              <a:t>⚡ </a:t>
            </a:r>
            <a:r>
              <a:rPr lang="en-IN" b="1" dirty="0"/>
              <a:t>Fast:</a:t>
            </a:r>
            <a:r>
              <a:rPr lang="en-IN" dirty="0"/>
              <a:t> Minimal overhead, low latency</a:t>
            </a:r>
          </a:p>
          <a:p>
            <a:pPr marL="285750" indent="-285750">
              <a:buFont typeface="Wingdings" panose="05000000000000000000" pitchFamily="2" charset="2"/>
              <a:buChar char="v"/>
            </a:pPr>
            <a:r>
              <a:rPr lang="en-IN" dirty="0"/>
              <a:t>❌ </a:t>
            </a:r>
            <a:r>
              <a:rPr lang="en-IN" b="1" dirty="0"/>
              <a:t>Unreliable:</a:t>
            </a:r>
            <a:r>
              <a:rPr lang="en-IN" dirty="0"/>
              <a:t> No delivery guarantees, no ordering</a:t>
            </a:r>
          </a:p>
          <a:p>
            <a:pPr marL="285750" indent="-285750">
              <a:buFont typeface="Wingdings" panose="05000000000000000000" pitchFamily="2" charset="2"/>
              <a:buChar char="v"/>
            </a:pPr>
            <a:r>
              <a:rPr lang="en-IN" dirty="0"/>
              <a:t>💧 </a:t>
            </a:r>
            <a:r>
              <a:rPr lang="en-IN" b="1" dirty="0"/>
              <a:t>No flow/congestion control:</a:t>
            </a:r>
            <a:r>
              <a:rPr lang="en-IN" dirty="0"/>
              <a:t> Can overwhelm network</a:t>
            </a:r>
          </a:p>
          <a:p>
            <a:pPr marL="285750" indent="-285750">
              <a:buFont typeface="Wingdings" panose="05000000000000000000" pitchFamily="2" charset="2"/>
              <a:buChar char="v"/>
            </a:pPr>
            <a:r>
              <a:rPr lang="en-IN" b="1" dirty="0"/>
              <a:t>Use cases:</a:t>
            </a:r>
            <a:r>
              <a:rPr lang="en-IN" dirty="0"/>
              <a:t> Video streaming, VoIP, DNS, gaming</a:t>
            </a:r>
          </a:p>
        </p:txBody>
      </p:sp>
    </p:spTree>
    <p:extLst>
      <p:ext uri="{BB962C8B-B14F-4D97-AF65-F5344CB8AC3E}">
        <p14:creationId xmlns:p14="http://schemas.microsoft.com/office/powerpoint/2010/main" val="2556339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5F11-387E-E9EB-7D89-24751996240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82BA355-9870-0A14-FA09-6A6029CD6FF3}"/>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err="1"/>
              <a:t>Hypertext</a:t>
            </a:r>
            <a:r>
              <a:rPr lang="fr-FR" spc="-330" dirty="0"/>
              <a:t> Transfer Protocol (HTTP)</a:t>
            </a:r>
            <a:endParaRPr spc="-150" dirty="0"/>
          </a:p>
        </p:txBody>
      </p:sp>
      <p:sp>
        <p:nvSpPr>
          <p:cNvPr id="4" name="object 4">
            <a:extLst>
              <a:ext uri="{FF2B5EF4-FFF2-40B4-BE49-F238E27FC236}">
                <a16:creationId xmlns:a16="http://schemas.microsoft.com/office/drawing/2014/main" id="{1AB8CB43-1F5D-9DE5-7BE5-A3186D2041CB}"/>
              </a:ext>
            </a:extLst>
          </p:cNvPr>
          <p:cNvSpPr txBox="1"/>
          <p:nvPr/>
        </p:nvSpPr>
        <p:spPr>
          <a:xfrm>
            <a:off x="475248" y="1289060"/>
            <a:ext cx="76781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Web Foundation:</a:t>
            </a:r>
            <a:r>
              <a:rPr lang="en-IN" dirty="0"/>
              <a:t> Application protocol for the World Wide Web</a:t>
            </a:r>
          </a:p>
          <a:p>
            <a:pPr marL="285750" indent="-285750">
              <a:buFont typeface="Wingdings" panose="05000000000000000000" pitchFamily="2" charset="2"/>
              <a:buChar char="v"/>
            </a:pPr>
            <a:r>
              <a:rPr lang="en-IN" b="1" dirty="0"/>
              <a:t>📝 Text-based (mostly):</a:t>
            </a:r>
            <a:r>
              <a:rPr lang="en-IN" dirty="0"/>
              <a:t> Human-readable headers (except HTTP/2 binary)</a:t>
            </a:r>
          </a:p>
          <a:p>
            <a:pPr marL="285750" indent="-285750">
              <a:buFont typeface="Wingdings" panose="05000000000000000000" pitchFamily="2" charset="2"/>
              <a:buChar char="v"/>
            </a:pPr>
            <a:r>
              <a:rPr lang="en-IN" b="1" dirty="0"/>
              <a:t>🔄 Client-Server:</a:t>
            </a:r>
            <a:r>
              <a:rPr lang="en-IN" dirty="0"/>
              <a:t> Stateless request-response model</a:t>
            </a:r>
          </a:p>
          <a:p>
            <a:pPr marL="285750" indent="-285750">
              <a:buFont typeface="Wingdings" panose="05000000000000000000" pitchFamily="2" charset="2"/>
              <a:buChar char="v"/>
            </a:pPr>
            <a:r>
              <a:rPr lang="en-IN" b="1" dirty="0"/>
              <a:t>🔗 Connection-oriented:</a:t>
            </a:r>
            <a:r>
              <a:rPr lang="en-IN" dirty="0"/>
              <a:t> Typically over TCP (port 80 HTTP, 443 HTTPS)</a:t>
            </a:r>
          </a:p>
          <a:p>
            <a:pPr marL="285750" indent="-285750">
              <a:buFont typeface="Wingdings" panose="05000000000000000000" pitchFamily="2" charset="2"/>
              <a:buChar char="v"/>
            </a:pPr>
            <a:r>
              <a:rPr lang="en-IN" b="1" dirty="0"/>
              <a:t>⚡ Versions Matter:</a:t>
            </a:r>
            <a:r>
              <a:rPr lang="en-IN" dirty="0"/>
              <a:t> HTTP/1.1, HTTP/2, HTTP/3 have different performance characteristics</a:t>
            </a:r>
          </a:p>
          <a:p>
            <a:pPr marL="285750" indent="-285750">
              <a:buFont typeface="Wingdings" panose="05000000000000000000" pitchFamily="2" charset="2"/>
              <a:buChar char="v"/>
            </a:pPr>
            <a:r>
              <a:rPr lang="en-IN" b="1" dirty="0"/>
              <a:t>HTTP Use Cases:</a:t>
            </a:r>
            <a:r>
              <a:rPr lang="en-IN" dirty="0"/>
              <a:t> Web Browsing, REST APIs, Media Streaming, Email Protocols</a:t>
            </a:r>
          </a:p>
        </p:txBody>
      </p:sp>
    </p:spTree>
    <p:extLst>
      <p:ext uri="{BB962C8B-B14F-4D97-AF65-F5344CB8AC3E}">
        <p14:creationId xmlns:p14="http://schemas.microsoft.com/office/powerpoint/2010/main" val="1805421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C065D-7155-D8BD-8A3C-09FCBB5DE60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A3DC284-E6EF-4740-BBFF-AA1345761BC0}"/>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HTTP Evolution Timeline</a:t>
            </a:r>
            <a:endParaRPr spc="-150" dirty="0"/>
          </a:p>
        </p:txBody>
      </p:sp>
      <p:sp>
        <p:nvSpPr>
          <p:cNvPr id="4" name="object 4">
            <a:extLst>
              <a:ext uri="{FF2B5EF4-FFF2-40B4-BE49-F238E27FC236}">
                <a16:creationId xmlns:a16="http://schemas.microsoft.com/office/drawing/2014/main" id="{EC5EC2F2-E9C4-0C21-E0BC-653E6A5EF353}"/>
              </a:ext>
            </a:extLst>
          </p:cNvPr>
          <p:cNvSpPr txBox="1"/>
          <p:nvPr/>
        </p:nvSpPr>
        <p:spPr>
          <a:xfrm>
            <a:off x="475248" y="1289060"/>
            <a:ext cx="7678152" cy="3059812"/>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1991 - HTTP/0.9:</a:t>
            </a:r>
            <a:r>
              <a:rPr lang="en-US" dirty="0"/>
              <a:t> Just GET, no headers, no status codes. Simple but limited.</a:t>
            </a:r>
          </a:p>
          <a:p>
            <a:pPr marL="285750" indent="-285750">
              <a:buFont typeface="Wingdings" panose="05000000000000000000" pitchFamily="2" charset="2"/>
              <a:buChar char="v"/>
            </a:pPr>
            <a:r>
              <a:rPr lang="en-US" b="1" dirty="0"/>
              <a:t>1996 - HTTP/1.0:</a:t>
            </a:r>
            <a:r>
              <a:rPr lang="en-US" dirty="0"/>
              <a:t> Added POST, HEAD methods, status codes (200, 404, 500), and headers. But still one request per connection - inefficient.</a:t>
            </a:r>
          </a:p>
          <a:p>
            <a:pPr marL="285750" indent="-285750">
              <a:buFont typeface="Wingdings" panose="05000000000000000000" pitchFamily="2" charset="2"/>
              <a:buChar char="v"/>
            </a:pPr>
            <a:r>
              <a:rPr lang="en-US" b="1" dirty="0"/>
              <a:t>1999 - HTTP/1.1:</a:t>
            </a:r>
            <a:r>
              <a:rPr lang="en-US" dirty="0"/>
              <a:t> The foundation. Added PUT, DELETE, OPTIONS, TRACE, CONNECT. Persistent connections, chunked transfer, required Host header. </a:t>
            </a:r>
            <a:r>
              <a:rPr lang="en-US" b="1" dirty="0"/>
              <a:t>This is what REST builds on.</a:t>
            </a:r>
            <a:endParaRPr lang="en-US" dirty="0"/>
          </a:p>
          <a:p>
            <a:pPr marL="285750" indent="-285750">
              <a:buFont typeface="Wingdings" panose="05000000000000000000" pitchFamily="2" charset="2"/>
              <a:buChar char="v"/>
            </a:pPr>
            <a:r>
              <a:rPr lang="en-US" b="1" dirty="0"/>
              <a:t>2015 - HTTP/2:</a:t>
            </a:r>
            <a:r>
              <a:rPr lang="en-US" dirty="0"/>
              <a:t> Binary protocol, multiplexing, header compression. Same semantics - same methods and status codes as HTTP/1.1.</a:t>
            </a:r>
          </a:p>
          <a:p>
            <a:pPr marL="285750" indent="-285750">
              <a:buFont typeface="Wingdings" panose="05000000000000000000" pitchFamily="2" charset="2"/>
              <a:buChar char="v"/>
            </a:pPr>
            <a:r>
              <a:rPr lang="en-US" b="1" dirty="0"/>
              <a:t>2022 - HTTP/3:</a:t>
            </a:r>
            <a:r>
              <a:rPr lang="en-US" dirty="0"/>
              <a:t> QUIC over UDP, built-in encryption, eliminates TCP head-of-line blocking.</a:t>
            </a:r>
          </a:p>
        </p:txBody>
      </p:sp>
    </p:spTree>
    <p:extLst>
      <p:ext uri="{BB962C8B-B14F-4D97-AF65-F5344CB8AC3E}">
        <p14:creationId xmlns:p14="http://schemas.microsoft.com/office/powerpoint/2010/main" val="188655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89D02-DC0E-A796-1688-E4781CDEAFF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42DC9B3-C141-097E-A6CB-185A9ED08CD8}"/>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Communication Types - Push vs Pull</a:t>
            </a:r>
            <a:endParaRPr spc="-150" dirty="0"/>
          </a:p>
        </p:txBody>
      </p:sp>
      <p:sp>
        <p:nvSpPr>
          <p:cNvPr id="4" name="object 4">
            <a:extLst>
              <a:ext uri="{FF2B5EF4-FFF2-40B4-BE49-F238E27FC236}">
                <a16:creationId xmlns:a16="http://schemas.microsoft.com/office/drawing/2014/main" id="{17175C78-54AE-E740-E01C-0558A999E98F}"/>
              </a:ext>
            </a:extLst>
          </p:cNvPr>
          <p:cNvSpPr txBox="1"/>
          <p:nvPr/>
        </p:nvSpPr>
        <p:spPr>
          <a:xfrm>
            <a:off x="475248" y="1289060"/>
            <a:ext cx="4706352" cy="2167260"/>
          </a:xfrm>
          <a:prstGeom prst="rect">
            <a:avLst/>
          </a:prstGeom>
        </p:spPr>
        <p:txBody>
          <a:bodyPr vert="horz" wrap="square" lIns="0" tIns="12700" rIns="0" bIns="0" rtlCol="0">
            <a:spAutoFit/>
          </a:bodyPr>
          <a:lstStyle/>
          <a:p>
            <a:r>
              <a:rPr lang="en-IN" sz="1400" b="1" dirty="0"/>
              <a:t>Pull (Request-Response):</a:t>
            </a:r>
          </a:p>
          <a:p>
            <a:pPr latinLnBrk="1"/>
            <a:r>
              <a:rPr lang="en-US" sz="1400" dirty="0"/>
              <a:t>Client → REQUEST → Server</a:t>
            </a:r>
          </a:p>
          <a:p>
            <a:pPr latinLnBrk="1"/>
            <a:r>
              <a:rPr lang="en-US" sz="1400" dirty="0"/>
              <a:t>Client ← RESPONSE ← Server</a:t>
            </a:r>
          </a:p>
          <a:p>
            <a:pPr latinLnBrk="1"/>
            <a:r>
              <a:rPr lang="en-US" sz="1400" dirty="0"/>
              <a:t>"Ask for data when you need it“</a:t>
            </a:r>
          </a:p>
          <a:p>
            <a:pPr latinLnBrk="1"/>
            <a:endParaRPr lang="en-US" sz="1400" dirty="0"/>
          </a:p>
          <a:p>
            <a:r>
              <a:rPr lang="en-IN" sz="1400" b="1" dirty="0"/>
              <a:t>Push (Publish-Subscribe):</a:t>
            </a:r>
          </a:p>
          <a:p>
            <a:pPr latinLnBrk="1"/>
            <a:r>
              <a:rPr lang="en-IN" sz="1400" dirty="0"/>
              <a:t>Publisher → EVENT → Message Broker</a:t>
            </a:r>
          </a:p>
          <a:p>
            <a:pPr latinLnBrk="1"/>
            <a:r>
              <a:rPr lang="en-IN" sz="1400" dirty="0"/>
              <a:t> → EVENT → Subscriber → EVENT → Subscriber</a:t>
            </a:r>
          </a:p>
          <a:p>
            <a:pPr latinLnBrk="1"/>
            <a:r>
              <a:rPr lang="en-IN" sz="1400" dirty="0"/>
              <a:t>"Get data when it's available"</a:t>
            </a:r>
          </a:p>
          <a:p>
            <a:endParaRPr lang="en-IN" sz="1400" dirty="0"/>
          </a:p>
        </p:txBody>
      </p:sp>
    </p:spTree>
    <p:extLst>
      <p:ext uri="{BB962C8B-B14F-4D97-AF65-F5344CB8AC3E}">
        <p14:creationId xmlns:p14="http://schemas.microsoft.com/office/powerpoint/2010/main" val="1195245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2268-E713-7E01-36D4-96C3542563F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5B395A3-5528-6AF6-F7B1-8DDA88C7F8FB}"/>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Common Communication </a:t>
            </a:r>
            <a:r>
              <a:rPr lang="fr-FR" spc="-330" dirty="0" err="1"/>
              <a:t>Protocols</a:t>
            </a:r>
            <a:endParaRPr spc="-150" dirty="0"/>
          </a:p>
        </p:txBody>
      </p:sp>
      <p:sp>
        <p:nvSpPr>
          <p:cNvPr id="4" name="object 4">
            <a:extLst>
              <a:ext uri="{FF2B5EF4-FFF2-40B4-BE49-F238E27FC236}">
                <a16:creationId xmlns:a16="http://schemas.microsoft.com/office/drawing/2014/main" id="{ED866171-EC73-F48E-BAB3-88DFB5DB0B88}"/>
              </a:ext>
            </a:extLst>
          </p:cNvPr>
          <p:cNvSpPr txBox="1"/>
          <p:nvPr/>
        </p:nvSpPr>
        <p:spPr>
          <a:xfrm>
            <a:off x="475248" y="1047750"/>
            <a:ext cx="7601952" cy="3706143"/>
          </a:xfrm>
          <a:prstGeom prst="rect">
            <a:avLst/>
          </a:prstGeom>
        </p:spPr>
        <p:txBody>
          <a:bodyPr vert="horz" wrap="square" lIns="0" tIns="12700" rIns="0" bIns="0" rtlCol="0">
            <a:spAutoFit/>
          </a:bodyPr>
          <a:lstStyle/>
          <a:p>
            <a:r>
              <a:rPr lang="en-IN" b="1" dirty="0"/>
              <a:t>Request-Response Protocols:</a:t>
            </a:r>
            <a:endParaRPr lang="en-IN" dirty="0"/>
          </a:p>
          <a:p>
            <a:pPr marL="285750" lvl="1" indent="-285750">
              <a:buFont typeface="Courier New" panose="02070309020205020404" pitchFamily="49" charset="0"/>
              <a:buChar char="o"/>
            </a:pPr>
            <a:r>
              <a:rPr lang="en-IN" sz="1400" dirty="0"/>
              <a:t>RPC (gRPC, Thrift)</a:t>
            </a:r>
          </a:p>
          <a:p>
            <a:pPr marL="285750" lvl="1" indent="-285750">
              <a:buFont typeface="Courier New" panose="02070309020205020404" pitchFamily="49" charset="0"/>
              <a:buChar char="o"/>
            </a:pPr>
            <a:r>
              <a:rPr lang="en-IN" sz="1400" dirty="0"/>
              <a:t>REST (HTTP/JSON) </a:t>
            </a:r>
          </a:p>
          <a:p>
            <a:pPr marL="285750" lvl="1" indent="-285750">
              <a:buFont typeface="Courier New" panose="02070309020205020404" pitchFamily="49" charset="0"/>
              <a:buChar char="o"/>
            </a:pPr>
            <a:r>
              <a:rPr lang="en-IN" sz="1400" dirty="0" err="1"/>
              <a:t>GraphQL</a:t>
            </a:r>
            <a:endParaRPr lang="en-IN" sz="1400" dirty="0"/>
          </a:p>
          <a:p>
            <a:r>
              <a:rPr lang="en-IN" b="1" dirty="0"/>
              <a:t>Messaging Protocols:</a:t>
            </a:r>
            <a:endParaRPr lang="en-IN" dirty="0"/>
          </a:p>
          <a:p>
            <a:pPr marL="285750" lvl="1" indent="-285750">
              <a:buFont typeface="Courier New" panose="02070309020205020404" pitchFamily="49" charset="0"/>
              <a:buChar char="o"/>
            </a:pPr>
            <a:r>
              <a:rPr lang="en-IN" sz="1400" dirty="0"/>
              <a:t>AMQP (RabbitMQ)</a:t>
            </a:r>
          </a:p>
          <a:p>
            <a:pPr marL="285750" lvl="1" indent="-285750">
              <a:buFont typeface="Courier New" panose="02070309020205020404" pitchFamily="49" charset="0"/>
              <a:buChar char="o"/>
            </a:pPr>
            <a:r>
              <a:rPr lang="en-IN" sz="1400" dirty="0"/>
              <a:t>MQTT (IoT)</a:t>
            </a:r>
          </a:p>
          <a:p>
            <a:pPr marL="285750" lvl="1" indent="-285750">
              <a:buFont typeface="Courier New" panose="02070309020205020404" pitchFamily="49" charset="0"/>
              <a:buChar char="o"/>
            </a:pPr>
            <a:r>
              <a:rPr lang="en-IN" sz="1400" dirty="0"/>
              <a:t>Kafka Protocol</a:t>
            </a:r>
          </a:p>
          <a:p>
            <a:r>
              <a:rPr lang="en-IN" b="1" dirty="0"/>
              <a:t>Real-time Protocols:</a:t>
            </a:r>
            <a:endParaRPr lang="en-IN" dirty="0"/>
          </a:p>
          <a:p>
            <a:pPr marL="285750" lvl="1" indent="-285750">
              <a:buFont typeface="Courier New" panose="02070309020205020404" pitchFamily="49" charset="0"/>
              <a:buChar char="o"/>
            </a:pPr>
            <a:r>
              <a:rPr lang="en-IN" sz="1400" dirty="0" err="1"/>
              <a:t>WebSockets</a:t>
            </a:r>
            <a:endParaRPr lang="en-IN" sz="1400" dirty="0"/>
          </a:p>
          <a:p>
            <a:pPr marL="285750" lvl="1" indent="-285750">
              <a:buFont typeface="Courier New" panose="02070309020205020404" pitchFamily="49" charset="0"/>
              <a:buChar char="o"/>
            </a:pPr>
            <a:r>
              <a:rPr lang="en-IN" sz="1400" dirty="0"/>
              <a:t>WebRTC (P2P)</a:t>
            </a:r>
          </a:p>
          <a:p>
            <a:pPr marL="285750" lvl="1" indent="-285750">
              <a:buFont typeface="Courier New" panose="02070309020205020404" pitchFamily="49" charset="0"/>
              <a:buChar char="o"/>
            </a:pPr>
            <a:r>
              <a:rPr lang="en-IN" sz="1400" dirty="0"/>
              <a:t>Server-Sent Events (SSE)</a:t>
            </a:r>
          </a:p>
          <a:p>
            <a:r>
              <a:rPr lang="en-IN" b="1" dirty="0"/>
              <a:t>Streaming Protocols:</a:t>
            </a:r>
            <a:endParaRPr lang="en-IN" dirty="0"/>
          </a:p>
          <a:p>
            <a:pPr marL="285750" lvl="1" indent="-285750">
              <a:buFont typeface="Courier New" panose="02070309020205020404" pitchFamily="49" charset="0"/>
              <a:buChar char="o"/>
            </a:pPr>
            <a:r>
              <a:rPr lang="en-IN" sz="1400" dirty="0"/>
              <a:t>HTTP/2, HTTP/3 Streams</a:t>
            </a:r>
          </a:p>
          <a:p>
            <a:pPr marL="285750" lvl="1" indent="-285750">
              <a:buFont typeface="Courier New" panose="02070309020205020404" pitchFamily="49" charset="0"/>
              <a:buChar char="o"/>
            </a:pPr>
            <a:r>
              <a:rPr lang="en-IN" sz="1400" dirty="0"/>
              <a:t>RTMP (video)</a:t>
            </a:r>
          </a:p>
          <a:p>
            <a:pPr marL="285750" lvl="1" indent="-285750">
              <a:buFont typeface="Courier New" panose="02070309020205020404" pitchFamily="49" charset="0"/>
              <a:buChar char="o"/>
            </a:pPr>
            <a:r>
              <a:rPr lang="en-IN" sz="1400" dirty="0"/>
              <a:t>QUIC</a:t>
            </a:r>
          </a:p>
        </p:txBody>
      </p:sp>
    </p:spTree>
    <p:extLst>
      <p:ext uri="{BB962C8B-B14F-4D97-AF65-F5344CB8AC3E}">
        <p14:creationId xmlns:p14="http://schemas.microsoft.com/office/powerpoint/2010/main" val="209992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935A-EC55-FE8E-E902-9FA151F3944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C7675D0-5128-69B7-A4D9-1B9F7D9D625E}"/>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err="1"/>
              <a:t>Remote</a:t>
            </a:r>
            <a:r>
              <a:rPr lang="fr-FR" spc="-330" dirty="0"/>
              <a:t> </a:t>
            </a:r>
            <a:r>
              <a:rPr lang="fr-FR" spc="-330" dirty="0" err="1"/>
              <a:t>Procedure</a:t>
            </a:r>
            <a:r>
              <a:rPr lang="fr-FR" spc="-330" dirty="0"/>
              <a:t> Call (RPC)</a:t>
            </a:r>
            <a:endParaRPr spc="-150" dirty="0"/>
          </a:p>
        </p:txBody>
      </p:sp>
      <p:sp>
        <p:nvSpPr>
          <p:cNvPr id="4" name="object 4">
            <a:extLst>
              <a:ext uri="{FF2B5EF4-FFF2-40B4-BE49-F238E27FC236}">
                <a16:creationId xmlns:a16="http://schemas.microsoft.com/office/drawing/2014/main" id="{4573BF2E-CFDA-88B8-1B05-CA2C33CB0CFA}"/>
              </a:ext>
            </a:extLst>
          </p:cNvPr>
          <p:cNvSpPr txBox="1"/>
          <p:nvPr/>
        </p:nvSpPr>
        <p:spPr>
          <a:xfrm>
            <a:off x="475248" y="1047750"/>
            <a:ext cx="6687552" cy="3336811"/>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The Core Idea:</a:t>
            </a:r>
            <a:r>
              <a:rPr lang="en-US" dirty="0"/>
              <a:t> A client calls a function or method that executes on a remote server as if it were local.</a:t>
            </a:r>
          </a:p>
          <a:p>
            <a:pPr marL="285750" indent="-285750">
              <a:buFont typeface="Wingdings" panose="05000000000000000000" pitchFamily="2" charset="2"/>
              <a:buChar char="v"/>
            </a:pPr>
            <a:r>
              <a:rPr lang="en-US" b="1" dirty="0"/>
              <a:t>Philosophy:</a:t>
            </a:r>
            <a:r>
              <a:rPr lang="en-US" dirty="0"/>
              <a:t> It's about </a:t>
            </a:r>
            <a:r>
              <a:rPr lang="en-US" b="1" dirty="0"/>
              <a:t>actions and operations</a:t>
            </a:r>
            <a:r>
              <a:rPr lang="en-US" dirty="0"/>
              <a:t>. The API is structured around executable commands.</a:t>
            </a:r>
          </a:p>
          <a:p>
            <a:pPr marL="285750" indent="-285750">
              <a:buFont typeface="Wingdings" panose="05000000000000000000" pitchFamily="2" charset="2"/>
              <a:buChar char="v"/>
            </a:pPr>
            <a:r>
              <a:rPr lang="en-US" b="1" dirty="0"/>
              <a:t>Communication Pattern:</a:t>
            </a:r>
            <a:r>
              <a:rPr lang="en-US" dirty="0"/>
              <a:t> "Server, please </a:t>
            </a:r>
            <a:r>
              <a:rPr lang="en-US" b="1" dirty="0"/>
              <a:t>do this</a:t>
            </a:r>
            <a:r>
              <a:rPr lang="en-US" dirty="0"/>
              <a:t> for me." (e.g., </a:t>
            </a:r>
            <a:r>
              <a:rPr lang="en-US" dirty="0" err="1"/>
              <a:t>processOrder</a:t>
            </a:r>
            <a:r>
              <a:rPr lang="en-US" dirty="0"/>
              <a:t>, </a:t>
            </a:r>
            <a:r>
              <a:rPr lang="en-US" dirty="0" err="1"/>
              <a:t>calculateTax</a:t>
            </a:r>
            <a:r>
              <a:rPr lang="en-US" dirty="0"/>
              <a:t>, </a:t>
            </a:r>
            <a:r>
              <a:rPr lang="en-US" dirty="0" err="1"/>
              <a:t>sendNotification</a:t>
            </a:r>
            <a:r>
              <a:rPr lang="en-US" dirty="0"/>
              <a:t>).</a:t>
            </a:r>
          </a:p>
          <a:p>
            <a:pPr marL="285750" indent="-285750">
              <a:buFont typeface="Wingdings" panose="05000000000000000000" pitchFamily="2" charset="2"/>
              <a:buChar char="v"/>
            </a:pPr>
            <a:r>
              <a:rPr lang="en-US" b="1" dirty="0"/>
              <a:t>Common Protocols:</a:t>
            </a:r>
            <a:r>
              <a:rPr lang="en-IN" dirty="0"/>
              <a:t>SOAP/WS-* (XML), gRPC (HTTP/2, Protocol Buffers), JSON-RPC, XML-RPC. Range from XML to </a:t>
            </a:r>
            <a:r>
              <a:rPr lang="en-IN" b="1" dirty="0"/>
              <a:t>binary formats</a:t>
            </a:r>
            <a:r>
              <a:rPr lang="en-IN" dirty="0"/>
              <a:t>.</a:t>
            </a:r>
          </a:p>
          <a:p>
            <a:pPr marL="285750" indent="-285750">
              <a:buFont typeface="Wingdings" panose="05000000000000000000" pitchFamily="2" charset="2"/>
              <a:buChar char="v"/>
            </a:pPr>
            <a:r>
              <a:rPr lang="en-US" b="1" dirty="0"/>
              <a:t>Key Focus:</a:t>
            </a:r>
            <a:r>
              <a:rPr lang="en-US" dirty="0"/>
              <a:t> </a:t>
            </a:r>
            <a:r>
              <a:rPr lang="en-US" b="1" dirty="0"/>
              <a:t>Tight coupling</a:t>
            </a:r>
            <a:r>
              <a:rPr lang="en-US" dirty="0"/>
              <a:t> between client and server interfaces. The client must know the exact procedure name and signature.</a:t>
            </a:r>
          </a:p>
        </p:txBody>
      </p:sp>
    </p:spTree>
    <p:extLst>
      <p:ext uri="{BB962C8B-B14F-4D97-AF65-F5344CB8AC3E}">
        <p14:creationId xmlns:p14="http://schemas.microsoft.com/office/powerpoint/2010/main" val="347768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602BC-AA87-A5CA-8042-06247D5959A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626E3FF-CEA8-0C9F-A76D-A0064AE536BF}"/>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SOAP/WS-* (</a:t>
            </a:r>
            <a:r>
              <a:rPr lang="fr-FR" spc="-330" dirty="0" err="1"/>
              <a:t>enterprise</a:t>
            </a:r>
            <a:r>
              <a:rPr lang="fr-FR" spc="-330" dirty="0"/>
              <a:t> RPC)</a:t>
            </a:r>
            <a:endParaRPr spc="-150" dirty="0"/>
          </a:p>
        </p:txBody>
      </p:sp>
      <p:sp>
        <p:nvSpPr>
          <p:cNvPr id="4" name="object 4">
            <a:extLst>
              <a:ext uri="{FF2B5EF4-FFF2-40B4-BE49-F238E27FC236}">
                <a16:creationId xmlns:a16="http://schemas.microsoft.com/office/drawing/2014/main" id="{F2C09F6F-5D90-3F45-9A1B-A7F34F849F59}"/>
              </a:ext>
            </a:extLst>
          </p:cNvPr>
          <p:cNvSpPr txBox="1"/>
          <p:nvPr/>
        </p:nvSpPr>
        <p:spPr>
          <a:xfrm>
            <a:off x="475248" y="1047750"/>
            <a:ext cx="6687552" cy="2505814"/>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Protocol:</a:t>
            </a:r>
            <a:r>
              <a:rPr lang="en-IN" dirty="0"/>
              <a:t> XML-based messaging protocol with strict standards</a:t>
            </a:r>
          </a:p>
          <a:p>
            <a:pPr marL="285750" indent="-285750">
              <a:buFont typeface="Wingdings" panose="05000000000000000000" pitchFamily="2" charset="2"/>
              <a:buChar char="v"/>
            </a:pPr>
            <a:r>
              <a:rPr lang="en-IN" b="1" dirty="0"/>
              <a:t>Key Feature:</a:t>
            </a:r>
            <a:r>
              <a:rPr lang="en-IN" dirty="0"/>
              <a:t> </a:t>
            </a:r>
            <a:r>
              <a:rPr lang="en-IN" i="1" dirty="0"/>
              <a:t>*WS-* Standards Stack</a:t>
            </a:r>
            <a:r>
              <a:rPr lang="en-IN" dirty="0"/>
              <a:t>* - WS-Security, WS-Transactions, WS-</a:t>
            </a:r>
            <a:r>
              <a:rPr lang="en-IN" dirty="0" err="1"/>
              <a:t>ReliableMessaging</a:t>
            </a:r>
            <a:endParaRPr lang="en-IN" dirty="0"/>
          </a:p>
          <a:p>
            <a:pPr marL="285750" indent="-285750">
              <a:buFont typeface="Wingdings" panose="05000000000000000000" pitchFamily="2" charset="2"/>
              <a:buChar char="v"/>
            </a:pPr>
            <a:r>
              <a:rPr lang="en-IN" b="1" dirty="0"/>
              <a:t>Contract-First:</a:t>
            </a:r>
            <a:r>
              <a:rPr lang="en-IN" dirty="0"/>
              <a:t> </a:t>
            </a:r>
            <a:r>
              <a:rPr lang="en-IN" b="1" dirty="0"/>
              <a:t>WSDL</a:t>
            </a:r>
            <a:r>
              <a:rPr lang="en-IN" dirty="0"/>
              <a:t> (Web Services Description Language) defines service contract upfront</a:t>
            </a:r>
          </a:p>
          <a:p>
            <a:pPr marL="285750" indent="-285750">
              <a:buFont typeface="Wingdings" panose="05000000000000000000" pitchFamily="2" charset="2"/>
              <a:buChar char="v"/>
            </a:pPr>
            <a:r>
              <a:rPr lang="en-IN" b="1" dirty="0"/>
              <a:t>Transport Agnostic:</a:t>
            </a:r>
            <a:r>
              <a:rPr lang="en-IN" dirty="0"/>
              <a:t> Can run over HTTP, SMTP, JMS, etc.</a:t>
            </a:r>
          </a:p>
          <a:p>
            <a:pPr marL="285750" indent="-285750">
              <a:buFont typeface="Wingdings" panose="05000000000000000000" pitchFamily="2" charset="2"/>
              <a:buChar char="v"/>
            </a:pPr>
            <a:r>
              <a:rPr lang="en-IN" b="1" dirty="0"/>
              <a:t>Enterprise Focus:</a:t>
            </a:r>
            <a:r>
              <a:rPr lang="en-IN" dirty="0"/>
              <a:t> Built-in </a:t>
            </a:r>
            <a:r>
              <a:rPr lang="en-IN" b="1" dirty="0"/>
              <a:t>security, ACID transactions, reliability guarantees</a:t>
            </a:r>
            <a:endParaRPr lang="en-IN" dirty="0"/>
          </a:p>
          <a:p>
            <a:pPr marL="285750" indent="-285750">
              <a:buFont typeface="Wingdings" panose="05000000000000000000" pitchFamily="2" charset="2"/>
              <a:buChar char="v"/>
            </a:pPr>
            <a:r>
              <a:rPr lang="en-IN" b="1" dirty="0"/>
              <a:t>Tooling:</a:t>
            </a:r>
            <a:r>
              <a:rPr lang="en-IN" dirty="0"/>
              <a:t> Excellent IDE support, code generation from WSDL</a:t>
            </a:r>
          </a:p>
        </p:txBody>
      </p:sp>
    </p:spTree>
    <p:extLst>
      <p:ext uri="{BB962C8B-B14F-4D97-AF65-F5344CB8AC3E}">
        <p14:creationId xmlns:p14="http://schemas.microsoft.com/office/powerpoint/2010/main" val="3776849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5D88A-1265-7BAF-4C84-1B6C03B06B3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689D925-AFF7-DA01-B43C-08F11260D903}"/>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gRPC (modern RPC)</a:t>
            </a:r>
            <a:endParaRPr spc="-150" dirty="0"/>
          </a:p>
        </p:txBody>
      </p:sp>
      <p:sp>
        <p:nvSpPr>
          <p:cNvPr id="4" name="object 4">
            <a:extLst>
              <a:ext uri="{FF2B5EF4-FFF2-40B4-BE49-F238E27FC236}">
                <a16:creationId xmlns:a16="http://schemas.microsoft.com/office/drawing/2014/main" id="{28CF0571-7B8C-2BBE-886C-228D7C62EA5F}"/>
              </a:ext>
            </a:extLst>
          </p:cNvPr>
          <p:cNvSpPr txBox="1"/>
          <p:nvPr/>
        </p:nvSpPr>
        <p:spPr>
          <a:xfrm>
            <a:off x="475248" y="1047750"/>
            <a:ext cx="6687552" cy="2228815"/>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Protocol:</a:t>
            </a:r>
            <a:r>
              <a:rPr lang="en-IN" dirty="0"/>
              <a:t> HTTP/2 with </a:t>
            </a:r>
            <a:r>
              <a:rPr lang="en-IN" b="1" dirty="0"/>
              <a:t>Protocol Buffers</a:t>
            </a:r>
            <a:r>
              <a:rPr lang="en-IN" dirty="0"/>
              <a:t> (binary serialization)</a:t>
            </a:r>
          </a:p>
          <a:p>
            <a:pPr marL="285750" indent="-285750">
              <a:buFont typeface="Wingdings" panose="05000000000000000000" pitchFamily="2" charset="2"/>
              <a:buChar char="v"/>
            </a:pPr>
            <a:r>
              <a:rPr lang="en-IN" b="1" dirty="0"/>
              <a:t>Key Feature:</a:t>
            </a:r>
            <a:r>
              <a:rPr lang="en-IN" dirty="0"/>
              <a:t> </a:t>
            </a:r>
            <a:r>
              <a:rPr lang="en-IN" b="1" dirty="0"/>
              <a:t>Bidirectional streaming</a:t>
            </a:r>
            <a:r>
              <a:rPr lang="en-IN" dirty="0"/>
              <a:t> over single TCP connection</a:t>
            </a:r>
          </a:p>
          <a:p>
            <a:pPr marL="285750" indent="-285750">
              <a:buFont typeface="Wingdings" panose="05000000000000000000" pitchFamily="2" charset="2"/>
              <a:buChar char="v"/>
            </a:pPr>
            <a:r>
              <a:rPr lang="en-IN" b="1" dirty="0"/>
              <a:t>Performance:</a:t>
            </a:r>
            <a:r>
              <a:rPr lang="en-IN" dirty="0"/>
              <a:t> 5-10x faster than JSON, small binary payloads</a:t>
            </a:r>
          </a:p>
          <a:p>
            <a:pPr marL="285750" indent="-285750">
              <a:buFont typeface="Wingdings" panose="05000000000000000000" pitchFamily="2" charset="2"/>
              <a:buChar char="v"/>
            </a:pPr>
            <a:r>
              <a:rPr lang="en-IN" b="1" dirty="0"/>
              <a:t>Contract-First:</a:t>
            </a:r>
            <a:r>
              <a:rPr lang="en-IN" dirty="0"/>
              <a:t> .proto files define services and messages</a:t>
            </a:r>
          </a:p>
          <a:p>
            <a:pPr marL="285750" indent="-285750">
              <a:buFont typeface="Wingdings" panose="05000000000000000000" pitchFamily="2" charset="2"/>
              <a:buChar char="v"/>
            </a:pPr>
            <a:r>
              <a:rPr lang="en-IN" b="1" dirty="0"/>
              <a:t>Cross-Language:</a:t>
            </a:r>
            <a:r>
              <a:rPr lang="en-IN" dirty="0"/>
              <a:t> Generate code for 10+ languages from .proto</a:t>
            </a:r>
          </a:p>
          <a:p>
            <a:pPr marL="285750" indent="-285750">
              <a:buFont typeface="Wingdings" panose="05000000000000000000" pitchFamily="2" charset="2"/>
              <a:buChar char="v"/>
            </a:pPr>
            <a:r>
              <a:rPr lang="en-IN" b="1" dirty="0"/>
              <a:t>Microservices Focus:</a:t>
            </a:r>
            <a:r>
              <a:rPr lang="en-IN" dirty="0"/>
              <a:t> </a:t>
            </a:r>
            <a:r>
              <a:rPr lang="en-IN" b="1" dirty="0"/>
              <a:t>Load balancing, tracing, auth</a:t>
            </a:r>
            <a:r>
              <a:rPr lang="en-IN" dirty="0"/>
              <a:t> built-in</a:t>
            </a:r>
          </a:p>
        </p:txBody>
      </p:sp>
    </p:spTree>
    <p:extLst>
      <p:ext uri="{BB962C8B-B14F-4D97-AF65-F5344CB8AC3E}">
        <p14:creationId xmlns:p14="http://schemas.microsoft.com/office/powerpoint/2010/main" val="815513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32C0-DF24-2B00-CE24-5DAC3BED5A7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2A21119-1A74-5DC6-0801-84F28A95017D}"/>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Service-</a:t>
            </a:r>
            <a:r>
              <a:rPr lang="fr-FR" spc="-330" dirty="0" err="1"/>
              <a:t>Oriented</a:t>
            </a:r>
            <a:r>
              <a:rPr lang="fr-FR" spc="-330" dirty="0"/>
              <a:t> Architecture (SOA)</a:t>
            </a:r>
            <a:endParaRPr spc="-150" dirty="0"/>
          </a:p>
        </p:txBody>
      </p:sp>
      <p:sp>
        <p:nvSpPr>
          <p:cNvPr id="4" name="object 4">
            <a:extLst>
              <a:ext uri="{FF2B5EF4-FFF2-40B4-BE49-F238E27FC236}">
                <a16:creationId xmlns:a16="http://schemas.microsoft.com/office/drawing/2014/main" id="{8391FEBE-9D34-D62D-E2C4-6E27E6AB8FEB}"/>
              </a:ext>
            </a:extLst>
          </p:cNvPr>
          <p:cNvSpPr txBox="1"/>
          <p:nvPr/>
        </p:nvSpPr>
        <p:spPr>
          <a:xfrm>
            <a:off x="475248" y="1047750"/>
            <a:ext cx="6687552" cy="3059812"/>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The Core Idea:</a:t>
            </a:r>
            <a:r>
              <a:rPr lang="en-IN" dirty="0"/>
              <a:t> Business functionality exposed as </a:t>
            </a:r>
            <a:r>
              <a:rPr lang="en-IN" b="1" dirty="0"/>
              <a:t>reusable, interoperable services</a:t>
            </a:r>
            <a:r>
              <a:rPr lang="en-IN" dirty="0"/>
              <a:t>.</a:t>
            </a:r>
          </a:p>
          <a:p>
            <a:pPr marL="285750" indent="-285750">
              <a:buFont typeface="Wingdings" panose="05000000000000000000" pitchFamily="2" charset="2"/>
              <a:buChar char="v"/>
            </a:pPr>
            <a:r>
              <a:rPr lang="en-IN" b="1" dirty="0"/>
              <a:t>Key Component:</a:t>
            </a:r>
            <a:r>
              <a:rPr lang="en-IN" dirty="0"/>
              <a:t> </a:t>
            </a:r>
            <a:r>
              <a:rPr lang="en-IN" b="1" dirty="0"/>
              <a:t>Enterprise Service Bus (ESB)</a:t>
            </a:r>
            <a:r>
              <a:rPr lang="en-IN" dirty="0"/>
              <a:t> - Centralized middleware for routing, transformation, protocol mediation.</a:t>
            </a:r>
          </a:p>
          <a:p>
            <a:pPr marL="285750" indent="-285750">
              <a:buFont typeface="Wingdings" panose="05000000000000000000" pitchFamily="2" charset="2"/>
              <a:buChar char="v"/>
            </a:pPr>
            <a:r>
              <a:rPr lang="en-IN" b="1" dirty="0"/>
              <a:t>Common Implementation:</a:t>
            </a:r>
            <a:r>
              <a:rPr lang="en-IN" dirty="0"/>
              <a:t> Often built with </a:t>
            </a:r>
            <a:r>
              <a:rPr lang="en-IN" b="1" dirty="0"/>
              <a:t>SOAP/WS-</a:t>
            </a:r>
            <a:r>
              <a:rPr lang="en-IN" dirty="0"/>
              <a:t>* services with WSDL contracts.</a:t>
            </a:r>
          </a:p>
          <a:p>
            <a:pPr marL="285750" indent="-285750">
              <a:buFont typeface="Wingdings" panose="05000000000000000000" pitchFamily="2" charset="2"/>
              <a:buChar char="v"/>
            </a:pPr>
            <a:r>
              <a:rPr lang="en-IN" b="1" dirty="0"/>
              <a:t>Focus:</a:t>
            </a:r>
            <a:r>
              <a:rPr lang="en-IN" dirty="0"/>
              <a:t> </a:t>
            </a:r>
            <a:r>
              <a:rPr lang="en-IN" b="1" dirty="0"/>
              <a:t>Enterprise integration</a:t>
            </a:r>
            <a:r>
              <a:rPr lang="en-IN" dirty="0"/>
              <a:t> - connecting legacy systems, standardized interfaces, governance.</a:t>
            </a:r>
          </a:p>
          <a:p>
            <a:pPr marL="285750" indent="-285750">
              <a:buFont typeface="Wingdings" panose="05000000000000000000" pitchFamily="2" charset="2"/>
              <a:buChar char="v"/>
            </a:pPr>
            <a:r>
              <a:rPr lang="en-IN" b="1" dirty="0"/>
              <a:t>Communication Style:</a:t>
            </a:r>
            <a:r>
              <a:rPr lang="en-IN" dirty="0"/>
              <a:t> Services communicate via </a:t>
            </a:r>
            <a:r>
              <a:rPr lang="en-IN" b="1" dirty="0"/>
              <a:t>messages/events</a:t>
            </a:r>
            <a:r>
              <a:rPr lang="en-IN" dirty="0"/>
              <a:t> through the ESB.</a:t>
            </a:r>
          </a:p>
        </p:txBody>
      </p:sp>
    </p:spTree>
    <p:extLst>
      <p:ext uri="{BB962C8B-B14F-4D97-AF65-F5344CB8AC3E}">
        <p14:creationId xmlns:p14="http://schemas.microsoft.com/office/powerpoint/2010/main" val="1385941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98C49-0189-D2A8-D4C3-520B31CA150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064AC8D-F68D-A81F-8C1D-2CB88FD21F57}"/>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REST (</a:t>
            </a:r>
            <a:r>
              <a:rPr lang="fr-FR" spc="-330" dirty="0" err="1"/>
              <a:t>Representational</a:t>
            </a:r>
            <a:r>
              <a:rPr lang="fr-FR" spc="-330" dirty="0"/>
              <a:t> State Transfer)</a:t>
            </a:r>
            <a:endParaRPr spc="-150" dirty="0"/>
          </a:p>
        </p:txBody>
      </p:sp>
      <p:sp>
        <p:nvSpPr>
          <p:cNvPr id="4" name="object 4">
            <a:extLst>
              <a:ext uri="{FF2B5EF4-FFF2-40B4-BE49-F238E27FC236}">
                <a16:creationId xmlns:a16="http://schemas.microsoft.com/office/drawing/2014/main" id="{24921065-CDB2-2051-F6C6-B11DD2E5F725}"/>
              </a:ext>
            </a:extLst>
          </p:cNvPr>
          <p:cNvSpPr txBox="1"/>
          <p:nvPr/>
        </p:nvSpPr>
        <p:spPr>
          <a:xfrm>
            <a:off x="475248" y="1047750"/>
            <a:ext cx="5239752" cy="1613262"/>
          </a:xfrm>
          <a:prstGeom prst="rect">
            <a:avLst/>
          </a:prstGeom>
        </p:spPr>
        <p:txBody>
          <a:bodyPr vert="horz" wrap="square" lIns="0" tIns="12700" rIns="0" bIns="0" rtlCol="0">
            <a:spAutoFit/>
          </a:bodyPr>
          <a:lstStyle/>
          <a:p>
            <a:r>
              <a:rPr lang="en-IN" sz="1800" b="1" dirty="0"/>
              <a:t>REST</a:t>
            </a:r>
            <a:r>
              <a:rPr lang="en-IN" sz="1800" dirty="0"/>
              <a:t> focuses on </a:t>
            </a:r>
            <a:r>
              <a:rPr lang="en-IN" sz="1800" b="1" dirty="0"/>
              <a:t>representations of resources</a:t>
            </a:r>
            <a:r>
              <a:rPr lang="en-IN" sz="1800" dirty="0"/>
              <a:t>, where a “resource” can be any object or entity — such as a user, a product, or an order — that can be identified and manipulated using standard HTTP operations.</a:t>
            </a:r>
          </a:p>
          <a:p>
            <a:endParaRPr lang="en-IN" sz="1400" dirty="0"/>
          </a:p>
        </p:txBody>
      </p:sp>
    </p:spTree>
    <p:extLst>
      <p:ext uri="{BB962C8B-B14F-4D97-AF65-F5344CB8AC3E}">
        <p14:creationId xmlns:p14="http://schemas.microsoft.com/office/powerpoint/2010/main" val="1859455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C0B6-F609-7832-746F-68A30B235ED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F86FB3B-63A7-6A2B-E52C-203F88A4FC8A}"/>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err="1"/>
              <a:t>Constraints</a:t>
            </a:r>
            <a:r>
              <a:rPr lang="fr-FR" spc="-330" dirty="0"/>
              <a:t> of REST Architecture</a:t>
            </a:r>
            <a:endParaRPr spc="-150" dirty="0"/>
          </a:p>
        </p:txBody>
      </p:sp>
      <p:sp>
        <p:nvSpPr>
          <p:cNvPr id="4" name="object 4">
            <a:extLst>
              <a:ext uri="{FF2B5EF4-FFF2-40B4-BE49-F238E27FC236}">
                <a16:creationId xmlns:a16="http://schemas.microsoft.com/office/drawing/2014/main" id="{F1F1397B-87F7-86A6-1671-E844EB77CA66}"/>
              </a:ext>
            </a:extLst>
          </p:cNvPr>
          <p:cNvSpPr txBox="1"/>
          <p:nvPr/>
        </p:nvSpPr>
        <p:spPr>
          <a:xfrm>
            <a:off x="475248" y="1047750"/>
            <a:ext cx="6001752" cy="2782813"/>
          </a:xfrm>
          <a:prstGeom prst="rect">
            <a:avLst/>
          </a:prstGeom>
        </p:spPr>
        <p:txBody>
          <a:bodyPr vert="horz" wrap="square" lIns="0" tIns="12700" rIns="0" bIns="0" rtlCol="0">
            <a:spAutoFit/>
          </a:bodyPr>
          <a:lstStyle/>
          <a:p>
            <a:pPr marL="342900" indent="-342900">
              <a:buFont typeface="+mj-lt"/>
              <a:buAutoNum type="arabicPeriod"/>
            </a:pPr>
            <a:r>
              <a:rPr lang="en-IN" b="1" dirty="0"/>
              <a:t>Client-Server :</a:t>
            </a:r>
            <a:r>
              <a:rPr lang="en-US" sz="1800" kern="1200" dirty="0">
                <a:solidFill>
                  <a:schemeClr val="tx1"/>
                </a:solidFill>
              </a:rPr>
              <a:t> Clear separation.</a:t>
            </a:r>
            <a:endParaRPr lang="en-IN" b="1" dirty="0"/>
          </a:p>
          <a:p>
            <a:pPr marL="342900" indent="-342900">
              <a:buFont typeface="+mj-lt"/>
              <a:buAutoNum type="arabicPeriod"/>
            </a:pPr>
            <a:r>
              <a:rPr lang="en-IN" b="1" dirty="0"/>
              <a:t>Stateless : </a:t>
            </a:r>
            <a:r>
              <a:rPr lang="en-US" sz="1800" kern="1200" dirty="0">
                <a:solidFill>
                  <a:schemeClr val="tx1"/>
                </a:solidFill>
              </a:rPr>
              <a:t>No client context stored on server. </a:t>
            </a:r>
            <a:endParaRPr lang="en-IN" b="1" dirty="0"/>
          </a:p>
          <a:p>
            <a:pPr marL="342900" indent="-342900">
              <a:buFont typeface="+mj-lt"/>
              <a:buAutoNum type="arabicPeriod"/>
            </a:pPr>
            <a:r>
              <a:rPr lang="en-IN" b="1" dirty="0"/>
              <a:t>Cacheable : </a:t>
            </a:r>
            <a:r>
              <a:rPr lang="en-US" sz="1800" kern="1200" dirty="0">
                <a:solidFill>
                  <a:schemeClr val="tx1"/>
                </a:solidFill>
              </a:rPr>
              <a:t>Reduces interactions, improves efficiency.</a:t>
            </a:r>
            <a:endParaRPr lang="en-IN" b="1" dirty="0"/>
          </a:p>
          <a:p>
            <a:pPr marL="342900" indent="-342900">
              <a:buFont typeface="+mj-lt"/>
              <a:buAutoNum type="arabicPeriod"/>
            </a:pPr>
            <a:r>
              <a:rPr lang="en-IN" b="1" dirty="0"/>
              <a:t>Uniform Interface : </a:t>
            </a:r>
            <a:r>
              <a:rPr lang="en-US" sz="1800" kern="1200" dirty="0">
                <a:solidFill>
                  <a:schemeClr val="tx1"/>
                </a:solidFill>
              </a:rPr>
              <a:t>Has four parts: </a:t>
            </a:r>
          </a:p>
          <a:p>
            <a:pPr marL="342900" lvl="1" indent="-342900">
              <a:buFont typeface="Courier New" panose="02070309020205020404" pitchFamily="49" charset="0"/>
              <a:buChar char="o"/>
            </a:pPr>
            <a:r>
              <a:rPr lang="en-US" kern="1200" dirty="0">
                <a:solidFill>
                  <a:schemeClr val="tx1"/>
                </a:solidFill>
              </a:rPr>
              <a:t>Resources identified by URIs.</a:t>
            </a:r>
          </a:p>
          <a:p>
            <a:pPr marL="342900" lvl="1" indent="-342900">
              <a:buFont typeface="Courier New" panose="02070309020205020404" pitchFamily="49" charset="0"/>
              <a:buChar char="o"/>
            </a:pPr>
            <a:r>
              <a:rPr lang="en-US" kern="1200" dirty="0">
                <a:solidFill>
                  <a:schemeClr val="tx1"/>
                </a:solidFill>
              </a:rPr>
              <a:t> Manipulate through representations.</a:t>
            </a:r>
          </a:p>
          <a:p>
            <a:pPr marL="342900" lvl="1" indent="-342900">
              <a:buFont typeface="Courier New" panose="02070309020205020404" pitchFamily="49" charset="0"/>
              <a:buChar char="o"/>
            </a:pPr>
            <a:r>
              <a:rPr lang="en-US" kern="1200" dirty="0">
                <a:solidFill>
                  <a:schemeClr val="tx1"/>
                </a:solidFill>
              </a:rPr>
              <a:t> Messages are self-descriptive.</a:t>
            </a:r>
          </a:p>
          <a:p>
            <a:pPr marL="342900" lvl="1" indent="-342900">
              <a:buFont typeface="Courier New" panose="02070309020205020404" pitchFamily="49" charset="0"/>
              <a:buChar char="o"/>
            </a:pPr>
            <a:r>
              <a:rPr lang="en-US" kern="1200" dirty="0">
                <a:solidFill>
                  <a:schemeClr val="tx1"/>
                </a:solidFill>
              </a:rPr>
              <a:t> Hypermedia (HATEOAS) drives state</a:t>
            </a:r>
            <a:endParaRPr lang="en-IN" b="1" dirty="0"/>
          </a:p>
          <a:p>
            <a:pPr marL="342900" indent="-342900">
              <a:buFont typeface="+mj-lt"/>
              <a:buAutoNum type="arabicPeriod"/>
            </a:pPr>
            <a:r>
              <a:rPr lang="en-IN" b="1" dirty="0"/>
              <a:t>Layered System : </a:t>
            </a:r>
            <a:r>
              <a:rPr lang="en-US" sz="1800" kern="1200" dirty="0">
                <a:solidFill>
                  <a:schemeClr val="tx1"/>
                </a:solidFill>
              </a:rPr>
              <a:t>Hierarchical layers.</a:t>
            </a:r>
            <a:endParaRPr lang="en-IN" b="1" dirty="0"/>
          </a:p>
          <a:p>
            <a:pPr marL="342900" indent="-342900">
              <a:buFont typeface="+mj-lt"/>
              <a:buAutoNum type="arabicPeriod"/>
            </a:pPr>
            <a:r>
              <a:rPr lang="en-IN" b="1" dirty="0"/>
              <a:t>Code on Demand : </a:t>
            </a:r>
            <a:r>
              <a:rPr lang="en-US" sz="1800" kern="1200" dirty="0">
                <a:solidFill>
                  <a:schemeClr val="tx1"/>
                </a:solidFill>
              </a:rPr>
              <a:t>Optional constraint.</a:t>
            </a:r>
            <a:endParaRPr lang="en-IN" b="1" dirty="0"/>
          </a:p>
        </p:txBody>
      </p:sp>
    </p:spTree>
    <p:extLst>
      <p:ext uri="{BB962C8B-B14F-4D97-AF65-F5344CB8AC3E}">
        <p14:creationId xmlns:p14="http://schemas.microsoft.com/office/powerpoint/2010/main" val="1068668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7E5C-667B-F096-EF7C-8DC9DD44454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3D2CA14-8CE5-FA68-2E0D-3B3D7B5F6B55}"/>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nl-NL" spc="-330" dirty="0"/>
              <a:t>HTTP Methods (Verbs) in REST</a:t>
            </a:r>
            <a:endParaRPr spc="-150" dirty="0"/>
          </a:p>
        </p:txBody>
      </p:sp>
      <p:sp>
        <p:nvSpPr>
          <p:cNvPr id="4" name="object 4">
            <a:extLst>
              <a:ext uri="{FF2B5EF4-FFF2-40B4-BE49-F238E27FC236}">
                <a16:creationId xmlns:a16="http://schemas.microsoft.com/office/drawing/2014/main" id="{309E7ECE-BDF2-28B1-803B-A2C614AEB361}"/>
              </a:ext>
            </a:extLst>
          </p:cNvPr>
          <p:cNvSpPr txBox="1"/>
          <p:nvPr/>
        </p:nvSpPr>
        <p:spPr>
          <a:xfrm>
            <a:off x="475248" y="1047750"/>
            <a:ext cx="7601952" cy="1951816"/>
          </a:xfrm>
          <a:prstGeom prst="rect">
            <a:avLst/>
          </a:prstGeom>
        </p:spPr>
        <p:txBody>
          <a:bodyPr vert="horz" wrap="square" lIns="0" tIns="12700" rIns="0" bIns="0" rtlCol="0">
            <a:spAutoFit/>
          </a:bodyPr>
          <a:lstStyle/>
          <a:p>
            <a:r>
              <a:rPr lang="en-IN" b="1" dirty="0"/>
              <a:t>GET:</a:t>
            </a:r>
            <a:r>
              <a:rPr lang="en-IN" dirty="0"/>
              <a:t> 📥 Retrieve resource (safe, idempotent)</a:t>
            </a:r>
          </a:p>
          <a:p>
            <a:r>
              <a:rPr lang="en-IN" b="1" dirty="0"/>
              <a:t>POST:</a:t>
            </a:r>
            <a:r>
              <a:rPr lang="en-IN" dirty="0"/>
              <a:t> 📤 Submit data to resource (not idempotent)</a:t>
            </a:r>
          </a:p>
          <a:p>
            <a:r>
              <a:rPr lang="en-IN" b="1" dirty="0"/>
              <a:t>PUT:</a:t>
            </a:r>
            <a:r>
              <a:rPr lang="en-IN" dirty="0"/>
              <a:t> ✏️ Replace entire resource (idempotent)</a:t>
            </a:r>
          </a:p>
          <a:p>
            <a:r>
              <a:rPr lang="en-IN" b="1" dirty="0"/>
              <a:t>PATCH:</a:t>
            </a:r>
            <a:r>
              <a:rPr lang="en-IN" dirty="0"/>
              <a:t> 🔧 Partial update (not always idempotent)</a:t>
            </a:r>
          </a:p>
          <a:p>
            <a:r>
              <a:rPr lang="en-IN" b="1" dirty="0"/>
              <a:t>DELETE:</a:t>
            </a:r>
            <a:r>
              <a:rPr lang="en-IN" dirty="0"/>
              <a:t> 🗑️ Remove resource (idempotent)</a:t>
            </a:r>
          </a:p>
          <a:p>
            <a:r>
              <a:rPr lang="en-IN" b="1" dirty="0"/>
              <a:t>HEAD:</a:t>
            </a:r>
            <a:r>
              <a:rPr lang="en-IN" dirty="0"/>
              <a:t> ℹ️ Get headers only (safe, idempotent)</a:t>
            </a:r>
          </a:p>
          <a:p>
            <a:r>
              <a:rPr lang="en-IN" b="1" dirty="0"/>
              <a:t>OPTIONS:</a:t>
            </a:r>
            <a:r>
              <a:rPr lang="en-IN" dirty="0"/>
              <a:t> 🔍 Get supported methods</a:t>
            </a:r>
          </a:p>
        </p:txBody>
      </p:sp>
    </p:spTree>
    <p:extLst>
      <p:ext uri="{BB962C8B-B14F-4D97-AF65-F5344CB8AC3E}">
        <p14:creationId xmlns:p14="http://schemas.microsoft.com/office/powerpoint/2010/main" val="354050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137F1-ADDA-FC83-37D8-BB519D68EDD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403C1CF-502E-F35C-63CA-0DC64229F090}"/>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pPr marL="12700">
              <a:lnSpc>
                <a:spcPct val="100000"/>
              </a:lnSpc>
              <a:spcBef>
                <a:spcPts val="140"/>
              </a:spcBef>
            </a:pPr>
            <a:r>
              <a:rPr lang="fr-FR" spc="-330" dirty="0"/>
              <a:t>HTTP </a:t>
            </a:r>
            <a:r>
              <a:rPr lang="fr-FR" spc="-330" dirty="0" err="1"/>
              <a:t>Status</a:t>
            </a:r>
            <a:r>
              <a:rPr lang="fr-FR" spc="-330" dirty="0"/>
              <a:t> Codes in REST</a:t>
            </a:r>
            <a:endParaRPr spc="-150" dirty="0"/>
          </a:p>
        </p:txBody>
      </p:sp>
      <p:sp>
        <p:nvSpPr>
          <p:cNvPr id="4" name="object 4">
            <a:extLst>
              <a:ext uri="{FF2B5EF4-FFF2-40B4-BE49-F238E27FC236}">
                <a16:creationId xmlns:a16="http://schemas.microsoft.com/office/drawing/2014/main" id="{EDD00901-1012-8DE1-FDC4-D31A0FBC17EA}"/>
              </a:ext>
            </a:extLst>
          </p:cNvPr>
          <p:cNvSpPr txBox="1"/>
          <p:nvPr/>
        </p:nvSpPr>
        <p:spPr>
          <a:xfrm>
            <a:off x="475248" y="1047750"/>
            <a:ext cx="7601952" cy="2505814"/>
          </a:xfrm>
          <a:prstGeom prst="rect">
            <a:avLst/>
          </a:prstGeom>
        </p:spPr>
        <p:txBody>
          <a:bodyPr vert="horz" wrap="square" lIns="0" tIns="12700" rIns="0" bIns="0" rtlCol="0">
            <a:spAutoFit/>
          </a:bodyPr>
          <a:lstStyle/>
          <a:p>
            <a:r>
              <a:rPr lang="en-US" b="1" dirty="0"/>
              <a:t>1xx Informational:</a:t>
            </a:r>
            <a:r>
              <a:rPr lang="en-US" dirty="0"/>
              <a:t> ⏳ Processing (100 Continue, 101 Switching)</a:t>
            </a:r>
          </a:p>
          <a:p>
            <a:r>
              <a:rPr lang="en-US" b="1" dirty="0"/>
              <a:t>2xx Success:</a:t>
            </a:r>
            <a:r>
              <a:rPr lang="en-US" dirty="0"/>
              <a:t> ✅ Operation succeeded (200 OK, 201 Created, 204 No Content)</a:t>
            </a:r>
          </a:p>
          <a:p>
            <a:r>
              <a:rPr lang="en-US" b="1" dirty="0"/>
              <a:t>3xx Redirection:</a:t>
            </a:r>
            <a:r>
              <a:rPr lang="en-US" dirty="0"/>
              <a:t> 🔀 Further action needed (301 Moved, 304 Not Modified)</a:t>
            </a:r>
          </a:p>
          <a:p>
            <a:r>
              <a:rPr lang="en-US" b="1" dirty="0"/>
              <a:t>4xx Client Error:</a:t>
            </a:r>
            <a:r>
              <a:rPr lang="en-US" dirty="0"/>
              <a:t> ❌ Client made mistake (400 Bad Request, 401 Unauthorized, 404 Not Found, 429 Too Many Requests)</a:t>
            </a:r>
          </a:p>
          <a:p>
            <a:r>
              <a:rPr lang="en-US" b="1" dirty="0"/>
              <a:t>5xx Server Error:</a:t>
            </a:r>
            <a:r>
              <a:rPr lang="en-US" dirty="0"/>
              <a:t> 🔥 Server failed (500 Internal Error, 502 Bad Gateway, 503 Unavailable)</a:t>
            </a:r>
          </a:p>
        </p:txBody>
      </p:sp>
    </p:spTree>
    <p:extLst>
      <p:ext uri="{BB962C8B-B14F-4D97-AF65-F5344CB8AC3E}">
        <p14:creationId xmlns:p14="http://schemas.microsoft.com/office/powerpoint/2010/main" val="851632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8A80-59F2-2CA2-B686-BE80CE0BA36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FE34C41-0378-9B9A-DBE0-5CB690019854}"/>
              </a:ext>
            </a:extLst>
          </p:cNvPr>
          <p:cNvSpPr txBox="1">
            <a:spLocks noGrp="1"/>
          </p:cNvSpPr>
          <p:nvPr>
            <p:ph type="title"/>
          </p:nvPr>
        </p:nvSpPr>
        <p:spPr>
          <a:xfrm>
            <a:off x="384724" y="501589"/>
            <a:ext cx="7006676" cy="510396"/>
          </a:xfrm>
          <a:prstGeom prst="rect">
            <a:avLst/>
          </a:prstGeom>
        </p:spPr>
        <p:txBody>
          <a:bodyPr vert="horz" wrap="square" lIns="0" tIns="17780" rIns="0" bIns="0" rtlCol="0">
            <a:spAutoFit/>
          </a:bodyPr>
          <a:lstStyle/>
          <a:p>
            <a:r>
              <a:rPr lang="en-IN" dirty="0" err="1"/>
              <a:t>GraphQL</a:t>
            </a:r>
            <a:endParaRPr lang="en-IN" dirty="0"/>
          </a:p>
        </p:txBody>
      </p:sp>
      <p:sp>
        <p:nvSpPr>
          <p:cNvPr id="4" name="object 4">
            <a:extLst>
              <a:ext uri="{FF2B5EF4-FFF2-40B4-BE49-F238E27FC236}">
                <a16:creationId xmlns:a16="http://schemas.microsoft.com/office/drawing/2014/main" id="{068A7F29-603F-74D0-DA20-6A7911C136AC}"/>
              </a:ext>
            </a:extLst>
          </p:cNvPr>
          <p:cNvSpPr txBox="1"/>
          <p:nvPr/>
        </p:nvSpPr>
        <p:spPr>
          <a:xfrm>
            <a:off x="475248" y="1047750"/>
            <a:ext cx="7601952" cy="3336811"/>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The Core Idea:</a:t>
            </a:r>
            <a:r>
              <a:rPr lang="en-US" dirty="0"/>
              <a:t> A </a:t>
            </a:r>
            <a:r>
              <a:rPr lang="en-US" b="1" dirty="0"/>
              <a:t>query language</a:t>
            </a:r>
            <a:r>
              <a:rPr lang="en-US" dirty="0"/>
              <a:t> that lets clients request </a:t>
            </a:r>
            <a:r>
              <a:rPr lang="en-US" b="1" dirty="0"/>
              <a:t>exactly what they need</a:t>
            </a:r>
            <a:r>
              <a:rPr lang="en-US" dirty="0"/>
              <a:t>, nothing more, nothing less.</a:t>
            </a:r>
          </a:p>
          <a:p>
            <a:pPr marL="285750" indent="-285750">
              <a:buFont typeface="Wingdings" panose="05000000000000000000" pitchFamily="2" charset="2"/>
              <a:buChar char="v"/>
            </a:pPr>
            <a:r>
              <a:rPr lang="en-US" b="1" dirty="0"/>
              <a:t>Philosophy:</a:t>
            </a:r>
            <a:r>
              <a:rPr lang="en-US" dirty="0"/>
              <a:t> Client-driven data requirements. Solves </a:t>
            </a:r>
            <a:r>
              <a:rPr lang="en-US" b="1" dirty="0"/>
              <a:t>over-fetching</a:t>
            </a:r>
            <a:r>
              <a:rPr lang="en-US" dirty="0"/>
              <a:t> and </a:t>
            </a:r>
            <a:r>
              <a:rPr lang="en-US" b="1" dirty="0"/>
              <a:t>under-fetching</a:t>
            </a:r>
            <a:r>
              <a:rPr lang="en-US" dirty="0"/>
              <a:t> problems of REST.</a:t>
            </a:r>
          </a:p>
          <a:p>
            <a:pPr marL="285750" indent="-285750">
              <a:buFont typeface="Wingdings" panose="05000000000000000000" pitchFamily="2" charset="2"/>
              <a:buChar char="v"/>
            </a:pPr>
            <a:r>
              <a:rPr lang="en-US" b="1" dirty="0"/>
              <a:t>Single Intelligent Endpoint:</a:t>
            </a:r>
            <a:r>
              <a:rPr lang="en-US" dirty="0"/>
              <a:t> All operations go to /</a:t>
            </a:r>
            <a:r>
              <a:rPr lang="en-US" dirty="0" err="1"/>
              <a:t>graphql</a:t>
            </a:r>
            <a:r>
              <a:rPr lang="en-US" dirty="0"/>
              <a:t> via POST. The query defines the response structure.</a:t>
            </a:r>
          </a:p>
          <a:p>
            <a:pPr marL="285750" indent="-285750">
              <a:buFont typeface="Wingdings" panose="05000000000000000000" pitchFamily="2" charset="2"/>
              <a:buChar char="v"/>
            </a:pPr>
            <a:r>
              <a:rPr lang="en-US" b="1" dirty="0"/>
              <a:t>Strongly Typed Schema:</a:t>
            </a:r>
            <a:r>
              <a:rPr lang="en-US" dirty="0"/>
              <a:t> Self-documenting API with a complete type system (objects, interfaces, </a:t>
            </a:r>
            <a:r>
              <a:rPr lang="en-US" dirty="0" err="1"/>
              <a:t>enums</a:t>
            </a:r>
            <a:r>
              <a:rPr lang="en-US" dirty="0"/>
              <a:t>, scalars).</a:t>
            </a:r>
          </a:p>
          <a:p>
            <a:pPr marL="285750" indent="-285750">
              <a:buFont typeface="Wingdings" panose="05000000000000000000" pitchFamily="2" charset="2"/>
              <a:buChar char="v"/>
            </a:pPr>
            <a:r>
              <a:rPr lang="en-US" b="1" dirty="0"/>
              <a:t>Three Operation Types:</a:t>
            </a:r>
            <a:r>
              <a:rPr lang="en-US" dirty="0"/>
              <a:t> </a:t>
            </a:r>
            <a:r>
              <a:rPr lang="en-US" b="1" dirty="0"/>
              <a:t>Queries</a:t>
            </a:r>
            <a:r>
              <a:rPr lang="en-US" dirty="0"/>
              <a:t> (read), </a:t>
            </a:r>
            <a:r>
              <a:rPr lang="en-US" b="1" dirty="0"/>
              <a:t>Mutations</a:t>
            </a:r>
            <a:r>
              <a:rPr lang="en-US" dirty="0"/>
              <a:t> (write), </a:t>
            </a:r>
            <a:r>
              <a:rPr lang="en-US" b="1" dirty="0"/>
              <a:t>Subscriptions</a:t>
            </a:r>
            <a:r>
              <a:rPr lang="en-US" dirty="0"/>
              <a:t> (real-time).</a:t>
            </a:r>
          </a:p>
          <a:p>
            <a:pPr marL="285750" indent="-285750">
              <a:buFont typeface="Wingdings" panose="05000000000000000000" pitchFamily="2" charset="2"/>
              <a:buChar char="v"/>
            </a:pPr>
            <a:r>
              <a:rPr lang="en-US" b="1" dirty="0"/>
              <a:t>Ecosystem:</a:t>
            </a:r>
            <a:r>
              <a:rPr lang="en-US" dirty="0"/>
              <a:t> Rich tooling (</a:t>
            </a:r>
            <a:r>
              <a:rPr lang="en-US" dirty="0" err="1"/>
              <a:t>GraphiQL</a:t>
            </a:r>
            <a:r>
              <a:rPr lang="en-US" dirty="0"/>
              <a:t>, Apollo, Relay), but shifts complexity to server-side resolvers.</a:t>
            </a:r>
          </a:p>
        </p:txBody>
      </p:sp>
    </p:spTree>
    <p:extLst>
      <p:ext uri="{BB962C8B-B14F-4D97-AF65-F5344CB8AC3E}">
        <p14:creationId xmlns:p14="http://schemas.microsoft.com/office/powerpoint/2010/main" val="4235241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58373-5565-78B7-89D2-6C70A07F79A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778200E-0E13-986E-9001-2EE400C6D623}"/>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Advanced Message Queuing Protocol (AMQP)</a:t>
            </a:r>
          </a:p>
        </p:txBody>
      </p:sp>
      <p:sp>
        <p:nvSpPr>
          <p:cNvPr id="4" name="object 4">
            <a:extLst>
              <a:ext uri="{FF2B5EF4-FFF2-40B4-BE49-F238E27FC236}">
                <a16:creationId xmlns:a16="http://schemas.microsoft.com/office/drawing/2014/main" id="{C82DF80A-1386-48B1-3A55-3A11E6666621}"/>
              </a:ext>
            </a:extLst>
          </p:cNvPr>
          <p:cNvSpPr txBox="1"/>
          <p:nvPr/>
        </p:nvSpPr>
        <p:spPr>
          <a:xfrm>
            <a:off x="475248" y="1047750"/>
            <a:ext cx="7601952" cy="3059812"/>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Purpose:</a:t>
            </a:r>
            <a:r>
              <a:rPr lang="en-IN" dirty="0"/>
              <a:t> </a:t>
            </a:r>
            <a:r>
              <a:rPr lang="en-IN" b="1" dirty="0"/>
              <a:t>Enterprise-grade messaging</a:t>
            </a:r>
            <a:r>
              <a:rPr lang="en-IN" dirty="0"/>
              <a:t> with guaranteed delivery and complex routing</a:t>
            </a:r>
          </a:p>
          <a:p>
            <a:pPr marL="285750" indent="-285750">
              <a:buFont typeface="Wingdings" panose="05000000000000000000" pitchFamily="2" charset="2"/>
              <a:buChar char="v"/>
            </a:pPr>
            <a:r>
              <a:rPr lang="en-IN" b="1" dirty="0"/>
              <a:t>Key Component:</a:t>
            </a:r>
            <a:r>
              <a:rPr lang="en-IN" dirty="0"/>
              <a:t> </a:t>
            </a:r>
            <a:r>
              <a:rPr lang="en-IN" b="1" dirty="0"/>
              <a:t>RabbitMQ broker</a:t>
            </a:r>
            <a:r>
              <a:rPr lang="en-IN" dirty="0"/>
              <a:t> - manages exchanges, queues, and bindings</a:t>
            </a:r>
          </a:p>
          <a:p>
            <a:pPr marL="285750" indent="-285750">
              <a:buFont typeface="Wingdings" panose="05000000000000000000" pitchFamily="2" charset="2"/>
              <a:buChar char="v"/>
            </a:pPr>
            <a:r>
              <a:rPr lang="en-IN" b="1" dirty="0"/>
              <a:t>Core Concepts:</a:t>
            </a:r>
            <a:r>
              <a:rPr lang="en-IN" dirty="0"/>
              <a:t> </a:t>
            </a:r>
            <a:r>
              <a:rPr lang="en-IN" b="1" dirty="0"/>
              <a:t>Exchanges</a:t>
            </a:r>
            <a:r>
              <a:rPr lang="en-IN" dirty="0"/>
              <a:t> (route), </a:t>
            </a:r>
            <a:r>
              <a:rPr lang="en-IN" b="1" dirty="0"/>
              <a:t>Queues</a:t>
            </a:r>
            <a:r>
              <a:rPr lang="en-IN" dirty="0"/>
              <a:t> (store), </a:t>
            </a:r>
            <a:r>
              <a:rPr lang="en-IN" b="1" dirty="0"/>
              <a:t>Bindings</a:t>
            </a:r>
            <a:r>
              <a:rPr lang="en-IN" dirty="0"/>
              <a:t> (rules)</a:t>
            </a:r>
          </a:p>
          <a:p>
            <a:pPr marL="285750" indent="-285750">
              <a:buFont typeface="Wingdings" panose="05000000000000000000" pitchFamily="2" charset="2"/>
              <a:buChar char="v"/>
            </a:pPr>
            <a:r>
              <a:rPr lang="en-IN" b="1" dirty="0"/>
              <a:t>Exchange Types:</a:t>
            </a:r>
            <a:r>
              <a:rPr lang="en-IN" dirty="0"/>
              <a:t> Direct, Topic, Fanout, Headers (flexible routing patterns)</a:t>
            </a:r>
          </a:p>
          <a:p>
            <a:pPr marL="285750" indent="-285750">
              <a:buFont typeface="Wingdings" panose="05000000000000000000" pitchFamily="2" charset="2"/>
              <a:buChar char="v"/>
            </a:pPr>
            <a:r>
              <a:rPr lang="en-IN" b="1" dirty="0"/>
              <a:t>Reliability Features:</a:t>
            </a:r>
            <a:r>
              <a:rPr lang="en-IN" dirty="0"/>
              <a:t> Message acknowledgments, persistence, dead-letter queues</a:t>
            </a:r>
          </a:p>
          <a:p>
            <a:pPr marL="285750" indent="-285750">
              <a:buFont typeface="Wingdings" panose="05000000000000000000" pitchFamily="2" charset="2"/>
              <a:buChar char="v"/>
            </a:pPr>
            <a:r>
              <a:rPr lang="en-IN" b="1" dirty="0"/>
              <a:t>Use Cases:</a:t>
            </a:r>
            <a:r>
              <a:rPr lang="en-IN" dirty="0"/>
              <a:t> Order processing, workflow orchestration, microservices communication</a:t>
            </a:r>
          </a:p>
        </p:txBody>
      </p:sp>
    </p:spTree>
    <p:extLst>
      <p:ext uri="{BB962C8B-B14F-4D97-AF65-F5344CB8AC3E}">
        <p14:creationId xmlns:p14="http://schemas.microsoft.com/office/powerpoint/2010/main" val="3839572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A336-2EEC-99E3-96A8-44CABF4D095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B871A33-6DE4-1952-98BF-B59FF9158BE2}"/>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Message Queuing Telemetry Transport(MQTT)</a:t>
            </a:r>
          </a:p>
        </p:txBody>
      </p:sp>
      <p:sp>
        <p:nvSpPr>
          <p:cNvPr id="4" name="object 4">
            <a:extLst>
              <a:ext uri="{FF2B5EF4-FFF2-40B4-BE49-F238E27FC236}">
                <a16:creationId xmlns:a16="http://schemas.microsoft.com/office/drawing/2014/main" id="{0B2E5167-90CC-7EA8-5A03-A188B33B2FD2}"/>
              </a:ext>
            </a:extLst>
          </p:cNvPr>
          <p:cNvSpPr txBox="1"/>
          <p:nvPr/>
        </p:nvSpPr>
        <p:spPr>
          <a:xfrm>
            <a:off x="475248" y="1047750"/>
            <a:ext cx="76019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Purpose:</a:t>
            </a:r>
            <a:r>
              <a:rPr lang="en-US" dirty="0"/>
              <a:t> </a:t>
            </a:r>
            <a:r>
              <a:rPr lang="en-US" b="1" dirty="0"/>
              <a:t>Lightweight pub/sub</a:t>
            </a:r>
            <a:r>
              <a:rPr lang="en-US" dirty="0"/>
              <a:t> for constrained devices and unreliable networks</a:t>
            </a:r>
          </a:p>
          <a:p>
            <a:pPr marL="285750" indent="-285750">
              <a:buFont typeface="Wingdings" panose="05000000000000000000" pitchFamily="2" charset="2"/>
              <a:buChar char="v"/>
            </a:pPr>
            <a:r>
              <a:rPr lang="en-US" b="1" dirty="0"/>
              <a:t>Design:</a:t>
            </a:r>
            <a:r>
              <a:rPr lang="en-US" dirty="0"/>
              <a:t> Minimal packet size (2-byte header), perfect for </a:t>
            </a:r>
            <a:r>
              <a:rPr lang="en-US" b="1" dirty="0"/>
              <a:t>IoT and mobile</a:t>
            </a:r>
            <a:endParaRPr lang="en-US" dirty="0"/>
          </a:p>
          <a:p>
            <a:pPr marL="285750" indent="-285750">
              <a:buFont typeface="Wingdings" panose="05000000000000000000" pitchFamily="2" charset="2"/>
              <a:buChar char="v"/>
            </a:pPr>
            <a:r>
              <a:rPr lang="en-US" b="1" dirty="0"/>
              <a:t>Core Model:</a:t>
            </a:r>
            <a:r>
              <a:rPr lang="en-US" dirty="0"/>
              <a:t> </a:t>
            </a:r>
            <a:r>
              <a:rPr lang="en-US" b="1" dirty="0"/>
              <a:t>Topic-based routing</a:t>
            </a:r>
            <a:r>
              <a:rPr lang="en-US" dirty="0"/>
              <a:t> with wildcards (+ and #)</a:t>
            </a:r>
          </a:p>
          <a:p>
            <a:pPr marL="285750" indent="-285750">
              <a:buFont typeface="Wingdings" panose="05000000000000000000" pitchFamily="2" charset="2"/>
              <a:buChar char="v"/>
            </a:pPr>
            <a:r>
              <a:rPr lang="en-US" b="1" dirty="0"/>
              <a:t>QoS Levels:</a:t>
            </a:r>
            <a:r>
              <a:rPr lang="en-US" dirty="0"/>
              <a:t> 0 (at most once), 1 (at least once), 2 (exactly once)</a:t>
            </a:r>
          </a:p>
          <a:p>
            <a:pPr marL="285750" indent="-285750">
              <a:buFont typeface="Wingdings" panose="05000000000000000000" pitchFamily="2" charset="2"/>
              <a:buChar char="v"/>
            </a:pPr>
            <a:r>
              <a:rPr lang="en-US" b="1" dirty="0"/>
              <a:t>Special Features:</a:t>
            </a:r>
            <a:r>
              <a:rPr lang="en-US" dirty="0"/>
              <a:t> Last Will &amp; Testament, retained messages, clean sessions</a:t>
            </a:r>
          </a:p>
          <a:p>
            <a:pPr marL="285750" indent="-285750">
              <a:buFont typeface="Wingdings" panose="05000000000000000000" pitchFamily="2" charset="2"/>
              <a:buChar char="v"/>
            </a:pPr>
            <a:r>
              <a:rPr lang="en-US" b="1" dirty="0"/>
              <a:t>Use Cases:</a:t>
            </a:r>
            <a:r>
              <a:rPr lang="en-US" dirty="0"/>
              <a:t> Smart home automation, industrial sensors, real-time notifications</a:t>
            </a:r>
          </a:p>
        </p:txBody>
      </p:sp>
    </p:spTree>
    <p:extLst>
      <p:ext uri="{BB962C8B-B14F-4D97-AF65-F5344CB8AC3E}">
        <p14:creationId xmlns:p14="http://schemas.microsoft.com/office/powerpoint/2010/main" val="3391681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D2E4-BBB5-D1B1-6DD2-3BB850DCB87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DF097EC-28CC-239C-AB62-5F1B2D8FFBE8}"/>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Message Queuing Telemetry Transport(MQTT)</a:t>
            </a:r>
          </a:p>
        </p:txBody>
      </p:sp>
      <p:sp>
        <p:nvSpPr>
          <p:cNvPr id="4" name="object 4">
            <a:extLst>
              <a:ext uri="{FF2B5EF4-FFF2-40B4-BE49-F238E27FC236}">
                <a16:creationId xmlns:a16="http://schemas.microsoft.com/office/drawing/2014/main" id="{88F6ED76-6722-F710-CFB0-7014C6ABAB88}"/>
              </a:ext>
            </a:extLst>
          </p:cNvPr>
          <p:cNvSpPr txBox="1"/>
          <p:nvPr/>
        </p:nvSpPr>
        <p:spPr>
          <a:xfrm>
            <a:off x="475248" y="1047750"/>
            <a:ext cx="76019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Purpose:</a:t>
            </a:r>
            <a:r>
              <a:rPr lang="en-US" dirty="0"/>
              <a:t> </a:t>
            </a:r>
            <a:r>
              <a:rPr lang="en-US" b="1" dirty="0"/>
              <a:t>Lightweight pub/sub</a:t>
            </a:r>
            <a:r>
              <a:rPr lang="en-US" dirty="0"/>
              <a:t> for constrained devices and unreliable networks</a:t>
            </a:r>
          </a:p>
          <a:p>
            <a:pPr marL="285750" indent="-285750">
              <a:buFont typeface="Wingdings" panose="05000000000000000000" pitchFamily="2" charset="2"/>
              <a:buChar char="v"/>
            </a:pPr>
            <a:r>
              <a:rPr lang="en-US" b="1" dirty="0"/>
              <a:t>Design:</a:t>
            </a:r>
            <a:r>
              <a:rPr lang="en-US" dirty="0"/>
              <a:t> Minimal packet size (2-byte header), perfect for </a:t>
            </a:r>
            <a:r>
              <a:rPr lang="en-US" b="1" dirty="0"/>
              <a:t>IoT and mobile</a:t>
            </a:r>
            <a:endParaRPr lang="en-US" dirty="0"/>
          </a:p>
          <a:p>
            <a:pPr marL="285750" indent="-285750">
              <a:buFont typeface="Wingdings" panose="05000000000000000000" pitchFamily="2" charset="2"/>
              <a:buChar char="v"/>
            </a:pPr>
            <a:r>
              <a:rPr lang="en-US" b="1" dirty="0"/>
              <a:t>Core Model:</a:t>
            </a:r>
            <a:r>
              <a:rPr lang="en-US" dirty="0"/>
              <a:t> </a:t>
            </a:r>
            <a:r>
              <a:rPr lang="en-US" b="1" dirty="0"/>
              <a:t>Topic-based routing</a:t>
            </a:r>
            <a:r>
              <a:rPr lang="en-US" dirty="0"/>
              <a:t> with wildcards (+ and #)</a:t>
            </a:r>
          </a:p>
          <a:p>
            <a:pPr marL="285750" indent="-285750">
              <a:buFont typeface="Wingdings" panose="05000000000000000000" pitchFamily="2" charset="2"/>
              <a:buChar char="v"/>
            </a:pPr>
            <a:r>
              <a:rPr lang="en-US" b="1" dirty="0"/>
              <a:t>QoS Levels:</a:t>
            </a:r>
            <a:r>
              <a:rPr lang="en-US" dirty="0"/>
              <a:t> 0 (at most once), 1 (at least once), 2 (exactly once)</a:t>
            </a:r>
          </a:p>
          <a:p>
            <a:pPr marL="285750" indent="-285750">
              <a:buFont typeface="Wingdings" panose="05000000000000000000" pitchFamily="2" charset="2"/>
              <a:buChar char="v"/>
            </a:pPr>
            <a:r>
              <a:rPr lang="en-US" b="1" dirty="0"/>
              <a:t>Special Features:</a:t>
            </a:r>
            <a:r>
              <a:rPr lang="en-US" dirty="0"/>
              <a:t> Last Will &amp; Testament, retained messages, clean sessions</a:t>
            </a:r>
          </a:p>
          <a:p>
            <a:pPr marL="285750" indent="-285750">
              <a:buFont typeface="Wingdings" panose="05000000000000000000" pitchFamily="2" charset="2"/>
              <a:buChar char="v"/>
            </a:pPr>
            <a:r>
              <a:rPr lang="en-US" b="1" dirty="0"/>
              <a:t>Use Cases:</a:t>
            </a:r>
            <a:r>
              <a:rPr lang="en-US" dirty="0"/>
              <a:t> Smart home automation, industrial sensors, real-time notifications</a:t>
            </a:r>
          </a:p>
        </p:txBody>
      </p:sp>
    </p:spTree>
    <p:extLst>
      <p:ext uri="{BB962C8B-B14F-4D97-AF65-F5344CB8AC3E}">
        <p14:creationId xmlns:p14="http://schemas.microsoft.com/office/powerpoint/2010/main" val="2857015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FC9AB-EFC7-C5EF-5FE7-33B6DF0E5B7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E56E17-4222-D203-318A-222B36CBDDC0}"/>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HTTP Polling &amp; Long Polling</a:t>
            </a:r>
          </a:p>
        </p:txBody>
      </p:sp>
      <p:sp>
        <p:nvSpPr>
          <p:cNvPr id="4" name="object 4">
            <a:extLst>
              <a:ext uri="{FF2B5EF4-FFF2-40B4-BE49-F238E27FC236}">
                <a16:creationId xmlns:a16="http://schemas.microsoft.com/office/drawing/2014/main" id="{B5635973-18B0-6BC3-D7CB-B092883A62F4}"/>
              </a:ext>
            </a:extLst>
          </p:cNvPr>
          <p:cNvSpPr txBox="1"/>
          <p:nvPr/>
        </p:nvSpPr>
        <p:spPr>
          <a:xfrm>
            <a:off x="475248" y="1047750"/>
            <a:ext cx="7601952" cy="3059812"/>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Problem:</a:t>
            </a:r>
            <a:r>
              <a:rPr lang="en-US" dirty="0"/>
              <a:t> HTTP is </a:t>
            </a:r>
            <a:r>
              <a:rPr lang="en-US" b="1" dirty="0"/>
              <a:t>request/response</a:t>
            </a:r>
            <a:r>
              <a:rPr lang="en-US" dirty="0"/>
              <a:t> - clients must initiate all communication</a:t>
            </a:r>
          </a:p>
          <a:p>
            <a:pPr marL="285750" indent="-285750">
              <a:buFont typeface="Wingdings" panose="05000000000000000000" pitchFamily="2" charset="2"/>
              <a:buChar char="v"/>
            </a:pPr>
            <a:r>
              <a:rPr lang="en-US" b="1" dirty="0"/>
              <a:t>Regular Polling:</a:t>
            </a:r>
            <a:r>
              <a:rPr lang="en-US" dirty="0"/>
              <a:t> Client repeatedly asks "Any updates?" at fixed intervals</a:t>
            </a:r>
          </a:p>
          <a:p>
            <a:pPr marL="285750" indent="-285750">
              <a:buFont typeface="Wingdings" panose="05000000000000000000" pitchFamily="2" charset="2"/>
              <a:buChar char="v"/>
            </a:pPr>
            <a:r>
              <a:rPr lang="en-US" b="1" dirty="0"/>
              <a:t>Issues:</a:t>
            </a:r>
            <a:r>
              <a:rPr lang="en-US" dirty="0"/>
              <a:t> High latency, wasted bandwidth (empty responses), server load</a:t>
            </a:r>
          </a:p>
          <a:p>
            <a:pPr marL="285750" indent="-285750">
              <a:buFont typeface="Wingdings" panose="05000000000000000000" pitchFamily="2" charset="2"/>
              <a:buChar char="v"/>
            </a:pPr>
            <a:r>
              <a:rPr lang="en-US" b="1" dirty="0"/>
              <a:t>Long Polling:</a:t>
            </a:r>
            <a:r>
              <a:rPr lang="en-US" dirty="0"/>
              <a:t> Client asks "Any updates?" and server </a:t>
            </a:r>
            <a:r>
              <a:rPr lang="en-US" b="1" dirty="0"/>
              <a:t>holds request open</a:t>
            </a:r>
            <a:r>
              <a:rPr lang="en-US" dirty="0"/>
              <a:t> until data available</a:t>
            </a:r>
          </a:p>
          <a:p>
            <a:pPr marL="285750" indent="-285750">
              <a:buFont typeface="Wingdings" panose="05000000000000000000" pitchFamily="2" charset="2"/>
              <a:buChar char="v"/>
            </a:pPr>
            <a:r>
              <a:rPr lang="en-US" b="1" dirty="0"/>
              <a:t>Improvement:</a:t>
            </a:r>
            <a:r>
              <a:rPr lang="en-US" dirty="0"/>
              <a:t> Reduces empty responses but still requires new request after each response</a:t>
            </a:r>
          </a:p>
          <a:p>
            <a:pPr marL="285750" indent="-285750">
              <a:buFont typeface="Wingdings" panose="05000000000000000000" pitchFamily="2" charset="2"/>
              <a:buChar char="v"/>
            </a:pPr>
            <a:r>
              <a:rPr lang="en-US" b="1" dirty="0"/>
              <a:t>Modern Alternative:</a:t>
            </a:r>
            <a:r>
              <a:rPr lang="en-US" dirty="0"/>
              <a:t> </a:t>
            </a:r>
            <a:r>
              <a:rPr lang="en-US" b="1" dirty="0"/>
              <a:t>Server-Sent Events (SSE)</a:t>
            </a:r>
            <a:r>
              <a:rPr lang="en-US" dirty="0"/>
              <a:t> provides cleaner server push over HTTP</a:t>
            </a:r>
          </a:p>
        </p:txBody>
      </p:sp>
    </p:spTree>
    <p:extLst>
      <p:ext uri="{BB962C8B-B14F-4D97-AF65-F5344CB8AC3E}">
        <p14:creationId xmlns:p14="http://schemas.microsoft.com/office/powerpoint/2010/main" val="1294762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733A-7D9C-C17B-9671-ADA206A63F5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C37D42A-CCF4-D13B-A222-5BF7836F9F78}"/>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err="1"/>
              <a:t>WebSockets</a:t>
            </a:r>
            <a:r>
              <a:rPr lang="en-IN" dirty="0"/>
              <a:t> - Full-Duplex</a:t>
            </a:r>
          </a:p>
        </p:txBody>
      </p:sp>
      <p:sp>
        <p:nvSpPr>
          <p:cNvPr id="4" name="object 4">
            <a:extLst>
              <a:ext uri="{FF2B5EF4-FFF2-40B4-BE49-F238E27FC236}">
                <a16:creationId xmlns:a16="http://schemas.microsoft.com/office/drawing/2014/main" id="{4A8F170E-51A5-879E-6905-16A192F33A78}"/>
              </a:ext>
            </a:extLst>
          </p:cNvPr>
          <p:cNvSpPr txBox="1"/>
          <p:nvPr/>
        </p:nvSpPr>
        <p:spPr>
          <a:xfrm>
            <a:off x="475248" y="1047750"/>
            <a:ext cx="7601952" cy="2782813"/>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Purpose:</a:t>
            </a:r>
            <a:r>
              <a:rPr lang="en-US" dirty="0"/>
              <a:t> </a:t>
            </a:r>
            <a:r>
              <a:rPr lang="en-US" b="1" dirty="0"/>
              <a:t>Persistent, bidirectional</a:t>
            </a:r>
            <a:r>
              <a:rPr lang="en-US" dirty="0"/>
              <a:t> communication over a single TCP connection</a:t>
            </a:r>
          </a:p>
          <a:p>
            <a:pPr marL="285750" indent="-285750">
              <a:buFont typeface="Wingdings" panose="05000000000000000000" pitchFamily="2" charset="2"/>
              <a:buChar char="v"/>
            </a:pPr>
            <a:r>
              <a:rPr lang="en-US" b="1" dirty="0"/>
              <a:t>Handshake:</a:t>
            </a:r>
            <a:r>
              <a:rPr lang="en-US" dirty="0"/>
              <a:t> HTTP upgrade request → WebSocket protocol (ws:// or wss://)</a:t>
            </a:r>
          </a:p>
          <a:p>
            <a:pPr marL="285750" indent="-285750">
              <a:buFont typeface="Wingdings" panose="05000000000000000000" pitchFamily="2" charset="2"/>
              <a:buChar char="v"/>
            </a:pPr>
            <a:r>
              <a:rPr lang="en-US" b="1" dirty="0"/>
              <a:t>Key Feature:</a:t>
            </a:r>
            <a:r>
              <a:rPr lang="en-US" dirty="0"/>
              <a:t> </a:t>
            </a:r>
            <a:r>
              <a:rPr lang="en-US" b="1" dirty="0"/>
              <a:t>Low latency, full-duplex</a:t>
            </a:r>
            <a:r>
              <a:rPr lang="en-US" dirty="0"/>
              <a:t> - both client and server can send data anytime</a:t>
            </a:r>
          </a:p>
          <a:p>
            <a:pPr marL="285750" indent="-285750">
              <a:buFont typeface="Wingdings" panose="05000000000000000000" pitchFamily="2" charset="2"/>
              <a:buChar char="v"/>
            </a:pPr>
            <a:r>
              <a:rPr lang="en-US" b="1" dirty="0"/>
              <a:t>Connection:</a:t>
            </a:r>
            <a:r>
              <a:rPr lang="en-US" dirty="0"/>
              <a:t> </a:t>
            </a:r>
            <a:r>
              <a:rPr lang="en-US" b="1" dirty="0"/>
              <a:t>Long-lived</a:t>
            </a:r>
            <a:r>
              <a:rPr lang="en-US" dirty="0"/>
              <a:t> (unlike HTTP's request/response)</a:t>
            </a:r>
          </a:p>
          <a:p>
            <a:pPr marL="285750" indent="-285750">
              <a:buFont typeface="Wingdings" panose="05000000000000000000" pitchFamily="2" charset="2"/>
              <a:buChar char="v"/>
            </a:pPr>
            <a:r>
              <a:rPr lang="en-US" b="1" dirty="0"/>
              <a:t>Use Cases:</a:t>
            </a:r>
            <a:r>
              <a:rPr lang="en-US" dirty="0"/>
              <a:t> Real-time chat, collaborative editing, live dashboards, multiplayer games</a:t>
            </a:r>
          </a:p>
          <a:p>
            <a:pPr marL="285750" indent="-285750">
              <a:buFont typeface="Wingdings" panose="05000000000000000000" pitchFamily="2" charset="2"/>
              <a:buChar char="v"/>
            </a:pPr>
            <a:r>
              <a:rPr lang="en-US" b="1" dirty="0"/>
              <a:t>Protocol:</a:t>
            </a:r>
            <a:r>
              <a:rPr lang="en-US" dirty="0"/>
              <a:t> RFC 6455 standard, supported in all modern browsers</a:t>
            </a:r>
          </a:p>
        </p:txBody>
      </p:sp>
    </p:spTree>
    <p:extLst>
      <p:ext uri="{BB962C8B-B14F-4D97-AF65-F5344CB8AC3E}">
        <p14:creationId xmlns:p14="http://schemas.microsoft.com/office/powerpoint/2010/main" val="3756028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4755-3508-CE8F-4F35-27F830B2C04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F785DDC-E878-38F9-4C00-890A3375C8AE}"/>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WebRTC - Peer-to-Peer</a:t>
            </a:r>
          </a:p>
        </p:txBody>
      </p:sp>
      <p:sp>
        <p:nvSpPr>
          <p:cNvPr id="4" name="object 4">
            <a:extLst>
              <a:ext uri="{FF2B5EF4-FFF2-40B4-BE49-F238E27FC236}">
                <a16:creationId xmlns:a16="http://schemas.microsoft.com/office/drawing/2014/main" id="{4DF1A94D-2D46-C900-B492-E03CEE07A0A6}"/>
              </a:ext>
            </a:extLst>
          </p:cNvPr>
          <p:cNvSpPr txBox="1"/>
          <p:nvPr/>
        </p:nvSpPr>
        <p:spPr>
          <a:xfrm>
            <a:off x="475248" y="1047750"/>
            <a:ext cx="7601952" cy="2505814"/>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Purpose:</a:t>
            </a:r>
            <a:r>
              <a:rPr lang="en-IN" dirty="0"/>
              <a:t> </a:t>
            </a:r>
            <a:r>
              <a:rPr lang="en-IN" b="1" dirty="0"/>
              <a:t>Browser-to-browser</a:t>
            </a:r>
            <a:r>
              <a:rPr lang="en-IN" dirty="0"/>
              <a:t> real-time audio, video, and data sharing</a:t>
            </a:r>
          </a:p>
          <a:p>
            <a:pPr marL="285750" indent="-285750">
              <a:buFont typeface="Wingdings" panose="05000000000000000000" pitchFamily="2" charset="2"/>
              <a:buChar char="v"/>
            </a:pPr>
            <a:r>
              <a:rPr lang="en-IN" b="1" dirty="0"/>
              <a:t>Key Innovation:</a:t>
            </a:r>
            <a:r>
              <a:rPr lang="en-IN" dirty="0"/>
              <a:t> </a:t>
            </a:r>
            <a:r>
              <a:rPr lang="en-IN" b="1" dirty="0"/>
              <a:t>Direct P2P connection</a:t>
            </a:r>
            <a:r>
              <a:rPr lang="en-IN" dirty="0"/>
              <a:t> using STUN/TURN servers for NAT traversal</a:t>
            </a:r>
          </a:p>
          <a:p>
            <a:pPr marL="285750" indent="-285750">
              <a:buFont typeface="Wingdings" panose="05000000000000000000" pitchFamily="2" charset="2"/>
              <a:buChar char="v"/>
            </a:pPr>
            <a:r>
              <a:rPr lang="en-IN" b="1" dirty="0"/>
              <a:t>Components:</a:t>
            </a:r>
            <a:r>
              <a:rPr lang="en-IN" dirty="0"/>
              <a:t> </a:t>
            </a:r>
            <a:r>
              <a:rPr lang="en-IN" b="1" dirty="0" err="1"/>
              <a:t>getUserMedia</a:t>
            </a:r>
            <a:r>
              <a:rPr lang="en-IN" dirty="0"/>
              <a:t> (camera/mic), </a:t>
            </a:r>
            <a:r>
              <a:rPr lang="en-IN" b="1" dirty="0" err="1"/>
              <a:t>RTCPeerConnection</a:t>
            </a:r>
            <a:r>
              <a:rPr lang="en-IN" dirty="0"/>
              <a:t> (data), </a:t>
            </a:r>
            <a:r>
              <a:rPr lang="en-IN" b="1" dirty="0" err="1"/>
              <a:t>RTCDataChannel</a:t>
            </a:r>
            <a:r>
              <a:rPr lang="en-IN" dirty="0"/>
              <a:t> (arbitrary data)</a:t>
            </a:r>
          </a:p>
          <a:p>
            <a:pPr marL="285750" indent="-285750">
              <a:buFont typeface="Wingdings" panose="05000000000000000000" pitchFamily="2" charset="2"/>
              <a:buChar char="v"/>
            </a:pPr>
            <a:r>
              <a:rPr lang="en-IN" b="1" dirty="0"/>
              <a:t>No Plugins:</a:t>
            </a:r>
            <a:r>
              <a:rPr lang="en-IN" dirty="0"/>
              <a:t> Native browser API, no Flash or plugins required</a:t>
            </a:r>
          </a:p>
          <a:p>
            <a:pPr marL="285750" indent="-285750">
              <a:buFont typeface="Wingdings" panose="05000000000000000000" pitchFamily="2" charset="2"/>
              <a:buChar char="v"/>
            </a:pPr>
            <a:r>
              <a:rPr lang="en-IN" b="1" dirty="0"/>
              <a:t>Use Cases:</a:t>
            </a:r>
            <a:r>
              <a:rPr lang="en-IN" dirty="0"/>
              <a:t> Video conferencing, file sharing, screen sharing, remote desktop</a:t>
            </a:r>
          </a:p>
          <a:p>
            <a:pPr marL="285750" indent="-285750">
              <a:buFont typeface="Wingdings" panose="05000000000000000000" pitchFamily="2" charset="2"/>
              <a:buChar char="v"/>
            </a:pPr>
            <a:r>
              <a:rPr lang="en-IN" b="1" dirty="0"/>
              <a:t>Standards:</a:t>
            </a:r>
            <a:r>
              <a:rPr lang="en-IN" dirty="0"/>
              <a:t> W3C API + IETF protocols</a:t>
            </a:r>
          </a:p>
        </p:txBody>
      </p:sp>
    </p:spTree>
    <p:extLst>
      <p:ext uri="{BB962C8B-B14F-4D97-AF65-F5344CB8AC3E}">
        <p14:creationId xmlns:p14="http://schemas.microsoft.com/office/powerpoint/2010/main" val="510376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EA6CF-CD22-B65E-5F4F-67C2C4CCE3C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A18EE72-B11D-7846-0975-25EEF3957AC3}"/>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Server-Sent Events (SSE)</a:t>
            </a:r>
          </a:p>
        </p:txBody>
      </p:sp>
      <p:sp>
        <p:nvSpPr>
          <p:cNvPr id="4" name="object 4">
            <a:extLst>
              <a:ext uri="{FF2B5EF4-FFF2-40B4-BE49-F238E27FC236}">
                <a16:creationId xmlns:a16="http://schemas.microsoft.com/office/drawing/2014/main" id="{761C4DB5-F753-E9FE-9EB1-82F41A099947}"/>
              </a:ext>
            </a:extLst>
          </p:cNvPr>
          <p:cNvSpPr txBox="1"/>
          <p:nvPr/>
        </p:nvSpPr>
        <p:spPr>
          <a:xfrm>
            <a:off x="475248" y="1047750"/>
            <a:ext cx="7601952" cy="2505814"/>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Purpose:</a:t>
            </a:r>
            <a:r>
              <a:rPr lang="en-US" dirty="0"/>
              <a:t> </a:t>
            </a:r>
            <a:r>
              <a:rPr lang="en-US" b="1" dirty="0"/>
              <a:t>Server-to-client</a:t>
            </a:r>
            <a:r>
              <a:rPr lang="en-US" dirty="0"/>
              <a:t> streaming over standard HTTP</a:t>
            </a:r>
          </a:p>
          <a:p>
            <a:pPr marL="285750" indent="-285750">
              <a:buFont typeface="Wingdings" panose="05000000000000000000" pitchFamily="2" charset="2"/>
              <a:buChar char="v"/>
            </a:pPr>
            <a:r>
              <a:rPr lang="en-US" b="1" dirty="0"/>
              <a:t>Direction:</a:t>
            </a:r>
            <a:r>
              <a:rPr lang="en-US" dirty="0"/>
              <a:t> </a:t>
            </a:r>
            <a:r>
              <a:rPr lang="en-US" b="1" dirty="0"/>
              <a:t>Unidirectional</a:t>
            </a:r>
            <a:r>
              <a:rPr lang="en-US" dirty="0"/>
              <a:t> - server pushes, client receives (no client-to-server messages)</a:t>
            </a:r>
          </a:p>
          <a:p>
            <a:pPr marL="285750" indent="-285750">
              <a:buFont typeface="Wingdings" panose="05000000000000000000" pitchFamily="2" charset="2"/>
              <a:buChar char="v"/>
            </a:pPr>
            <a:r>
              <a:rPr lang="en-US" b="1" dirty="0"/>
              <a:t>Protocol:</a:t>
            </a:r>
            <a:r>
              <a:rPr lang="en-US" dirty="0"/>
              <a:t> Simple text-based format with data:, event:, id: fields</a:t>
            </a:r>
          </a:p>
          <a:p>
            <a:pPr marL="285750" indent="-285750">
              <a:buFont typeface="Wingdings" panose="05000000000000000000" pitchFamily="2" charset="2"/>
              <a:buChar char="v"/>
            </a:pPr>
            <a:r>
              <a:rPr lang="en-US" b="1" dirty="0"/>
              <a:t>Reconnection:</a:t>
            </a:r>
            <a:r>
              <a:rPr lang="en-US" dirty="0"/>
              <a:t> Automatic reconnection with last-event-id tracking</a:t>
            </a:r>
          </a:p>
          <a:p>
            <a:pPr marL="285750" indent="-285750">
              <a:buFont typeface="Wingdings" panose="05000000000000000000" pitchFamily="2" charset="2"/>
              <a:buChar char="v"/>
            </a:pPr>
            <a:r>
              <a:rPr lang="en-US" b="1" dirty="0"/>
              <a:t>Use Cases:</a:t>
            </a:r>
            <a:r>
              <a:rPr lang="en-US" dirty="0"/>
              <a:t> Live news feeds, stock tickers, social media updates, notifications</a:t>
            </a:r>
          </a:p>
          <a:p>
            <a:pPr marL="285750" indent="-285750">
              <a:buFont typeface="Wingdings" panose="05000000000000000000" pitchFamily="2" charset="2"/>
              <a:buChar char="v"/>
            </a:pPr>
            <a:r>
              <a:rPr lang="en-US" b="1" dirty="0"/>
              <a:t>Advantage:</a:t>
            </a:r>
            <a:r>
              <a:rPr lang="en-US" dirty="0"/>
              <a:t> Built on HTTP, no special servers, automatic reconnection handling</a:t>
            </a:r>
          </a:p>
        </p:txBody>
      </p:sp>
    </p:spTree>
    <p:extLst>
      <p:ext uri="{BB962C8B-B14F-4D97-AF65-F5344CB8AC3E}">
        <p14:creationId xmlns:p14="http://schemas.microsoft.com/office/powerpoint/2010/main" val="866387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EAB0C-138E-2225-8E65-1B073186342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FEA9CAB-3ED5-02A1-D7BF-DC1A4A104799}"/>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RTMP - Real-Time Messaging Protocol</a:t>
            </a:r>
          </a:p>
        </p:txBody>
      </p:sp>
      <p:sp>
        <p:nvSpPr>
          <p:cNvPr id="4" name="object 4">
            <a:extLst>
              <a:ext uri="{FF2B5EF4-FFF2-40B4-BE49-F238E27FC236}">
                <a16:creationId xmlns:a16="http://schemas.microsoft.com/office/drawing/2014/main" id="{939263B3-6450-5705-2AAE-0CE7949926D5}"/>
              </a:ext>
            </a:extLst>
          </p:cNvPr>
          <p:cNvSpPr txBox="1"/>
          <p:nvPr/>
        </p:nvSpPr>
        <p:spPr>
          <a:xfrm>
            <a:off x="475248" y="1047750"/>
            <a:ext cx="7601952" cy="3059812"/>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IN" b="1" dirty="0"/>
              <a:t>Origin:</a:t>
            </a:r>
            <a:r>
              <a:rPr lang="en-IN" dirty="0"/>
              <a:t> </a:t>
            </a:r>
            <a:r>
              <a:rPr lang="en-IN" b="1" dirty="0"/>
              <a:t>Adobe Flash</a:t>
            </a:r>
            <a:r>
              <a:rPr lang="en-IN" dirty="0"/>
              <a:t> protocol for streaming audio, video, and data</a:t>
            </a:r>
          </a:p>
          <a:p>
            <a:pPr marL="285750" indent="-285750">
              <a:buFont typeface="Wingdings" panose="05000000000000000000" pitchFamily="2" charset="2"/>
              <a:buChar char="v"/>
            </a:pPr>
            <a:r>
              <a:rPr lang="en-IN" b="1" dirty="0"/>
              <a:t>Protocol:</a:t>
            </a:r>
            <a:r>
              <a:rPr lang="en-IN" dirty="0"/>
              <a:t> </a:t>
            </a:r>
            <a:r>
              <a:rPr lang="en-IN" b="1" dirty="0"/>
              <a:t>TCP-based</a:t>
            </a:r>
            <a:r>
              <a:rPr lang="en-IN" dirty="0"/>
              <a:t>, maintains persistent connection for low-latency streaming</a:t>
            </a:r>
          </a:p>
          <a:p>
            <a:pPr marL="285750" indent="-285750">
              <a:buFont typeface="Wingdings" panose="05000000000000000000" pitchFamily="2" charset="2"/>
              <a:buChar char="v"/>
            </a:pPr>
            <a:r>
              <a:rPr lang="en-IN" b="1" dirty="0"/>
              <a:t>Channels:</a:t>
            </a:r>
            <a:r>
              <a:rPr lang="en-IN" dirty="0"/>
              <a:t> Multiple virtual channels within one connection (video, audio, data, control)</a:t>
            </a:r>
          </a:p>
          <a:p>
            <a:pPr marL="285750" indent="-285750">
              <a:buFont typeface="Wingdings" panose="05000000000000000000" pitchFamily="2" charset="2"/>
              <a:buChar char="v"/>
            </a:pPr>
            <a:r>
              <a:rPr lang="en-IN" b="1" dirty="0"/>
              <a:t>Key Use:</a:t>
            </a:r>
            <a:r>
              <a:rPr lang="en-IN" dirty="0"/>
              <a:t> </a:t>
            </a:r>
            <a:r>
              <a:rPr lang="en-IN" b="1" dirty="0"/>
              <a:t>Live streaming</a:t>
            </a:r>
            <a:r>
              <a:rPr lang="en-IN" dirty="0"/>
              <a:t> (Twitch, YouTube Live originally), video-on-demand</a:t>
            </a:r>
          </a:p>
          <a:p>
            <a:pPr marL="285750" indent="-285750">
              <a:buFont typeface="Wingdings" panose="05000000000000000000" pitchFamily="2" charset="2"/>
              <a:buChar char="v"/>
            </a:pPr>
            <a:r>
              <a:rPr lang="en-IN" b="1" dirty="0"/>
              <a:t>Decline:</a:t>
            </a:r>
            <a:r>
              <a:rPr lang="en-IN" dirty="0"/>
              <a:t> Flash deprecation (2020), replaced by </a:t>
            </a:r>
            <a:r>
              <a:rPr lang="en-IN" b="1" dirty="0"/>
              <a:t>HTTP-based adaptive streaming</a:t>
            </a:r>
            <a:r>
              <a:rPr lang="en-IN" dirty="0"/>
              <a:t> (HLS, DASH)</a:t>
            </a:r>
          </a:p>
          <a:p>
            <a:pPr marL="285750" indent="-285750">
              <a:buFont typeface="Wingdings" panose="05000000000000000000" pitchFamily="2" charset="2"/>
              <a:buChar char="v"/>
            </a:pPr>
            <a:r>
              <a:rPr lang="en-IN" b="1" dirty="0"/>
              <a:t>Modern Usage:</a:t>
            </a:r>
            <a:r>
              <a:rPr lang="en-IN" dirty="0"/>
              <a:t> </a:t>
            </a:r>
            <a:r>
              <a:rPr lang="en-IN" b="1" dirty="0"/>
              <a:t>Ingest protocol</a:t>
            </a:r>
            <a:r>
              <a:rPr lang="en-IN" dirty="0"/>
              <a:t> for live streams (OBS → streaming platforms)</a:t>
            </a:r>
          </a:p>
        </p:txBody>
      </p:sp>
    </p:spTree>
    <p:extLst>
      <p:ext uri="{BB962C8B-B14F-4D97-AF65-F5344CB8AC3E}">
        <p14:creationId xmlns:p14="http://schemas.microsoft.com/office/powerpoint/2010/main" val="2361662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774E9-206F-3DCE-6487-14666C66030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EA456FC-E475-CBAF-FE76-3FAC041EF823}"/>
              </a:ext>
            </a:extLst>
          </p:cNvPr>
          <p:cNvSpPr txBox="1">
            <a:spLocks noGrp="1"/>
          </p:cNvSpPr>
          <p:nvPr>
            <p:ph type="title"/>
          </p:nvPr>
        </p:nvSpPr>
        <p:spPr>
          <a:xfrm>
            <a:off x="384724" y="501589"/>
            <a:ext cx="8073476" cy="510396"/>
          </a:xfrm>
          <a:prstGeom prst="rect">
            <a:avLst/>
          </a:prstGeom>
        </p:spPr>
        <p:txBody>
          <a:bodyPr vert="horz" wrap="square" lIns="0" tIns="17780" rIns="0" bIns="0" rtlCol="0">
            <a:spAutoFit/>
          </a:bodyPr>
          <a:lstStyle/>
          <a:p>
            <a:r>
              <a:rPr lang="en-IN" dirty="0"/>
              <a:t>QUIC</a:t>
            </a:r>
          </a:p>
        </p:txBody>
      </p:sp>
      <p:sp>
        <p:nvSpPr>
          <p:cNvPr id="4" name="object 4">
            <a:extLst>
              <a:ext uri="{FF2B5EF4-FFF2-40B4-BE49-F238E27FC236}">
                <a16:creationId xmlns:a16="http://schemas.microsoft.com/office/drawing/2014/main" id="{C24245D1-0F75-4AB8-2D4D-15D930CA88FA}"/>
              </a:ext>
            </a:extLst>
          </p:cNvPr>
          <p:cNvSpPr txBox="1"/>
          <p:nvPr/>
        </p:nvSpPr>
        <p:spPr>
          <a:xfrm>
            <a:off x="475248" y="1047750"/>
            <a:ext cx="7601952" cy="2505814"/>
          </a:xfrm>
          <a:prstGeom prst="rect">
            <a:avLst/>
          </a:prstGeom>
        </p:spPr>
        <p:txBody>
          <a:bodyPr vert="horz" wrap="square" lIns="0" tIns="12700" rIns="0" bIns="0" rtlCol="0">
            <a:spAutoFit/>
          </a:bodyPr>
          <a:lstStyle/>
          <a:p>
            <a:pPr marL="285750" indent="-285750">
              <a:buFont typeface="Wingdings" panose="05000000000000000000" pitchFamily="2" charset="2"/>
              <a:buChar char="v"/>
            </a:pPr>
            <a:r>
              <a:rPr lang="en-US" b="1" dirty="0"/>
              <a:t>Origin:</a:t>
            </a:r>
            <a:r>
              <a:rPr lang="en-US" dirty="0"/>
              <a:t> </a:t>
            </a:r>
            <a:r>
              <a:rPr lang="en-US" b="1" dirty="0"/>
              <a:t>Google innovation</a:t>
            </a:r>
            <a:r>
              <a:rPr lang="en-US" dirty="0"/>
              <a:t> (2012), now </a:t>
            </a:r>
            <a:r>
              <a:rPr lang="en-US" b="1" dirty="0"/>
              <a:t>IETF standard</a:t>
            </a:r>
            <a:r>
              <a:rPr lang="en-US" dirty="0"/>
              <a:t> (HTTP/3)</a:t>
            </a:r>
          </a:p>
          <a:p>
            <a:pPr marL="285750" indent="-285750">
              <a:buFont typeface="Wingdings" panose="05000000000000000000" pitchFamily="2" charset="2"/>
              <a:buChar char="v"/>
            </a:pPr>
            <a:r>
              <a:rPr lang="en-US" b="1" dirty="0"/>
              <a:t>Core Innovation:</a:t>
            </a:r>
            <a:r>
              <a:rPr lang="en-US" dirty="0"/>
              <a:t> </a:t>
            </a:r>
            <a:r>
              <a:rPr lang="en-US" b="1" dirty="0"/>
              <a:t>UDP-based</a:t>
            </a:r>
            <a:r>
              <a:rPr lang="en-US" dirty="0"/>
              <a:t> with built-in </a:t>
            </a:r>
            <a:r>
              <a:rPr lang="en-US" b="1" dirty="0"/>
              <a:t>TLS 1.3</a:t>
            </a:r>
            <a:r>
              <a:rPr lang="en-US" dirty="0"/>
              <a:t>, not TCP</a:t>
            </a:r>
          </a:p>
          <a:p>
            <a:pPr marL="285750" indent="-285750">
              <a:buFont typeface="Wingdings" panose="05000000000000000000" pitchFamily="2" charset="2"/>
              <a:buChar char="v"/>
            </a:pPr>
            <a:r>
              <a:rPr lang="en-US" b="1" dirty="0"/>
              <a:t>Key Features:</a:t>
            </a:r>
            <a:r>
              <a:rPr lang="en-US" dirty="0"/>
              <a:t> </a:t>
            </a:r>
            <a:r>
              <a:rPr lang="en-US" b="1" dirty="0"/>
              <a:t>0-RTT connection resumption</a:t>
            </a:r>
            <a:r>
              <a:rPr lang="en-US" dirty="0"/>
              <a:t>, </a:t>
            </a:r>
            <a:r>
              <a:rPr lang="en-US" b="1" dirty="0"/>
              <a:t>multiplexing without head-of-line blocking</a:t>
            </a:r>
            <a:endParaRPr lang="en-US" dirty="0"/>
          </a:p>
          <a:p>
            <a:pPr marL="285750" indent="-285750">
              <a:buFont typeface="Wingdings" panose="05000000000000000000" pitchFamily="2" charset="2"/>
              <a:buChar char="v"/>
            </a:pPr>
            <a:r>
              <a:rPr lang="en-US" b="1" dirty="0"/>
              <a:t>Performance:</a:t>
            </a:r>
            <a:r>
              <a:rPr lang="en-US" dirty="0"/>
              <a:t> Faster handshakes, better loss recovery, connection migration</a:t>
            </a:r>
          </a:p>
          <a:p>
            <a:pPr marL="285750" indent="-285750">
              <a:buFont typeface="Wingdings" panose="05000000000000000000" pitchFamily="2" charset="2"/>
              <a:buChar char="v"/>
            </a:pPr>
            <a:r>
              <a:rPr lang="en-US" b="1" dirty="0"/>
              <a:t>Adoption:</a:t>
            </a:r>
            <a:r>
              <a:rPr lang="en-US" dirty="0"/>
              <a:t> Chrome, Cloudflare, Google services, rapidly growing</a:t>
            </a:r>
          </a:p>
          <a:p>
            <a:pPr marL="285750" indent="-285750">
              <a:buFont typeface="Wingdings" panose="05000000000000000000" pitchFamily="2" charset="2"/>
              <a:buChar char="v"/>
            </a:pPr>
            <a:r>
              <a:rPr lang="en-US" b="1" dirty="0"/>
              <a:t>Impact:</a:t>
            </a:r>
            <a:r>
              <a:rPr lang="en-US" dirty="0"/>
              <a:t> </a:t>
            </a:r>
            <a:r>
              <a:rPr lang="en-US" b="1" dirty="0"/>
              <a:t>Web performance revolution</a:t>
            </a:r>
            <a:r>
              <a:rPr lang="en-US" dirty="0"/>
              <a:t>, especially for mobile and high-latency networks</a:t>
            </a:r>
          </a:p>
        </p:txBody>
      </p:sp>
    </p:spTree>
    <p:extLst>
      <p:ext uri="{BB962C8B-B14F-4D97-AF65-F5344CB8AC3E}">
        <p14:creationId xmlns:p14="http://schemas.microsoft.com/office/powerpoint/2010/main" val="1949467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630</TotalTime>
  <Words>11012</Words>
  <Application>Microsoft Office PowerPoint</Application>
  <PresentationFormat>On-screen Show (16:9)</PresentationFormat>
  <Paragraphs>675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Courier New</vt:lpstr>
      <vt:lpstr>Wingdings</vt:lpstr>
      <vt:lpstr>Office Theme</vt:lpstr>
      <vt:lpstr>Mastering Distributed System Design</vt:lpstr>
      <vt:lpstr>What This Section Covers</vt:lpstr>
      <vt:lpstr>Communication Models - OSI &amp; TCP/IP</vt:lpstr>
      <vt:lpstr>Switch vs Router</vt:lpstr>
      <vt:lpstr>Why Routing?</vt:lpstr>
      <vt:lpstr>Understanding IP Addresses</vt:lpstr>
      <vt:lpstr>Reliable &amp; Secure Links</vt:lpstr>
      <vt:lpstr>DNS - The Internet's Phonebook</vt:lpstr>
      <vt:lpstr>DNS Resolution Process</vt:lpstr>
      <vt:lpstr>Transmission Control Protocol (TCP)</vt:lpstr>
      <vt:lpstr>User Datagram Protocol (UDP)</vt:lpstr>
      <vt:lpstr>Hypertext Transfer Protocol (HTTP)</vt:lpstr>
      <vt:lpstr>HTTP Evolution Timeline</vt:lpstr>
      <vt:lpstr>Communication Types - Push vs Pull</vt:lpstr>
      <vt:lpstr>Common Communication Protocols</vt:lpstr>
      <vt:lpstr>Remote Procedure Call (RPC)</vt:lpstr>
      <vt:lpstr>SOAP/WS-* (enterprise RPC)</vt:lpstr>
      <vt:lpstr>gRPC (modern RPC)</vt:lpstr>
      <vt:lpstr>Service-Oriented Architecture (SOA)</vt:lpstr>
      <vt:lpstr>REST (Representational State Transfer)</vt:lpstr>
      <vt:lpstr>Constraints of REST Architecture</vt:lpstr>
      <vt:lpstr>HTTP Methods (Verbs) in REST</vt:lpstr>
      <vt:lpstr>HTTP Status Codes in REST</vt:lpstr>
      <vt:lpstr>GraphQL</vt:lpstr>
      <vt:lpstr>Advanced Message Queuing Protocol (AMQP)</vt:lpstr>
      <vt:lpstr>Message Queuing Telemetry Transport(MQTT)</vt:lpstr>
      <vt:lpstr>Message Queuing Telemetry Transport(MQTT)</vt:lpstr>
      <vt:lpstr>HTTP Polling &amp; Long Polling</vt:lpstr>
      <vt:lpstr>WebSockets - Full-Duplex</vt:lpstr>
      <vt:lpstr>WebRTC - Peer-to-Peer</vt:lpstr>
      <vt:lpstr>Server-Sent Events (SSE)</vt:lpstr>
      <vt:lpstr>RTMP - Real-Time Messaging Protocol</vt:lpstr>
      <vt:lpstr>QUIC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 Section 22</dc:title>
  <cp:lastModifiedBy>vikash chauhan</cp:lastModifiedBy>
  <cp:revision>534</cp:revision>
  <dcterms:created xsi:type="dcterms:W3CDTF">2026-01-01T13:02:46Z</dcterms:created>
  <dcterms:modified xsi:type="dcterms:W3CDTF">2026-01-04T10:51:18Z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