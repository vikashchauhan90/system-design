
<file path=[Content_Types].xml><?xml version="1.0" encoding="utf-8"?>
<Types xmlns="http://schemas.openxmlformats.org/package/2006/content-types">
  <Default Extension="jpg" ContentType="image/jp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4"/>
  </p:notesMasterIdLst>
  <p:sldIdLst>
    <p:sldId id="256" r:id="rId2"/>
    <p:sldId id="257" r:id="rId3"/>
    <p:sldId id="295" r:id="rId4"/>
    <p:sldId id="296" r:id="rId5"/>
    <p:sldId id="297" r:id="rId6"/>
    <p:sldId id="298" r:id="rId7"/>
    <p:sldId id="299" r:id="rId8"/>
    <p:sldId id="300" r:id="rId9"/>
    <p:sldId id="301" r:id="rId10"/>
    <p:sldId id="302" r:id="rId11"/>
    <p:sldId id="303" r:id="rId12"/>
    <p:sldId id="305" r:id="rId13"/>
    <p:sldId id="306" r:id="rId14"/>
    <p:sldId id="307" r:id="rId15"/>
    <p:sldId id="308" r:id="rId16"/>
    <p:sldId id="309" r:id="rId17"/>
    <p:sldId id="310" r:id="rId18"/>
    <p:sldId id="311" r:id="rId19"/>
    <p:sldId id="312" r:id="rId20"/>
    <p:sldId id="313" r:id="rId21"/>
    <p:sldId id="314" r:id="rId22"/>
    <p:sldId id="315" r:id="rId23"/>
  </p:sldIdLst>
  <p:sldSz cx="9144000" cy="5143500" type="screen16x9"/>
  <p:notesSz cx="9144000" cy="51435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6601" autoAdjust="0"/>
  </p:normalViewPr>
  <p:slideViewPr>
    <p:cSldViewPr>
      <p:cViewPr varScale="1">
        <p:scale>
          <a:sx n="83" d="100"/>
          <a:sy n="83" d="100"/>
        </p:scale>
        <p:origin x="1450" y="7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257175"/>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5180013" y="0"/>
            <a:ext cx="3962400" cy="257175"/>
          </a:xfrm>
          <a:prstGeom prst="rect">
            <a:avLst/>
          </a:prstGeom>
        </p:spPr>
        <p:txBody>
          <a:bodyPr vert="horz" lIns="91440" tIns="45720" rIns="91440" bIns="45720" rtlCol="0"/>
          <a:lstStyle>
            <a:lvl1pPr algn="r">
              <a:defRPr sz="1200"/>
            </a:lvl1pPr>
          </a:lstStyle>
          <a:p>
            <a:fld id="{DE0FC2B5-BEBA-4547-9143-EECB12969261}" type="datetimeFigureOut">
              <a:rPr lang="en-IN" smtClean="0"/>
              <a:t>03-01-2026</a:t>
            </a:fld>
            <a:endParaRPr lang="en-IN"/>
          </a:p>
        </p:txBody>
      </p:sp>
      <p:sp>
        <p:nvSpPr>
          <p:cNvPr id="4" name="Slide Image Placeholder 3"/>
          <p:cNvSpPr>
            <a:spLocks noGrp="1" noRot="1" noChangeAspect="1"/>
          </p:cNvSpPr>
          <p:nvPr>
            <p:ph type="sldImg" idx="2"/>
          </p:nvPr>
        </p:nvSpPr>
        <p:spPr>
          <a:xfrm>
            <a:off x="3028950" y="642938"/>
            <a:ext cx="3086100" cy="173672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914400" y="2474913"/>
            <a:ext cx="7315200" cy="20256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4886325"/>
            <a:ext cx="3962400" cy="257175"/>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5180013" y="4886325"/>
            <a:ext cx="3962400" cy="257175"/>
          </a:xfrm>
          <a:prstGeom prst="rect">
            <a:avLst/>
          </a:prstGeom>
        </p:spPr>
        <p:txBody>
          <a:bodyPr vert="horz" lIns="91440" tIns="45720" rIns="91440" bIns="45720" rtlCol="0" anchor="b"/>
          <a:lstStyle>
            <a:lvl1pPr algn="r">
              <a:defRPr sz="1200"/>
            </a:lvl1pPr>
          </a:lstStyle>
          <a:p>
            <a:fld id="{72853293-4F00-4813-B74A-3945ABE0C2FC}" type="slidenum">
              <a:rPr lang="en-IN" smtClean="0"/>
              <a:t>‹#›</a:t>
            </a:fld>
            <a:endParaRPr lang="en-IN"/>
          </a:p>
        </p:txBody>
      </p:sp>
    </p:spTree>
    <p:extLst>
      <p:ext uri="{BB962C8B-B14F-4D97-AF65-F5344CB8AC3E}">
        <p14:creationId xmlns:p14="http://schemas.microsoft.com/office/powerpoint/2010/main" val="3509396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Welcome to Section: </a:t>
            </a:r>
            <a:r>
              <a:rPr lang="en-US" sz="1200" b="1" i="0" kern="1200" dirty="0">
                <a:solidFill>
                  <a:schemeClr val="tx1"/>
                </a:solidFill>
                <a:effectLst/>
                <a:latin typeface="+mn-lt"/>
                <a:ea typeface="+mn-ea"/>
                <a:cs typeface="+mn-cs"/>
              </a:rPr>
              <a:t>Distributed System Theorems &amp; Data Structures</a:t>
            </a:r>
            <a:r>
              <a:rPr lang="en-US" sz="1200" b="0" i="0" kern="1200" dirty="0">
                <a:solidFill>
                  <a:schemeClr val="tx1"/>
                </a:solidFill>
                <a:effectLst/>
                <a:latin typeface="+mn-lt"/>
                <a:ea typeface="+mn-ea"/>
                <a:cs typeface="+mn-cs"/>
              </a:rPr>
              <a:t>.</a:t>
            </a:r>
          </a:p>
          <a:p>
            <a:r>
              <a:rPr lang="en-US" sz="1200" b="0" i="0" kern="1200" dirty="0">
                <a:solidFill>
                  <a:schemeClr val="tx1"/>
                </a:solidFill>
                <a:effectLst/>
                <a:latin typeface="+mn-lt"/>
                <a:ea typeface="+mn-ea"/>
                <a:cs typeface="+mn-cs"/>
              </a:rPr>
              <a:t>This section bridges </a:t>
            </a:r>
            <a:r>
              <a:rPr lang="en-US" sz="1200" b="1" i="0" kern="1200" dirty="0">
                <a:solidFill>
                  <a:schemeClr val="tx1"/>
                </a:solidFill>
                <a:effectLst/>
                <a:latin typeface="+mn-lt"/>
                <a:ea typeface="+mn-ea"/>
                <a:cs typeface="+mn-cs"/>
              </a:rPr>
              <a:t>theory and practice</a:t>
            </a:r>
            <a:r>
              <a:rPr lang="en-US" sz="1200" b="0" i="0" kern="1200" dirty="0">
                <a:solidFill>
                  <a:schemeClr val="tx1"/>
                </a:solidFill>
                <a:effectLst/>
                <a:latin typeface="+mn-lt"/>
                <a:ea typeface="+mn-ea"/>
                <a:cs typeface="+mn-cs"/>
              </a:rPr>
              <a:t>. We'll start with the fundamental theorems that define what's possible (and impossible) in distributed systems - the 'laws of physics' for our field. Then we'll learn the algorithms that work within those constraints. Next, coordination patterns for practical implementation. Finally, specialized data structures that make distributed systems efficient at scale.</a:t>
            </a:r>
          </a:p>
          <a:p>
            <a:r>
              <a:rPr lang="en-US" sz="1200" b="0" i="0" kern="1200" dirty="0">
                <a:solidFill>
                  <a:schemeClr val="tx1"/>
                </a:solidFill>
                <a:effectLst/>
                <a:latin typeface="+mn-lt"/>
                <a:ea typeface="+mn-ea"/>
                <a:cs typeface="+mn-cs"/>
              </a:rPr>
              <a:t>Why does this matter? Because without understanding the theory, you're just copying patterns without knowing why they work. And without knowing the practical data structures, you can't implement efficient systems.</a:t>
            </a:r>
          </a:p>
          <a:p>
            <a:r>
              <a:rPr lang="en-US" sz="1200" b="0" i="0" kern="1200" dirty="0">
                <a:solidFill>
                  <a:schemeClr val="tx1"/>
                </a:solidFill>
                <a:effectLst/>
                <a:latin typeface="+mn-lt"/>
                <a:ea typeface="+mn-ea"/>
                <a:cs typeface="+mn-cs"/>
              </a:rPr>
              <a:t>These aren't academic exercises. The </a:t>
            </a:r>
            <a:r>
              <a:rPr lang="en-US" sz="1200" b="1" i="0" kern="1200" dirty="0">
                <a:solidFill>
                  <a:schemeClr val="tx1"/>
                </a:solidFill>
                <a:effectLst/>
                <a:latin typeface="+mn-lt"/>
                <a:ea typeface="+mn-ea"/>
                <a:cs typeface="+mn-cs"/>
              </a:rPr>
              <a:t>CAP Theorem</a:t>
            </a:r>
            <a:r>
              <a:rPr lang="en-US" sz="1200" b="0" i="0" kern="1200" dirty="0">
                <a:solidFill>
                  <a:schemeClr val="tx1"/>
                </a:solidFill>
                <a:effectLst/>
                <a:latin typeface="+mn-lt"/>
                <a:ea typeface="+mn-ea"/>
                <a:cs typeface="+mn-cs"/>
              </a:rPr>
              <a:t> guides whether you choose DynamoDB or MongoDB. </a:t>
            </a:r>
            <a:r>
              <a:rPr lang="en-US" sz="1200" b="1" i="0" kern="1200" dirty="0">
                <a:solidFill>
                  <a:schemeClr val="tx1"/>
                </a:solidFill>
                <a:effectLst/>
                <a:latin typeface="+mn-lt"/>
                <a:ea typeface="+mn-ea"/>
                <a:cs typeface="+mn-cs"/>
              </a:rPr>
              <a:t>Raft</a:t>
            </a:r>
            <a:r>
              <a:rPr lang="en-US" sz="1200" b="0" i="0" kern="1200" dirty="0">
                <a:solidFill>
                  <a:schemeClr val="tx1"/>
                </a:solidFill>
                <a:effectLst/>
                <a:latin typeface="+mn-lt"/>
                <a:ea typeface="+mn-ea"/>
                <a:cs typeface="+mn-cs"/>
              </a:rPr>
              <a:t> powers </a:t>
            </a:r>
            <a:r>
              <a:rPr lang="en-US" sz="1200" b="0" i="0" kern="1200" dirty="0" err="1">
                <a:solidFill>
                  <a:schemeClr val="tx1"/>
                </a:solidFill>
                <a:effectLst/>
                <a:latin typeface="+mn-lt"/>
                <a:ea typeface="+mn-ea"/>
                <a:cs typeface="+mn-cs"/>
              </a:rPr>
              <a:t>etcd</a:t>
            </a:r>
            <a:r>
              <a:rPr lang="en-US" sz="1200" b="0" i="0" kern="1200" dirty="0">
                <a:solidFill>
                  <a:schemeClr val="tx1"/>
                </a:solidFill>
                <a:effectLst/>
                <a:latin typeface="+mn-lt"/>
                <a:ea typeface="+mn-ea"/>
                <a:cs typeface="+mn-cs"/>
              </a:rPr>
              <a:t> and Kubernetes. </a:t>
            </a:r>
            <a:r>
              <a:rPr lang="en-US" sz="1200" b="1" i="0" kern="1200" dirty="0">
                <a:solidFill>
                  <a:schemeClr val="tx1"/>
                </a:solidFill>
                <a:effectLst/>
                <a:latin typeface="+mn-lt"/>
                <a:ea typeface="+mn-ea"/>
                <a:cs typeface="+mn-cs"/>
              </a:rPr>
              <a:t>Bloom filters</a:t>
            </a:r>
            <a:r>
              <a:rPr lang="en-US" sz="1200" b="0" i="0" kern="1200" dirty="0">
                <a:solidFill>
                  <a:schemeClr val="tx1"/>
                </a:solidFill>
                <a:effectLst/>
                <a:latin typeface="+mn-lt"/>
                <a:ea typeface="+mn-ea"/>
                <a:cs typeface="+mn-cs"/>
              </a:rPr>
              <a:t> are in every major database. </a:t>
            </a:r>
            <a:r>
              <a:rPr lang="en-US" sz="1200" b="1" i="0" kern="1200" dirty="0">
                <a:solidFill>
                  <a:schemeClr val="tx1"/>
                </a:solidFill>
                <a:effectLst/>
                <a:latin typeface="+mn-lt"/>
                <a:ea typeface="+mn-ea"/>
                <a:cs typeface="+mn-cs"/>
              </a:rPr>
              <a:t>Consistent hashing</a:t>
            </a:r>
            <a:r>
              <a:rPr lang="en-US" sz="1200" b="0" i="0" kern="1200" dirty="0">
                <a:solidFill>
                  <a:schemeClr val="tx1"/>
                </a:solidFill>
                <a:effectLst/>
                <a:latin typeface="+mn-lt"/>
                <a:ea typeface="+mn-ea"/>
                <a:cs typeface="+mn-cs"/>
              </a:rPr>
              <a:t> runs load balancers and CDNs.</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We'll follow a logical flow: Start with </a:t>
            </a:r>
            <a:r>
              <a:rPr lang="en-US" sz="1200" b="1" i="0" kern="1200" dirty="0">
                <a:solidFill>
                  <a:schemeClr val="tx1"/>
                </a:solidFill>
                <a:effectLst/>
                <a:latin typeface="+mn-lt"/>
                <a:ea typeface="+mn-ea"/>
                <a:cs typeface="+mn-cs"/>
              </a:rPr>
              <a:t>theory</a:t>
            </a:r>
            <a:r>
              <a:rPr lang="en-US" sz="1200" b="0" i="0" kern="1200" dirty="0">
                <a:solidFill>
                  <a:schemeClr val="tx1"/>
                </a:solidFill>
                <a:effectLst/>
                <a:latin typeface="+mn-lt"/>
                <a:ea typeface="+mn-ea"/>
                <a:cs typeface="+mn-cs"/>
              </a:rPr>
              <a:t> (what's possible). Then </a:t>
            </a:r>
            <a:r>
              <a:rPr lang="en-US" sz="1200" b="1" i="0" kern="1200" dirty="0">
                <a:solidFill>
                  <a:schemeClr val="tx1"/>
                </a:solidFill>
                <a:effectLst/>
                <a:latin typeface="+mn-lt"/>
                <a:ea typeface="+mn-ea"/>
                <a:cs typeface="+mn-cs"/>
              </a:rPr>
              <a:t>algorithms</a:t>
            </a:r>
            <a:r>
              <a:rPr lang="en-US" sz="1200" b="0" i="0" kern="1200" dirty="0">
                <a:solidFill>
                  <a:schemeClr val="tx1"/>
                </a:solidFill>
                <a:effectLst/>
                <a:latin typeface="+mn-lt"/>
                <a:ea typeface="+mn-ea"/>
                <a:cs typeface="+mn-cs"/>
              </a:rPr>
              <a:t> (how to achieve it). Then </a:t>
            </a:r>
            <a:r>
              <a:rPr lang="en-US" sz="1200" b="1" i="0" kern="1200" dirty="0">
                <a:solidFill>
                  <a:schemeClr val="tx1"/>
                </a:solidFill>
                <a:effectLst/>
                <a:latin typeface="+mn-lt"/>
                <a:ea typeface="+mn-ea"/>
                <a:cs typeface="+mn-cs"/>
              </a:rPr>
              <a:t>coordination</a:t>
            </a:r>
            <a:r>
              <a:rPr lang="en-US" sz="1200" b="0" i="0" kern="1200" dirty="0">
                <a:solidFill>
                  <a:schemeClr val="tx1"/>
                </a:solidFill>
                <a:effectLst/>
                <a:latin typeface="+mn-lt"/>
                <a:ea typeface="+mn-ea"/>
                <a:cs typeface="+mn-cs"/>
              </a:rPr>
              <a:t> (how systems work together). Finally </a:t>
            </a:r>
            <a:r>
              <a:rPr lang="en-US" sz="1200" b="1" i="0" kern="1200" dirty="0">
                <a:solidFill>
                  <a:schemeClr val="tx1"/>
                </a:solidFill>
                <a:effectLst/>
                <a:latin typeface="+mn-lt"/>
                <a:ea typeface="+mn-ea"/>
                <a:cs typeface="+mn-cs"/>
              </a:rPr>
              <a:t>data structures</a:t>
            </a:r>
            <a:r>
              <a:rPr lang="en-US" sz="1200" b="0" i="0" kern="1200" dirty="0">
                <a:solidFill>
                  <a:schemeClr val="tx1"/>
                </a:solidFill>
                <a:effectLst/>
                <a:latin typeface="+mn-lt"/>
                <a:ea typeface="+mn-ea"/>
                <a:cs typeface="+mn-cs"/>
              </a:rPr>
              <a:t> (how to make it efficient).</a:t>
            </a:r>
          </a:p>
          <a:p>
            <a:r>
              <a:rPr lang="en-US" sz="1200" b="0" i="0" kern="1200" dirty="0">
                <a:solidFill>
                  <a:schemeClr val="tx1"/>
                </a:solidFill>
                <a:effectLst/>
                <a:latin typeface="+mn-lt"/>
                <a:ea typeface="+mn-ea"/>
                <a:cs typeface="+mn-cs"/>
              </a:rPr>
              <a:t>Let's begin with the most famous theorem in distributed systems.</a:t>
            </a:r>
          </a:p>
          <a:p>
            <a:endParaRPr lang="en-US" sz="1200" b="0" i="0" kern="1200" dirty="0">
              <a:solidFill>
                <a:schemeClr val="tx1"/>
              </a:solidFill>
              <a:effectLst/>
              <a:latin typeface="+mn-lt"/>
              <a:ea typeface="+mn-ea"/>
              <a:cs typeface="+mn-cs"/>
            </a:endParaRPr>
          </a:p>
          <a:p>
            <a:endParaRPr lang="en-IN" dirty="0"/>
          </a:p>
        </p:txBody>
      </p:sp>
      <p:sp>
        <p:nvSpPr>
          <p:cNvPr id="4" name="Slide Number Placeholder 3"/>
          <p:cNvSpPr>
            <a:spLocks noGrp="1"/>
          </p:cNvSpPr>
          <p:nvPr>
            <p:ph type="sldNum" sz="quarter" idx="5"/>
          </p:nvPr>
        </p:nvSpPr>
        <p:spPr/>
        <p:txBody>
          <a:bodyPr/>
          <a:lstStyle/>
          <a:p>
            <a:fld id="{72853293-4F00-4813-B74A-3945ABE0C2FC}" type="slidenum">
              <a:rPr lang="en-IN" smtClean="0"/>
              <a:t>1</a:t>
            </a:fld>
            <a:endParaRPr lang="en-IN"/>
          </a:p>
        </p:txBody>
      </p:sp>
    </p:spTree>
    <p:extLst>
      <p:ext uri="{BB962C8B-B14F-4D97-AF65-F5344CB8AC3E}">
        <p14:creationId xmlns:p14="http://schemas.microsoft.com/office/powerpoint/2010/main" val="21005672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We start with the most famous theorem: </a:t>
            </a:r>
            <a:r>
              <a:rPr lang="en-US" sz="1200" b="1" i="0" kern="1200" dirty="0">
                <a:solidFill>
                  <a:schemeClr val="tx1"/>
                </a:solidFill>
                <a:effectLst/>
                <a:latin typeface="+mn-lt"/>
                <a:ea typeface="+mn-ea"/>
                <a:cs typeface="+mn-cs"/>
              </a:rPr>
              <a:t>CAP</a:t>
            </a:r>
            <a:r>
              <a:rPr lang="en-US" sz="1200" b="0" i="0" kern="1200" dirty="0">
                <a:solidFill>
                  <a:schemeClr val="tx1"/>
                </a:solidFill>
                <a:effectLst/>
                <a:latin typeface="+mn-lt"/>
                <a:ea typeface="+mn-ea"/>
                <a:cs typeface="+mn-cs"/>
              </a:rPr>
              <a:t> - Consistency, Availability, Partition Tolerance.</a:t>
            </a:r>
          </a:p>
          <a:p>
            <a:r>
              <a:rPr lang="en-US" sz="1200" b="0" i="0" kern="1200" dirty="0">
                <a:solidFill>
                  <a:schemeClr val="tx1"/>
                </a:solidFill>
                <a:effectLst/>
                <a:latin typeface="+mn-lt"/>
                <a:ea typeface="+mn-ea"/>
                <a:cs typeface="+mn-cs"/>
              </a:rPr>
              <a:t>The CAP theorem states a fundamental trade-off: in a distributed system facing network partitions (which always happen), you can have </a:t>
            </a:r>
            <a:r>
              <a:rPr lang="en-US" sz="1200" b="1" i="0" kern="1200" dirty="0">
                <a:solidFill>
                  <a:schemeClr val="tx1"/>
                </a:solidFill>
                <a:effectLst/>
                <a:latin typeface="+mn-lt"/>
                <a:ea typeface="+mn-ea"/>
                <a:cs typeface="+mn-cs"/>
              </a:rPr>
              <a:t>at most two</a:t>
            </a:r>
            <a:r>
              <a:rPr lang="en-US" sz="1200" b="0" i="0" kern="1200" dirty="0">
                <a:solidFill>
                  <a:schemeClr val="tx1"/>
                </a:solidFill>
                <a:effectLst/>
                <a:latin typeface="+mn-lt"/>
                <a:ea typeface="+mn-ea"/>
                <a:cs typeface="+mn-cs"/>
              </a:rPr>
              <a:t> of the three properties.</a:t>
            </a:r>
          </a:p>
          <a:p>
            <a:r>
              <a:rPr lang="en-US" sz="1200" b="0" i="0" kern="1200" dirty="0">
                <a:solidFill>
                  <a:schemeClr val="tx1"/>
                </a:solidFill>
                <a:effectLst/>
                <a:latin typeface="+mn-lt"/>
                <a:ea typeface="+mn-ea"/>
                <a:cs typeface="+mn-cs"/>
              </a:rPr>
              <a:t>Let's understand the choices:</a:t>
            </a:r>
          </a:p>
          <a:p>
            <a:r>
              <a:rPr lang="en-US" sz="1200" b="1" i="0" kern="1200" dirty="0">
                <a:solidFill>
                  <a:schemeClr val="tx1"/>
                </a:solidFill>
                <a:effectLst/>
                <a:latin typeface="+mn-lt"/>
                <a:ea typeface="+mn-ea"/>
                <a:cs typeface="+mn-cs"/>
              </a:rPr>
              <a:t>CP systems</a:t>
            </a:r>
            <a:r>
              <a:rPr lang="en-US" sz="1200" b="0" i="0" kern="1200" dirty="0">
                <a:solidFill>
                  <a:schemeClr val="tx1"/>
                </a:solidFill>
                <a:effectLst/>
                <a:latin typeface="+mn-lt"/>
                <a:ea typeface="+mn-ea"/>
                <a:cs typeface="+mn-cs"/>
              </a:rPr>
              <a:t> prioritize Consistency and Partition Tolerance. During a network split, they become unavailable rather than risk inconsistent data. Google Spanner, HBase - they'd rather say "I can't answer" than give a wrong answer.</a:t>
            </a:r>
          </a:p>
          <a:p>
            <a:r>
              <a:rPr lang="en-US" sz="1200" b="1" i="0" kern="1200" dirty="0">
                <a:solidFill>
                  <a:schemeClr val="tx1"/>
                </a:solidFill>
                <a:effectLst/>
                <a:latin typeface="+mn-lt"/>
                <a:ea typeface="+mn-ea"/>
                <a:cs typeface="+mn-cs"/>
              </a:rPr>
              <a:t>AP systems</a:t>
            </a:r>
            <a:r>
              <a:rPr lang="en-US" sz="1200" b="0" i="0" kern="1200" dirty="0">
                <a:solidFill>
                  <a:schemeClr val="tx1"/>
                </a:solidFill>
                <a:effectLst/>
                <a:latin typeface="+mn-lt"/>
                <a:ea typeface="+mn-ea"/>
                <a:cs typeface="+mn-cs"/>
              </a:rPr>
              <a:t> prioritize Availability and Partition Tolerance. During partitions, they keep serving requests but might return stale data. Amazon DynamoDB, Cassandra - "I'll give you an answer, but it might be slightly old."</a:t>
            </a:r>
          </a:p>
          <a:p>
            <a:r>
              <a:rPr lang="en-US" sz="1200" b="1" i="0" kern="1200" dirty="0">
                <a:solidFill>
                  <a:schemeClr val="tx1"/>
                </a:solidFill>
                <a:effectLst/>
                <a:latin typeface="+mn-lt"/>
                <a:ea typeface="+mn-ea"/>
                <a:cs typeface="+mn-cs"/>
              </a:rPr>
              <a:t>CA systems</a:t>
            </a:r>
            <a:r>
              <a:rPr lang="en-US" sz="1200" b="0" i="0" kern="1200" dirty="0">
                <a:solidFill>
                  <a:schemeClr val="tx1"/>
                </a:solidFill>
                <a:effectLst/>
                <a:latin typeface="+mn-lt"/>
                <a:ea typeface="+mn-ea"/>
                <a:cs typeface="+mn-cs"/>
              </a:rPr>
              <a:t> have Consistency and Availability but require no partitions. This is essentially single-node systems or tightly-coupled clusters. Not truly distributed in the modern sense.</a:t>
            </a:r>
          </a:p>
          <a:p>
            <a:r>
              <a:rPr lang="en-US" sz="1200" b="0" i="0" kern="1200" dirty="0">
                <a:solidFill>
                  <a:schemeClr val="tx1"/>
                </a:solidFill>
                <a:effectLst/>
                <a:latin typeface="+mn-lt"/>
                <a:ea typeface="+mn-ea"/>
                <a:cs typeface="+mn-cs"/>
              </a:rPr>
              <a:t>The key insight: </a:t>
            </a:r>
            <a:r>
              <a:rPr lang="en-US" sz="1200" b="1" i="0" kern="1200" dirty="0">
                <a:solidFill>
                  <a:schemeClr val="tx1"/>
                </a:solidFill>
                <a:effectLst/>
                <a:latin typeface="+mn-lt"/>
                <a:ea typeface="+mn-ea"/>
                <a:cs typeface="+mn-cs"/>
              </a:rPr>
              <a:t>Partition Tolerance is not optional</a:t>
            </a:r>
            <a:r>
              <a:rPr lang="en-US" sz="1200" b="0" i="0" kern="1200" dirty="0">
                <a:solidFill>
                  <a:schemeClr val="tx1"/>
                </a:solidFill>
                <a:effectLst/>
                <a:latin typeface="+mn-lt"/>
                <a:ea typeface="+mn-ea"/>
                <a:cs typeface="+mn-cs"/>
              </a:rPr>
              <a:t>. Networks fail. Servers get isolated. In real distributed systems, you're really choosing between </a:t>
            </a:r>
            <a:r>
              <a:rPr lang="en-US" sz="1200" b="1" i="0" kern="1200" dirty="0">
                <a:solidFill>
                  <a:schemeClr val="tx1"/>
                </a:solidFill>
                <a:effectLst/>
                <a:latin typeface="+mn-lt"/>
                <a:ea typeface="+mn-ea"/>
                <a:cs typeface="+mn-cs"/>
              </a:rPr>
              <a:t>CP</a:t>
            </a:r>
            <a:r>
              <a:rPr lang="en-US" sz="1200" b="0" i="0" kern="1200" dirty="0">
                <a:solidFill>
                  <a:schemeClr val="tx1"/>
                </a:solidFill>
                <a:effectLst/>
                <a:latin typeface="+mn-lt"/>
                <a:ea typeface="+mn-ea"/>
                <a:cs typeface="+mn-cs"/>
              </a:rPr>
              <a:t> and </a:t>
            </a:r>
            <a:r>
              <a:rPr lang="en-US" sz="1200" b="1" i="0" kern="1200" dirty="0">
                <a:solidFill>
                  <a:schemeClr val="tx1"/>
                </a:solidFill>
                <a:effectLst/>
                <a:latin typeface="+mn-lt"/>
                <a:ea typeface="+mn-ea"/>
                <a:cs typeface="+mn-cs"/>
              </a:rPr>
              <a:t>AP</a:t>
            </a:r>
            <a:r>
              <a:rPr lang="en-US" sz="1200" b="0" i="0" kern="1200" dirty="0">
                <a:solidFill>
                  <a:schemeClr val="tx1"/>
                </a:solidFill>
                <a:effectLst/>
                <a:latin typeface="+mn-lt"/>
                <a:ea typeface="+mn-ea"/>
                <a:cs typeface="+mn-cs"/>
              </a:rPr>
              <a:t>.</a:t>
            </a:r>
          </a:p>
          <a:p>
            <a:endParaRPr lang="en-IN" dirty="0"/>
          </a:p>
        </p:txBody>
      </p:sp>
      <p:sp>
        <p:nvSpPr>
          <p:cNvPr id="4" name="Slide Number Placeholder 3"/>
          <p:cNvSpPr>
            <a:spLocks noGrp="1"/>
          </p:cNvSpPr>
          <p:nvPr>
            <p:ph type="sldNum" sz="quarter" idx="5"/>
          </p:nvPr>
        </p:nvSpPr>
        <p:spPr/>
        <p:txBody>
          <a:bodyPr/>
          <a:lstStyle/>
          <a:p>
            <a:fld id="{72853293-4F00-4813-B74A-3945ABE0C2FC}" type="slidenum">
              <a:rPr lang="en-IN" smtClean="0"/>
              <a:t>3</a:t>
            </a:fld>
            <a:endParaRPr lang="en-IN"/>
          </a:p>
        </p:txBody>
      </p:sp>
    </p:spTree>
    <p:extLst>
      <p:ext uri="{BB962C8B-B14F-4D97-AF65-F5344CB8AC3E}">
        <p14:creationId xmlns:p14="http://schemas.microsoft.com/office/powerpoint/2010/main" val="24222006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Let's see CAP in action with real systems.</a:t>
            </a:r>
          </a:p>
          <a:p>
            <a:r>
              <a:rPr lang="en-US" sz="1200" b="0" i="0" kern="1200" dirty="0">
                <a:solidFill>
                  <a:schemeClr val="tx1"/>
                </a:solidFill>
                <a:effectLst/>
                <a:latin typeface="+mn-lt"/>
                <a:ea typeface="+mn-ea"/>
                <a:cs typeface="+mn-cs"/>
              </a:rPr>
              <a:t>On the </a:t>
            </a:r>
            <a:r>
              <a:rPr lang="en-US" sz="1200" b="1" i="0" kern="1200" dirty="0">
                <a:solidFill>
                  <a:schemeClr val="tx1"/>
                </a:solidFill>
                <a:effectLst/>
                <a:latin typeface="+mn-lt"/>
                <a:ea typeface="+mn-ea"/>
                <a:cs typeface="+mn-cs"/>
              </a:rPr>
              <a:t>CP side</a:t>
            </a:r>
            <a:r>
              <a:rPr lang="en-US" sz="1200" b="0" i="0" kern="1200" dirty="0">
                <a:solidFill>
                  <a:schemeClr val="tx1"/>
                </a:solidFill>
                <a:effectLst/>
                <a:latin typeface="+mn-lt"/>
                <a:ea typeface="+mn-ea"/>
                <a:cs typeface="+mn-cs"/>
              </a:rPr>
              <a:t>: Google Spanner, </a:t>
            </a:r>
            <a:r>
              <a:rPr lang="en-US" sz="1200" b="0" i="0" kern="1200" dirty="0" err="1">
                <a:solidFill>
                  <a:schemeClr val="tx1"/>
                </a:solidFill>
                <a:effectLst/>
                <a:latin typeface="+mn-lt"/>
                <a:ea typeface="+mn-ea"/>
                <a:cs typeface="+mn-cs"/>
              </a:rPr>
              <a:t>ZooKeeper</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etcd</a:t>
            </a:r>
            <a:r>
              <a:rPr lang="en-US" sz="1200" b="0" i="0" kern="1200" dirty="0">
                <a:solidFill>
                  <a:schemeClr val="tx1"/>
                </a:solidFill>
                <a:effectLst/>
                <a:latin typeface="+mn-lt"/>
                <a:ea typeface="+mn-ea"/>
                <a:cs typeface="+mn-cs"/>
              </a:rPr>
              <a:t>. During network partitions, they sacrifice availability. </a:t>
            </a:r>
            <a:r>
              <a:rPr lang="en-US" sz="1200" b="0" i="0" kern="1200" dirty="0" err="1">
                <a:solidFill>
                  <a:schemeClr val="tx1"/>
                </a:solidFill>
                <a:effectLst/>
                <a:latin typeface="+mn-lt"/>
                <a:ea typeface="+mn-ea"/>
                <a:cs typeface="+mn-cs"/>
              </a:rPr>
              <a:t>ZooKeeper</a:t>
            </a:r>
            <a:r>
              <a:rPr lang="en-US" sz="1200" b="0" i="0" kern="1200" dirty="0">
                <a:solidFill>
                  <a:schemeClr val="tx1"/>
                </a:solidFill>
                <a:effectLst/>
                <a:latin typeface="+mn-lt"/>
                <a:ea typeface="+mn-ea"/>
                <a:cs typeface="+mn-cs"/>
              </a:rPr>
              <a:t> stops accepting writes to avoid inconsistency. This is perfect for coordination systems where consistency is critical.</a:t>
            </a:r>
          </a:p>
          <a:p>
            <a:r>
              <a:rPr lang="en-US" sz="1200" b="0" i="0" kern="1200" dirty="0">
                <a:solidFill>
                  <a:schemeClr val="tx1"/>
                </a:solidFill>
                <a:effectLst/>
                <a:latin typeface="+mn-lt"/>
                <a:ea typeface="+mn-ea"/>
                <a:cs typeface="+mn-cs"/>
              </a:rPr>
              <a:t>On the </a:t>
            </a:r>
            <a:r>
              <a:rPr lang="en-US" sz="1200" b="1" i="0" kern="1200" dirty="0">
                <a:solidFill>
                  <a:schemeClr val="tx1"/>
                </a:solidFill>
                <a:effectLst/>
                <a:latin typeface="+mn-lt"/>
                <a:ea typeface="+mn-ea"/>
                <a:cs typeface="+mn-cs"/>
              </a:rPr>
              <a:t>AP side</a:t>
            </a:r>
            <a:r>
              <a:rPr lang="en-US" sz="1200" b="0" i="0" kern="1200" dirty="0">
                <a:solidFill>
                  <a:schemeClr val="tx1"/>
                </a:solidFill>
                <a:effectLst/>
                <a:latin typeface="+mn-lt"/>
                <a:ea typeface="+mn-ea"/>
                <a:cs typeface="+mn-cs"/>
              </a:rPr>
              <a:t>: Cassandra, DynamoDB, CouchDB. During partitions, they keep serving requests but might return stale data. Cassandra uses last-write-wins with vector clocks to resolve conflicts later.</a:t>
            </a:r>
          </a:p>
          <a:p>
            <a:r>
              <a:rPr lang="en-US" sz="1200" b="0" i="0" kern="1200" dirty="0">
                <a:solidFill>
                  <a:schemeClr val="tx1"/>
                </a:solidFill>
                <a:effectLst/>
                <a:latin typeface="+mn-lt"/>
                <a:ea typeface="+mn-ea"/>
                <a:cs typeface="+mn-cs"/>
              </a:rPr>
              <a:t>A common misconception: "I want 80% consistency and 80% availability." That's not how CAP works. </a:t>
            </a:r>
            <a:r>
              <a:rPr lang="en-US" sz="1200" b="1" i="0" kern="1200" dirty="0">
                <a:solidFill>
                  <a:schemeClr val="tx1"/>
                </a:solidFill>
                <a:effectLst/>
                <a:latin typeface="+mn-lt"/>
                <a:ea typeface="+mn-ea"/>
                <a:cs typeface="+mn-cs"/>
              </a:rPr>
              <a:t>During a partition</a:t>
            </a:r>
            <a:r>
              <a:rPr lang="en-US" sz="1200" b="0" i="0" kern="1200" dirty="0">
                <a:solidFill>
                  <a:schemeClr val="tx1"/>
                </a:solidFill>
                <a:effectLst/>
                <a:latin typeface="+mn-lt"/>
                <a:ea typeface="+mn-ea"/>
                <a:cs typeface="+mn-cs"/>
              </a:rPr>
              <a:t>, you choose one: consistency OR availability. Between partitions, you can have both.</a:t>
            </a:r>
          </a:p>
          <a:p>
            <a:r>
              <a:rPr lang="en-US" sz="1200" b="0" i="0" kern="1200" dirty="0">
                <a:solidFill>
                  <a:schemeClr val="tx1"/>
                </a:solidFill>
                <a:effectLst/>
                <a:latin typeface="+mn-lt"/>
                <a:ea typeface="+mn-ea"/>
                <a:cs typeface="+mn-cs"/>
              </a:rPr>
              <a:t>Modern systems add nuance. Many are </a:t>
            </a:r>
            <a:r>
              <a:rPr lang="en-US" sz="1200" b="1" i="0" kern="1200" dirty="0">
                <a:solidFill>
                  <a:schemeClr val="tx1"/>
                </a:solidFill>
                <a:effectLst/>
                <a:latin typeface="+mn-lt"/>
                <a:ea typeface="+mn-ea"/>
                <a:cs typeface="+mn-cs"/>
              </a:rPr>
              <a:t>configurable</a:t>
            </a:r>
            <a:r>
              <a:rPr lang="en-US" sz="1200" b="0" i="0" kern="1200" dirty="0">
                <a:solidFill>
                  <a:schemeClr val="tx1"/>
                </a:solidFill>
                <a:effectLst/>
                <a:latin typeface="+mn-lt"/>
                <a:ea typeface="+mn-ea"/>
                <a:cs typeface="+mn-cs"/>
              </a:rPr>
              <a:t>: MongoDB can run in strong consistency mode (CP) or eventual consistency mode (AP). </a:t>
            </a:r>
            <a:r>
              <a:rPr lang="en-US" sz="1200" b="1" i="0" kern="1200" dirty="0">
                <a:solidFill>
                  <a:schemeClr val="tx1"/>
                </a:solidFill>
                <a:effectLst/>
                <a:latin typeface="+mn-lt"/>
                <a:ea typeface="+mn-ea"/>
                <a:cs typeface="+mn-cs"/>
              </a:rPr>
              <a:t>Tunable consistency</a:t>
            </a:r>
            <a:r>
              <a:rPr lang="en-US" sz="1200" b="0" i="0" kern="1200" dirty="0">
                <a:solidFill>
                  <a:schemeClr val="tx1"/>
                </a:solidFill>
                <a:effectLst/>
                <a:latin typeface="+mn-lt"/>
                <a:ea typeface="+mn-ea"/>
                <a:cs typeface="+mn-cs"/>
              </a:rPr>
              <a:t>: DynamoDB lets you choose per operation - 'strongly consistent' or 'eventually consistent'.</a:t>
            </a:r>
          </a:p>
          <a:p>
            <a:r>
              <a:rPr lang="en-US" sz="1200" b="0" i="0" kern="1200" dirty="0">
                <a:solidFill>
                  <a:schemeClr val="tx1"/>
                </a:solidFill>
                <a:effectLst/>
                <a:latin typeface="+mn-lt"/>
                <a:ea typeface="+mn-ea"/>
                <a:cs typeface="+mn-cs"/>
              </a:rPr>
              <a:t>When designing your system, ask: Can you accept stale reads? Go </a:t>
            </a:r>
            <a:r>
              <a:rPr lang="en-US" sz="1200" b="1" i="0" kern="1200" dirty="0">
                <a:solidFill>
                  <a:schemeClr val="tx1"/>
                </a:solidFill>
                <a:effectLst/>
                <a:latin typeface="+mn-lt"/>
                <a:ea typeface="+mn-ea"/>
                <a:cs typeface="+mn-cs"/>
              </a:rPr>
              <a:t>AP</a:t>
            </a:r>
            <a:r>
              <a:rPr lang="en-US" sz="1200" b="0" i="0" kern="1200" dirty="0">
                <a:solidFill>
                  <a:schemeClr val="tx1"/>
                </a:solidFill>
                <a:effectLst/>
                <a:latin typeface="+mn-lt"/>
                <a:ea typeface="+mn-ea"/>
                <a:cs typeface="+mn-cs"/>
              </a:rPr>
              <a:t>. Must all reads be current? Go </a:t>
            </a:r>
            <a:r>
              <a:rPr lang="en-US" sz="1200" b="1" i="0" kern="1200" dirty="0">
                <a:solidFill>
                  <a:schemeClr val="tx1"/>
                </a:solidFill>
                <a:effectLst/>
                <a:latin typeface="+mn-lt"/>
                <a:ea typeface="+mn-ea"/>
                <a:cs typeface="+mn-cs"/>
              </a:rPr>
              <a:t>CP</a:t>
            </a:r>
            <a:r>
              <a:rPr lang="en-US" sz="1200" b="0" i="0" kern="1200" dirty="0">
                <a:solidFill>
                  <a:schemeClr val="tx1"/>
                </a:solidFill>
                <a:effectLst/>
                <a:latin typeface="+mn-lt"/>
                <a:ea typeface="+mn-ea"/>
                <a:cs typeface="+mn-cs"/>
              </a:rPr>
              <a:t>. What's the business cost of downtime vs inconsistency?</a:t>
            </a:r>
          </a:p>
          <a:p>
            <a:endParaRPr lang="en-IN" dirty="0"/>
          </a:p>
          <a:p>
            <a:r>
              <a:rPr lang="en-US" sz="1200" b="0" i="0" kern="1200" dirty="0">
                <a:solidFill>
                  <a:schemeClr val="tx1"/>
                </a:solidFill>
                <a:effectLst/>
                <a:latin typeface="+mn-lt"/>
                <a:ea typeface="+mn-ea"/>
                <a:cs typeface="+mn-cs"/>
              </a:rPr>
              <a:t>CAP isn't about perfection; it's about </a:t>
            </a:r>
            <a:r>
              <a:rPr lang="en-US" sz="1200" b="1" i="0" kern="1200" dirty="0">
                <a:solidFill>
                  <a:schemeClr val="tx1"/>
                </a:solidFill>
                <a:effectLst/>
                <a:latin typeface="+mn-lt"/>
                <a:ea typeface="+mn-ea"/>
                <a:cs typeface="+mn-cs"/>
              </a:rPr>
              <a:t>informed trade-offs</a:t>
            </a:r>
            <a:r>
              <a:rPr lang="en-US" sz="1200" b="0" i="0" kern="1200" dirty="0">
                <a:solidFill>
                  <a:schemeClr val="tx1"/>
                </a:solidFill>
                <a:effectLst/>
                <a:latin typeface="+mn-lt"/>
                <a:ea typeface="+mn-ea"/>
                <a:cs typeface="+mn-cs"/>
              </a:rPr>
              <a:t> based on your specific needs.</a:t>
            </a:r>
            <a:endParaRPr lang="en-IN" dirty="0"/>
          </a:p>
        </p:txBody>
      </p:sp>
      <p:sp>
        <p:nvSpPr>
          <p:cNvPr id="4" name="Slide Number Placeholder 3"/>
          <p:cNvSpPr>
            <a:spLocks noGrp="1"/>
          </p:cNvSpPr>
          <p:nvPr>
            <p:ph type="sldNum" sz="quarter" idx="5"/>
          </p:nvPr>
        </p:nvSpPr>
        <p:spPr/>
        <p:txBody>
          <a:bodyPr/>
          <a:lstStyle/>
          <a:p>
            <a:fld id="{72853293-4F00-4813-B74A-3945ABE0C2FC}" type="slidenum">
              <a:rPr lang="en-IN" smtClean="0"/>
              <a:t>4</a:t>
            </a:fld>
            <a:endParaRPr lang="en-IN"/>
          </a:p>
        </p:txBody>
      </p:sp>
    </p:spTree>
    <p:extLst>
      <p:ext uri="{BB962C8B-B14F-4D97-AF65-F5344CB8AC3E}">
        <p14:creationId xmlns:p14="http://schemas.microsoft.com/office/powerpoint/2010/main" val="15220022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BD1B2C-2D27-2F89-21AF-A2F240BE49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160604-D592-692D-2064-187EE974E1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649FBBB-E28A-36F1-9095-5B3F9260B33B}"/>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CAP has a practical extension: </a:t>
            </a:r>
            <a:r>
              <a:rPr lang="en-US" sz="1200" b="1" i="0" kern="1200" dirty="0">
                <a:solidFill>
                  <a:schemeClr val="tx1"/>
                </a:solidFill>
                <a:effectLst/>
                <a:latin typeface="+mn-lt"/>
                <a:ea typeface="+mn-ea"/>
                <a:cs typeface="+mn-cs"/>
              </a:rPr>
              <a:t>PACELC</a:t>
            </a:r>
            <a:r>
              <a:rPr lang="en-US" sz="1200" b="0" i="0" kern="1200" dirty="0">
                <a:solidFill>
                  <a:schemeClr val="tx1"/>
                </a:solidFill>
                <a:effectLst/>
                <a:latin typeface="+mn-lt"/>
                <a:ea typeface="+mn-ea"/>
                <a:cs typeface="+mn-cs"/>
              </a:rPr>
              <a:t> (pronounced 'pass-elk').</a:t>
            </a:r>
          </a:p>
          <a:p>
            <a:r>
              <a:rPr lang="en-US" sz="1200" b="0" i="0" kern="1200" dirty="0">
                <a:solidFill>
                  <a:schemeClr val="tx1"/>
                </a:solidFill>
                <a:effectLst/>
                <a:latin typeface="+mn-lt"/>
                <a:ea typeface="+mn-ea"/>
                <a:cs typeface="+mn-cs"/>
              </a:rPr>
              <a:t>CAP only addresses what happens </a:t>
            </a:r>
            <a:r>
              <a:rPr lang="en-US" sz="1200" b="1" i="0" kern="1200" dirty="0">
                <a:solidFill>
                  <a:schemeClr val="tx1"/>
                </a:solidFill>
                <a:effectLst/>
                <a:latin typeface="+mn-lt"/>
                <a:ea typeface="+mn-ea"/>
                <a:cs typeface="+mn-cs"/>
              </a:rPr>
              <a:t>during network partitions</a:t>
            </a:r>
            <a:r>
              <a:rPr lang="en-US" sz="1200" b="0" i="0" kern="1200" dirty="0">
                <a:solidFill>
                  <a:schemeClr val="tx1"/>
                </a:solidFill>
                <a:effectLst/>
                <a:latin typeface="+mn-lt"/>
                <a:ea typeface="+mn-ea"/>
                <a:cs typeface="+mn-cs"/>
              </a:rPr>
              <a:t> - which are (hopefully) rare. But what about </a:t>
            </a:r>
            <a:r>
              <a:rPr lang="en-US" sz="1200" b="1" i="0" kern="1200" dirty="0">
                <a:solidFill>
                  <a:schemeClr val="tx1"/>
                </a:solidFill>
                <a:effectLst/>
                <a:latin typeface="+mn-lt"/>
                <a:ea typeface="+mn-ea"/>
                <a:cs typeface="+mn-cs"/>
              </a:rPr>
              <a:t>normal operation</a:t>
            </a:r>
            <a:r>
              <a:rPr lang="en-US" sz="1200" b="0" i="0" kern="1200" dirty="0">
                <a:solidFill>
                  <a:schemeClr val="tx1"/>
                </a:solidFill>
                <a:effectLst/>
                <a:latin typeface="+mn-lt"/>
                <a:ea typeface="+mn-ea"/>
                <a:cs typeface="+mn-cs"/>
              </a:rPr>
              <a:t>? That's where PACELC adds crucial insight.</a:t>
            </a:r>
          </a:p>
          <a:p>
            <a:r>
              <a:rPr lang="en-US" sz="1200" b="0" i="0" kern="1200" dirty="0">
                <a:solidFill>
                  <a:schemeClr val="tx1"/>
                </a:solidFill>
                <a:effectLst/>
                <a:latin typeface="+mn-lt"/>
                <a:ea typeface="+mn-ea"/>
                <a:cs typeface="+mn-cs"/>
              </a:rPr>
              <a:t>The theorem says: </a:t>
            </a:r>
            <a:r>
              <a:rPr lang="en-US" sz="1200" b="1" i="0" kern="1200" dirty="0">
                <a:solidFill>
                  <a:schemeClr val="tx1"/>
                </a:solidFill>
                <a:effectLst/>
                <a:latin typeface="+mn-lt"/>
                <a:ea typeface="+mn-ea"/>
                <a:cs typeface="+mn-cs"/>
              </a:rPr>
              <a:t>IF</a:t>
            </a:r>
            <a:r>
              <a:rPr lang="en-US" sz="1200" b="0" i="0" kern="1200" dirty="0">
                <a:solidFill>
                  <a:schemeClr val="tx1"/>
                </a:solidFill>
                <a:effectLst/>
                <a:latin typeface="+mn-lt"/>
                <a:ea typeface="+mn-ea"/>
                <a:cs typeface="+mn-cs"/>
              </a:rPr>
              <a:t> there's a Partition, choose between Availability and Consistency. </a:t>
            </a:r>
            <a:r>
              <a:rPr lang="en-US" sz="1200" b="1" i="0" kern="1200" dirty="0">
                <a:solidFill>
                  <a:schemeClr val="tx1"/>
                </a:solidFill>
                <a:effectLst/>
                <a:latin typeface="+mn-lt"/>
                <a:ea typeface="+mn-ea"/>
                <a:cs typeface="+mn-cs"/>
              </a:rPr>
              <a:t>ELSE</a:t>
            </a:r>
            <a:r>
              <a:rPr lang="en-US" sz="1200" b="0" i="0" kern="1200" dirty="0">
                <a:solidFill>
                  <a:schemeClr val="tx1"/>
                </a:solidFill>
                <a:effectLst/>
                <a:latin typeface="+mn-lt"/>
                <a:ea typeface="+mn-ea"/>
                <a:cs typeface="+mn-cs"/>
              </a:rPr>
              <a:t> (normal operation), choose between Latency and Consistency.</a:t>
            </a:r>
          </a:p>
          <a:p>
            <a:r>
              <a:rPr lang="en-US" sz="1200" b="0" i="0" kern="1200" dirty="0">
                <a:solidFill>
                  <a:schemeClr val="tx1"/>
                </a:solidFill>
                <a:effectLst/>
                <a:latin typeface="+mn-lt"/>
                <a:ea typeface="+mn-ea"/>
                <a:cs typeface="+mn-cs"/>
              </a:rPr>
              <a:t>This creates four categories:</a:t>
            </a:r>
          </a:p>
          <a:p>
            <a:r>
              <a:rPr lang="en-US" sz="1200" b="1" i="0" kern="1200" dirty="0">
                <a:solidFill>
                  <a:schemeClr val="tx1"/>
                </a:solidFill>
                <a:effectLst/>
                <a:latin typeface="+mn-lt"/>
                <a:ea typeface="+mn-ea"/>
                <a:cs typeface="+mn-cs"/>
              </a:rPr>
              <a:t>PA/EL</a:t>
            </a:r>
            <a:r>
              <a:rPr lang="en-US" sz="1200" b="0" i="0" kern="1200" dirty="0">
                <a:solidFill>
                  <a:schemeClr val="tx1"/>
                </a:solidFill>
                <a:effectLst/>
                <a:latin typeface="+mn-lt"/>
                <a:ea typeface="+mn-ea"/>
                <a:cs typeface="+mn-cs"/>
              </a:rPr>
              <a:t> systems (like DynamoDB in eventual consistency mode): Available during partitions, low latency normally. Fast reads, but might get stale data.</a:t>
            </a:r>
          </a:p>
          <a:p>
            <a:r>
              <a:rPr lang="en-US" sz="1200" b="1" i="0" kern="1200" dirty="0">
                <a:solidFill>
                  <a:schemeClr val="tx1"/>
                </a:solidFill>
                <a:effectLst/>
                <a:latin typeface="+mn-lt"/>
                <a:ea typeface="+mn-ea"/>
                <a:cs typeface="+mn-cs"/>
              </a:rPr>
              <a:t>PA/EC</a:t>
            </a:r>
            <a:r>
              <a:rPr lang="en-US" sz="1200" b="0" i="0" kern="1200" dirty="0">
                <a:solidFill>
                  <a:schemeClr val="tx1"/>
                </a:solidFill>
                <a:effectLst/>
                <a:latin typeface="+mn-lt"/>
                <a:ea typeface="+mn-ea"/>
                <a:cs typeface="+mn-cs"/>
              </a:rPr>
              <a:t> systems (like Cassandra with QUORUM reads): Available during partitions, consistent when possible. Tries for consistency but sacrifices it during partitions.</a:t>
            </a:r>
          </a:p>
          <a:p>
            <a:r>
              <a:rPr lang="en-US" sz="1200" b="1" i="0" kern="1200" dirty="0">
                <a:solidFill>
                  <a:schemeClr val="tx1"/>
                </a:solidFill>
                <a:effectLst/>
                <a:latin typeface="+mn-lt"/>
                <a:ea typeface="+mn-ea"/>
                <a:cs typeface="+mn-cs"/>
              </a:rPr>
              <a:t>PC/EL</a:t>
            </a:r>
            <a:r>
              <a:rPr lang="en-US" sz="1200" b="0" i="0" kern="1200" dirty="0">
                <a:solidFill>
                  <a:schemeClr val="tx1"/>
                </a:solidFill>
                <a:effectLst/>
                <a:latin typeface="+mn-lt"/>
                <a:ea typeface="+mn-ea"/>
                <a:cs typeface="+mn-cs"/>
              </a:rPr>
              <a:t> systems (like MongoDB with certain configurations): Consistent during partitions (by becoming unavailable), fast normally.</a:t>
            </a:r>
          </a:p>
          <a:p>
            <a:r>
              <a:rPr lang="en-US" sz="1200" b="1" i="0" kern="1200" dirty="0">
                <a:solidFill>
                  <a:schemeClr val="tx1"/>
                </a:solidFill>
                <a:effectLst/>
                <a:latin typeface="+mn-lt"/>
                <a:ea typeface="+mn-ea"/>
                <a:cs typeface="+mn-cs"/>
              </a:rPr>
              <a:t>PC/EC</a:t>
            </a:r>
            <a:r>
              <a:rPr lang="en-US" sz="1200" b="0" i="0" kern="1200" dirty="0">
                <a:solidFill>
                  <a:schemeClr val="tx1"/>
                </a:solidFill>
                <a:effectLst/>
                <a:latin typeface="+mn-lt"/>
                <a:ea typeface="+mn-ea"/>
                <a:cs typeface="+mn-cs"/>
              </a:rPr>
              <a:t> systems (like Google Spanner): Consistent always, even at cost of higher latency.</a:t>
            </a:r>
          </a:p>
          <a:p>
            <a:r>
              <a:rPr lang="en-US" sz="1200" b="0" i="0" kern="1200" dirty="0">
                <a:solidFill>
                  <a:schemeClr val="tx1"/>
                </a:solidFill>
                <a:effectLst/>
                <a:latin typeface="+mn-lt"/>
                <a:ea typeface="+mn-ea"/>
                <a:cs typeface="+mn-cs"/>
              </a:rPr>
              <a:t>Why does this matter? Because </a:t>
            </a:r>
            <a:r>
              <a:rPr lang="en-US" sz="1200" b="1" i="0" kern="1200" dirty="0">
                <a:solidFill>
                  <a:schemeClr val="tx1"/>
                </a:solidFill>
                <a:effectLst/>
                <a:latin typeface="+mn-lt"/>
                <a:ea typeface="+mn-ea"/>
                <a:cs typeface="+mn-cs"/>
              </a:rPr>
              <a:t>most of the time</a:t>
            </a:r>
            <a:r>
              <a:rPr lang="en-US" sz="1200" b="0" i="0" kern="1200" dirty="0">
                <a:solidFill>
                  <a:schemeClr val="tx1"/>
                </a:solidFill>
                <a:effectLst/>
                <a:latin typeface="+mn-lt"/>
                <a:ea typeface="+mn-ea"/>
                <a:cs typeface="+mn-cs"/>
              </a:rPr>
              <a:t>, systems aren't partitioned. The latency vs consistency trade-off happens on </a:t>
            </a:r>
            <a:r>
              <a:rPr lang="en-US" sz="1200" b="1" i="0" kern="1200" dirty="0">
                <a:solidFill>
                  <a:schemeClr val="tx1"/>
                </a:solidFill>
                <a:effectLst/>
                <a:latin typeface="+mn-lt"/>
                <a:ea typeface="+mn-ea"/>
                <a:cs typeface="+mn-cs"/>
              </a:rPr>
              <a:t>every request</a:t>
            </a:r>
            <a:r>
              <a:rPr lang="en-US" sz="1200" b="0" i="0" kern="1200" dirty="0">
                <a:solidFill>
                  <a:schemeClr val="tx1"/>
                </a:solidFill>
                <a:effectLst/>
                <a:latin typeface="+mn-lt"/>
                <a:ea typeface="+mn-ea"/>
                <a:cs typeface="+mn-cs"/>
              </a:rPr>
              <a:t>. PACELC gives us a framework for both scenarios.</a:t>
            </a:r>
          </a:p>
          <a:p>
            <a:r>
              <a:rPr lang="en-US" sz="1200" b="0" i="0" kern="1200" dirty="0">
                <a:solidFill>
                  <a:schemeClr val="tx1"/>
                </a:solidFill>
                <a:effectLst/>
                <a:latin typeface="+mn-lt"/>
                <a:ea typeface="+mn-ea"/>
                <a:cs typeface="+mn-cs"/>
              </a:rPr>
              <a:t>When evaluating systems, ask: What's their </a:t>
            </a:r>
            <a:r>
              <a:rPr lang="en-US" sz="1200" b="1" i="0" kern="1200" dirty="0">
                <a:solidFill>
                  <a:schemeClr val="tx1"/>
                </a:solidFill>
                <a:effectLst/>
                <a:latin typeface="+mn-lt"/>
                <a:ea typeface="+mn-ea"/>
                <a:cs typeface="+mn-cs"/>
              </a:rPr>
              <a:t>partition behavior</a:t>
            </a:r>
            <a:r>
              <a:rPr lang="en-US" sz="1200" b="0" i="0" kern="1200" dirty="0">
                <a:solidFill>
                  <a:schemeClr val="tx1"/>
                </a:solidFill>
                <a:effectLst/>
                <a:latin typeface="+mn-lt"/>
                <a:ea typeface="+mn-ea"/>
                <a:cs typeface="+mn-cs"/>
              </a:rPr>
              <a:t> (PA or PC)? And their </a:t>
            </a:r>
            <a:r>
              <a:rPr lang="en-US" sz="1200" b="1" i="0" kern="1200" dirty="0">
                <a:solidFill>
                  <a:schemeClr val="tx1"/>
                </a:solidFill>
                <a:effectLst/>
                <a:latin typeface="+mn-lt"/>
                <a:ea typeface="+mn-ea"/>
                <a:cs typeface="+mn-cs"/>
              </a:rPr>
              <a:t>normal behavior</a:t>
            </a:r>
            <a:r>
              <a:rPr lang="en-US" sz="1200" b="0" i="0" kern="1200" dirty="0">
                <a:solidFill>
                  <a:schemeClr val="tx1"/>
                </a:solidFill>
                <a:effectLst/>
                <a:latin typeface="+mn-lt"/>
                <a:ea typeface="+mn-ea"/>
                <a:cs typeface="+mn-cs"/>
              </a:rPr>
              <a:t> (EL or EC)? This gives a complete picture.</a:t>
            </a:r>
          </a:p>
          <a:p>
            <a:endParaRPr lang="en-IN" dirty="0"/>
          </a:p>
        </p:txBody>
      </p:sp>
      <p:sp>
        <p:nvSpPr>
          <p:cNvPr id="4" name="Slide Number Placeholder 3">
            <a:extLst>
              <a:ext uri="{FF2B5EF4-FFF2-40B4-BE49-F238E27FC236}">
                <a16:creationId xmlns:a16="http://schemas.microsoft.com/office/drawing/2014/main" id="{A8339743-4973-1708-9FF8-74CACB128C62}"/>
              </a:ext>
            </a:extLst>
          </p:cNvPr>
          <p:cNvSpPr>
            <a:spLocks noGrp="1"/>
          </p:cNvSpPr>
          <p:nvPr>
            <p:ph type="sldNum" sz="quarter" idx="5"/>
          </p:nvPr>
        </p:nvSpPr>
        <p:spPr/>
        <p:txBody>
          <a:bodyPr/>
          <a:lstStyle/>
          <a:p>
            <a:fld id="{72853293-4F00-4813-B74A-3945ABE0C2FC}" type="slidenum">
              <a:rPr lang="en-IN" smtClean="0"/>
              <a:t>5</a:t>
            </a:fld>
            <a:endParaRPr lang="en-IN"/>
          </a:p>
        </p:txBody>
      </p:sp>
    </p:spTree>
    <p:extLst>
      <p:ext uri="{BB962C8B-B14F-4D97-AF65-F5344CB8AC3E}">
        <p14:creationId xmlns:p14="http://schemas.microsoft.com/office/powerpoint/2010/main" val="28582952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F4CBE4-FD2D-21CC-3712-1150CF42ED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DD2BC6-6DFB-8BD3-52EE-46AAF3FBE1C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FCBBD1-3DC8-ED23-6150-03B439F6926C}"/>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Now we encounter a sobering theorem: </a:t>
            </a:r>
            <a:r>
              <a:rPr lang="en-US" sz="1200" b="1" i="0" kern="1200" dirty="0">
                <a:solidFill>
                  <a:schemeClr val="tx1"/>
                </a:solidFill>
                <a:effectLst/>
                <a:latin typeface="+mn-lt"/>
                <a:ea typeface="+mn-ea"/>
                <a:cs typeface="+mn-cs"/>
              </a:rPr>
              <a:t>FLP</a:t>
            </a:r>
            <a:r>
              <a:rPr lang="en-US" sz="1200" b="0" i="0" kern="1200" dirty="0">
                <a:solidFill>
                  <a:schemeClr val="tx1"/>
                </a:solidFill>
                <a:effectLst/>
                <a:latin typeface="+mn-lt"/>
                <a:ea typeface="+mn-ea"/>
                <a:cs typeface="+mn-cs"/>
              </a:rPr>
              <a:t> - named for Fischer, Lynch, and Patterson.</a:t>
            </a:r>
          </a:p>
          <a:p>
            <a:r>
              <a:rPr lang="en-US" sz="1200" b="0" i="0" kern="1200" dirty="0">
                <a:solidFill>
                  <a:schemeClr val="tx1"/>
                </a:solidFill>
                <a:effectLst/>
                <a:latin typeface="+mn-lt"/>
                <a:ea typeface="+mn-ea"/>
                <a:cs typeface="+mn-cs"/>
              </a:rPr>
              <a:t>FLP proves something profound: In an </a:t>
            </a:r>
            <a:r>
              <a:rPr lang="en-US" sz="1200" b="1" i="0" kern="1200" dirty="0">
                <a:solidFill>
                  <a:schemeClr val="tx1"/>
                </a:solidFill>
                <a:effectLst/>
                <a:latin typeface="+mn-lt"/>
                <a:ea typeface="+mn-ea"/>
                <a:cs typeface="+mn-cs"/>
              </a:rPr>
              <a:t>asynchronous distributed system</a:t>
            </a:r>
            <a:r>
              <a:rPr lang="en-US" sz="1200" b="0" i="0" kern="1200" dirty="0">
                <a:solidFill>
                  <a:schemeClr val="tx1"/>
                </a:solidFill>
                <a:effectLst/>
                <a:latin typeface="+mn-lt"/>
                <a:ea typeface="+mn-ea"/>
                <a:cs typeface="+mn-cs"/>
              </a:rPr>
              <a:t> (where messages can be arbitrarily delayed), with even </a:t>
            </a:r>
            <a:r>
              <a:rPr lang="en-US" sz="1200" b="1" i="0" kern="1200" dirty="0">
                <a:solidFill>
                  <a:schemeClr val="tx1"/>
                </a:solidFill>
                <a:effectLst/>
                <a:latin typeface="+mn-lt"/>
                <a:ea typeface="+mn-ea"/>
                <a:cs typeface="+mn-cs"/>
              </a:rPr>
              <a:t>one process that can crash</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no deterministic algorithm can guarantee consensus</a:t>
            </a:r>
            <a:r>
              <a:rPr lang="en-US" sz="1200" b="0" i="0" kern="1200" dirty="0">
                <a:solidFill>
                  <a:schemeClr val="tx1"/>
                </a:solidFill>
                <a:effectLst/>
                <a:latin typeface="+mn-lt"/>
                <a:ea typeface="+mn-ea"/>
                <a:cs typeface="+mn-cs"/>
              </a:rPr>
              <a:t>.</a:t>
            </a:r>
          </a:p>
          <a:p>
            <a:r>
              <a:rPr lang="en-US" sz="1200" b="0" i="0" kern="1200" dirty="0">
                <a:solidFill>
                  <a:schemeClr val="tx1"/>
                </a:solidFill>
                <a:effectLst/>
                <a:latin typeface="+mn-lt"/>
                <a:ea typeface="+mn-ea"/>
                <a:cs typeface="+mn-cs"/>
              </a:rPr>
              <a:t>Let that sink in: </a:t>
            </a:r>
            <a:r>
              <a:rPr lang="en-US" sz="1200" b="1" i="0" kern="1200" dirty="0">
                <a:solidFill>
                  <a:schemeClr val="tx1"/>
                </a:solidFill>
                <a:effectLst/>
                <a:latin typeface="+mn-lt"/>
                <a:ea typeface="+mn-ea"/>
                <a:cs typeface="+mn-cs"/>
              </a:rPr>
              <a:t>Perfect consensus is mathematically impossible</a:t>
            </a:r>
            <a:r>
              <a:rPr lang="en-US" sz="1200" b="0" i="0" kern="1200" dirty="0">
                <a:solidFill>
                  <a:schemeClr val="tx1"/>
                </a:solidFill>
                <a:effectLst/>
                <a:latin typeface="+mn-lt"/>
                <a:ea typeface="+mn-ea"/>
                <a:cs typeface="+mn-cs"/>
              </a:rPr>
              <a:t> under realistic conditions.</a:t>
            </a:r>
          </a:p>
          <a:p>
            <a:r>
              <a:rPr lang="en-US" sz="1200" b="0" i="0" kern="1200" dirty="0">
                <a:solidFill>
                  <a:schemeClr val="tx1"/>
                </a:solidFill>
                <a:effectLst/>
                <a:latin typeface="+mn-lt"/>
                <a:ea typeface="+mn-ea"/>
                <a:cs typeface="+mn-cs"/>
              </a:rPr>
              <a:t>The conditions matter: </a:t>
            </a:r>
            <a:r>
              <a:rPr lang="en-US" sz="1200" b="1" i="0" kern="1200" dirty="0">
                <a:solidFill>
                  <a:schemeClr val="tx1"/>
                </a:solidFill>
                <a:effectLst/>
                <a:latin typeface="+mn-lt"/>
                <a:ea typeface="+mn-ea"/>
                <a:cs typeface="+mn-cs"/>
              </a:rPr>
              <a:t>Asynchronous network</a:t>
            </a:r>
            <a:r>
              <a:rPr lang="en-US" sz="1200" b="0" i="0" kern="1200" dirty="0">
                <a:solidFill>
                  <a:schemeClr val="tx1"/>
                </a:solidFill>
                <a:effectLst/>
                <a:latin typeface="+mn-lt"/>
                <a:ea typeface="+mn-ea"/>
                <a:cs typeface="+mn-cs"/>
              </a:rPr>
              <a:t> - no timing guarantees. </a:t>
            </a:r>
            <a:r>
              <a:rPr lang="en-US" sz="1200" b="1" i="0" kern="1200" dirty="0">
                <a:solidFill>
                  <a:schemeClr val="tx1"/>
                </a:solidFill>
                <a:effectLst/>
                <a:latin typeface="+mn-lt"/>
                <a:ea typeface="+mn-ea"/>
                <a:cs typeface="+mn-cs"/>
              </a:rPr>
              <a:t>Crash failures</a:t>
            </a:r>
            <a:r>
              <a:rPr lang="en-US" sz="1200" b="0" i="0" kern="1200" dirty="0">
                <a:solidFill>
                  <a:schemeClr val="tx1"/>
                </a:solidFill>
                <a:effectLst/>
                <a:latin typeface="+mn-lt"/>
                <a:ea typeface="+mn-ea"/>
                <a:cs typeface="+mn-cs"/>
              </a:rPr>
              <a:t> - processes can stop (but not lie maliciously). </a:t>
            </a:r>
            <a:r>
              <a:rPr lang="en-US" sz="1200" b="1" i="0" kern="1200" dirty="0">
                <a:solidFill>
                  <a:schemeClr val="tx1"/>
                </a:solidFill>
                <a:effectLst/>
                <a:latin typeface="+mn-lt"/>
                <a:ea typeface="+mn-ea"/>
                <a:cs typeface="+mn-cs"/>
              </a:rPr>
              <a:t>Deterministic algorithms</a:t>
            </a:r>
            <a:r>
              <a:rPr lang="en-US" sz="1200" b="0" i="0" kern="1200" dirty="0">
                <a:solidFill>
                  <a:schemeClr val="tx1"/>
                </a:solidFill>
                <a:effectLst/>
                <a:latin typeface="+mn-lt"/>
                <a:ea typeface="+mn-ea"/>
                <a:cs typeface="+mn-cs"/>
              </a:rPr>
              <a:t> - same input always gives same output.</a:t>
            </a:r>
          </a:p>
          <a:p>
            <a:r>
              <a:rPr lang="en-US" sz="1200" b="0" i="0" kern="1200" dirty="0">
                <a:solidFill>
                  <a:schemeClr val="tx1"/>
                </a:solidFill>
                <a:effectLst/>
                <a:latin typeface="+mn-lt"/>
                <a:ea typeface="+mn-ea"/>
                <a:cs typeface="+mn-cs"/>
              </a:rPr>
              <a:t>The proof is elegant but technical: They show you can construct scenarios where processes end up in indistinguishable states, unable to decide. One process delaying messages can prevent agreement forever.</a:t>
            </a:r>
          </a:p>
          <a:p>
            <a:r>
              <a:rPr lang="en-US" sz="1200" b="0" i="0" kern="1200" dirty="0">
                <a:solidFill>
                  <a:schemeClr val="tx1"/>
                </a:solidFill>
                <a:effectLst/>
                <a:latin typeface="+mn-lt"/>
                <a:ea typeface="+mn-ea"/>
                <a:cs typeface="+mn-cs"/>
              </a:rPr>
              <a:t>What are the practical implications? This is why </a:t>
            </a:r>
            <a:r>
              <a:rPr lang="en-US" sz="1200" b="1" i="0" kern="1200" dirty="0">
                <a:solidFill>
                  <a:schemeClr val="tx1"/>
                </a:solidFill>
                <a:effectLst/>
                <a:latin typeface="+mn-lt"/>
                <a:ea typeface="+mn-ea"/>
                <a:cs typeface="+mn-cs"/>
              </a:rPr>
              <a:t>distributed consensus is hard</a:t>
            </a:r>
            <a:r>
              <a:rPr lang="en-US" sz="1200" b="0" i="0" kern="1200" dirty="0">
                <a:solidFill>
                  <a:schemeClr val="tx1"/>
                </a:solidFill>
                <a:effectLst/>
                <a:latin typeface="+mn-lt"/>
                <a:ea typeface="+mn-ea"/>
                <a:cs typeface="+mn-cs"/>
              </a:rPr>
              <a:t>. It's why Paxos and Raft are complex. It's why we have timeouts, leader election, and failure detectors.</a:t>
            </a:r>
          </a:p>
          <a:p>
            <a:r>
              <a:rPr lang="en-US" sz="1200" b="0" i="0" kern="1200" dirty="0">
                <a:solidFill>
                  <a:schemeClr val="tx1"/>
                </a:solidFill>
                <a:effectLst/>
                <a:latin typeface="+mn-lt"/>
                <a:ea typeface="+mn-ea"/>
                <a:cs typeface="+mn-cs"/>
              </a:rPr>
              <a:t>Real systems work around FLP by:</a:t>
            </a:r>
          </a:p>
          <a:p>
            <a:r>
              <a:rPr lang="en-US" sz="1200" b="0" i="0" kern="1200" dirty="0">
                <a:solidFill>
                  <a:schemeClr val="tx1"/>
                </a:solidFill>
                <a:effectLst/>
                <a:latin typeface="+mn-lt"/>
                <a:ea typeface="+mn-ea"/>
                <a:cs typeface="+mn-cs"/>
              </a:rPr>
              <a:t>Making </a:t>
            </a:r>
            <a:r>
              <a:rPr lang="en-US" sz="1200" b="1" i="0" kern="1200" dirty="0">
                <a:solidFill>
                  <a:schemeClr val="tx1"/>
                </a:solidFill>
                <a:effectLst/>
                <a:latin typeface="+mn-lt"/>
                <a:ea typeface="+mn-ea"/>
                <a:cs typeface="+mn-cs"/>
              </a:rPr>
              <a:t>synchronous assumptions</a:t>
            </a:r>
            <a:r>
              <a:rPr lang="en-US" sz="1200" b="0" i="0" kern="1200" dirty="0">
                <a:solidFill>
                  <a:schemeClr val="tx1"/>
                </a:solidFill>
                <a:effectLst/>
                <a:latin typeface="+mn-lt"/>
                <a:ea typeface="+mn-ea"/>
                <a:cs typeface="+mn-cs"/>
              </a:rPr>
              <a:t> (timeouts)</a:t>
            </a:r>
          </a:p>
          <a:p>
            <a:r>
              <a:rPr lang="en-US" sz="1200" b="0" i="0" kern="1200" dirty="0">
                <a:solidFill>
                  <a:schemeClr val="tx1"/>
                </a:solidFill>
                <a:effectLst/>
                <a:latin typeface="+mn-lt"/>
                <a:ea typeface="+mn-ea"/>
                <a:cs typeface="+mn-cs"/>
              </a:rPr>
              <a:t>Using </a:t>
            </a:r>
            <a:r>
              <a:rPr lang="en-US" sz="1200" b="1" i="0" kern="1200" dirty="0">
                <a:solidFill>
                  <a:schemeClr val="tx1"/>
                </a:solidFill>
                <a:effectLst/>
                <a:latin typeface="+mn-lt"/>
                <a:ea typeface="+mn-ea"/>
                <a:cs typeface="+mn-cs"/>
              </a:rPr>
              <a:t>randomization</a:t>
            </a:r>
            <a:r>
              <a:rPr lang="en-US" sz="1200" b="0" i="0" kern="1200" dirty="0">
                <a:solidFill>
                  <a:schemeClr val="tx1"/>
                </a:solidFill>
                <a:effectLst/>
                <a:latin typeface="+mn-lt"/>
                <a:ea typeface="+mn-ea"/>
                <a:cs typeface="+mn-cs"/>
              </a:rPr>
              <a:t> (random delays to break symmetry)</a:t>
            </a:r>
          </a:p>
          <a:p>
            <a:r>
              <a:rPr lang="en-US" sz="1200" b="0" i="0" kern="1200" dirty="0">
                <a:solidFill>
                  <a:schemeClr val="tx1"/>
                </a:solidFill>
                <a:effectLst/>
                <a:latin typeface="+mn-lt"/>
                <a:ea typeface="+mn-ea"/>
                <a:cs typeface="+mn-cs"/>
              </a:rPr>
              <a:t>Accepting </a:t>
            </a:r>
            <a:r>
              <a:rPr lang="en-US" sz="1200" b="1" i="0" kern="1200" dirty="0">
                <a:solidFill>
                  <a:schemeClr val="tx1"/>
                </a:solidFill>
                <a:effectLst/>
                <a:latin typeface="+mn-lt"/>
                <a:ea typeface="+mn-ea"/>
                <a:cs typeface="+mn-cs"/>
              </a:rPr>
              <a:t>weaker consistency</a:t>
            </a:r>
            <a:r>
              <a:rPr lang="en-US" sz="1200" b="0" i="0" kern="1200" dirty="0">
                <a:solidFill>
                  <a:schemeClr val="tx1"/>
                </a:solidFill>
                <a:effectLst/>
                <a:latin typeface="+mn-lt"/>
                <a:ea typeface="+mn-ea"/>
                <a:cs typeface="+mn-cs"/>
              </a:rPr>
              <a:t> (eventual consistency)</a:t>
            </a:r>
          </a:p>
          <a:p>
            <a:r>
              <a:rPr lang="en-US" sz="1200" b="0" i="0" kern="1200" dirty="0">
                <a:solidFill>
                  <a:schemeClr val="tx1"/>
                </a:solidFill>
                <a:effectLst/>
                <a:latin typeface="+mn-lt"/>
                <a:ea typeface="+mn-ea"/>
                <a:cs typeface="+mn-cs"/>
              </a:rPr>
              <a:t>Having </a:t>
            </a:r>
            <a:r>
              <a:rPr lang="en-US" sz="1200" b="1" i="0" kern="1200" dirty="0">
                <a:solidFill>
                  <a:schemeClr val="tx1"/>
                </a:solidFill>
                <a:effectLst/>
                <a:latin typeface="+mn-lt"/>
                <a:ea typeface="+mn-ea"/>
                <a:cs typeface="+mn-cs"/>
              </a:rPr>
              <a:t>human fallback</a:t>
            </a:r>
            <a:r>
              <a:rPr lang="en-US" sz="1200" b="0" i="0" kern="1200" dirty="0">
                <a:solidFill>
                  <a:schemeClr val="tx1"/>
                </a:solidFill>
                <a:effectLst/>
                <a:latin typeface="+mn-lt"/>
                <a:ea typeface="+mn-ea"/>
                <a:cs typeface="+mn-cs"/>
              </a:rPr>
              <a:t> (manual intervention)</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FLP tells us the limits. The algorithms we'll study next show us how to operate successfully within those limits.</a:t>
            </a:r>
          </a:p>
          <a:p>
            <a:endParaRPr lang="en-IN" dirty="0"/>
          </a:p>
        </p:txBody>
      </p:sp>
      <p:sp>
        <p:nvSpPr>
          <p:cNvPr id="4" name="Slide Number Placeholder 3">
            <a:extLst>
              <a:ext uri="{FF2B5EF4-FFF2-40B4-BE49-F238E27FC236}">
                <a16:creationId xmlns:a16="http://schemas.microsoft.com/office/drawing/2014/main" id="{115DF2DB-3BA4-062D-93E4-8C27B2AD019C}"/>
              </a:ext>
            </a:extLst>
          </p:cNvPr>
          <p:cNvSpPr>
            <a:spLocks noGrp="1"/>
          </p:cNvSpPr>
          <p:nvPr>
            <p:ph type="sldNum" sz="quarter" idx="5"/>
          </p:nvPr>
        </p:nvSpPr>
        <p:spPr/>
        <p:txBody>
          <a:bodyPr/>
          <a:lstStyle/>
          <a:p>
            <a:fld id="{72853293-4F00-4813-B74A-3945ABE0C2FC}" type="slidenum">
              <a:rPr lang="en-IN" smtClean="0"/>
              <a:t>6</a:t>
            </a:fld>
            <a:endParaRPr lang="en-IN"/>
          </a:p>
        </p:txBody>
      </p:sp>
    </p:spTree>
    <p:extLst>
      <p:ext uri="{BB962C8B-B14F-4D97-AF65-F5344CB8AC3E}">
        <p14:creationId xmlns:p14="http://schemas.microsoft.com/office/powerpoint/2010/main" val="136757267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C5D57E-9F4C-C9F3-51E7-68352DD10F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939526-FA25-0296-6A2F-5CD2B5B1DF5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EEC6D4B-07B0-A208-6C87-6A5D8714DBC4}"/>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Now let's look at the traditional database guarantees: </a:t>
            </a:r>
            <a:r>
              <a:rPr lang="en-US" sz="1200" b="1" i="0" kern="1200" dirty="0">
                <a:solidFill>
                  <a:schemeClr val="tx1"/>
                </a:solidFill>
                <a:effectLst/>
                <a:latin typeface="+mn-lt"/>
                <a:ea typeface="+mn-ea"/>
                <a:cs typeface="+mn-cs"/>
              </a:rPr>
              <a:t>ACID</a:t>
            </a:r>
            <a:r>
              <a:rPr lang="en-US" sz="1200" b="0" i="0" kern="1200" dirty="0">
                <a:solidFill>
                  <a:schemeClr val="tx1"/>
                </a:solidFill>
                <a:effectLst/>
                <a:latin typeface="+mn-lt"/>
                <a:ea typeface="+mn-ea"/>
                <a:cs typeface="+mn-cs"/>
              </a:rPr>
              <a:t>.</a:t>
            </a:r>
          </a:p>
          <a:p>
            <a:r>
              <a:rPr lang="en-US" sz="1200" b="1" i="0" kern="1200" dirty="0">
                <a:solidFill>
                  <a:schemeClr val="tx1"/>
                </a:solidFill>
                <a:effectLst/>
                <a:latin typeface="+mn-lt"/>
                <a:ea typeface="+mn-ea"/>
                <a:cs typeface="+mn-cs"/>
              </a:rPr>
              <a:t>Atomicity</a:t>
            </a:r>
            <a:r>
              <a:rPr lang="en-US" sz="1200" b="0" i="0" kern="1200" dirty="0">
                <a:solidFill>
                  <a:schemeClr val="tx1"/>
                </a:solidFill>
                <a:effectLst/>
                <a:latin typeface="+mn-lt"/>
                <a:ea typeface="+mn-ea"/>
                <a:cs typeface="+mn-cs"/>
              </a:rPr>
              <a:t> - "All or nothing." Think bank transfer: debit one account, credit another. Both happen or neither does. No partial states. Implemented with undo logs - if something fails, roll everything back.</a:t>
            </a:r>
          </a:p>
          <a:p>
            <a:r>
              <a:rPr lang="en-US" sz="1200" b="1" i="0" kern="1200" dirty="0">
                <a:solidFill>
                  <a:schemeClr val="tx1"/>
                </a:solidFill>
                <a:effectLst/>
                <a:latin typeface="+mn-lt"/>
                <a:ea typeface="+mn-ea"/>
                <a:cs typeface="+mn-cs"/>
              </a:rPr>
              <a:t>Consistency</a:t>
            </a:r>
            <a:r>
              <a:rPr lang="en-US" sz="1200" b="0" i="0" kern="1200" dirty="0">
                <a:solidFill>
                  <a:schemeClr val="tx1"/>
                </a:solidFill>
                <a:effectLst/>
                <a:latin typeface="+mn-lt"/>
                <a:ea typeface="+mn-ea"/>
                <a:cs typeface="+mn-cs"/>
              </a:rPr>
              <a:t> - "Valid state transitions." The database moves from one valid state to another. If you have a constraint "balance ≥ 0," transfers that would make it negative fail. Important: This depends on YOUR constraints being correctly defined.</a:t>
            </a:r>
          </a:p>
          <a:p>
            <a:r>
              <a:rPr lang="en-US" sz="1200" b="1" i="0" kern="1200" dirty="0">
                <a:solidFill>
                  <a:schemeClr val="tx1"/>
                </a:solidFill>
                <a:effectLst/>
                <a:latin typeface="+mn-lt"/>
                <a:ea typeface="+mn-ea"/>
                <a:cs typeface="+mn-cs"/>
              </a:rPr>
              <a:t>Isolation</a:t>
            </a:r>
            <a:r>
              <a:rPr lang="en-US" sz="1200" b="0" i="0" kern="1200" dirty="0">
                <a:solidFill>
                  <a:schemeClr val="tx1"/>
                </a:solidFill>
                <a:effectLst/>
                <a:latin typeface="+mn-lt"/>
                <a:ea typeface="+mn-ea"/>
                <a:cs typeface="+mn-cs"/>
              </a:rPr>
              <a:t> - "Concurrent transactions don't interfere." Multiple users can operate simultaneously without seeing each other's partial work. Different levels exist: from weak (read uncommitted) to strong (serializable). Implemented with locks or MVCC.</a:t>
            </a:r>
          </a:p>
          <a:p>
            <a:r>
              <a:rPr lang="en-US" sz="1200" b="1" i="0" kern="1200" dirty="0">
                <a:solidFill>
                  <a:schemeClr val="tx1"/>
                </a:solidFill>
                <a:effectLst/>
                <a:latin typeface="+mn-lt"/>
                <a:ea typeface="+mn-ea"/>
                <a:cs typeface="+mn-cs"/>
              </a:rPr>
              <a:t>Durability</a:t>
            </a:r>
            <a:r>
              <a:rPr lang="en-US" sz="1200" b="0" i="0" kern="1200" dirty="0">
                <a:solidFill>
                  <a:schemeClr val="tx1"/>
                </a:solidFill>
                <a:effectLst/>
                <a:latin typeface="+mn-lt"/>
                <a:ea typeface="+mn-ea"/>
                <a:cs typeface="+mn-cs"/>
              </a:rPr>
              <a:t> - "Committed changes survive crashes." Once you see "Transfer Complete," even a power outage won't lose it. Implemented with write-ahead logging - write to log first, then to data.</a:t>
            </a:r>
          </a:p>
          <a:p>
            <a:r>
              <a:rPr lang="en-US" sz="1200" b="0" i="0" kern="1200" dirty="0">
                <a:solidFill>
                  <a:schemeClr val="tx1"/>
                </a:solidFill>
                <a:effectLst/>
                <a:latin typeface="+mn-lt"/>
                <a:ea typeface="+mn-ea"/>
                <a:cs typeface="+mn-cs"/>
              </a:rPr>
              <a:t>ACID is the gold standard for </a:t>
            </a:r>
            <a:r>
              <a:rPr lang="en-US" sz="1200" b="1" i="0" kern="1200" dirty="0">
                <a:solidFill>
                  <a:schemeClr val="tx1"/>
                </a:solidFill>
                <a:effectLst/>
                <a:latin typeface="+mn-lt"/>
                <a:ea typeface="+mn-ea"/>
                <a:cs typeface="+mn-cs"/>
              </a:rPr>
              <a:t>data integrity</a:t>
            </a:r>
            <a:r>
              <a:rPr lang="en-US" sz="1200" b="0" i="0" kern="1200" dirty="0">
                <a:solidFill>
                  <a:schemeClr val="tx1"/>
                </a:solidFill>
                <a:effectLst/>
                <a:latin typeface="+mn-lt"/>
                <a:ea typeface="+mn-ea"/>
                <a:cs typeface="+mn-cs"/>
              </a:rPr>
              <a:t>. Traditional RDBMS like PostgreSQL, MySQL are ACID-compliant.</a:t>
            </a:r>
          </a:p>
          <a:p>
            <a:endParaRPr lang="en-IN" dirty="0"/>
          </a:p>
          <a:p>
            <a:r>
              <a:rPr lang="en-US" sz="1200" b="0" i="0" kern="1200" dirty="0">
                <a:solidFill>
                  <a:schemeClr val="tx1"/>
                </a:solidFill>
                <a:effectLst/>
                <a:latin typeface="+mn-lt"/>
                <a:ea typeface="+mn-ea"/>
                <a:cs typeface="+mn-cs"/>
              </a:rPr>
              <a:t>But there's a cost: </a:t>
            </a:r>
            <a:r>
              <a:rPr lang="en-US" sz="1200" b="1" i="0" kern="1200" dirty="0">
                <a:solidFill>
                  <a:schemeClr val="tx1"/>
                </a:solidFill>
                <a:effectLst/>
                <a:latin typeface="+mn-lt"/>
                <a:ea typeface="+mn-ea"/>
                <a:cs typeface="+mn-cs"/>
              </a:rPr>
              <a:t>Performance overhead</a:t>
            </a:r>
            <a:r>
              <a:rPr lang="en-US" sz="1200" b="0" i="0" kern="1200" dirty="0">
                <a:solidFill>
                  <a:schemeClr val="tx1"/>
                </a:solidFill>
                <a:effectLst/>
                <a:latin typeface="+mn-lt"/>
                <a:ea typeface="+mn-ea"/>
                <a:cs typeface="+mn-cs"/>
              </a:rPr>
              <a:t>. Locks, logs, constraints all slow things down. </a:t>
            </a:r>
            <a:r>
              <a:rPr lang="en-US" sz="1200" b="1" i="0" kern="1200" dirty="0">
                <a:solidFill>
                  <a:schemeClr val="tx1"/>
                </a:solidFill>
                <a:effectLst/>
                <a:latin typeface="+mn-lt"/>
                <a:ea typeface="+mn-ea"/>
                <a:cs typeface="+mn-cs"/>
              </a:rPr>
              <a:t>Scaling challenges</a:t>
            </a:r>
            <a:r>
              <a:rPr lang="en-US" sz="1200" b="0" i="0" kern="1200" dirty="0">
                <a:solidFill>
                  <a:schemeClr val="tx1"/>
                </a:solidFill>
                <a:effectLst/>
                <a:latin typeface="+mn-lt"/>
                <a:ea typeface="+mn-ea"/>
                <a:cs typeface="+mn-cs"/>
              </a:rPr>
              <a:t> - ACID is hard to distribute. </a:t>
            </a:r>
            <a:r>
              <a:rPr lang="en-US" sz="1200" b="1" i="0" kern="1200" dirty="0">
                <a:solidFill>
                  <a:schemeClr val="tx1"/>
                </a:solidFill>
                <a:effectLst/>
                <a:latin typeface="+mn-lt"/>
                <a:ea typeface="+mn-ea"/>
                <a:cs typeface="+mn-cs"/>
              </a:rPr>
              <a:t>Availability trade-offs</a:t>
            </a:r>
            <a:r>
              <a:rPr lang="en-US" sz="1200" b="0" i="0" kern="1200" dirty="0">
                <a:solidFill>
                  <a:schemeClr val="tx1"/>
                </a:solidFill>
                <a:effectLst/>
                <a:latin typeface="+mn-lt"/>
                <a:ea typeface="+mn-ea"/>
                <a:cs typeface="+mn-cs"/>
              </a:rPr>
              <a:t> - strong consistency affects availability (CAP theorem).</a:t>
            </a:r>
          </a:p>
          <a:p>
            <a:r>
              <a:rPr lang="en-US" sz="1200" b="0" i="0" kern="1200" dirty="0">
                <a:solidFill>
                  <a:schemeClr val="tx1"/>
                </a:solidFill>
                <a:effectLst/>
                <a:latin typeface="+mn-lt"/>
                <a:ea typeface="+mn-ea"/>
                <a:cs typeface="+mn-cs"/>
              </a:rPr>
              <a:t>This leads to an alternative for distributed systems: </a:t>
            </a:r>
            <a:r>
              <a:rPr lang="en-US" sz="1200" b="1" i="0" kern="1200" dirty="0">
                <a:solidFill>
                  <a:schemeClr val="tx1"/>
                </a:solidFill>
                <a:effectLst/>
                <a:latin typeface="+mn-lt"/>
                <a:ea typeface="+mn-ea"/>
                <a:cs typeface="+mn-cs"/>
              </a:rPr>
              <a:t>BASE</a:t>
            </a:r>
            <a:r>
              <a:rPr lang="en-US" sz="1200" b="0" i="0" kern="1200" dirty="0">
                <a:solidFill>
                  <a:schemeClr val="tx1"/>
                </a:solidFill>
                <a:effectLst/>
                <a:latin typeface="+mn-lt"/>
                <a:ea typeface="+mn-ea"/>
                <a:cs typeface="+mn-cs"/>
              </a:rPr>
              <a:t>, which we'll contrast next. ACID gives us correctness; distributed systems often need to balance correctness with other goals.</a:t>
            </a:r>
          </a:p>
          <a:p>
            <a:endParaRPr lang="en-IN" dirty="0"/>
          </a:p>
        </p:txBody>
      </p:sp>
      <p:sp>
        <p:nvSpPr>
          <p:cNvPr id="4" name="Slide Number Placeholder 3">
            <a:extLst>
              <a:ext uri="{FF2B5EF4-FFF2-40B4-BE49-F238E27FC236}">
                <a16:creationId xmlns:a16="http://schemas.microsoft.com/office/drawing/2014/main" id="{23E08784-4F70-2E30-2400-3E64D2E0C5DB}"/>
              </a:ext>
            </a:extLst>
          </p:cNvPr>
          <p:cNvSpPr>
            <a:spLocks noGrp="1"/>
          </p:cNvSpPr>
          <p:nvPr>
            <p:ph type="sldNum" sz="quarter" idx="5"/>
          </p:nvPr>
        </p:nvSpPr>
        <p:spPr/>
        <p:txBody>
          <a:bodyPr/>
          <a:lstStyle/>
          <a:p>
            <a:fld id="{72853293-4F00-4813-B74A-3945ABE0C2FC}" type="slidenum">
              <a:rPr lang="en-IN" smtClean="0"/>
              <a:t>7</a:t>
            </a:fld>
            <a:endParaRPr lang="en-IN"/>
          </a:p>
        </p:txBody>
      </p:sp>
    </p:spTree>
    <p:extLst>
      <p:ext uri="{BB962C8B-B14F-4D97-AF65-F5344CB8AC3E}">
        <p14:creationId xmlns:p14="http://schemas.microsoft.com/office/powerpoint/2010/main" val="314255597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C6FAD9-2B54-167B-4186-4D8C2E1FE1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62F8EF0-B9E2-8368-6D28-F694FE37DB3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574B16-ED2A-780B-C592-9368D96E7BF8}"/>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Where ACID gives strong, immediate guarantees, </a:t>
            </a:r>
            <a:r>
              <a:rPr lang="en-US" sz="1200" b="1" i="0" kern="1200" dirty="0">
                <a:solidFill>
                  <a:schemeClr val="tx1"/>
                </a:solidFill>
                <a:effectLst/>
                <a:latin typeface="+mn-lt"/>
                <a:ea typeface="+mn-ea"/>
                <a:cs typeface="+mn-cs"/>
              </a:rPr>
              <a:t>BASE</a:t>
            </a:r>
            <a:r>
              <a:rPr lang="en-US" sz="1200" b="0" i="0" kern="1200" dirty="0">
                <a:solidFill>
                  <a:schemeClr val="tx1"/>
                </a:solidFill>
                <a:effectLst/>
                <a:latin typeface="+mn-lt"/>
                <a:ea typeface="+mn-ea"/>
                <a:cs typeface="+mn-cs"/>
              </a:rPr>
              <a:t> offers a different trade-off for distributed systems.</a:t>
            </a:r>
          </a:p>
          <a:p>
            <a:r>
              <a:rPr lang="en-US" sz="1200" b="1" i="0" kern="1200" dirty="0">
                <a:solidFill>
                  <a:schemeClr val="tx1"/>
                </a:solidFill>
                <a:effectLst/>
                <a:latin typeface="+mn-lt"/>
                <a:ea typeface="+mn-ea"/>
                <a:cs typeface="+mn-cs"/>
              </a:rPr>
              <a:t>Basically Available</a:t>
            </a:r>
            <a:r>
              <a:rPr lang="en-US" sz="1200" b="0" i="0" kern="1200" dirty="0">
                <a:solidFill>
                  <a:schemeClr val="tx1"/>
                </a:solidFill>
                <a:effectLst/>
                <a:latin typeface="+mn-lt"/>
                <a:ea typeface="+mn-ea"/>
                <a:cs typeface="+mn-cs"/>
              </a:rPr>
              <a:t> means the system always responds. Maybe with stale data, maybe degraded, but it responds. This prioritizes availability over perfect consistency.</a:t>
            </a:r>
          </a:p>
          <a:p>
            <a:r>
              <a:rPr lang="en-US" sz="1200" b="1" i="0" kern="1200" dirty="0">
                <a:solidFill>
                  <a:schemeClr val="tx1"/>
                </a:solidFill>
                <a:effectLst/>
                <a:latin typeface="+mn-lt"/>
                <a:ea typeface="+mn-ea"/>
                <a:cs typeface="+mn-cs"/>
              </a:rPr>
              <a:t>Soft State</a:t>
            </a:r>
            <a:r>
              <a:rPr lang="en-US" sz="1200" b="0" i="0" kern="1200" dirty="0">
                <a:solidFill>
                  <a:schemeClr val="tx1"/>
                </a:solidFill>
                <a:effectLst/>
                <a:latin typeface="+mn-lt"/>
                <a:ea typeface="+mn-ea"/>
                <a:cs typeface="+mn-cs"/>
              </a:rPr>
              <a:t> acknowledges that in distributed systems, state changes without explicit input. Replicas propagate updates. Caches expire. The system has a 'soft' rather than 'hard' state.</a:t>
            </a:r>
          </a:p>
          <a:p>
            <a:r>
              <a:rPr lang="en-US" sz="1200" b="1" i="0" kern="1200" dirty="0">
                <a:solidFill>
                  <a:schemeClr val="tx1"/>
                </a:solidFill>
                <a:effectLst/>
                <a:latin typeface="+mn-lt"/>
                <a:ea typeface="+mn-ea"/>
                <a:cs typeface="+mn-cs"/>
              </a:rPr>
              <a:t>Eventual Consistency</a:t>
            </a:r>
            <a:r>
              <a:rPr lang="en-US" sz="1200" b="0" i="0" kern="1200" dirty="0">
                <a:solidFill>
                  <a:schemeClr val="tx1"/>
                </a:solidFill>
                <a:effectLst/>
                <a:latin typeface="+mn-lt"/>
                <a:ea typeface="+mn-ea"/>
                <a:cs typeface="+mn-cs"/>
              </a:rPr>
              <a:t> is the key promise: if you stop making updates, all nodes will eventually see the same data. There's a time window where data differs across nodes.</a:t>
            </a:r>
          </a:p>
          <a:p>
            <a:r>
              <a:rPr lang="en-US" sz="1200" b="0" i="0" kern="1200" dirty="0">
                <a:solidFill>
                  <a:schemeClr val="tx1"/>
                </a:solidFill>
                <a:effectLst/>
                <a:latin typeface="+mn-lt"/>
                <a:ea typeface="+mn-ea"/>
                <a:cs typeface="+mn-cs"/>
              </a:rPr>
              <a:t>Contrast with ACID: ACID gives you strong consistency but might be unavailable. BASE gives you availability but with eventual consistency. ACID has higher latency due to coordination. BASE has lower latency.</a:t>
            </a:r>
          </a:p>
          <a:p>
            <a:r>
              <a:rPr lang="en-US" sz="1200" b="0" i="0" kern="1200" dirty="0">
                <a:solidFill>
                  <a:schemeClr val="tx1"/>
                </a:solidFill>
                <a:effectLst/>
                <a:latin typeface="+mn-lt"/>
                <a:ea typeface="+mn-ea"/>
                <a:cs typeface="+mn-cs"/>
              </a:rPr>
              <a:t>BASE systems include Cassandra, DynamoDB, Riak - the NoSQL databases built for scale. Also systems like Redis Cluster and Kafka in certain configurations.</a:t>
            </a:r>
          </a:p>
          <a:p>
            <a:endParaRPr lang="en-IN" dirty="0"/>
          </a:p>
          <a:p>
            <a:r>
              <a:rPr lang="en-US" sz="1200" b="0" i="0" kern="1200" dirty="0">
                <a:solidFill>
                  <a:schemeClr val="tx1"/>
                </a:solidFill>
                <a:effectLst/>
                <a:latin typeface="+mn-lt"/>
                <a:ea typeface="+mn-ea"/>
                <a:cs typeface="+mn-cs"/>
              </a:rPr>
              <a:t>When do you choose BASE? When you need </a:t>
            </a:r>
            <a:r>
              <a:rPr lang="en-US" sz="1200" b="1" i="0" kern="1200" dirty="0">
                <a:solidFill>
                  <a:schemeClr val="tx1"/>
                </a:solidFill>
                <a:effectLst/>
                <a:latin typeface="+mn-lt"/>
                <a:ea typeface="+mn-ea"/>
                <a:cs typeface="+mn-cs"/>
              </a:rPr>
              <a:t>high availability</a:t>
            </a:r>
            <a:r>
              <a:rPr lang="en-US" sz="1200" b="0" i="0" kern="1200" dirty="0">
                <a:solidFill>
                  <a:schemeClr val="tx1"/>
                </a:solidFill>
                <a:effectLst/>
                <a:latin typeface="+mn-lt"/>
                <a:ea typeface="+mn-ea"/>
                <a:cs typeface="+mn-cs"/>
              </a:rPr>
              <a:t> and </a:t>
            </a:r>
            <a:r>
              <a:rPr lang="en-US" sz="1200" b="1" i="0" kern="1200" dirty="0">
                <a:solidFill>
                  <a:schemeClr val="tx1"/>
                </a:solidFill>
                <a:effectLst/>
                <a:latin typeface="+mn-lt"/>
                <a:ea typeface="+mn-ea"/>
                <a:cs typeface="+mn-cs"/>
              </a:rPr>
              <a:t>global scale</a:t>
            </a:r>
            <a:r>
              <a:rPr lang="en-US" sz="1200" b="0" i="0" kern="1200" dirty="0">
                <a:solidFill>
                  <a:schemeClr val="tx1"/>
                </a:solidFill>
                <a:effectLst/>
                <a:latin typeface="+mn-lt"/>
                <a:ea typeface="+mn-ea"/>
                <a:cs typeface="+mn-cs"/>
              </a:rPr>
              <a:t>. When your use case tolerates </a:t>
            </a:r>
            <a:r>
              <a:rPr lang="en-US" sz="1200" b="1" i="0" kern="1200" dirty="0">
                <a:solidFill>
                  <a:schemeClr val="tx1"/>
                </a:solidFill>
                <a:effectLst/>
                <a:latin typeface="+mn-lt"/>
                <a:ea typeface="+mn-ea"/>
                <a:cs typeface="+mn-cs"/>
              </a:rPr>
              <a:t>temporary inconsistency</a:t>
            </a:r>
            <a:r>
              <a:rPr lang="en-US" sz="1200" b="0" i="0" kern="1200" dirty="0">
                <a:solidFill>
                  <a:schemeClr val="tx1"/>
                </a:solidFill>
                <a:effectLst/>
                <a:latin typeface="+mn-lt"/>
                <a:ea typeface="+mn-ea"/>
                <a:cs typeface="+mn-cs"/>
              </a:rPr>
              <a:t> - social media likes, product catalogs, user sessions. When you have </a:t>
            </a:r>
            <a:r>
              <a:rPr lang="en-US" sz="1200" b="1" i="0" kern="1200" dirty="0">
                <a:solidFill>
                  <a:schemeClr val="tx1"/>
                </a:solidFill>
                <a:effectLst/>
                <a:latin typeface="+mn-lt"/>
                <a:ea typeface="+mn-ea"/>
                <a:cs typeface="+mn-cs"/>
              </a:rPr>
              <a:t>read-heavy workloads</a:t>
            </a:r>
            <a:r>
              <a:rPr lang="en-US" sz="1200" b="0" i="0" kern="1200" dirty="0">
                <a:solidFill>
                  <a:schemeClr val="tx1"/>
                </a:solidFill>
                <a:effectLst/>
                <a:latin typeface="+mn-lt"/>
                <a:ea typeface="+mn-ea"/>
                <a:cs typeface="+mn-cs"/>
              </a:rPr>
              <a:t>.</a:t>
            </a:r>
          </a:p>
          <a:p>
            <a:r>
              <a:rPr lang="en-US" sz="1200" b="0" i="0" kern="1200" dirty="0">
                <a:solidFill>
                  <a:schemeClr val="tx1"/>
                </a:solidFill>
                <a:effectLst/>
                <a:latin typeface="+mn-lt"/>
                <a:ea typeface="+mn-ea"/>
                <a:cs typeface="+mn-cs"/>
              </a:rPr>
              <a:t>BASE isn't 'worse' than ACID - it's a </a:t>
            </a:r>
            <a:r>
              <a:rPr lang="en-US" sz="1200" b="1" i="0" kern="1200" dirty="0">
                <a:solidFill>
                  <a:schemeClr val="tx1"/>
                </a:solidFill>
                <a:effectLst/>
                <a:latin typeface="+mn-lt"/>
                <a:ea typeface="+mn-ea"/>
                <a:cs typeface="+mn-cs"/>
              </a:rPr>
              <a:t>different trade-off</a:t>
            </a:r>
            <a:r>
              <a:rPr lang="en-US" sz="1200" b="0" i="0" kern="1200" dirty="0">
                <a:solidFill>
                  <a:schemeClr val="tx1"/>
                </a:solidFill>
                <a:effectLst/>
                <a:latin typeface="+mn-lt"/>
                <a:ea typeface="+mn-ea"/>
                <a:cs typeface="+mn-cs"/>
              </a:rPr>
              <a:t>. ACID for correctness, BASE for scale and availability. Modern systems often combine both approaches for different components.</a:t>
            </a:r>
          </a:p>
          <a:p>
            <a:endParaRPr lang="en-IN" dirty="0"/>
          </a:p>
        </p:txBody>
      </p:sp>
      <p:sp>
        <p:nvSpPr>
          <p:cNvPr id="4" name="Slide Number Placeholder 3">
            <a:extLst>
              <a:ext uri="{FF2B5EF4-FFF2-40B4-BE49-F238E27FC236}">
                <a16:creationId xmlns:a16="http://schemas.microsoft.com/office/drawing/2014/main" id="{D87A1124-CC5F-DDE1-80EC-FD8D999B0AF1}"/>
              </a:ext>
            </a:extLst>
          </p:cNvPr>
          <p:cNvSpPr>
            <a:spLocks noGrp="1"/>
          </p:cNvSpPr>
          <p:nvPr>
            <p:ph type="sldNum" sz="quarter" idx="5"/>
          </p:nvPr>
        </p:nvSpPr>
        <p:spPr/>
        <p:txBody>
          <a:bodyPr/>
          <a:lstStyle/>
          <a:p>
            <a:fld id="{72853293-4F00-4813-B74A-3945ABE0C2FC}" type="slidenum">
              <a:rPr lang="en-IN" smtClean="0"/>
              <a:t>8</a:t>
            </a:fld>
            <a:endParaRPr lang="en-IN"/>
          </a:p>
        </p:txBody>
      </p:sp>
    </p:spTree>
    <p:extLst>
      <p:ext uri="{BB962C8B-B14F-4D97-AF65-F5344CB8AC3E}">
        <p14:creationId xmlns:p14="http://schemas.microsoft.com/office/powerpoint/2010/main" val="343992226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BF4560-B694-9296-717A-1B30706AC8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2B41ED-1517-9C98-EEFB-58F5DC7ADB2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5CE80E3-A2F3-3AB3-2B73-11DAA14644D1}"/>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Before we dive into consensus algorithms, let's understand </a:t>
            </a:r>
            <a:r>
              <a:rPr lang="en-US" sz="1200" b="1" i="0" kern="1200" dirty="0">
                <a:solidFill>
                  <a:schemeClr val="tx1"/>
                </a:solidFill>
                <a:effectLst/>
                <a:latin typeface="+mn-lt"/>
                <a:ea typeface="+mn-ea"/>
                <a:cs typeface="+mn-cs"/>
              </a:rPr>
              <a:t>the consensus problem</a:t>
            </a:r>
            <a:r>
              <a:rPr lang="en-US" sz="1200" b="0" i="0" kern="1200" dirty="0">
                <a:solidFill>
                  <a:schemeClr val="tx1"/>
                </a:solidFill>
                <a:effectLst/>
                <a:latin typeface="+mn-lt"/>
                <a:ea typeface="+mn-ea"/>
                <a:cs typeface="+mn-cs"/>
              </a:rPr>
              <a:t> itself.</a:t>
            </a:r>
          </a:p>
          <a:p>
            <a:r>
              <a:rPr lang="en-US" sz="1200" b="0" i="0" kern="1200" dirty="0">
                <a:solidFill>
                  <a:schemeClr val="tx1"/>
                </a:solidFill>
                <a:effectLst/>
                <a:latin typeface="+mn-lt"/>
                <a:ea typeface="+mn-ea"/>
                <a:cs typeface="+mn-cs"/>
              </a:rPr>
              <a:t>Consensus is about multiple nodes agreeing on a single value. Sounds simple? It's one of the hardest problems in distributed systems.</a:t>
            </a:r>
          </a:p>
          <a:p>
            <a:r>
              <a:rPr lang="en-US" sz="1200" b="0" i="0" kern="1200" dirty="0">
                <a:solidFill>
                  <a:schemeClr val="tx1"/>
                </a:solidFill>
                <a:effectLst/>
                <a:latin typeface="+mn-lt"/>
                <a:ea typeface="+mn-ea"/>
                <a:cs typeface="+mn-cs"/>
              </a:rPr>
              <a:t>Think of three servers: One says "The value is X." Another says "The value is Y." They need to agree. And they need to agree despite failures, network delays, crashed nodes.</a:t>
            </a:r>
          </a:p>
          <a:p>
            <a:r>
              <a:rPr lang="en-US" sz="1200" b="0" i="0" kern="1200" dirty="0">
                <a:solidFill>
                  <a:schemeClr val="tx1"/>
                </a:solidFill>
                <a:effectLst/>
                <a:latin typeface="+mn-lt"/>
                <a:ea typeface="+mn-ea"/>
                <a:cs typeface="+mn-cs"/>
              </a:rPr>
              <a:t>Formally, consensus has requirements: </a:t>
            </a:r>
            <a:r>
              <a:rPr lang="en-US" sz="1200" b="1" i="0" kern="1200" dirty="0">
                <a:solidFill>
                  <a:schemeClr val="tx1"/>
                </a:solidFill>
                <a:effectLst/>
                <a:latin typeface="+mn-lt"/>
                <a:ea typeface="+mn-ea"/>
                <a:cs typeface="+mn-cs"/>
              </a:rPr>
              <a:t>Termination</a:t>
            </a:r>
            <a:r>
              <a:rPr lang="en-US" sz="1200" b="0" i="0" kern="1200" dirty="0">
                <a:solidFill>
                  <a:schemeClr val="tx1"/>
                </a:solidFill>
                <a:effectLst/>
                <a:latin typeface="+mn-lt"/>
                <a:ea typeface="+mn-ea"/>
                <a:cs typeface="+mn-cs"/>
              </a:rPr>
              <a:t> - processes eventually decide (can't wait forever). </a:t>
            </a:r>
            <a:r>
              <a:rPr lang="en-US" sz="1200" b="1" i="0" kern="1200" dirty="0">
                <a:solidFill>
                  <a:schemeClr val="tx1"/>
                </a:solidFill>
                <a:effectLst/>
                <a:latin typeface="+mn-lt"/>
                <a:ea typeface="+mn-ea"/>
                <a:cs typeface="+mn-cs"/>
              </a:rPr>
              <a:t>Agreement</a:t>
            </a:r>
            <a:r>
              <a:rPr lang="en-US" sz="1200" b="0" i="0" kern="1200" dirty="0">
                <a:solidFill>
                  <a:schemeClr val="tx1"/>
                </a:solidFill>
                <a:effectLst/>
                <a:latin typeface="+mn-lt"/>
                <a:ea typeface="+mn-ea"/>
                <a:cs typeface="+mn-cs"/>
              </a:rPr>
              <a:t> - all correct processes decide the same value. </a:t>
            </a:r>
            <a:r>
              <a:rPr lang="en-US" sz="1200" b="1" i="0" kern="1200" dirty="0">
                <a:solidFill>
                  <a:schemeClr val="tx1"/>
                </a:solidFill>
                <a:effectLst/>
                <a:latin typeface="+mn-lt"/>
                <a:ea typeface="+mn-ea"/>
                <a:cs typeface="+mn-cs"/>
              </a:rPr>
              <a:t>Integrity</a:t>
            </a:r>
            <a:r>
              <a:rPr lang="en-US" sz="1200" b="0" i="0" kern="1200" dirty="0">
                <a:solidFill>
                  <a:schemeClr val="tx1"/>
                </a:solidFill>
                <a:effectLst/>
                <a:latin typeface="+mn-lt"/>
                <a:ea typeface="+mn-ea"/>
                <a:cs typeface="+mn-cs"/>
              </a:rPr>
              <a:t> - the value must have been proposed by someone (can't make it up).</a:t>
            </a:r>
          </a:p>
          <a:p>
            <a:r>
              <a:rPr lang="en-US" sz="1200" b="0" i="0" kern="1200" dirty="0">
                <a:solidFill>
                  <a:schemeClr val="tx1"/>
                </a:solidFill>
                <a:effectLst/>
                <a:latin typeface="+mn-lt"/>
                <a:ea typeface="+mn-ea"/>
                <a:cs typeface="+mn-cs"/>
              </a:rPr>
              <a:t>Why is this hard? </a:t>
            </a:r>
            <a:r>
              <a:rPr lang="en-US" sz="1200" b="1" i="0" kern="1200" dirty="0">
                <a:solidFill>
                  <a:schemeClr val="tx1"/>
                </a:solidFill>
                <a:effectLst/>
                <a:latin typeface="+mn-lt"/>
                <a:ea typeface="+mn-ea"/>
                <a:cs typeface="+mn-cs"/>
              </a:rPr>
              <a:t>FLP theorem</a:t>
            </a:r>
            <a:r>
              <a:rPr lang="en-US" sz="1200" b="0" i="0" kern="1200" dirty="0">
                <a:solidFill>
                  <a:schemeClr val="tx1"/>
                </a:solidFill>
                <a:effectLst/>
                <a:latin typeface="+mn-lt"/>
                <a:ea typeface="+mn-ea"/>
                <a:cs typeface="+mn-cs"/>
              </a:rPr>
              <a:t> says it's impossible in pure asynchronous systems. </a:t>
            </a:r>
            <a:r>
              <a:rPr lang="en-US" sz="1200" b="1" i="0" kern="1200" dirty="0">
                <a:solidFill>
                  <a:schemeClr val="tx1"/>
                </a:solidFill>
                <a:effectLst/>
                <a:latin typeface="+mn-lt"/>
                <a:ea typeface="+mn-ea"/>
                <a:cs typeface="+mn-cs"/>
              </a:rPr>
              <a:t>Network partitions</a:t>
            </a:r>
            <a:r>
              <a:rPr lang="en-US" sz="1200" b="0" i="0" kern="1200" dirty="0">
                <a:solidFill>
                  <a:schemeClr val="tx1"/>
                </a:solidFill>
                <a:effectLst/>
                <a:latin typeface="+mn-lt"/>
                <a:ea typeface="+mn-ea"/>
                <a:cs typeface="+mn-cs"/>
              </a:rPr>
              <a:t> isolate nodes. </a:t>
            </a:r>
            <a:r>
              <a:rPr lang="en-US" sz="1200" b="1" i="0" kern="1200" dirty="0">
                <a:solidFill>
                  <a:schemeClr val="tx1"/>
                </a:solidFill>
                <a:effectLst/>
                <a:latin typeface="+mn-lt"/>
                <a:ea typeface="+mn-ea"/>
                <a:cs typeface="+mn-cs"/>
              </a:rPr>
              <a:t>Byzantine failures</a:t>
            </a:r>
            <a:r>
              <a:rPr lang="en-US" sz="1200" b="0" i="0" kern="1200" dirty="0">
                <a:solidFill>
                  <a:schemeClr val="tx1"/>
                </a:solidFill>
                <a:effectLst/>
                <a:latin typeface="+mn-lt"/>
                <a:ea typeface="+mn-ea"/>
                <a:cs typeface="+mn-cs"/>
              </a:rPr>
              <a:t> - nodes that lie. </a:t>
            </a:r>
            <a:r>
              <a:rPr lang="en-US" sz="1200" b="1" i="0" kern="1200" dirty="0">
                <a:solidFill>
                  <a:schemeClr val="tx1"/>
                </a:solidFill>
                <a:effectLst/>
                <a:latin typeface="+mn-lt"/>
                <a:ea typeface="+mn-ea"/>
                <a:cs typeface="+mn-cs"/>
              </a:rPr>
              <a:t>Timing issues</a:t>
            </a:r>
            <a:r>
              <a:rPr lang="en-US" sz="1200" b="0" i="0" kern="1200" dirty="0">
                <a:solidFill>
                  <a:schemeClr val="tx1"/>
                </a:solidFill>
                <a:effectLst/>
                <a:latin typeface="+mn-lt"/>
                <a:ea typeface="+mn-ea"/>
                <a:cs typeface="+mn-cs"/>
              </a:rPr>
              <a:t> - clocks drift.</a:t>
            </a:r>
          </a:p>
          <a:p>
            <a:r>
              <a:rPr lang="en-US" sz="1200" b="0" i="0" kern="1200" dirty="0">
                <a:solidFill>
                  <a:schemeClr val="tx1"/>
                </a:solidFill>
                <a:effectLst/>
                <a:latin typeface="+mn-lt"/>
                <a:ea typeface="+mn-ea"/>
                <a:cs typeface="+mn-cs"/>
              </a:rPr>
              <a:t>Yet we need consensus everywhere: Which node is the database primary? What's the current configuration? Which service instances are healthy? Who holds a distributed lock?</a:t>
            </a:r>
          </a:p>
          <a:p>
            <a:endParaRPr lang="en-IN" dirty="0"/>
          </a:p>
          <a:p>
            <a:r>
              <a:rPr lang="en-US" sz="1200" b="0" i="0" kern="1200" dirty="0">
                <a:solidFill>
                  <a:schemeClr val="tx1"/>
                </a:solidFill>
                <a:effectLst/>
                <a:latin typeface="+mn-lt"/>
                <a:ea typeface="+mn-ea"/>
                <a:cs typeface="+mn-cs"/>
              </a:rPr>
              <a:t>his is why Paxos and Raft were created - to solve consensus despite these challenges. They work around FLP by making practical assumptions (like timeouts) and clever algorithms.</a:t>
            </a:r>
          </a:p>
          <a:p>
            <a:r>
              <a:rPr lang="en-US" sz="1200" b="0" i="0" kern="1200" dirty="0">
                <a:solidFill>
                  <a:schemeClr val="tx1"/>
                </a:solidFill>
                <a:effectLst/>
                <a:latin typeface="+mn-lt"/>
                <a:ea typeface="+mn-ea"/>
                <a:cs typeface="+mn-cs"/>
              </a:rPr>
              <a:t>Understanding the problem helps us appreciate the solutions.</a:t>
            </a:r>
          </a:p>
          <a:p>
            <a:endParaRPr lang="en-IN" dirty="0"/>
          </a:p>
        </p:txBody>
      </p:sp>
      <p:sp>
        <p:nvSpPr>
          <p:cNvPr id="4" name="Slide Number Placeholder 3">
            <a:extLst>
              <a:ext uri="{FF2B5EF4-FFF2-40B4-BE49-F238E27FC236}">
                <a16:creationId xmlns:a16="http://schemas.microsoft.com/office/drawing/2014/main" id="{570B7EEC-D1C2-B4A3-714E-2D26345BD3B4}"/>
              </a:ext>
            </a:extLst>
          </p:cNvPr>
          <p:cNvSpPr>
            <a:spLocks noGrp="1"/>
          </p:cNvSpPr>
          <p:nvPr>
            <p:ph type="sldNum" sz="quarter" idx="5"/>
          </p:nvPr>
        </p:nvSpPr>
        <p:spPr/>
        <p:txBody>
          <a:bodyPr/>
          <a:lstStyle/>
          <a:p>
            <a:fld id="{72853293-4F00-4813-B74A-3945ABE0C2FC}" type="slidenum">
              <a:rPr lang="en-IN" smtClean="0"/>
              <a:t>9</a:t>
            </a:fld>
            <a:endParaRPr lang="en-IN"/>
          </a:p>
        </p:txBody>
      </p:sp>
    </p:spTree>
    <p:extLst>
      <p:ext uri="{BB962C8B-B14F-4D97-AF65-F5344CB8AC3E}">
        <p14:creationId xmlns:p14="http://schemas.microsoft.com/office/powerpoint/2010/main" val="8379800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161707-9A8C-11F3-9F75-689FCC1615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791494-3C05-B3BC-BD5C-6B03597F763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957661-ACDD-8CF0-00A7-D4F81BD5CB39}"/>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Now we meet the classic: </a:t>
            </a:r>
            <a:r>
              <a:rPr lang="en-US" sz="1200" b="1" i="0" kern="1200" dirty="0">
                <a:solidFill>
                  <a:schemeClr val="tx1"/>
                </a:solidFill>
                <a:effectLst/>
                <a:latin typeface="+mn-lt"/>
                <a:ea typeface="+mn-ea"/>
                <a:cs typeface="+mn-cs"/>
              </a:rPr>
              <a:t>Paxos</a:t>
            </a:r>
            <a:r>
              <a:rPr lang="en-US" sz="1200" b="0" i="0" kern="1200" dirty="0">
                <a:solidFill>
                  <a:schemeClr val="tx1"/>
                </a:solidFill>
                <a:effectLst/>
                <a:latin typeface="+mn-lt"/>
                <a:ea typeface="+mn-ea"/>
                <a:cs typeface="+mn-cs"/>
              </a:rPr>
              <a:t>. Created by Leslie Lamport, it's the foundation of distributed consensus.</a:t>
            </a:r>
          </a:p>
          <a:p>
            <a:r>
              <a:rPr lang="en-US" sz="1200" b="0" i="0" kern="1200" dirty="0">
                <a:solidFill>
                  <a:schemeClr val="tx1"/>
                </a:solidFill>
                <a:effectLst/>
                <a:latin typeface="+mn-lt"/>
                <a:ea typeface="+mn-ea"/>
                <a:cs typeface="+mn-cs"/>
              </a:rPr>
              <a:t>Paxos has three roles: </a:t>
            </a:r>
            <a:r>
              <a:rPr lang="en-US" sz="1200" b="1" i="0" kern="1200" dirty="0">
                <a:solidFill>
                  <a:schemeClr val="tx1"/>
                </a:solidFill>
                <a:effectLst/>
                <a:latin typeface="+mn-lt"/>
                <a:ea typeface="+mn-ea"/>
                <a:cs typeface="+mn-cs"/>
              </a:rPr>
              <a:t>Proposers</a:t>
            </a:r>
            <a:r>
              <a:rPr lang="en-US" sz="1200" b="0" i="0" kern="1200" dirty="0">
                <a:solidFill>
                  <a:schemeClr val="tx1"/>
                </a:solidFill>
                <a:effectLst/>
                <a:latin typeface="+mn-lt"/>
                <a:ea typeface="+mn-ea"/>
                <a:cs typeface="+mn-cs"/>
              </a:rPr>
              <a:t> suggest values. </a:t>
            </a:r>
            <a:r>
              <a:rPr lang="en-US" sz="1200" b="1" i="0" kern="1200" dirty="0">
                <a:solidFill>
                  <a:schemeClr val="tx1"/>
                </a:solidFill>
                <a:effectLst/>
                <a:latin typeface="+mn-lt"/>
                <a:ea typeface="+mn-ea"/>
                <a:cs typeface="+mn-cs"/>
              </a:rPr>
              <a:t>Acceptors</a:t>
            </a:r>
            <a:r>
              <a:rPr lang="en-US" sz="1200" b="0" i="0" kern="1200" dirty="0">
                <a:solidFill>
                  <a:schemeClr val="tx1"/>
                </a:solidFill>
                <a:effectLst/>
                <a:latin typeface="+mn-lt"/>
                <a:ea typeface="+mn-ea"/>
                <a:cs typeface="+mn-cs"/>
              </a:rPr>
              <a:t> vote (typically a majority of nodes). </a:t>
            </a:r>
            <a:r>
              <a:rPr lang="en-US" sz="1200" b="1" i="0" kern="1200" dirty="0">
                <a:solidFill>
                  <a:schemeClr val="tx1"/>
                </a:solidFill>
                <a:effectLst/>
                <a:latin typeface="+mn-lt"/>
                <a:ea typeface="+mn-ea"/>
                <a:cs typeface="+mn-cs"/>
              </a:rPr>
              <a:t>Learners</a:t>
            </a:r>
            <a:r>
              <a:rPr lang="en-US" sz="1200" b="0" i="0" kern="1200" dirty="0">
                <a:solidFill>
                  <a:schemeClr val="tx1"/>
                </a:solidFill>
                <a:effectLst/>
                <a:latin typeface="+mn-lt"/>
                <a:ea typeface="+mn-ea"/>
                <a:cs typeface="+mn-cs"/>
              </a:rPr>
              <a:t> learn the chosen value.</a:t>
            </a:r>
          </a:p>
          <a:p>
            <a:r>
              <a:rPr lang="en-US" sz="1200" b="0" i="0" kern="1200" dirty="0">
                <a:solidFill>
                  <a:schemeClr val="tx1"/>
                </a:solidFill>
                <a:effectLst/>
                <a:latin typeface="+mn-lt"/>
                <a:ea typeface="+mn-ea"/>
                <a:cs typeface="+mn-cs"/>
              </a:rPr>
              <a:t>The algorithm has three phases:</a:t>
            </a:r>
          </a:p>
          <a:p>
            <a:r>
              <a:rPr lang="en-US" sz="1200" b="1" i="0" kern="1200" dirty="0">
                <a:solidFill>
                  <a:schemeClr val="tx1"/>
                </a:solidFill>
                <a:effectLst/>
                <a:latin typeface="+mn-lt"/>
                <a:ea typeface="+mn-ea"/>
                <a:cs typeface="+mn-cs"/>
              </a:rPr>
              <a:t>Phase 1: Prepare</a:t>
            </a:r>
            <a:r>
              <a:rPr lang="en-US" sz="1200" b="0" i="0" kern="1200" dirty="0">
                <a:solidFill>
                  <a:schemeClr val="tx1"/>
                </a:solidFill>
                <a:effectLst/>
                <a:latin typeface="+mn-lt"/>
                <a:ea typeface="+mn-ea"/>
                <a:cs typeface="+mn-cs"/>
              </a:rPr>
              <a:t> - A proposer picks a unique, increasing proposal number. Asks acceptors: "Promise not to accept older proposals." Acceptors promise, and if they've already accepted a value, they include it.</a:t>
            </a:r>
          </a:p>
          <a:p>
            <a:r>
              <a:rPr lang="en-US" sz="1200" b="1" i="0" kern="1200" dirty="0">
                <a:solidFill>
                  <a:schemeClr val="tx1"/>
                </a:solidFill>
                <a:effectLst/>
                <a:latin typeface="+mn-lt"/>
                <a:ea typeface="+mn-ea"/>
                <a:cs typeface="+mn-cs"/>
              </a:rPr>
              <a:t>Phase 2: Accept</a:t>
            </a:r>
            <a:r>
              <a:rPr lang="en-US" sz="1200" b="0" i="0" kern="1200" dirty="0">
                <a:solidFill>
                  <a:schemeClr val="tx1"/>
                </a:solidFill>
                <a:effectLst/>
                <a:latin typeface="+mn-lt"/>
                <a:ea typeface="+mn-ea"/>
                <a:cs typeface="+mn-cs"/>
              </a:rPr>
              <a:t> - If a majority promised, the proposer sends: "Accept this value." The value is either the proposer's own OR if any acceptor already accepted a value, that value (to ensure consistency). Acceptors accept if they haven't promised to a newer proposal.</a:t>
            </a:r>
          </a:p>
          <a:p>
            <a:r>
              <a:rPr lang="en-US" sz="1200" b="1" i="0" kern="1200" dirty="0">
                <a:solidFill>
                  <a:schemeClr val="tx1"/>
                </a:solidFill>
                <a:effectLst/>
                <a:latin typeface="+mn-lt"/>
                <a:ea typeface="+mn-ea"/>
                <a:cs typeface="+mn-cs"/>
              </a:rPr>
              <a:t>Phase 3: Learn</a:t>
            </a:r>
            <a:r>
              <a:rPr lang="en-US" sz="1200" b="0" i="0" kern="1200" dirty="0">
                <a:solidFill>
                  <a:schemeClr val="tx1"/>
                </a:solidFill>
                <a:effectLst/>
                <a:latin typeface="+mn-lt"/>
                <a:ea typeface="+mn-ea"/>
                <a:cs typeface="+mn-cs"/>
              </a:rPr>
              <a:t> - If a majority accepts, the value is chosen. Acceptors tell everyone.</a:t>
            </a:r>
          </a:p>
          <a:p>
            <a:r>
              <a:rPr lang="en-US" sz="1200" b="0" i="0" kern="1200" dirty="0">
                <a:solidFill>
                  <a:schemeClr val="tx1"/>
                </a:solidFill>
                <a:effectLst/>
                <a:latin typeface="+mn-lt"/>
                <a:ea typeface="+mn-ea"/>
                <a:cs typeface="+mn-cs"/>
              </a:rPr>
              <a:t>The safety properties: Only </a:t>
            </a:r>
            <a:r>
              <a:rPr lang="en-US" sz="1200" b="1" i="0" kern="1200" dirty="0">
                <a:solidFill>
                  <a:schemeClr val="tx1"/>
                </a:solidFill>
                <a:effectLst/>
                <a:latin typeface="+mn-lt"/>
                <a:ea typeface="+mn-ea"/>
                <a:cs typeface="+mn-cs"/>
              </a:rPr>
              <a:t>one value</a:t>
            </a:r>
            <a:r>
              <a:rPr lang="en-US" sz="1200" b="0" i="0" kern="1200" dirty="0">
                <a:solidFill>
                  <a:schemeClr val="tx1"/>
                </a:solidFill>
                <a:effectLst/>
                <a:latin typeface="+mn-lt"/>
                <a:ea typeface="+mn-ea"/>
                <a:cs typeface="+mn-cs"/>
              </a:rPr>
              <a:t> can be chosen. Once chosen, it stays chosen. Liveness: Eventually something gets chosen if enough nodes work.</a:t>
            </a:r>
          </a:p>
          <a:p>
            <a:endParaRPr lang="en-IN" dirty="0"/>
          </a:p>
          <a:p>
            <a:r>
              <a:rPr lang="en-US" sz="1200" b="0" i="0" kern="1200" dirty="0">
                <a:solidFill>
                  <a:schemeClr val="tx1"/>
                </a:solidFill>
                <a:effectLst/>
                <a:latin typeface="+mn-lt"/>
                <a:ea typeface="+mn-ea"/>
                <a:cs typeface="+mn-cs"/>
              </a:rPr>
              <a:t>Why is Paxos famous but also infamous? It's </a:t>
            </a:r>
            <a:r>
              <a:rPr lang="en-US" sz="1200" b="1" i="0" kern="1200" dirty="0">
                <a:solidFill>
                  <a:schemeClr val="tx1"/>
                </a:solidFill>
                <a:effectLst/>
                <a:latin typeface="+mn-lt"/>
                <a:ea typeface="+mn-ea"/>
                <a:cs typeface="+mn-cs"/>
              </a:rPr>
              <a:t>complex</a:t>
            </a:r>
            <a:r>
              <a:rPr lang="en-US" sz="1200" b="0" i="0" kern="1200" dirty="0">
                <a:solidFill>
                  <a:schemeClr val="tx1"/>
                </a:solidFill>
                <a:effectLst/>
                <a:latin typeface="+mn-lt"/>
                <a:ea typeface="+mn-ea"/>
                <a:cs typeface="+mn-cs"/>
              </a:rPr>
              <a:t>. Multiple rounds, edge cases. </a:t>
            </a:r>
            <a:r>
              <a:rPr lang="en-US" sz="1200" b="1" i="0" kern="1200" dirty="0">
                <a:solidFill>
                  <a:schemeClr val="tx1"/>
                </a:solidFill>
                <a:effectLst/>
                <a:latin typeface="+mn-lt"/>
                <a:ea typeface="+mn-ea"/>
                <a:cs typeface="+mn-cs"/>
              </a:rPr>
              <a:t>Multi-Paxos</a:t>
            </a:r>
            <a:r>
              <a:rPr lang="en-US" sz="1200" b="0" i="0" kern="1200" dirty="0">
                <a:solidFill>
                  <a:schemeClr val="tx1"/>
                </a:solidFill>
                <a:effectLst/>
                <a:latin typeface="+mn-lt"/>
                <a:ea typeface="+mn-ea"/>
                <a:cs typeface="+mn-cs"/>
              </a:rPr>
              <a:t> optimizes by electing a leader who becomes the primary proposer. It's hard to understand and implement correctly.</a:t>
            </a:r>
          </a:p>
          <a:p>
            <a:r>
              <a:rPr lang="en-US" sz="1200" b="0" i="0" kern="1200" dirty="0">
                <a:solidFill>
                  <a:schemeClr val="tx1"/>
                </a:solidFill>
                <a:effectLst/>
                <a:latin typeface="+mn-lt"/>
                <a:ea typeface="+mn-ea"/>
                <a:cs typeface="+mn-cs"/>
              </a:rPr>
              <a:t>Yet Paxos powers critical systems: Google's Chubby lock service, and inspired Apache </a:t>
            </a:r>
            <a:r>
              <a:rPr lang="en-US" sz="1200" b="0" i="0" kern="1200" dirty="0" err="1">
                <a:solidFill>
                  <a:schemeClr val="tx1"/>
                </a:solidFill>
                <a:effectLst/>
                <a:latin typeface="+mn-lt"/>
                <a:ea typeface="+mn-ea"/>
                <a:cs typeface="+mn-cs"/>
              </a:rPr>
              <a:t>ZooKeeper</a:t>
            </a:r>
            <a:r>
              <a:rPr lang="en-US" sz="1200" b="0" i="0" kern="1200" dirty="0">
                <a:solidFill>
                  <a:schemeClr val="tx1"/>
                </a:solidFill>
                <a:effectLst/>
                <a:latin typeface="+mn-lt"/>
                <a:ea typeface="+mn-ea"/>
                <a:cs typeface="+mn-cs"/>
              </a:rPr>
              <a:t>. It works, but its complexity led to a simpler alternative: </a:t>
            </a:r>
            <a:r>
              <a:rPr lang="en-US" sz="1200" b="1" i="0" kern="1200" dirty="0">
                <a:solidFill>
                  <a:schemeClr val="tx1"/>
                </a:solidFill>
                <a:effectLst/>
                <a:latin typeface="+mn-lt"/>
                <a:ea typeface="+mn-ea"/>
                <a:cs typeface="+mn-cs"/>
              </a:rPr>
              <a:t>Raft</a:t>
            </a:r>
            <a:r>
              <a:rPr lang="en-US" sz="1200" b="0" i="0" kern="1200" dirty="0">
                <a:solidFill>
                  <a:schemeClr val="tx1"/>
                </a:solidFill>
                <a:effectLst/>
                <a:latin typeface="+mn-lt"/>
                <a:ea typeface="+mn-ea"/>
                <a:cs typeface="+mn-cs"/>
              </a:rPr>
              <a:t>.</a:t>
            </a:r>
          </a:p>
          <a:p>
            <a:endParaRPr lang="en-IN" dirty="0"/>
          </a:p>
        </p:txBody>
      </p:sp>
      <p:sp>
        <p:nvSpPr>
          <p:cNvPr id="4" name="Slide Number Placeholder 3">
            <a:extLst>
              <a:ext uri="{FF2B5EF4-FFF2-40B4-BE49-F238E27FC236}">
                <a16:creationId xmlns:a16="http://schemas.microsoft.com/office/drawing/2014/main" id="{71F1B569-417D-5574-5602-8105DC679F59}"/>
              </a:ext>
            </a:extLst>
          </p:cNvPr>
          <p:cNvSpPr>
            <a:spLocks noGrp="1"/>
          </p:cNvSpPr>
          <p:nvPr>
            <p:ph type="sldNum" sz="quarter" idx="5"/>
          </p:nvPr>
        </p:nvSpPr>
        <p:spPr/>
        <p:txBody>
          <a:bodyPr/>
          <a:lstStyle/>
          <a:p>
            <a:fld id="{72853293-4F00-4813-B74A-3945ABE0C2FC}" type="slidenum">
              <a:rPr lang="en-IN" smtClean="0"/>
              <a:t>10</a:t>
            </a:fld>
            <a:endParaRPr lang="en-IN"/>
          </a:p>
        </p:txBody>
      </p:sp>
    </p:spTree>
    <p:extLst>
      <p:ext uri="{BB962C8B-B14F-4D97-AF65-F5344CB8AC3E}">
        <p14:creationId xmlns:p14="http://schemas.microsoft.com/office/powerpoint/2010/main" val="213091767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E03715-106D-81C6-BE3C-036B76BC5C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DBCF13-1952-073D-F4CE-1CA1F54FEED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0D32DC0-3D3D-4472-374B-514D97B9174F}"/>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Enter </a:t>
            </a:r>
            <a:r>
              <a:rPr lang="en-US" sz="1200" b="1" i="0" kern="1200" dirty="0">
                <a:solidFill>
                  <a:schemeClr val="tx1"/>
                </a:solidFill>
                <a:effectLst/>
                <a:latin typeface="+mn-lt"/>
                <a:ea typeface="+mn-ea"/>
                <a:cs typeface="+mn-cs"/>
              </a:rPr>
              <a:t>Raft</a:t>
            </a:r>
            <a:r>
              <a:rPr lang="en-US" sz="1200" b="0" i="0" kern="1200" dirty="0">
                <a:solidFill>
                  <a:schemeClr val="tx1"/>
                </a:solidFill>
                <a:effectLst/>
                <a:latin typeface="+mn-lt"/>
                <a:ea typeface="+mn-ea"/>
                <a:cs typeface="+mn-cs"/>
              </a:rPr>
              <a:t> - designed to be the 'understandable' consensus algorithm.</a:t>
            </a:r>
          </a:p>
          <a:p>
            <a:r>
              <a:rPr lang="en-US" sz="1200" b="0" i="0" kern="1200" dirty="0">
                <a:solidFill>
                  <a:schemeClr val="tx1"/>
                </a:solidFill>
                <a:effectLst/>
                <a:latin typeface="+mn-lt"/>
                <a:ea typeface="+mn-ea"/>
                <a:cs typeface="+mn-cs"/>
              </a:rPr>
              <a:t>Raft's key insight: Decompose consensus into </a:t>
            </a:r>
            <a:r>
              <a:rPr lang="en-US" sz="1200" b="1" i="0" kern="1200" dirty="0">
                <a:solidFill>
                  <a:schemeClr val="tx1"/>
                </a:solidFill>
                <a:effectLst/>
                <a:latin typeface="+mn-lt"/>
                <a:ea typeface="+mn-ea"/>
                <a:cs typeface="+mn-cs"/>
              </a:rPr>
              <a:t>separate, understandable problems</a:t>
            </a:r>
            <a:r>
              <a:rPr lang="en-US" sz="1200" b="0" i="0" kern="1200" dirty="0">
                <a:solidFill>
                  <a:schemeClr val="tx1"/>
                </a:solidFill>
                <a:effectLst/>
                <a:latin typeface="+mn-lt"/>
                <a:ea typeface="+mn-ea"/>
                <a:cs typeface="+mn-cs"/>
              </a:rPr>
              <a:t>: leader election, log replication, and safety.</a:t>
            </a:r>
          </a:p>
          <a:p>
            <a:r>
              <a:rPr lang="en-US" sz="1200" b="0" i="0" kern="1200" dirty="0">
                <a:solidFill>
                  <a:schemeClr val="tx1"/>
                </a:solidFill>
                <a:effectLst/>
                <a:latin typeface="+mn-lt"/>
                <a:ea typeface="+mn-ea"/>
                <a:cs typeface="+mn-cs"/>
              </a:rPr>
              <a:t>First, </a:t>
            </a:r>
            <a:r>
              <a:rPr lang="en-US" sz="1200" b="1" i="0" kern="1200" dirty="0">
                <a:solidFill>
                  <a:schemeClr val="tx1"/>
                </a:solidFill>
                <a:effectLst/>
                <a:latin typeface="+mn-lt"/>
                <a:ea typeface="+mn-ea"/>
                <a:cs typeface="+mn-cs"/>
              </a:rPr>
              <a:t>leader election</a:t>
            </a:r>
            <a:r>
              <a:rPr lang="en-US" sz="1200" b="0" i="0" kern="1200" dirty="0">
                <a:solidFill>
                  <a:schemeClr val="tx1"/>
                </a:solidFill>
                <a:effectLst/>
                <a:latin typeface="+mn-lt"/>
                <a:ea typeface="+mn-ea"/>
                <a:cs typeface="+mn-cs"/>
              </a:rPr>
              <a:t>. Raft has one leader, others are followers. Time is divided into terms. If followers don't hear from the leader, they timeout, become candidates, and hold elections. Winner becomes leader.</a:t>
            </a:r>
          </a:p>
          <a:p>
            <a:r>
              <a:rPr lang="en-US" sz="1200" b="0" i="0" kern="1200" dirty="0">
                <a:solidFill>
                  <a:schemeClr val="tx1"/>
                </a:solidFill>
                <a:effectLst/>
                <a:latin typeface="+mn-lt"/>
                <a:ea typeface="+mn-ea"/>
                <a:cs typeface="+mn-cs"/>
              </a:rPr>
              <a:t>Second, </a:t>
            </a:r>
            <a:r>
              <a:rPr lang="en-US" sz="1200" b="1" i="0" kern="1200" dirty="0">
                <a:solidFill>
                  <a:schemeClr val="tx1"/>
                </a:solidFill>
                <a:effectLst/>
                <a:latin typeface="+mn-lt"/>
                <a:ea typeface="+mn-ea"/>
                <a:cs typeface="+mn-cs"/>
              </a:rPr>
              <a:t>log replication</a:t>
            </a:r>
            <a:r>
              <a:rPr lang="en-US" sz="1200" b="0" i="0" kern="1200" dirty="0">
                <a:solidFill>
                  <a:schemeClr val="tx1"/>
                </a:solidFill>
                <a:effectLst/>
                <a:latin typeface="+mn-lt"/>
                <a:ea typeface="+mn-ea"/>
                <a:cs typeface="+mn-cs"/>
              </a:rPr>
              <a:t>. The leader handles all client requests, appending them to its log. It replicates entries to followers. When a majority has an entry, it's committed. Followers apply committed entries to their state machines.</a:t>
            </a:r>
          </a:p>
          <a:p>
            <a:r>
              <a:rPr lang="en-US" sz="1200" b="0" i="0" kern="1200" dirty="0">
                <a:solidFill>
                  <a:schemeClr val="tx1"/>
                </a:solidFill>
                <a:effectLst/>
                <a:latin typeface="+mn-lt"/>
                <a:ea typeface="+mn-ea"/>
                <a:cs typeface="+mn-cs"/>
              </a:rPr>
              <a:t>Third, </a:t>
            </a:r>
            <a:r>
              <a:rPr lang="en-US" sz="1200" b="1" i="0" kern="1200" dirty="0">
                <a:solidFill>
                  <a:schemeClr val="tx1"/>
                </a:solidFill>
                <a:effectLst/>
                <a:latin typeface="+mn-lt"/>
                <a:ea typeface="+mn-ea"/>
                <a:cs typeface="+mn-cs"/>
              </a:rPr>
              <a:t>safety</a:t>
            </a:r>
            <a:r>
              <a:rPr lang="en-US" sz="1200" b="0" i="0" kern="1200" dirty="0">
                <a:solidFill>
                  <a:schemeClr val="tx1"/>
                </a:solidFill>
                <a:effectLst/>
                <a:latin typeface="+mn-lt"/>
                <a:ea typeface="+mn-ea"/>
                <a:cs typeface="+mn-cs"/>
              </a:rPr>
              <a:t>. Key rules: Only the most up-to-date node can become leader. Logs have a matching property. All servers apply the same commands in the same order.</a:t>
            </a:r>
          </a:p>
          <a:p>
            <a:r>
              <a:rPr lang="en-US" sz="1200" b="0" i="0" kern="1200" dirty="0">
                <a:solidFill>
                  <a:schemeClr val="tx1"/>
                </a:solidFill>
                <a:effectLst/>
                <a:latin typeface="+mn-lt"/>
                <a:ea typeface="+mn-ea"/>
                <a:cs typeface="+mn-cs"/>
              </a:rPr>
              <a:t>Node states: </a:t>
            </a:r>
            <a:r>
              <a:rPr lang="en-US" sz="1200" b="1" i="0" kern="1200" dirty="0">
                <a:solidFill>
                  <a:schemeClr val="tx1"/>
                </a:solidFill>
                <a:effectLst/>
                <a:latin typeface="+mn-lt"/>
                <a:ea typeface="+mn-ea"/>
                <a:cs typeface="+mn-cs"/>
              </a:rPr>
              <a:t>Follower</a:t>
            </a:r>
            <a:r>
              <a:rPr lang="en-US" sz="1200" b="0" i="0" kern="1200" dirty="0">
                <a:solidFill>
                  <a:schemeClr val="tx1"/>
                </a:solidFill>
                <a:effectLst/>
                <a:latin typeface="+mn-lt"/>
                <a:ea typeface="+mn-ea"/>
                <a:cs typeface="+mn-cs"/>
              </a:rPr>
              <a:t> (passive), </a:t>
            </a:r>
            <a:r>
              <a:rPr lang="en-US" sz="1200" b="1" i="0" kern="1200" dirty="0">
                <a:solidFill>
                  <a:schemeClr val="tx1"/>
                </a:solidFill>
                <a:effectLst/>
                <a:latin typeface="+mn-lt"/>
                <a:ea typeface="+mn-ea"/>
                <a:cs typeface="+mn-cs"/>
              </a:rPr>
              <a:t>Candidate</a:t>
            </a:r>
            <a:r>
              <a:rPr lang="en-US" sz="1200" b="0" i="0" kern="1200" dirty="0">
                <a:solidFill>
                  <a:schemeClr val="tx1"/>
                </a:solidFill>
                <a:effectLst/>
                <a:latin typeface="+mn-lt"/>
                <a:ea typeface="+mn-ea"/>
                <a:cs typeface="+mn-cs"/>
              </a:rPr>
              <a:t> (campaigning), </a:t>
            </a:r>
            <a:r>
              <a:rPr lang="en-US" sz="1200" b="1" i="0" kern="1200" dirty="0">
                <a:solidFill>
                  <a:schemeClr val="tx1"/>
                </a:solidFill>
                <a:effectLst/>
                <a:latin typeface="+mn-lt"/>
                <a:ea typeface="+mn-ea"/>
                <a:cs typeface="+mn-cs"/>
              </a:rPr>
              <a:t>Leader</a:t>
            </a:r>
            <a:r>
              <a:rPr lang="en-US" sz="1200" b="0" i="0" kern="1200" dirty="0">
                <a:solidFill>
                  <a:schemeClr val="tx1"/>
                </a:solidFill>
                <a:effectLst/>
                <a:latin typeface="+mn-lt"/>
                <a:ea typeface="+mn-ea"/>
                <a:cs typeface="+mn-cs"/>
              </a:rPr>
              <a:t> (active).</a:t>
            </a:r>
          </a:p>
          <a:p>
            <a:r>
              <a:rPr lang="en-US" sz="1200" b="0" i="0" kern="1200" dirty="0">
                <a:solidFill>
                  <a:schemeClr val="tx1"/>
                </a:solidFill>
                <a:effectLst/>
                <a:latin typeface="+mn-lt"/>
                <a:ea typeface="+mn-ea"/>
                <a:cs typeface="+mn-cs"/>
              </a:rPr>
              <a:t>Compared to Paxos, Raft is </a:t>
            </a:r>
            <a:r>
              <a:rPr lang="en-US" sz="1200" b="1" i="0" kern="1200" dirty="0">
                <a:solidFill>
                  <a:schemeClr val="tx1"/>
                </a:solidFill>
                <a:effectLst/>
                <a:latin typeface="+mn-lt"/>
                <a:ea typeface="+mn-ea"/>
                <a:cs typeface="+mn-cs"/>
              </a:rPr>
              <a:t>much easier to understand and implement</a:t>
            </a:r>
            <a:r>
              <a:rPr lang="en-US" sz="1200" b="0" i="0" kern="1200" dirty="0">
                <a:solidFill>
                  <a:schemeClr val="tx1"/>
                </a:solidFill>
                <a:effectLst/>
                <a:latin typeface="+mn-lt"/>
                <a:ea typeface="+mn-ea"/>
                <a:cs typeface="+mn-cs"/>
              </a:rPr>
              <a:t>. The paper includes detailed pseudocode. The leader-based approach simplifies many scenarios.</a:t>
            </a:r>
          </a:p>
          <a:p>
            <a:endParaRPr lang="en-IN" dirty="0"/>
          </a:p>
          <a:p>
            <a:r>
              <a:rPr lang="en-US" sz="1200" b="0" i="0" kern="1200" dirty="0">
                <a:solidFill>
                  <a:schemeClr val="tx1"/>
                </a:solidFill>
                <a:effectLst/>
                <a:latin typeface="+mn-lt"/>
                <a:ea typeface="+mn-ea"/>
                <a:cs typeface="+mn-cs"/>
              </a:rPr>
              <a:t>Raft powers modern systems: </a:t>
            </a:r>
            <a:r>
              <a:rPr lang="en-US" sz="1200" b="1" i="0" kern="1200" dirty="0" err="1">
                <a:solidFill>
                  <a:schemeClr val="tx1"/>
                </a:solidFill>
                <a:effectLst/>
                <a:latin typeface="+mn-lt"/>
                <a:ea typeface="+mn-ea"/>
                <a:cs typeface="+mn-cs"/>
              </a:rPr>
              <a:t>etcd</a:t>
            </a:r>
            <a:r>
              <a:rPr lang="en-US" sz="1200" b="0" i="0" kern="1200" dirty="0">
                <a:solidFill>
                  <a:schemeClr val="tx1"/>
                </a:solidFill>
                <a:effectLst/>
                <a:latin typeface="+mn-lt"/>
                <a:ea typeface="+mn-ea"/>
                <a:cs typeface="+mn-cs"/>
              </a:rPr>
              <a:t> (Kubernetes' brain), </a:t>
            </a:r>
            <a:r>
              <a:rPr lang="en-US" sz="1200" b="1" i="0" kern="1200" dirty="0">
                <a:solidFill>
                  <a:schemeClr val="tx1"/>
                </a:solidFill>
                <a:effectLst/>
                <a:latin typeface="+mn-lt"/>
                <a:ea typeface="+mn-ea"/>
                <a:cs typeface="+mn-cs"/>
              </a:rPr>
              <a:t>Consul</a:t>
            </a:r>
            <a:r>
              <a:rPr lang="en-US" sz="1200" b="0" i="0" kern="1200" dirty="0">
                <a:solidFill>
                  <a:schemeClr val="tx1"/>
                </a:solidFill>
                <a:effectLst/>
                <a:latin typeface="+mn-lt"/>
                <a:ea typeface="+mn-ea"/>
                <a:cs typeface="+mn-cs"/>
              </a:rPr>
              <a:t> (service discovery), many distributed databases. It's become the go-to consensus algorithm for new systems.</a:t>
            </a:r>
          </a:p>
          <a:p>
            <a:r>
              <a:rPr lang="en-US" sz="1200" b="0" i="0" kern="1200" dirty="0">
                <a:solidFill>
                  <a:schemeClr val="tx1"/>
                </a:solidFill>
                <a:effectLst/>
                <a:latin typeface="+mn-lt"/>
                <a:ea typeface="+mn-ea"/>
                <a:cs typeface="+mn-cs"/>
              </a:rPr>
              <a:t>Raft shows that </a:t>
            </a:r>
            <a:r>
              <a:rPr lang="en-US" sz="1200" b="1" i="0" kern="1200" dirty="0">
                <a:solidFill>
                  <a:schemeClr val="tx1"/>
                </a:solidFill>
                <a:effectLst/>
                <a:latin typeface="+mn-lt"/>
                <a:ea typeface="+mn-ea"/>
                <a:cs typeface="+mn-cs"/>
              </a:rPr>
              <a:t>simplicity and correctness can coexist</a:t>
            </a:r>
            <a:r>
              <a:rPr lang="en-US" sz="1200" b="0" i="0" kern="1200" dirty="0">
                <a:solidFill>
                  <a:schemeClr val="tx1"/>
                </a:solidFill>
                <a:effectLst/>
                <a:latin typeface="+mn-lt"/>
                <a:ea typeface="+mn-ea"/>
                <a:cs typeface="+mn-cs"/>
              </a:rPr>
              <a:t> in distributed systems.</a:t>
            </a:r>
          </a:p>
          <a:p>
            <a:endParaRPr lang="en-IN" dirty="0"/>
          </a:p>
        </p:txBody>
      </p:sp>
      <p:sp>
        <p:nvSpPr>
          <p:cNvPr id="4" name="Slide Number Placeholder 3">
            <a:extLst>
              <a:ext uri="{FF2B5EF4-FFF2-40B4-BE49-F238E27FC236}">
                <a16:creationId xmlns:a16="http://schemas.microsoft.com/office/drawing/2014/main" id="{AE0C4726-12BE-6564-FB3F-F00B374F608B}"/>
              </a:ext>
            </a:extLst>
          </p:cNvPr>
          <p:cNvSpPr>
            <a:spLocks noGrp="1"/>
          </p:cNvSpPr>
          <p:nvPr>
            <p:ph type="sldNum" sz="quarter" idx="5"/>
          </p:nvPr>
        </p:nvSpPr>
        <p:spPr/>
        <p:txBody>
          <a:bodyPr/>
          <a:lstStyle/>
          <a:p>
            <a:fld id="{72853293-4F00-4813-B74A-3945ABE0C2FC}" type="slidenum">
              <a:rPr lang="en-IN" smtClean="0"/>
              <a:t>11</a:t>
            </a:fld>
            <a:endParaRPr lang="en-IN"/>
          </a:p>
        </p:txBody>
      </p:sp>
    </p:spTree>
    <p:extLst>
      <p:ext uri="{BB962C8B-B14F-4D97-AF65-F5344CB8AC3E}">
        <p14:creationId xmlns:p14="http://schemas.microsoft.com/office/powerpoint/2010/main" val="209613716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Let's compare Paxos and Raft directly.</a:t>
            </a:r>
          </a:p>
          <a:p>
            <a:r>
              <a:rPr lang="en-US" sz="1200" b="1" i="0" kern="1200" dirty="0">
                <a:solidFill>
                  <a:schemeClr val="tx1"/>
                </a:solidFill>
                <a:effectLst/>
                <a:latin typeface="+mn-lt"/>
                <a:ea typeface="+mn-ea"/>
                <a:cs typeface="+mn-cs"/>
              </a:rPr>
              <a:t>Conceptually</a:t>
            </a:r>
            <a:r>
              <a:rPr lang="en-US" sz="1200" b="0" i="0" kern="1200" dirty="0">
                <a:solidFill>
                  <a:schemeClr val="tx1"/>
                </a:solidFill>
                <a:effectLst/>
                <a:latin typeface="+mn-lt"/>
                <a:ea typeface="+mn-ea"/>
                <a:cs typeface="+mn-cs"/>
              </a:rPr>
              <a:t>, Paxos is about multi-round voting. Raft is leader-based replication. Paxos can work without a persistent leader (though Multi-Paxos adds one). Raft requires a leader.</a:t>
            </a:r>
          </a:p>
          <a:p>
            <a:r>
              <a:rPr lang="en-US" sz="1200" b="1" i="0" kern="1200" dirty="0">
                <a:solidFill>
                  <a:schemeClr val="tx1"/>
                </a:solidFill>
                <a:effectLst/>
                <a:latin typeface="+mn-lt"/>
                <a:ea typeface="+mn-ea"/>
                <a:cs typeface="+mn-cs"/>
              </a:rPr>
              <a:t>Understandability</a:t>
            </a:r>
            <a:r>
              <a:rPr lang="en-US" sz="1200" b="0" i="0" kern="1200" dirty="0">
                <a:solidFill>
                  <a:schemeClr val="tx1"/>
                </a:solidFill>
                <a:effectLst/>
                <a:latin typeface="+mn-lt"/>
                <a:ea typeface="+mn-ea"/>
                <a:cs typeface="+mn-cs"/>
              </a:rPr>
              <a:t>: Paxos is notoriously hard. Leslie Lamport's original paper "The Part-Time Parliament" used a Greek island metaphor. Raft was designed specifically to be understandable, with clear diagrams and pseudocode.</a:t>
            </a:r>
          </a:p>
          <a:p>
            <a:r>
              <a:rPr lang="en-US" sz="1200" b="1" i="0" kern="1200" dirty="0">
                <a:solidFill>
                  <a:schemeClr val="tx1"/>
                </a:solidFill>
                <a:effectLst/>
                <a:latin typeface="+mn-lt"/>
                <a:ea typeface="+mn-ea"/>
                <a:cs typeface="+mn-cs"/>
              </a:rPr>
              <a:t>Implementation</a:t>
            </a:r>
            <a:r>
              <a:rPr lang="en-US" sz="1200" b="0" i="0" kern="1200" dirty="0">
                <a:solidFill>
                  <a:schemeClr val="tx1"/>
                </a:solidFill>
                <a:effectLst/>
                <a:latin typeface="+mn-lt"/>
                <a:ea typeface="+mn-ea"/>
                <a:cs typeface="+mn-cs"/>
              </a:rPr>
              <a:t>: Paxos has many edge cases. Raft has a detailed specification that's easier to implement correctly. Both have similar performance when optimized.</a:t>
            </a:r>
          </a:p>
          <a:p>
            <a:r>
              <a:rPr lang="en-US" sz="1200" b="1" i="0" kern="1200" dirty="0">
                <a:solidFill>
                  <a:schemeClr val="tx1"/>
                </a:solidFill>
                <a:effectLst/>
                <a:latin typeface="+mn-lt"/>
                <a:ea typeface="+mn-ea"/>
                <a:cs typeface="+mn-cs"/>
              </a:rPr>
              <a:t>Adoption</a:t>
            </a:r>
            <a:r>
              <a:rPr lang="en-US" sz="1200" b="0" i="0" kern="1200" dirty="0">
                <a:solidFill>
                  <a:schemeClr val="tx1"/>
                </a:solidFill>
                <a:effectLst/>
                <a:latin typeface="+mn-lt"/>
                <a:ea typeface="+mn-ea"/>
                <a:cs typeface="+mn-cs"/>
              </a:rPr>
              <a:t>: Paxos powers older systems like Google's Chubby. Raft powers newer systems like </a:t>
            </a:r>
            <a:r>
              <a:rPr lang="en-US" sz="1200" b="0" i="0" kern="1200" dirty="0" err="1">
                <a:solidFill>
                  <a:schemeClr val="tx1"/>
                </a:solidFill>
                <a:effectLst/>
                <a:latin typeface="+mn-lt"/>
                <a:ea typeface="+mn-ea"/>
                <a:cs typeface="+mn-cs"/>
              </a:rPr>
              <a:t>etcd</a:t>
            </a:r>
            <a:r>
              <a:rPr lang="en-US" sz="1200" b="0" i="0" kern="1200" dirty="0">
                <a:solidFill>
                  <a:schemeClr val="tx1"/>
                </a:solidFill>
                <a:effectLst/>
                <a:latin typeface="+mn-lt"/>
                <a:ea typeface="+mn-ea"/>
                <a:cs typeface="+mn-cs"/>
              </a:rPr>
              <a:t>, Consul, Kubernetes components.</a:t>
            </a:r>
          </a:p>
          <a:p>
            <a:r>
              <a:rPr lang="en-US" sz="1200" b="0" i="0" kern="1200" dirty="0">
                <a:solidFill>
                  <a:schemeClr val="tx1"/>
                </a:solidFill>
                <a:effectLst/>
                <a:latin typeface="+mn-lt"/>
                <a:ea typeface="+mn-ea"/>
                <a:cs typeface="+mn-cs"/>
              </a:rPr>
              <a:t>When to choose Paxos? If you need proven, extreme performance (with experts), or Byzantine fault tolerance variants. When to choose Raft? For new implementations, team learning, operational simplicity.</a:t>
            </a:r>
          </a:p>
          <a:p>
            <a:endParaRPr lang="en-IN" dirty="0"/>
          </a:p>
          <a:p>
            <a:r>
              <a:rPr lang="en-US" sz="1200" b="0" i="0" kern="1200" dirty="0">
                <a:solidFill>
                  <a:schemeClr val="tx1"/>
                </a:solidFill>
                <a:effectLst/>
                <a:latin typeface="+mn-lt"/>
                <a:ea typeface="+mn-ea"/>
                <a:cs typeface="+mn-cs"/>
              </a:rPr>
              <a:t>Many systems use hybrid approaches. </a:t>
            </a:r>
            <a:r>
              <a:rPr lang="en-US" sz="1200" b="0" i="0" kern="1200" dirty="0" err="1">
                <a:solidFill>
                  <a:schemeClr val="tx1"/>
                </a:solidFill>
                <a:effectLst/>
                <a:latin typeface="+mn-lt"/>
                <a:ea typeface="+mn-ea"/>
                <a:cs typeface="+mn-cs"/>
              </a:rPr>
              <a:t>ZooKeeper's</a:t>
            </a:r>
            <a:r>
              <a:rPr lang="en-US" sz="1200" b="0" i="0" kern="1200" dirty="0">
                <a:solidFill>
                  <a:schemeClr val="tx1"/>
                </a:solidFill>
                <a:effectLst/>
                <a:latin typeface="+mn-lt"/>
                <a:ea typeface="+mn-ea"/>
                <a:cs typeface="+mn-cs"/>
              </a:rPr>
              <a:t> Zab protocol is Paxos-inspired but leader-based like Raft.</a:t>
            </a:r>
          </a:p>
          <a:p>
            <a:r>
              <a:rPr lang="en-US" sz="1200" b="0" i="0" kern="1200" dirty="0">
                <a:solidFill>
                  <a:schemeClr val="tx1"/>
                </a:solidFill>
                <a:effectLst/>
                <a:latin typeface="+mn-lt"/>
                <a:ea typeface="+mn-ea"/>
                <a:cs typeface="+mn-cs"/>
              </a:rPr>
              <a:t>The reality: </a:t>
            </a:r>
            <a:r>
              <a:rPr lang="en-US" sz="1200" b="1" i="0" kern="1200" dirty="0">
                <a:solidFill>
                  <a:schemeClr val="tx1"/>
                </a:solidFill>
                <a:effectLst/>
                <a:latin typeface="+mn-lt"/>
                <a:ea typeface="+mn-ea"/>
                <a:cs typeface="+mn-cs"/>
              </a:rPr>
              <a:t>Raft won for new implementations</a:t>
            </a:r>
            <a:r>
              <a:rPr lang="en-US" sz="1200" b="0" i="0" kern="1200" dirty="0">
                <a:solidFill>
                  <a:schemeClr val="tx1"/>
                </a:solidFill>
                <a:effectLst/>
                <a:latin typeface="+mn-lt"/>
                <a:ea typeface="+mn-ea"/>
                <a:cs typeface="+mn-cs"/>
              </a:rPr>
              <a:t>. Its understandability made consensus accessible. Most new distributed systems use Raft or Raft-inspired algorithms.</a:t>
            </a:r>
          </a:p>
          <a:p>
            <a:r>
              <a:rPr lang="en-US" sz="1200" b="0" i="0" kern="1200" dirty="0">
                <a:solidFill>
                  <a:schemeClr val="tx1"/>
                </a:solidFill>
                <a:effectLst/>
                <a:latin typeface="+mn-lt"/>
                <a:ea typeface="+mn-ea"/>
                <a:cs typeface="+mn-cs"/>
              </a:rPr>
              <a:t>But understanding Paxos is still valuable - it teaches fundamental concepts. Many Raft optimizations come from Paxos insights. They're different solutions to the same hard problem.</a:t>
            </a:r>
          </a:p>
          <a:p>
            <a:endParaRPr lang="en-IN" dirty="0"/>
          </a:p>
        </p:txBody>
      </p:sp>
      <p:sp>
        <p:nvSpPr>
          <p:cNvPr id="4" name="Slide Number Placeholder 3"/>
          <p:cNvSpPr>
            <a:spLocks noGrp="1"/>
          </p:cNvSpPr>
          <p:nvPr>
            <p:ph type="sldNum" sz="quarter" idx="5"/>
          </p:nvPr>
        </p:nvSpPr>
        <p:spPr/>
        <p:txBody>
          <a:bodyPr/>
          <a:lstStyle/>
          <a:p>
            <a:fld id="{72853293-4F00-4813-B74A-3945ABE0C2FC}" type="slidenum">
              <a:rPr lang="en-IN" smtClean="0"/>
              <a:t>12</a:t>
            </a:fld>
            <a:endParaRPr lang="en-IN"/>
          </a:p>
        </p:txBody>
      </p:sp>
    </p:spTree>
    <p:extLst>
      <p:ext uri="{BB962C8B-B14F-4D97-AF65-F5344CB8AC3E}">
        <p14:creationId xmlns:p14="http://schemas.microsoft.com/office/powerpoint/2010/main" val="268537731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A3716B-7404-18CE-65B6-2251DE3405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60BA45-F339-8465-E492-402E74385C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03B9DBE-D252-3F4E-53C0-EFD8F80E7354}"/>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Now let's look at a completely different coordination approach: </a:t>
            </a:r>
            <a:r>
              <a:rPr lang="en-US" sz="1200" b="1" i="0" kern="1200" dirty="0">
                <a:solidFill>
                  <a:schemeClr val="tx1"/>
                </a:solidFill>
                <a:effectLst/>
                <a:latin typeface="+mn-lt"/>
                <a:ea typeface="+mn-ea"/>
                <a:cs typeface="+mn-cs"/>
              </a:rPr>
              <a:t>Gossip Protocol</a:t>
            </a:r>
            <a:r>
              <a:rPr lang="en-US" sz="1200" b="0" i="0" kern="1200" dirty="0">
                <a:solidFill>
                  <a:schemeClr val="tx1"/>
                </a:solidFill>
                <a:effectLst/>
                <a:latin typeface="+mn-lt"/>
                <a:ea typeface="+mn-ea"/>
                <a:cs typeface="+mn-cs"/>
              </a:rPr>
              <a:t>, also called Epidemic Protocol.</a:t>
            </a:r>
          </a:p>
          <a:p>
            <a:r>
              <a:rPr lang="en-US" sz="1200" b="0" i="0" kern="1200" dirty="0">
                <a:solidFill>
                  <a:schemeClr val="tx1"/>
                </a:solidFill>
                <a:effectLst/>
                <a:latin typeface="+mn-lt"/>
                <a:ea typeface="+mn-ea"/>
                <a:cs typeface="+mn-cs"/>
              </a:rPr>
              <a:t>Gossip works like human rumor spreading: One node learns something new. It tells a few random peers. They tell their peers. Information spreads exponentially, like a disease epidemic.</a:t>
            </a:r>
          </a:p>
          <a:p>
            <a:r>
              <a:rPr lang="en-US" sz="1200" b="0" i="0" kern="1200" dirty="0">
                <a:solidFill>
                  <a:schemeClr val="tx1"/>
                </a:solidFill>
                <a:effectLst/>
                <a:latin typeface="+mn-lt"/>
                <a:ea typeface="+mn-ea"/>
                <a:cs typeface="+mn-cs"/>
              </a:rPr>
              <a:t>Formally, nodes periodically select random peers and exchange information. Key parameters: </a:t>
            </a:r>
            <a:r>
              <a:rPr lang="en-US" sz="1200" b="1" i="0" kern="1200" dirty="0">
                <a:solidFill>
                  <a:schemeClr val="tx1"/>
                </a:solidFill>
                <a:effectLst/>
                <a:latin typeface="+mn-lt"/>
                <a:ea typeface="+mn-ea"/>
                <a:cs typeface="+mn-cs"/>
              </a:rPr>
              <a:t>Fanout</a:t>
            </a:r>
            <a:r>
              <a:rPr lang="en-US" sz="1200" b="0" i="0" kern="1200" dirty="0">
                <a:solidFill>
                  <a:schemeClr val="tx1"/>
                </a:solidFill>
                <a:effectLst/>
                <a:latin typeface="+mn-lt"/>
                <a:ea typeface="+mn-ea"/>
                <a:cs typeface="+mn-cs"/>
              </a:rPr>
              <a:t> (how many peers to tell), </a:t>
            </a:r>
            <a:r>
              <a:rPr lang="en-US" sz="1200" b="1" i="0" kern="1200" dirty="0">
                <a:solidFill>
                  <a:schemeClr val="tx1"/>
                </a:solidFill>
                <a:effectLst/>
                <a:latin typeface="+mn-lt"/>
                <a:ea typeface="+mn-ea"/>
                <a:cs typeface="+mn-cs"/>
              </a:rPr>
              <a:t>interval</a:t>
            </a:r>
            <a:r>
              <a:rPr lang="en-US" sz="1200" b="0" i="0" kern="1200" dirty="0">
                <a:solidFill>
                  <a:schemeClr val="tx1"/>
                </a:solidFill>
                <a:effectLst/>
                <a:latin typeface="+mn-lt"/>
                <a:ea typeface="+mn-ea"/>
                <a:cs typeface="+mn-cs"/>
              </a:rPr>
              <a:t> (how often), and </a:t>
            </a:r>
            <a:r>
              <a:rPr lang="en-US" sz="1200" b="1" i="0" kern="1200" dirty="0">
                <a:solidFill>
                  <a:schemeClr val="tx1"/>
                </a:solidFill>
                <a:effectLst/>
                <a:latin typeface="+mn-lt"/>
                <a:ea typeface="+mn-ea"/>
                <a:cs typeface="+mn-cs"/>
              </a:rPr>
              <a:t>infection model</a:t>
            </a:r>
            <a:r>
              <a:rPr lang="en-US" sz="1200" b="0" i="0" kern="1200" dirty="0">
                <a:solidFill>
                  <a:schemeClr val="tx1"/>
                </a:solidFill>
                <a:effectLst/>
                <a:latin typeface="+mn-lt"/>
                <a:ea typeface="+mn-ea"/>
                <a:cs typeface="+mn-cs"/>
              </a:rPr>
              <a:t> (push, pull, or both).</a:t>
            </a:r>
          </a:p>
          <a:p>
            <a:r>
              <a:rPr lang="en-US" sz="1200" b="0" i="0" kern="1200" dirty="0">
                <a:solidFill>
                  <a:schemeClr val="tx1"/>
                </a:solidFill>
                <a:effectLst/>
                <a:latin typeface="+mn-lt"/>
                <a:ea typeface="+mn-ea"/>
                <a:cs typeface="+mn-cs"/>
              </a:rPr>
              <a:t>The properties are probabilistic but powerful: </a:t>
            </a:r>
            <a:r>
              <a:rPr lang="en-US" sz="1200" b="1" i="0" kern="1200" dirty="0">
                <a:solidFill>
                  <a:schemeClr val="tx1"/>
                </a:solidFill>
                <a:effectLst/>
                <a:latin typeface="+mn-lt"/>
                <a:ea typeface="+mn-ea"/>
                <a:cs typeface="+mn-cs"/>
              </a:rPr>
              <a:t>Eventually all nodes learn</a:t>
            </a:r>
            <a:r>
              <a:rPr lang="en-US" sz="1200" b="0" i="0" kern="1200" dirty="0">
                <a:solidFill>
                  <a:schemeClr val="tx1"/>
                </a:solidFill>
                <a:effectLst/>
                <a:latin typeface="+mn-lt"/>
                <a:ea typeface="+mn-ea"/>
                <a:cs typeface="+mn-cs"/>
              </a:rPr>
              <a:t> (with high probability). Spread is </a:t>
            </a:r>
            <a:r>
              <a:rPr lang="en-US" sz="1200" b="1" i="0" kern="1200" dirty="0">
                <a:solidFill>
                  <a:schemeClr val="tx1"/>
                </a:solidFill>
                <a:effectLst/>
                <a:latin typeface="+mn-lt"/>
                <a:ea typeface="+mn-ea"/>
                <a:cs typeface="+mn-cs"/>
              </a:rPr>
              <a:t>exponential</a:t>
            </a:r>
            <a:r>
              <a:rPr lang="en-US" sz="1200" b="0" i="0" kern="1200" dirty="0">
                <a:solidFill>
                  <a:schemeClr val="tx1"/>
                </a:solidFill>
                <a:effectLst/>
                <a:latin typeface="+mn-lt"/>
                <a:ea typeface="+mn-ea"/>
                <a:cs typeface="+mn-cs"/>
              </a:rPr>
              <a:t> - reaches all nodes in O(log N) rounds. </a:t>
            </a:r>
            <a:r>
              <a:rPr lang="en-US" sz="1200" b="1" i="0" kern="1200" dirty="0">
                <a:solidFill>
                  <a:schemeClr val="tx1"/>
                </a:solidFill>
                <a:effectLst/>
                <a:latin typeface="+mn-lt"/>
                <a:ea typeface="+mn-ea"/>
                <a:cs typeface="+mn-cs"/>
              </a:rPr>
              <a:t>Robust</a:t>
            </a:r>
            <a:r>
              <a:rPr lang="en-US" sz="1200" b="0" i="0" kern="1200" dirty="0">
                <a:solidFill>
                  <a:schemeClr val="tx1"/>
                </a:solidFill>
                <a:effectLst/>
                <a:latin typeface="+mn-lt"/>
                <a:ea typeface="+mn-ea"/>
                <a:cs typeface="+mn-cs"/>
              </a:rPr>
              <a:t> - no single point of failure. </a:t>
            </a:r>
            <a:r>
              <a:rPr lang="en-US" sz="1200" b="1" i="0" kern="1200" dirty="0">
                <a:solidFill>
                  <a:schemeClr val="tx1"/>
                </a:solidFill>
                <a:effectLst/>
                <a:latin typeface="+mn-lt"/>
                <a:ea typeface="+mn-ea"/>
                <a:cs typeface="+mn-cs"/>
              </a:rPr>
              <a:t>Scalable</a:t>
            </a:r>
            <a:r>
              <a:rPr lang="en-US" sz="1200" b="0" i="0" kern="1200" dirty="0">
                <a:solidFill>
                  <a:schemeClr val="tx1"/>
                </a:solidFill>
                <a:effectLst/>
                <a:latin typeface="+mn-lt"/>
                <a:ea typeface="+mn-ea"/>
                <a:cs typeface="+mn-cs"/>
              </a:rPr>
              <a:t> - each node talks to few others.</a:t>
            </a:r>
          </a:p>
          <a:p>
            <a:r>
              <a:rPr lang="en-US" sz="1200" b="0" i="0" kern="1200" dirty="0">
                <a:solidFill>
                  <a:schemeClr val="tx1"/>
                </a:solidFill>
                <a:effectLst/>
                <a:latin typeface="+mn-lt"/>
                <a:ea typeface="+mn-ea"/>
                <a:cs typeface="+mn-cs"/>
              </a:rPr>
              <a:t>Use cases: </a:t>
            </a:r>
            <a:r>
              <a:rPr lang="en-US" sz="1200" b="1" i="0" kern="1200" dirty="0">
                <a:solidFill>
                  <a:schemeClr val="tx1"/>
                </a:solidFill>
                <a:effectLst/>
                <a:latin typeface="+mn-lt"/>
                <a:ea typeface="+mn-ea"/>
                <a:cs typeface="+mn-cs"/>
              </a:rPr>
              <a:t>Membership dissemination</a:t>
            </a:r>
            <a:r>
              <a:rPr lang="en-US" sz="1200" b="0" i="0" kern="1200" dirty="0">
                <a:solidFill>
                  <a:schemeClr val="tx1"/>
                </a:solidFill>
                <a:effectLst/>
                <a:latin typeface="+mn-lt"/>
                <a:ea typeface="+mn-ea"/>
                <a:cs typeface="+mn-cs"/>
              </a:rPr>
              <a:t> (who's alive/dead) in Cassandra and Riak. </a:t>
            </a:r>
            <a:r>
              <a:rPr lang="en-US" sz="1200" b="1" i="0" kern="1200" dirty="0">
                <a:solidFill>
                  <a:schemeClr val="tx1"/>
                </a:solidFill>
                <a:effectLst/>
                <a:latin typeface="+mn-lt"/>
                <a:ea typeface="+mn-ea"/>
                <a:cs typeface="+mn-cs"/>
              </a:rPr>
              <a:t>State synchronization</a:t>
            </a:r>
            <a:r>
              <a:rPr lang="en-US" sz="1200" b="0" i="0" kern="1200" dirty="0">
                <a:solidFill>
                  <a:schemeClr val="tx1"/>
                </a:solidFill>
                <a:effectLst/>
                <a:latin typeface="+mn-lt"/>
                <a:ea typeface="+mn-ea"/>
                <a:cs typeface="+mn-cs"/>
              </a:rPr>
              <a:t> in eventually consistent systems. </a:t>
            </a:r>
            <a:r>
              <a:rPr lang="en-US" sz="1200" b="1" i="0" kern="1200" dirty="0">
                <a:solidFill>
                  <a:schemeClr val="tx1"/>
                </a:solidFill>
                <a:effectLst/>
                <a:latin typeface="+mn-lt"/>
                <a:ea typeface="+mn-ea"/>
                <a:cs typeface="+mn-cs"/>
              </a:rPr>
              <a:t>Aggregation</a:t>
            </a:r>
            <a:r>
              <a:rPr lang="en-US" sz="1200" b="0" i="0" kern="1200" dirty="0">
                <a:solidFill>
                  <a:schemeClr val="tx1"/>
                </a:solidFill>
                <a:effectLst/>
                <a:latin typeface="+mn-lt"/>
                <a:ea typeface="+mn-ea"/>
                <a:cs typeface="+mn-cs"/>
              </a:rPr>
              <a:t> of cluster metrics. </a:t>
            </a:r>
            <a:r>
              <a:rPr lang="en-US" sz="1200" b="1" i="0" kern="1200" dirty="0">
                <a:solidFill>
                  <a:schemeClr val="tx1"/>
                </a:solidFill>
                <a:effectLst/>
                <a:latin typeface="+mn-lt"/>
                <a:ea typeface="+mn-ea"/>
                <a:cs typeface="+mn-cs"/>
              </a:rPr>
              <a:t>Failure detection</a:t>
            </a:r>
            <a:r>
              <a:rPr lang="en-US" sz="1200" b="0" i="0" kern="1200" dirty="0">
                <a:solidFill>
                  <a:schemeClr val="tx1"/>
                </a:solidFill>
                <a:effectLst/>
                <a:latin typeface="+mn-lt"/>
                <a:ea typeface="+mn-ea"/>
                <a:cs typeface="+mn-cs"/>
              </a:rPr>
              <a:t> via distributed heartbeats.</a:t>
            </a:r>
          </a:p>
          <a:p>
            <a:r>
              <a:rPr lang="en-US" sz="1200" b="0" i="0" kern="1200" dirty="0">
                <a:solidFill>
                  <a:schemeClr val="tx1"/>
                </a:solidFill>
                <a:effectLst/>
                <a:latin typeface="+mn-lt"/>
                <a:ea typeface="+mn-ea"/>
                <a:cs typeface="+mn-cs"/>
              </a:rPr>
              <a:t>Advantages: </a:t>
            </a:r>
            <a:r>
              <a:rPr lang="en-US" sz="1200" b="1" i="0" kern="1200" dirty="0">
                <a:solidFill>
                  <a:schemeClr val="tx1"/>
                </a:solidFill>
                <a:effectLst/>
                <a:latin typeface="+mn-lt"/>
                <a:ea typeface="+mn-ea"/>
                <a:cs typeface="+mn-cs"/>
              </a:rPr>
              <a:t>Highly scalable</a:t>
            </a:r>
            <a:r>
              <a:rPr lang="en-US" sz="1200" b="0" i="0" kern="1200" dirty="0">
                <a:solidFill>
                  <a:schemeClr val="tx1"/>
                </a:solidFill>
                <a:effectLst/>
                <a:latin typeface="+mn-lt"/>
                <a:ea typeface="+mn-ea"/>
                <a:cs typeface="+mn-cs"/>
              </a:rPr>
              <a:t> - each node contacts few others. </a:t>
            </a:r>
            <a:r>
              <a:rPr lang="en-US" sz="1200" b="1" i="0" kern="1200" dirty="0">
                <a:solidFill>
                  <a:schemeClr val="tx1"/>
                </a:solidFill>
                <a:effectLst/>
                <a:latin typeface="+mn-lt"/>
                <a:ea typeface="+mn-ea"/>
                <a:cs typeface="+mn-cs"/>
              </a:rPr>
              <a:t>Fault-tolerant</a:t>
            </a:r>
            <a:r>
              <a:rPr lang="en-US" sz="1200" b="0" i="0" kern="1200" dirty="0">
                <a:solidFill>
                  <a:schemeClr val="tx1"/>
                </a:solidFill>
                <a:effectLst/>
                <a:latin typeface="+mn-lt"/>
                <a:ea typeface="+mn-ea"/>
                <a:cs typeface="+mn-cs"/>
              </a:rPr>
              <a:t> - works despite node failures. </a:t>
            </a:r>
            <a:r>
              <a:rPr lang="en-US" sz="1200" b="1" i="0" kern="1200" dirty="0">
                <a:solidFill>
                  <a:schemeClr val="tx1"/>
                </a:solidFill>
                <a:effectLst/>
                <a:latin typeface="+mn-lt"/>
                <a:ea typeface="+mn-ea"/>
                <a:cs typeface="+mn-cs"/>
              </a:rPr>
              <a:t>Self-healing</a:t>
            </a:r>
            <a:r>
              <a:rPr lang="en-US" sz="1200" b="0" i="0" kern="1200" dirty="0">
                <a:solidFill>
                  <a:schemeClr val="tx1"/>
                </a:solidFill>
                <a:effectLst/>
                <a:latin typeface="+mn-lt"/>
                <a:ea typeface="+mn-ea"/>
                <a:cs typeface="+mn-cs"/>
              </a:rPr>
              <a:t> - information finds paths. </a:t>
            </a:r>
            <a:r>
              <a:rPr lang="en-US" sz="1200" b="1" i="0" kern="1200" dirty="0">
                <a:solidFill>
                  <a:schemeClr val="tx1"/>
                </a:solidFill>
                <a:effectLst/>
                <a:latin typeface="+mn-lt"/>
                <a:ea typeface="+mn-ea"/>
                <a:cs typeface="+mn-cs"/>
              </a:rPr>
              <a:t>Load distribution</a:t>
            </a:r>
            <a:r>
              <a:rPr lang="en-US" sz="1200" b="0" i="0" kern="1200" dirty="0">
                <a:solidFill>
                  <a:schemeClr val="tx1"/>
                </a:solidFill>
                <a:effectLst/>
                <a:latin typeface="+mn-lt"/>
                <a:ea typeface="+mn-ea"/>
                <a:cs typeface="+mn-cs"/>
              </a:rPr>
              <a:t> - no hot spots.</a:t>
            </a:r>
          </a:p>
          <a:p>
            <a:endParaRPr lang="en-IN" dirty="0"/>
          </a:p>
          <a:p>
            <a:r>
              <a:rPr lang="en-US" sz="1200" b="0" i="0" kern="1200" dirty="0">
                <a:solidFill>
                  <a:schemeClr val="tx1"/>
                </a:solidFill>
                <a:effectLst/>
                <a:latin typeface="+mn-lt"/>
                <a:ea typeface="+mn-ea"/>
                <a:cs typeface="+mn-cs"/>
              </a:rPr>
              <a:t>Disadvantages: </a:t>
            </a:r>
            <a:r>
              <a:rPr lang="en-US" sz="1200" b="1" i="0" kern="1200" dirty="0">
                <a:solidFill>
                  <a:schemeClr val="tx1"/>
                </a:solidFill>
                <a:effectLst/>
                <a:latin typeface="+mn-lt"/>
                <a:ea typeface="+mn-ea"/>
                <a:cs typeface="+mn-cs"/>
              </a:rPr>
              <a:t>Eventual</a:t>
            </a:r>
            <a:r>
              <a:rPr lang="en-US" sz="1200" b="0" i="0" kern="1200" dirty="0">
                <a:solidFill>
                  <a:schemeClr val="tx1"/>
                </a:solidFill>
                <a:effectLst/>
                <a:latin typeface="+mn-lt"/>
                <a:ea typeface="+mn-ea"/>
                <a:cs typeface="+mn-cs"/>
              </a:rPr>
              <a:t> - not immediate. </a:t>
            </a:r>
            <a:r>
              <a:rPr lang="en-US" sz="1200" b="1" i="0" kern="1200" dirty="0">
                <a:solidFill>
                  <a:schemeClr val="tx1"/>
                </a:solidFill>
                <a:effectLst/>
                <a:latin typeface="+mn-lt"/>
                <a:ea typeface="+mn-ea"/>
                <a:cs typeface="+mn-cs"/>
              </a:rPr>
              <a:t>Message overhead</a:t>
            </a:r>
            <a:r>
              <a:rPr lang="en-US" sz="1200" b="0" i="0" kern="1200" dirty="0">
                <a:solidFill>
                  <a:schemeClr val="tx1"/>
                </a:solidFill>
                <a:effectLst/>
                <a:latin typeface="+mn-lt"/>
                <a:ea typeface="+mn-ea"/>
                <a:cs typeface="+mn-cs"/>
              </a:rPr>
              <a:t> - redundant messages. </a:t>
            </a:r>
            <a:r>
              <a:rPr lang="en-US" sz="1200" b="1" i="0" kern="1200" dirty="0">
                <a:solidFill>
                  <a:schemeClr val="tx1"/>
                </a:solidFill>
                <a:effectLst/>
                <a:latin typeface="+mn-lt"/>
                <a:ea typeface="+mn-ea"/>
                <a:cs typeface="+mn-cs"/>
              </a:rPr>
              <a:t>Convergence time</a:t>
            </a:r>
            <a:r>
              <a:rPr lang="en-US" sz="1200" b="0" i="0" kern="1200" dirty="0">
                <a:solidFill>
                  <a:schemeClr val="tx1"/>
                </a:solidFill>
                <a:effectLst/>
                <a:latin typeface="+mn-lt"/>
                <a:ea typeface="+mn-ea"/>
                <a:cs typeface="+mn-cs"/>
              </a:rPr>
              <a:t> not guaranteed.</a:t>
            </a:r>
          </a:p>
          <a:p>
            <a:r>
              <a:rPr lang="en-US" sz="1200" b="0" i="0" kern="1200" dirty="0">
                <a:solidFill>
                  <a:schemeClr val="tx1"/>
                </a:solidFill>
                <a:effectLst/>
                <a:latin typeface="+mn-lt"/>
                <a:ea typeface="+mn-ea"/>
                <a:cs typeface="+mn-cs"/>
              </a:rPr>
              <a:t>Gossip exemplifies a different design philosophy: </a:t>
            </a:r>
            <a:r>
              <a:rPr lang="en-US" sz="1200" b="1" i="0" kern="1200" dirty="0">
                <a:solidFill>
                  <a:schemeClr val="tx1"/>
                </a:solidFill>
                <a:effectLst/>
                <a:latin typeface="+mn-lt"/>
                <a:ea typeface="+mn-ea"/>
                <a:cs typeface="+mn-cs"/>
              </a:rPr>
              <a:t>embrace probability and eventual consistency</a:t>
            </a:r>
            <a:r>
              <a:rPr lang="en-US" sz="1200" b="0" i="0" kern="1200" dirty="0">
                <a:solidFill>
                  <a:schemeClr val="tx1"/>
                </a:solidFill>
                <a:effectLst/>
                <a:latin typeface="+mn-lt"/>
                <a:ea typeface="+mn-ea"/>
                <a:cs typeface="+mn-cs"/>
              </a:rPr>
              <a:t> for scalability and robustness. It's perfect for large clusters where perfect consistency is too expensive.</a:t>
            </a:r>
          </a:p>
          <a:p>
            <a:endParaRPr lang="en-IN" dirty="0"/>
          </a:p>
        </p:txBody>
      </p:sp>
      <p:sp>
        <p:nvSpPr>
          <p:cNvPr id="4" name="Slide Number Placeholder 3">
            <a:extLst>
              <a:ext uri="{FF2B5EF4-FFF2-40B4-BE49-F238E27FC236}">
                <a16:creationId xmlns:a16="http://schemas.microsoft.com/office/drawing/2014/main" id="{E2BF2F2C-0082-0BB9-E111-DD55668C3820}"/>
              </a:ext>
            </a:extLst>
          </p:cNvPr>
          <p:cNvSpPr>
            <a:spLocks noGrp="1"/>
          </p:cNvSpPr>
          <p:nvPr>
            <p:ph type="sldNum" sz="quarter" idx="5"/>
          </p:nvPr>
        </p:nvSpPr>
        <p:spPr/>
        <p:txBody>
          <a:bodyPr/>
          <a:lstStyle/>
          <a:p>
            <a:fld id="{72853293-4F00-4813-B74A-3945ABE0C2FC}" type="slidenum">
              <a:rPr lang="en-IN" smtClean="0"/>
              <a:t>13</a:t>
            </a:fld>
            <a:endParaRPr lang="en-IN"/>
          </a:p>
        </p:txBody>
      </p:sp>
    </p:spTree>
    <p:extLst>
      <p:ext uri="{BB962C8B-B14F-4D97-AF65-F5344CB8AC3E}">
        <p14:creationId xmlns:p14="http://schemas.microsoft.com/office/powerpoint/2010/main" val="38996006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1A020C-FCD5-E920-FF09-D10DEC2129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40AA64-270E-CE1E-C7C7-F72354AC3E5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FCDFFF7-E063-E3DC-A5D7-5A401335138E}"/>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Now let's look at a crucial implementation technique: </a:t>
            </a:r>
            <a:r>
              <a:rPr lang="en-US" sz="1200" b="1" i="0" kern="1200" dirty="0">
                <a:solidFill>
                  <a:schemeClr val="tx1"/>
                </a:solidFill>
                <a:effectLst/>
                <a:latin typeface="+mn-lt"/>
                <a:ea typeface="+mn-ea"/>
                <a:cs typeface="+mn-cs"/>
              </a:rPr>
              <a:t>Write-Ahead Logging (WAL)</a:t>
            </a:r>
            <a:r>
              <a:rPr lang="en-US" sz="1200" b="0" i="0" kern="1200" dirty="0">
                <a:solidFill>
                  <a:schemeClr val="tx1"/>
                </a:solidFill>
                <a:effectLst/>
                <a:latin typeface="+mn-lt"/>
                <a:ea typeface="+mn-ea"/>
                <a:cs typeface="+mn-cs"/>
              </a:rPr>
              <a:t>, the foundation of durability in most database systems.</a:t>
            </a:r>
          </a:p>
          <a:p>
            <a:r>
              <a:rPr lang="en-US" sz="1200" b="0" i="0" kern="1200" dirty="0">
                <a:solidFill>
                  <a:schemeClr val="tx1"/>
                </a:solidFill>
                <a:effectLst/>
                <a:latin typeface="+mn-lt"/>
                <a:ea typeface="+mn-ea"/>
                <a:cs typeface="+mn-cs"/>
              </a:rPr>
              <a:t>WAL's core idea is simple but powerful: </a:t>
            </a:r>
            <a:r>
              <a:rPr lang="en-US" sz="1200" b="1" i="0" kern="1200" dirty="0">
                <a:solidFill>
                  <a:schemeClr val="tx1"/>
                </a:solidFill>
                <a:effectLst/>
                <a:latin typeface="+mn-lt"/>
                <a:ea typeface="+mn-ea"/>
                <a:cs typeface="+mn-cs"/>
              </a:rPr>
              <a:t>Write to a log first, then update the actual data</a:t>
            </a:r>
            <a:r>
              <a:rPr lang="en-US" sz="1200" b="0" i="0" kern="1200" dirty="0">
                <a:solidFill>
                  <a:schemeClr val="tx1"/>
                </a:solidFill>
                <a:effectLst/>
                <a:latin typeface="+mn-lt"/>
                <a:ea typeface="+mn-ea"/>
                <a:cs typeface="+mn-cs"/>
              </a:rPr>
              <a:t>. The log is append-only, sequential writes - much faster than random updates. If we crash, we replay the log to restore state.</a:t>
            </a:r>
          </a:p>
          <a:p>
            <a:r>
              <a:rPr lang="en-US" sz="1200" b="0" i="0" kern="1200" dirty="0">
                <a:solidFill>
                  <a:schemeClr val="tx1"/>
                </a:solidFill>
                <a:effectLst/>
                <a:latin typeface="+mn-lt"/>
                <a:ea typeface="+mn-ea"/>
                <a:cs typeface="+mn-cs"/>
              </a:rPr>
              <a:t>Here's how it works: A client request comes in. First, we append the operation to the WAL on durable storage. Then we update memory structures. Only then do we acknowledge to the client. If we crash after acknowledging but before updating data? No problem - the log has the operation; we'll replay it on recovery.</a:t>
            </a:r>
          </a:p>
          <a:p>
            <a:r>
              <a:rPr lang="en-US" sz="1200" b="0" i="0" kern="1200" dirty="0">
                <a:solidFill>
                  <a:schemeClr val="tx1"/>
                </a:solidFill>
                <a:effectLst/>
                <a:latin typeface="+mn-lt"/>
                <a:ea typeface="+mn-ea"/>
                <a:cs typeface="+mn-cs"/>
              </a:rPr>
              <a:t>Key components: </a:t>
            </a:r>
            <a:r>
              <a:rPr lang="en-US" sz="1200" b="1" i="0" kern="1200" dirty="0">
                <a:solidFill>
                  <a:schemeClr val="tx1"/>
                </a:solidFill>
                <a:effectLst/>
                <a:latin typeface="+mn-lt"/>
                <a:ea typeface="+mn-ea"/>
                <a:cs typeface="+mn-cs"/>
              </a:rPr>
              <a:t>Log Records</a:t>
            </a:r>
            <a:r>
              <a:rPr lang="en-US" sz="1200" b="0" i="0" kern="1200" dirty="0">
                <a:solidFill>
                  <a:schemeClr val="tx1"/>
                </a:solidFill>
                <a:effectLst/>
                <a:latin typeface="+mn-lt"/>
                <a:ea typeface="+mn-ea"/>
                <a:cs typeface="+mn-cs"/>
              </a:rPr>
              <a:t> with LSNs (Log Sequence Numbers), transaction IDs, before/after images. </a:t>
            </a:r>
            <a:r>
              <a:rPr lang="en-US" sz="1200" b="1" i="0" kern="1200" dirty="0">
                <a:solidFill>
                  <a:schemeClr val="tx1"/>
                </a:solidFill>
                <a:effectLst/>
                <a:latin typeface="+mn-lt"/>
                <a:ea typeface="+mn-ea"/>
                <a:cs typeface="+mn-cs"/>
              </a:rPr>
              <a:t>Checkpoints</a:t>
            </a:r>
            <a:r>
              <a:rPr lang="en-US" sz="1200" b="0" i="0" kern="1200" dirty="0">
                <a:solidFill>
                  <a:schemeClr val="tx1"/>
                </a:solidFill>
                <a:effectLst/>
                <a:latin typeface="+mn-lt"/>
                <a:ea typeface="+mn-ea"/>
                <a:cs typeface="+mn-cs"/>
              </a:rPr>
              <a:t> - periodic snapshots to reduce recovery time. </a:t>
            </a:r>
            <a:r>
              <a:rPr lang="en-US" sz="1200" b="1" i="0" kern="1200" dirty="0">
                <a:solidFill>
                  <a:schemeClr val="tx1"/>
                </a:solidFill>
                <a:effectLst/>
                <a:latin typeface="+mn-lt"/>
                <a:ea typeface="+mn-ea"/>
                <a:cs typeface="+mn-cs"/>
              </a:rPr>
              <a:t>Log Buffers</a:t>
            </a:r>
            <a:r>
              <a:rPr lang="en-US" sz="1200" b="0" i="0" kern="1200" dirty="0">
                <a:solidFill>
                  <a:schemeClr val="tx1"/>
                </a:solidFill>
                <a:effectLst/>
                <a:latin typeface="+mn-lt"/>
                <a:ea typeface="+mn-ea"/>
                <a:cs typeface="+mn-cs"/>
              </a:rPr>
              <a:t> for performance (but risk data loss if not flushed).</a:t>
            </a:r>
          </a:p>
          <a:p>
            <a:endParaRPr lang="en-IN" dirty="0"/>
          </a:p>
          <a:p>
            <a:r>
              <a:rPr lang="en-US" sz="1200" b="1" i="0" kern="1200" dirty="0">
                <a:solidFill>
                  <a:schemeClr val="tx1"/>
                </a:solidFill>
                <a:effectLst/>
                <a:latin typeface="+mn-lt"/>
                <a:ea typeface="+mn-ea"/>
                <a:cs typeface="+mn-cs"/>
              </a:rPr>
              <a:t>Watermarks</a:t>
            </a:r>
            <a:r>
              <a:rPr lang="en-US" sz="1200" b="0" i="0" kern="1200" dirty="0">
                <a:solidFill>
                  <a:schemeClr val="tx1"/>
                </a:solidFill>
                <a:effectLst/>
                <a:latin typeface="+mn-lt"/>
                <a:ea typeface="+mn-ea"/>
                <a:cs typeface="+mn-cs"/>
              </a:rPr>
              <a:t> are crucial: </a:t>
            </a:r>
            <a:r>
              <a:rPr lang="en-US" sz="1200" b="1" i="0" kern="1200" dirty="0">
                <a:solidFill>
                  <a:schemeClr val="tx1"/>
                </a:solidFill>
                <a:effectLst/>
                <a:latin typeface="+mn-lt"/>
                <a:ea typeface="+mn-ea"/>
                <a:cs typeface="+mn-cs"/>
              </a:rPr>
              <a:t>Low Water Mark (LWM)</a:t>
            </a:r>
            <a:r>
              <a:rPr lang="en-US" sz="1200" b="0" i="0" kern="1200" dirty="0">
                <a:solidFill>
                  <a:schemeClr val="tx1"/>
                </a:solidFill>
                <a:effectLst/>
                <a:latin typeface="+mn-lt"/>
                <a:ea typeface="+mn-ea"/>
                <a:cs typeface="+mn-cs"/>
              </a:rPr>
              <a:t> is the oldest log entry still needed. Entries before can be deleted. </a:t>
            </a:r>
            <a:r>
              <a:rPr lang="en-US" sz="1200" b="1" i="0" kern="1200" dirty="0">
                <a:solidFill>
                  <a:schemeClr val="tx1"/>
                </a:solidFill>
                <a:effectLst/>
                <a:latin typeface="+mn-lt"/>
                <a:ea typeface="+mn-ea"/>
                <a:cs typeface="+mn-cs"/>
              </a:rPr>
              <a:t>High Water Mark (HWM)</a:t>
            </a:r>
            <a:r>
              <a:rPr lang="en-US" sz="1200" b="0" i="0" kern="1200" dirty="0">
                <a:solidFill>
                  <a:schemeClr val="tx1"/>
                </a:solidFill>
                <a:effectLst/>
                <a:latin typeface="+mn-lt"/>
                <a:ea typeface="+mn-ea"/>
                <a:cs typeface="+mn-cs"/>
              </a:rPr>
              <a:t> is the last written entry. In distributed systems like Kafka, these control what messages consumers can read.</a:t>
            </a:r>
          </a:p>
          <a:p>
            <a:r>
              <a:rPr lang="en-US" sz="1200" b="0" i="0" kern="1200" dirty="0">
                <a:solidFill>
                  <a:schemeClr val="tx1"/>
                </a:solidFill>
                <a:effectLst/>
                <a:latin typeface="+mn-lt"/>
                <a:ea typeface="+mn-ea"/>
                <a:cs typeface="+mn-cs"/>
              </a:rPr>
              <a:t>WAL powers: Databases (PostgreSQL, SQLite), distributed systems (Kafka, </a:t>
            </a:r>
            <a:r>
              <a:rPr lang="en-US" sz="1200" b="0" i="0" kern="1200" dirty="0" err="1">
                <a:solidFill>
                  <a:schemeClr val="tx1"/>
                </a:solidFill>
                <a:effectLst/>
                <a:latin typeface="+mn-lt"/>
                <a:ea typeface="+mn-ea"/>
                <a:cs typeface="+mn-cs"/>
              </a:rPr>
              <a:t>ZooKeeper</a:t>
            </a:r>
            <a:r>
              <a:rPr lang="en-US" sz="1200" b="0" i="0" kern="1200" dirty="0">
                <a:solidFill>
                  <a:schemeClr val="tx1"/>
                </a:solidFill>
                <a:effectLst/>
                <a:latin typeface="+mn-lt"/>
                <a:ea typeface="+mn-ea"/>
                <a:cs typeface="+mn-cs"/>
              </a:rPr>
              <a:t>), even file systems (ext4 journaling).</a:t>
            </a:r>
          </a:p>
          <a:p>
            <a:r>
              <a:rPr lang="en-US" sz="1200" b="0" i="0" kern="1200" dirty="0">
                <a:solidFill>
                  <a:schemeClr val="tx1"/>
                </a:solidFill>
                <a:effectLst/>
                <a:latin typeface="+mn-lt"/>
                <a:ea typeface="+mn-ea"/>
                <a:cs typeface="+mn-cs"/>
              </a:rPr>
              <a:t>Advantages: </a:t>
            </a:r>
            <a:r>
              <a:rPr lang="en-US" sz="1200" b="1" i="0" kern="1200" dirty="0">
                <a:solidFill>
                  <a:schemeClr val="tx1"/>
                </a:solidFill>
                <a:effectLst/>
                <a:latin typeface="+mn-lt"/>
                <a:ea typeface="+mn-ea"/>
                <a:cs typeface="+mn-cs"/>
              </a:rPr>
              <a:t>Durability</a:t>
            </a:r>
            <a:r>
              <a:rPr lang="en-US" sz="1200" b="0" i="0" kern="1200" dirty="0">
                <a:solidFill>
                  <a:schemeClr val="tx1"/>
                </a:solidFill>
                <a:effectLst/>
                <a:latin typeface="+mn-lt"/>
                <a:ea typeface="+mn-ea"/>
                <a:cs typeface="+mn-cs"/>
              </a:rPr>
              <a:t> (survives crashes). </a:t>
            </a:r>
            <a:r>
              <a:rPr lang="en-US" sz="1200" b="1" i="0" kern="1200" dirty="0">
                <a:solidFill>
                  <a:schemeClr val="tx1"/>
                </a:solidFill>
                <a:effectLst/>
                <a:latin typeface="+mn-lt"/>
                <a:ea typeface="+mn-ea"/>
                <a:cs typeface="+mn-cs"/>
              </a:rPr>
              <a:t>Performance</a:t>
            </a:r>
            <a:r>
              <a:rPr lang="en-US" sz="1200" b="0" i="0" kern="1200" dirty="0">
                <a:solidFill>
                  <a:schemeClr val="tx1"/>
                </a:solidFill>
                <a:effectLst/>
                <a:latin typeface="+mn-lt"/>
                <a:ea typeface="+mn-ea"/>
                <a:cs typeface="+mn-cs"/>
              </a:rPr>
              <a:t> (sequential writes). </a:t>
            </a:r>
            <a:r>
              <a:rPr lang="en-US" sz="1200" b="1" i="0" kern="1200" dirty="0">
                <a:solidFill>
                  <a:schemeClr val="tx1"/>
                </a:solidFill>
                <a:effectLst/>
                <a:latin typeface="+mn-lt"/>
                <a:ea typeface="+mn-ea"/>
                <a:cs typeface="+mn-cs"/>
              </a:rPr>
              <a:t>Atomicity</a:t>
            </a:r>
            <a:r>
              <a:rPr lang="en-US" sz="1200" b="0" i="0" kern="1200" dirty="0">
                <a:solidFill>
                  <a:schemeClr val="tx1"/>
                </a:solidFill>
                <a:effectLst/>
                <a:latin typeface="+mn-lt"/>
                <a:ea typeface="+mn-ea"/>
                <a:cs typeface="+mn-cs"/>
              </a:rPr>
              <a:t> (transactions complete or not at all). </a:t>
            </a:r>
            <a:r>
              <a:rPr lang="en-US" sz="1200" b="1" i="0" kern="1200" dirty="0">
                <a:solidFill>
                  <a:schemeClr val="tx1"/>
                </a:solidFill>
                <a:effectLst/>
                <a:latin typeface="+mn-lt"/>
                <a:ea typeface="+mn-ea"/>
                <a:cs typeface="+mn-cs"/>
              </a:rPr>
              <a:t>Recovery</a:t>
            </a:r>
            <a:r>
              <a:rPr lang="en-US" sz="1200" b="0" i="0" kern="1200" dirty="0">
                <a:solidFill>
                  <a:schemeClr val="tx1"/>
                </a:solidFill>
                <a:effectLst/>
                <a:latin typeface="+mn-lt"/>
                <a:ea typeface="+mn-ea"/>
                <a:cs typeface="+mn-cs"/>
              </a:rPr>
              <a:t> (point-in-time).</a:t>
            </a:r>
          </a:p>
          <a:p>
            <a:r>
              <a:rPr lang="en-US" sz="1200" b="0" i="0" kern="1200" dirty="0">
                <a:solidFill>
                  <a:schemeClr val="tx1"/>
                </a:solidFill>
                <a:effectLst/>
                <a:latin typeface="+mn-lt"/>
                <a:ea typeface="+mn-ea"/>
                <a:cs typeface="+mn-cs"/>
              </a:rPr>
              <a:t>Disadvantages: </a:t>
            </a:r>
            <a:r>
              <a:rPr lang="en-US" sz="1200" b="1" i="0" kern="1200" dirty="0">
                <a:solidFill>
                  <a:schemeClr val="tx1"/>
                </a:solidFill>
                <a:effectLst/>
                <a:latin typeface="+mn-lt"/>
                <a:ea typeface="+mn-ea"/>
                <a:cs typeface="+mn-cs"/>
              </a:rPr>
              <a:t>Write amplification</a:t>
            </a:r>
            <a:r>
              <a:rPr lang="en-US" sz="1200" b="0" i="0" kern="1200" dirty="0">
                <a:solidFill>
                  <a:schemeClr val="tx1"/>
                </a:solidFill>
                <a:effectLst/>
                <a:latin typeface="+mn-lt"/>
                <a:ea typeface="+mn-ea"/>
                <a:cs typeface="+mn-cs"/>
              </a:rPr>
              <a:t> (writing twice). </a:t>
            </a:r>
            <a:r>
              <a:rPr lang="en-US" sz="1200" b="1" i="0" kern="1200" dirty="0">
                <a:solidFill>
                  <a:schemeClr val="tx1"/>
                </a:solidFill>
                <a:effectLst/>
                <a:latin typeface="+mn-lt"/>
                <a:ea typeface="+mn-ea"/>
                <a:cs typeface="+mn-cs"/>
              </a:rPr>
              <a:t>Disk space</a:t>
            </a:r>
            <a:r>
              <a:rPr lang="en-US" sz="1200" b="0" i="0" kern="1200" dirty="0">
                <a:solidFill>
                  <a:schemeClr val="tx1"/>
                </a:solidFill>
                <a:effectLst/>
                <a:latin typeface="+mn-lt"/>
                <a:ea typeface="+mn-ea"/>
                <a:cs typeface="+mn-cs"/>
              </a:rPr>
              <a:t> (logs grow). </a:t>
            </a:r>
            <a:r>
              <a:rPr lang="en-US" sz="1200" b="1" i="0" kern="1200" dirty="0">
                <a:solidFill>
                  <a:schemeClr val="tx1"/>
                </a:solidFill>
                <a:effectLst/>
                <a:latin typeface="+mn-lt"/>
                <a:ea typeface="+mn-ea"/>
                <a:cs typeface="+mn-cs"/>
              </a:rPr>
              <a:t>Complexity</a:t>
            </a:r>
            <a:r>
              <a:rPr lang="en-US" sz="1200" b="0" i="0" kern="1200" dirty="0">
                <a:solidFill>
                  <a:schemeClr val="tx1"/>
                </a:solidFill>
                <a:effectLst/>
                <a:latin typeface="+mn-lt"/>
                <a:ea typeface="+mn-ea"/>
                <a:cs typeface="+mn-cs"/>
              </a:rPr>
              <a:t> (recovery logic).</a:t>
            </a:r>
          </a:p>
          <a:p>
            <a:endParaRPr lang="en-IN" dirty="0"/>
          </a:p>
          <a:p>
            <a:r>
              <a:rPr lang="en-US" sz="1200" b="0" i="0" kern="1200" dirty="0">
                <a:solidFill>
                  <a:schemeClr val="tx1"/>
                </a:solidFill>
                <a:effectLst/>
                <a:latin typeface="+mn-lt"/>
                <a:ea typeface="+mn-ea"/>
                <a:cs typeface="+mn-cs"/>
              </a:rPr>
              <a:t>WAL shows how a simple idea - 'log first' - enables powerful guarantees</a:t>
            </a:r>
          </a:p>
          <a:p>
            <a:endParaRPr lang="en-IN" dirty="0"/>
          </a:p>
        </p:txBody>
      </p:sp>
      <p:sp>
        <p:nvSpPr>
          <p:cNvPr id="4" name="Slide Number Placeholder 3">
            <a:extLst>
              <a:ext uri="{FF2B5EF4-FFF2-40B4-BE49-F238E27FC236}">
                <a16:creationId xmlns:a16="http://schemas.microsoft.com/office/drawing/2014/main" id="{01B4176E-4684-373F-5BF7-764A36E03ABC}"/>
              </a:ext>
            </a:extLst>
          </p:cNvPr>
          <p:cNvSpPr>
            <a:spLocks noGrp="1"/>
          </p:cNvSpPr>
          <p:nvPr>
            <p:ph type="sldNum" sz="quarter" idx="5"/>
          </p:nvPr>
        </p:nvSpPr>
        <p:spPr/>
        <p:txBody>
          <a:bodyPr/>
          <a:lstStyle/>
          <a:p>
            <a:fld id="{72853293-4F00-4813-B74A-3945ABE0C2FC}" type="slidenum">
              <a:rPr lang="en-IN" smtClean="0"/>
              <a:t>14</a:t>
            </a:fld>
            <a:endParaRPr lang="en-IN"/>
          </a:p>
        </p:txBody>
      </p:sp>
    </p:spTree>
    <p:extLst>
      <p:ext uri="{BB962C8B-B14F-4D97-AF65-F5344CB8AC3E}">
        <p14:creationId xmlns:p14="http://schemas.microsoft.com/office/powerpoint/2010/main" val="345625445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0B2ABB-D901-F00C-F050-71D781B5FE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91A296-06B9-D0A9-6F48-2D8C48061A1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C521336-87C0-372B-1A74-78AFD86DDEB7}"/>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Now let's look at a brilliant data structure for distributed systems: </a:t>
            </a:r>
            <a:r>
              <a:rPr lang="en-US" sz="1200" b="1" i="0" kern="1200" dirty="0">
                <a:solidFill>
                  <a:schemeClr val="tx1"/>
                </a:solidFill>
                <a:effectLst/>
                <a:latin typeface="+mn-lt"/>
                <a:ea typeface="+mn-ea"/>
                <a:cs typeface="+mn-cs"/>
              </a:rPr>
              <a:t>Consistent Hashing</a:t>
            </a:r>
            <a:r>
              <a:rPr lang="en-US" sz="1200" b="0" i="0" kern="1200" dirty="0">
                <a:solidFill>
                  <a:schemeClr val="tx1"/>
                </a:solidFill>
                <a:effectLst/>
                <a:latin typeface="+mn-lt"/>
                <a:ea typeface="+mn-ea"/>
                <a:cs typeface="+mn-cs"/>
              </a:rPr>
              <a:t>.</a:t>
            </a:r>
          </a:p>
          <a:p>
            <a:r>
              <a:rPr lang="en-US" sz="1200" b="0" i="0" kern="1200" dirty="0">
                <a:solidFill>
                  <a:schemeClr val="tx1"/>
                </a:solidFill>
                <a:effectLst/>
                <a:latin typeface="+mn-lt"/>
                <a:ea typeface="+mn-ea"/>
                <a:cs typeface="+mn-cs"/>
              </a:rPr>
              <a:t>The problem: Traditional hashing uses hash(key) % N where N is server count. Add or remove a server, and </a:t>
            </a:r>
            <a:r>
              <a:rPr lang="en-US" sz="1200" b="1" i="0" kern="1200" dirty="0">
                <a:solidFill>
                  <a:schemeClr val="tx1"/>
                </a:solidFill>
                <a:effectLst/>
                <a:latin typeface="+mn-lt"/>
                <a:ea typeface="+mn-ea"/>
                <a:cs typeface="+mn-cs"/>
              </a:rPr>
              <a:t>almost all keys move</a:t>
            </a:r>
            <a:r>
              <a:rPr lang="en-US" sz="1200" b="0" i="0" kern="1200" dirty="0">
                <a:solidFill>
                  <a:schemeClr val="tx1"/>
                </a:solidFill>
                <a:effectLst/>
                <a:latin typeface="+mn-lt"/>
                <a:ea typeface="+mn-ea"/>
                <a:cs typeface="+mn-cs"/>
              </a:rPr>
              <a:t> to different servers. For caches, this causes </a:t>
            </a:r>
            <a:r>
              <a:rPr lang="en-US" sz="1200" b="1" i="0" kern="1200" dirty="0">
                <a:solidFill>
                  <a:schemeClr val="tx1"/>
                </a:solidFill>
                <a:effectLst/>
                <a:latin typeface="+mn-lt"/>
                <a:ea typeface="+mn-ea"/>
                <a:cs typeface="+mn-cs"/>
              </a:rPr>
              <a:t>cache avalanches</a:t>
            </a:r>
            <a:r>
              <a:rPr lang="en-US" sz="1200" b="0" i="0" kern="1200" dirty="0">
                <a:solidFill>
                  <a:schemeClr val="tx1"/>
                </a:solidFill>
                <a:effectLst/>
                <a:latin typeface="+mn-lt"/>
                <a:ea typeface="+mn-ea"/>
                <a:cs typeface="+mn-cs"/>
              </a:rPr>
              <a:t> - all misses at once.</a:t>
            </a:r>
          </a:p>
          <a:p>
            <a:r>
              <a:rPr lang="en-US" sz="1200" b="0" i="0" kern="1200" dirty="0">
                <a:solidFill>
                  <a:schemeClr val="tx1"/>
                </a:solidFill>
                <a:effectLst/>
                <a:latin typeface="+mn-lt"/>
                <a:ea typeface="+mn-ea"/>
                <a:cs typeface="+mn-cs"/>
              </a:rPr>
              <a:t>Consistent hashing solves this with a </a:t>
            </a:r>
            <a:r>
              <a:rPr lang="en-US" sz="1200" b="1" i="0" kern="1200" dirty="0">
                <a:solidFill>
                  <a:schemeClr val="tx1"/>
                </a:solidFill>
                <a:effectLst/>
                <a:latin typeface="+mn-lt"/>
                <a:ea typeface="+mn-ea"/>
                <a:cs typeface="+mn-cs"/>
              </a:rPr>
              <a:t>hash ring</a:t>
            </a:r>
            <a:r>
              <a:rPr lang="en-US" sz="1200" b="0" i="0" kern="1200" dirty="0">
                <a:solidFill>
                  <a:schemeClr val="tx1"/>
                </a:solidFill>
                <a:effectLst/>
                <a:latin typeface="+mn-lt"/>
                <a:ea typeface="+mn-ea"/>
                <a:cs typeface="+mn-cs"/>
              </a:rPr>
              <a:t>. Imagine a circle from 0 to 2^64-1. We hash both servers and keys onto this ring. A key belongs to the </a:t>
            </a:r>
            <a:r>
              <a:rPr lang="en-US" sz="1200" b="1" i="0" kern="1200" dirty="0">
                <a:solidFill>
                  <a:schemeClr val="tx1"/>
                </a:solidFill>
                <a:effectLst/>
                <a:latin typeface="+mn-lt"/>
                <a:ea typeface="+mn-ea"/>
                <a:cs typeface="+mn-cs"/>
              </a:rPr>
              <a:t>first server clockwise</a:t>
            </a:r>
            <a:r>
              <a:rPr lang="en-US" sz="1200" b="0" i="0" kern="1200" dirty="0">
                <a:solidFill>
                  <a:schemeClr val="tx1"/>
                </a:solidFill>
                <a:effectLst/>
                <a:latin typeface="+mn-lt"/>
                <a:ea typeface="+mn-ea"/>
                <a:cs typeface="+mn-cs"/>
              </a:rPr>
              <a:t> from its position.</a:t>
            </a:r>
          </a:p>
          <a:p>
            <a:r>
              <a:rPr lang="en-US" sz="1200" b="0" i="0" kern="1200" dirty="0">
                <a:solidFill>
                  <a:schemeClr val="tx1"/>
                </a:solidFill>
                <a:effectLst/>
                <a:latin typeface="+mn-lt"/>
                <a:ea typeface="+mn-ea"/>
                <a:cs typeface="+mn-cs"/>
              </a:rPr>
              <a:t>When you add a server, it takes over some keys from its successor. When you remove a server, its keys go to its successor. Only </a:t>
            </a:r>
            <a:r>
              <a:rPr lang="en-US" sz="1200" b="1" i="0" kern="1200" dirty="0">
                <a:solidFill>
                  <a:schemeClr val="tx1"/>
                </a:solidFill>
                <a:effectLst/>
                <a:latin typeface="+mn-lt"/>
                <a:ea typeface="+mn-ea"/>
                <a:cs typeface="+mn-cs"/>
              </a:rPr>
              <a:t>local keys move</a:t>
            </a:r>
            <a:r>
              <a:rPr lang="en-US" sz="1200" b="0" i="0" kern="1200" dirty="0">
                <a:solidFill>
                  <a:schemeClr val="tx1"/>
                </a:solidFill>
                <a:effectLst/>
                <a:latin typeface="+mn-lt"/>
                <a:ea typeface="+mn-ea"/>
                <a:cs typeface="+mn-cs"/>
              </a:rPr>
              <a:t> - O(K/N) keys instead of all keys.</a:t>
            </a:r>
          </a:p>
          <a:p>
            <a:r>
              <a:rPr lang="en-US" sz="1200" b="0" i="0" kern="1200" dirty="0">
                <a:solidFill>
                  <a:schemeClr val="tx1"/>
                </a:solidFill>
                <a:effectLst/>
                <a:latin typeface="+mn-lt"/>
                <a:ea typeface="+mn-ea"/>
                <a:cs typeface="+mn-cs"/>
              </a:rPr>
              <a:t>To improve load balancing, we use </a:t>
            </a:r>
            <a:r>
              <a:rPr lang="en-US" sz="1200" b="1" i="0" kern="1200" dirty="0">
                <a:solidFill>
                  <a:schemeClr val="tx1"/>
                </a:solidFill>
                <a:effectLst/>
                <a:latin typeface="+mn-lt"/>
                <a:ea typeface="+mn-ea"/>
                <a:cs typeface="+mn-cs"/>
              </a:rPr>
              <a:t>virtual nodes</a:t>
            </a:r>
            <a:r>
              <a:rPr lang="en-US" sz="1200" b="0" i="0" kern="1200" dirty="0">
                <a:solidFill>
                  <a:schemeClr val="tx1"/>
                </a:solidFill>
                <a:effectLst/>
                <a:latin typeface="+mn-lt"/>
                <a:ea typeface="+mn-ea"/>
                <a:cs typeface="+mn-cs"/>
              </a:rPr>
              <a:t>. Each physical server gets many virtual positions on the ring. This spreads keys more evenly and allows weighting - bigger servers get more virtual nodes.</a:t>
            </a:r>
          </a:p>
          <a:p>
            <a:r>
              <a:rPr lang="en-US" sz="1200" b="0" i="0" kern="1200" dirty="0">
                <a:solidFill>
                  <a:schemeClr val="tx1"/>
                </a:solidFill>
                <a:effectLst/>
                <a:latin typeface="+mn-lt"/>
                <a:ea typeface="+mn-ea"/>
                <a:cs typeface="+mn-cs"/>
              </a:rPr>
              <a:t>The algorithm: Create ring. Add servers as virtual nodes. For each key, find next server clockwise. On changes, only reassign affected keys.</a:t>
            </a:r>
          </a:p>
          <a:p>
            <a:endParaRPr lang="en-IN" dirty="0"/>
          </a:p>
          <a:p>
            <a:r>
              <a:rPr lang="en-US" sz="1200" b="0" i="0" kern="1200" dirty="0">
                <a:solidFill>
                  <a:schemeClr val="tx1"/>
                </a:solidFill>
                <a:effectLst/>
                <a:latin typeface="+mn-lt"/>
                <a:ea typeface="+mn-ea"/>
                <a:cs typeface="+mn-cs"/>
              </a:rPr>
              <a:t>Use cases: </a:t>
            </a:r>
            <a:r>
              <a:rPr lang="en-US" sz="1200" b="1" i="0" kern="1200" dirty="0">
                <a:solidFill>
                  <a:schemeClr val="tx1"/>
                </a:solidFill>
                <a:effectLst/>
                <a:latin typeface="+mn-lt"/>
                <a:ea typeface="+mn-ea"/>
                <a:cs typeface="+mn-cs"/>
              </a:rPr>
              <a:t>Distributed caching</a:t>
            </a:r>
            <a:r>
              <a:rPr lang="en-US" sz="1200" b="0" i="0" kern="1200" dirty="0">
                <a:solidFill>
                  <a:schemeClr val="tx1"/>
                </a:solidFill>
                <a:effectLst/>
                <a:latin typeface="+mn-lt"/>
                <a:ea typeface="+mn-ea"/>
                <a:cs typeface="+mn-cs"/>
              </a:rPr>
              <a:t> (Memcached, Redis). </a:t>
            </a:r>
            <a:r>
              <a:rPr lang="en-US" sz="1200" b="1" i="0" kern="1200" dirty="0">
                <a:solidFill>
                  <a:schemeClr val="tx1"/>
                </a:solidFill>
                <a:effectLst/>
                <a:latin typeface="+mn-lt"/>
                <a:ea typeface="+mn-ea"/>
                <a:cs typeface="+mn-cs"/>
              </a:rPr>
              <a:t>Load balancers</a:t>
            </a:r>
            <a:r>
              <a:rPr lang="en-US" sz="1200" b="0" i="0" kern="1200" dirty="0">
                <a:solidFill>
                  <a:schemeClr val="tx1"/>
                </a:solidFill>
                <a:effectLst/>
                <a:latin typeface="+mn-lt"/>
                <a:ea typeface="+mn-ea"/>
                <a:cs typeface="+mn-cs"/>
              </a:rPr>
              <a:t> (NGINX). </a:t>
            </a:r>
            <a:r>
              <a:rPr lang="en-US" sz="1200" b="1" i="0" kern="1200" dirty="0">
                <a:solidFill>
                  <a:schemeClr val="tx1"/>
                </a:solidFill>
                <a:effectLst/>
                <a:latin typeface="+mn-lt"/>
                <a:ea typeface="+mn-ea"/>
                <a:cs typeface="+mn-cs"/>
              </a:rPr>
              <a:t>CDN routing</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Database sharding</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Peer-to-peer systems</a:t>
            </a:r>
            <a:r>
              <a:rPr lang="en-US" sz="1200" b="0" i="0" kern="1200" dirty="0">
                <a:solidFill>
                  <a:schemeClr val="tx1"/>
                </a:solidFill>
                <a:effectLst/>
                <a:latin typeface="+mn-lt"/>
                <a:ea typeface="+mn-ea"/>
                <a:cs typeface="+mn-cs"/>
              </a:rPr>
              <a:t>.</a:t>
            </a:r>
          </a:p>
          <a:p>
            <a:r>
              <a:rPr lang="en-US" sz="1200" b="0" i="0" kern="1200" dirty="0">
                <a:solidFill>
                  <a:schemeClr val="tx1"/>
                </a:solidFill>
                <a:effectLst/>
                <a:latin typeface="+mn-lt"/>
                <a:ea typeface="+mn-ea"/>
                <a:cs typeface="+mn-cs"/>
              </a:rPr>
              <a:t>Amazon Dynamo pioneered consistent hashing. Cassandra, Riak, Varnish use it.</a:t>
            </a:r>
          </a:p>
          <a:p>
            <a:r>
              <a:rPr lang="en-US" sz="1200" b="0" i="0" kern="1200" dirty="0">
                <a:solidFill>
                  <a:schemeClr val="tx1"/>
                </a:solidFill>
                <a:effectLst/>
                <a:latin typeface="+mn-lt"/>
                <a:ea typeface="+mn-ea"/>
                <a:cs typeface="+mn-cs"/>
              </a:rPr>
              <a:t>Advantages: </a:t>
            </a:r>
            <a:r>
              <a:rPr lang="en-US" sz="1200" b="1" i="0" kern="1200" dirty="0">
                <a:solidFill>
                  <a:schemeClr val="tx1"/>
                </a:solidFill>
                <a:effectLst/>
                <a:latin typeface="+mn-lt"/>
                <a:ea typeface="+mn-ea"/>
                <a:cs typeface="+mn-cs"/>
              </a:rPr>
              <a:t>Minimal redistribution</a:t>
            </a:r>
            <a:r>
              <a:rPr lang="en-US" sz="1200" b="0" i="0" kern="1200" dirty="0">
                <a:solidFill>
                  <a:schemeClr val="tx1"/>
                </a:solidFill>
                <a:effectLst/>
                <a:latin typeface="+mn-lt"/>
                <a:ea typeface="+mn-ea"/>
                <a:cs typeface="+mn-cs"/>
              </a:rPr>
              <a:t> on changes. </a:t>
            </a:r>
            <a:r>
              <a:rPr lang="en-US" sz="1200" b="1" i="0" kern="1200" dirty="0">
                <a:solidFill>
                  <a:schemeClr val="tx1"/>
                </a:solidFill>
                <a:effectLst/>
                <a:latin typeface="+mn-lt"/>
                <a:ea typeface="+mn-ea"/>
                <a:cs typeface="+mn-cs"/>
              </a:rPr>
              <a:t>Scalability</a:t>
            </a:r>
            <a:r>
              <a:rPr lang="en-US" sz="1200" b="0" i="0" kern="1200" dirty="0">
                <a:solidFill>
                  <a:schemeClr val="tx1"/>
                </a:solidFill>
                <a:effectLst/>
                <a:latin typeface="+mn-lt"/>
                <a:ea typeface="+mn-ea"/>
                <a:cs typeface="+mn-cs"/>
              </a:rPr>
              <a:t> - easy to grow/shrink. </a:t>
            </a:r>
            <a:r>
              <a:rPr lang="en-US" sz="1200" b="1" i="0" kern="1200" dirty="0">
                <a:solidFill>
                  <a:schemeClr val="tx1"/>
                </a:solidFill>
                <a:effectLst/>
                <a:latin typeface="+mn-lt"/>
                <a:ea typeface="+mn-ea"/>
                <a:cs typeface="+mn-cs"/>
              </a:rPr>
              <a:t>Load distribution</a:t>
            </a:r>
            <a:r>
              <a:rPr lang="en-US" sz="1200" b="0" i="0" kern="1200" dirty="0">
                <a:solidFill>
                  <a:schemeClr val="tx1"/>
                </a:solidFill>
                <a:effectLst/>
                <a:latin typeface="+mn-lt"/>
                <a:ea typeface="+mn-ea"/>
                <a:cs typeface="+mn-cs"/>
              </a:rPr>
              <a:t> with virtual nodes. </a:t>
            </a:r>
            <a:r>
              <a:rPr lang="en-US" sz="1200" b="1" i="0" kern="1200" dirty="0">
                <a:solidFill>
                  <a:schemeClr val="tx1"/>
                </a:solidFill>
                <a:effectLst/>
                <a:latin typeface="+mn-lt"/>
                <a:ea typeface="+mn-ea"/>
                <a:cs typeface="+mn-cs"/>
              </a:rPr>
              <a:t>Decentralized</a:t>
            </a:r>
            <a:r>
              <a:rPr lang="en-US" sz="1200" b="0" i="0" kern="1200" dirty="0">
                <a:solidFill>
                  <a:schemeClr val="tx1"/>
                </a:solidFill>
                <a:effectLst/>
                <a:latin typeface="+mn-lt"/>
                <a:ea typeface="+mn-ea"/>
                <a:cs typeface="+mn-cs"/>
              </a:rPr>
              <a:t> - no coordinator.</a:t>
            </a:r>
          </a:p>
          <a:p>
            <a:r>
              <a:rPr lang="en-US" sz="1200" b="0" i="0" kern="1200" dirty="0">
                <a:solidFill>
                  <a:schemeClr val="tx1"/>
                </a:solidFill>
                <a:effectLst/>
                <a:latin typeface="+mn-lt"/>
                <a:ea typeface="+mn-ea"/>
                <a:cs typeface="+mn-cs"/>
              </a:rPr>
              <a:t>Disadvantages: </a:t>
            </a:r>
            <a:r>
              <a:rPr lang="en-US" sz="1200" b="1" i="0" kern="1200" dirty="0">
                <a:solidFill>
                  <a:schemeClr val="tx1"/>
                </a:solidFill>
                <a:effectLst/>
                <a:latin typeface="+mn-lt"/>
                <a:ea typeface="+mn-ea"/>
                <a:cs typeface="+mn-cs"/>
              </a:rPr>
              <a:t>Load can be uneven</a:t>
            </a:r>
            <a:r>
              <a:rPr lang="en-US" sz="1200" b="0" i="0" kern="1200" dirty="0">
                <a:solidFill>
                  <a:schemeClr val="tx1"/>
                </a:solidFill>
                <a:effectLst/>
                <a:latin typeface="+mn-lt"/>
                <a:ea typeface="+mn-ea"/>
                <a:cs typeface="+mn-cs"/>
              </a:rPr>
              <a:t> without enough virtual nodes. </a:t>
            </a:r>
            <a:r>
              <a:rPr lang="en-US" sz="1200" b="1" i="0" kern="1200" dirty="0">
                <a:solidFill>
                  <a:schemeClr val="tx1"/>
                </a:solidFill>
                <a:effectLst/>
                <a:latin typeface="+mn-lt"/>
                <a:ea typeface="+mn-ea"/>
                <a:cs typeface="+mn-cs"/>
              </a:rPr>
              <a:t>Implementation complexity</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Hot spots</a:t>
            </a:r>
            <a:r>
              <a:rPr lang="en-US" sz="1200" b="0" i="0" kern="1200" dirty="0">
                <a:solidFill>
                  <a:schemeClr val="tx1"/>
                </a:solidFill>
                <a:effectLst/>
                <a:latin typeface="+mn-lt"/>
                <a:ea typeface="+mn-ea"/>
                <a:cs typeface="+mn-cs"/>
              </a:rPr>
              <a:t> if keys aren't uniformly distributed.</a:t>
            </a:r>
          </a:p>
          <a:p>
            <a:r>
              <a:rPr lang="en-US" sz="1200" b="0" i="0" kern="1200" dirty="0">
                <a:solidFill>
                  <a:schemeClr val="tx1"/>
                </a:solidFill>
                <a:effectLst/>
                <a:latin typeface="+mn-lt"/>
                <a:ea typeface="+mn-ea"/>
                <a:cs typeface="+mn-cs"/>
              </a:rPr>
              <a:t>Consistent hashing is a cornerstone of scalable distributed systems.</a:t>
            </a:r>
          </a:p>
          <a:p>
            <a:endParaRPr lang="en-IN" dirty="0"/>
          </a:p>
        </p:txBody>
      </p:sp>
      <p:sp>
        <p:nvSpPr>
          <p:cNvPr id="4" name="Slide Number Placeholder 3">
            <a:extLst>
              <a:ext uri="{FF2B5EF4-FFF2-40B4-BE49-F238E27FC236}">
                <a16:creationId xmlns:a16="http://schemas.microsoft.com/office/drawing/2014/main" id="{E381DCAD-316B-3C7C-988B-4AA94D8F2191}"/>
              </a:ext>
            </a:extLst>
          </p:cNvPr>
          <p:cNvSpPr>
            <a:spLocks noGrp="1"/>
          </p:cNvSpPr>
          <p:nvPr>
            <p:ph type="sldNum" sz="quarter" idx="5"/>
          </p:nvPr>
        </p:nvSpPr>
        <p:spPr/>
        <p:txBody>
          <a:bodyPr/>
          <a:lstStyle/>
          <a:p>
            <a:fld id="{72853293-4F00-4813-B74A-3945ABE0C2FC}" type="slidenum">
              <a:rPr lang="en-IN" smtClean="0"/>
              <a:t>15</a:t>
            </a:fld>
            <a:endParaRPr lang="en-IN"/>
          </a:p>
        </p:txBody>
      </p:sp>
    </p:spTree>
    <p:extLst>
      <p:ext uri="{BB962C8B-B14F-4D97-AF65-F5344CB8AC3E}">
        <p14:creationId xmlns:p14="http://schemas.microsoft.com/office/powerpoint/2010/main" val="248856325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E3F1F2-9FD8-F05B-5C29-65DAD0FE12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2F1AC4-2DED-6F2F-3C08-430117DFABD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C61915E-C993-5580-DC40-2C475744102B}"/>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Now for a fascinating probabilistic data structure: </a:t>
            </a:r>
            <a:r>
              <a:rPr lang="en-US" sz="1200" b="1" i="0" kern="1200" dirty="0">
                <a:solidFill>
                  <a:schemeClr val="tx1"/>
                </a:solidFill>
                <a:effectLst/>
                <a:latin typeface="+mn-lt"/>
                <a:ea typeface="+mn-ea"/>
                <a:cs typeface="+mn-cs"/>
              </a:rPr>
              <a:t>Bloom Filters</a:t>
            </a:r>
            <a:r>
              <a:rPr lang="en-US" sz="1200" b="0" i="0" kern="1200" dirty="0">
                <a:solidFill>
                  <a:schemeClr val="tx1"/>
                </a:solidFill>
                <a:effectLst/>
                <a:latin typeface="+mn-lt"/>
                <a:ea typeface="+mn-ea"/>
                <a:cs typeface="+mn-cs"/>
              </a:rPr>
              <a:t>.</a:t>
            </a:r>
          </a:p>
          <a:p>
            <a:r>
              <a:rPr lang="en-US" sz="1200" b="0" i="0" kern="1200" dirty="0">
                <a:solidFill>
                  <a:schemeClr val="tx1"/>
                </a:solidFill>
                <a:effectLst/>
                <a:latin typeface="+mn-lt"/>
                <a:ea typeface="+mn-ea"/>
                <a:cs typeface="+mn-cs"/>
              </a:rPr>
              <a:t>Bloom filters answer one question efficiently: "Is this item in the set?" But probabilistically: </a:t>
            </a:r>
            <a:r>
              <a:rPr lang="en-US" sz="1200" b="1" i="0" kern="1200" dirty="0">
                <a:solidFill>
                  <a:schemeClr val="tx1"/>
                </a:solidFill>
                <a:effectLst/>
                <a:latin typeface="+mn-lt"/>
                <a:ea typeface="+mn-ea"/>
                <a:cs typeface="+mn-cs"/>
              </a:rPr>
              <a:t>"Probably yes"</a:t>
            </a:r>
            <a:r>
              <a:rPr lang="en-US" sz="1200" b="0" i="0" kern="1200" dirty="0">
                <a:solidFill>
                  <a:schemeClr val="tx1"/>
                </a:solidFill>
                <a:effectLst/>
                <a:latin typeface="+mn-lt"/>
                <a:ea typeface="+mn-ea"/>
                <a:cs typeface="+mn-cs"/>
              </a:rPr>
              <a:t> or </a:t>
            </a:r>
            <a:r>
              <a:rPr lang="en-US" sz="1200" b="1" i="0" kern="1200" dirty="0">
                <a:solidFill>
                  <a:schemeClr val="tx1"/>
                </a:solidFill>
                <a:effectLst/>
                <a:latin typeface="+mn-lt"/>
                <a:ea typeface="+mn-ea"/>
                <a:cs typeface="+mn-cs"/>
              </a:rPr>
              <a:t>"Definitely no."</a:t>
            </a:r>
            <a:r>
              <a:rPr lang="en-US" sz="1200" b="0" i="0" kern="1200" dirty="0">
                <a:solidFill>
                  <a:schemeClr val="tx1"/>
                </a:solidFill>
                <a:effectLst/>
                <a:latin typeface="+mn-lt"/>
                <a:ea typeface="+mn-ea"/>
                <a:cs typeface="+mn-cs"/>
              </a:rPr>
              <a:t> They never give false negatives ("definitely no" is certain), but can give false positives ("probably yes" might be wrong).</a:t>
            </a:r>
          </a:p>
          <a:p>
            <a:r>
              <a:rPr lang="en-US" sz="1200" b="0" i="0" kern="1200" dirty="0">
                <a:solidFill>
                  <a:schemeClr val="tx1"/>
                </a:solidFill>
                <a:effectLst/>
                <a:latin typeface="+mn-lt"/>
                <a:ea typeface="+mn-ea"/>
                <a:cs typeface="+mn-cs"/>
              </a:rPr>
              <a:t>How? A bit array and multiple hash functions. To add "apple": hash it k ways, set those k bits to 1. To check "orange": hash it k ways. If all bits are 1, "probably in set." If any bit is 0, "definitely not."</a:t>
            </a:r>
          </a:p>
          <a:p>
            <a:r>
              <a:rPr lang="en-US" sz="1200" b="0" i="0" kern="1200" dirty="0">
                <a:solidFill>
                  <a:schemeClr val="tx1"/>
                </a:solidFill>
                <a:effectLst/>
                <a:latin typeface="+mn-lt"/>
                <a:ea typeface="+mn-ea"/>
                <a:cs typeface="+mn-cs"/>
              </a:rPr>
              <a:t>The math is beautiful: For n items and false positive rate p, you need m = -n * ln(p) / (ln(2))^2 bits, and k = m/n * ln(2) hash functions. Example: 1 million items, 1% false positive rate → 1.2 MB, 7 hash functions.</a:t>
            </a:r>
          </a:p>
          <a:p>
            <a:r>
              <a:rPr lang="en-US" sz="1200" b="0" i="0" kern="1200" dirty="0">
                <a:solidFill>
                  <a:schemeClr val="tx1"/>
                </a:solidFill>
                <a:effectLst/>
                <a:latin typeface="+mn-lt"/>
                <a:ea typeface="+mn-ea"/>
                <a:cs typeface="+mn-cs"/>
              </a:rPr>
              <a:t>Use cases: </a:t>
            </a:r>
            <a:r>
              <a:rPr lang="en-US" sz="1200" b="1" i="0" kern="1200" dirty="0">
                <a:solidFill>
                  <a:schemeClr val="tx1"/>
                </a:solidFill>
                <a:effectLst/>
                <a:latin typeface="+mn-lt"/>
                <a:ea typeface="+mn-ea"/>
                <a:cs typeface="+mn-cs"/>
              </a:rPr>
              <a:t>Database optimization</a:t>
            </a:r>
            <a:r>
              <a:rPr lang="en-US" sz="1200" b="0" i="0" kern="1200" dirty="0">
                <a:solidFill>
                  <a:schemeClr val="tx1"/>
                </a:solidFill>
                <a:effectLst/>
                <a:latin typeface="+mn-lt"/>
                <a:ea typeface="+mn-ea"/>
                <a:cs typeface="+mn-cs"/>
              </a:rPr>
              <a:t> - check Bloom filter before expensive disk lookups (Google </a:t>
            </a:r>
            <a:r>
              <a:rPr lang="en-US" sz="1200" b="0" i="0" kern="1200" dirty="0" err="1">
                <a:solidFill>
                  <a:schemeClr val="tx1"/>
                </a:solidFill>
                <a:effectLst/>
                <a:latin typeface="+mn-lt"/>
                <a:ea typeface="+mn-ea"/>
                <a:cs typeface="+mn-cs"/>
              </a:rPr>
              <a:t>BigTable</a:t>
            </a:r>
            <a:r>
              <a:rPr lang="en-US" sz="1200" b="0" i="0" kern="1200" dirty="0">
                <a:solidFill>
                  <a:schemeClr val="tx1"/>
                </a:solidFill>
                <a:effectLst/>
                <a:latin typeface="+mn-lt"/>
                <a:ea typeface="+mn-ea"/>
                <a:cs typeface="+mn-cs"/>
              </a:rPr>
              <a:t>, Cassandra). </a:t>
            </a:r>
            <a:r>
              <a:rPr lang="en-US" sz="1200" b="1" i="0" kern="1200" dirty="0">
                <a:solidFill>
                  <a:schemeClr val="tx1"/>
                </a:solidFill>
                <a:effectLst/>
                <a:latin typeface="+mn-lt"/>
                <a:ea typeface="+mn-ea"/>
                <a:cs typeface="+mn-cs"/>
              </a:rPr>
              <a:t>Web caching</a:t>
            </a:r>
            <a:r>
              <a:rPr lang="en-US" sz="1200" b="0" i="0" kern="1200" dirty="0">
                <a:solidFill>
                  <a:schemeClr val="tx1"/>
                </a:solidFill>
                <a:effectLst/>
                <a:latin typeface="+mn-lt"/>
                <a:ea typeface="+mn-ea"/>
                <a:cs typeface="+mn-cs"/>
              </a:rPr>
              <a:t> - check if content cached. </a:t>
            </a:r>
            <a:r>
              <a:rPr lang="en-US" sz="1200" b="1" i="0" kern="1200" dirty="0">
                <a:solidFill>
                  <a:schemeClr val="tx1"/>
                </a:solidFill>
                <a:effectLst/>
                <a:latin typeface="+mn-lt"/>
                <a:ea typeface="+mn-ea"/>
                <a:cs typeface="+mn-cs"/>
              </a:rPr>
              <a:t>Network routing</a:t>
            </a:r>
            <a:r>
              <a:rPr lang="en-US" sz="1200" b="0" i="0" kern="1200" dirty="0">
                <a:solidFill>
                  <a:schemeClr val="tx1"/>
                </a:solidFill>
                <a:effectLst/>
                <a:latin typeface="+mn-lt"/>
                <a:ea typeface="+mn-ea"/>
                <a:cs typeface="+mn-cs"/>
              </a:rPr>
              <a:t> - duplicate detection. </a:t>
            </a:r>
            <a:r>
              <a:rPr lang="en-US" sz="1200" b="1" i="0" kern="1200" dirty="0">
                <a:solidFill>
                  <a:schemeClr val="tx1"/>
                </a:solidFill>
                <a:effectLst/>
                <a:latin typeface="+mn-lt"/>
                <a:ea typeface="+mn-ea"/>
                <a:cs typeface="+mn-cs"/>
              </a:rPr>
              <a:t>Security</a:t>
            </a:r>
            <a:r>
              <a:rPr lang="en-US" sz="1200" b="0" i="0" kern="1200" dirty="0">
                <a:solidFill>
                  <a:schemeClr val="tx1"/>
                </a:solidFill>
                <a:effectLst/>
                <a:latin typeface="+mn-lt"/>
                <a:ea typeface="+mn-ea"/>
                <a:cs typeface="+mn-cs"/>
              </a:rPr>
              <a:t> - compromised password checking.</a:t>
            </a:r>
          </a:p>
          <a:p>
            <a:endParaRPr lang="en-IN" dirty="0"/>
          </a:p>
          <a:p>
            <a:r>
              <a:rPr lang="en-US" sz="1200" b="0" i="0" kern="1200" dirty="0">
                <a:solidFill>
                  <a:schemeClr val="tx1"/>
                </a:solidFill>
                <a:effectLst/>
                <a:latin typeface="+mn-lt"/>
                <a:ea typeface="+mn-ea"/>
                <a:cs typeface="+mn-cs"/>
              </a:rPr>
              <a:t>Variants: </a:t>
            </a:r>
            <a:r>
              <a:rPr lang="en-US" sz="1200" b="1" i="0" kern="1200" dirty="0">
                <a:solidFill>
                  <a:schemeClr val="tx1"/>
                </a:solidFill>
                <a:effectLst/>
                <a:latin typeface="+mn-lt"/>
                <a:ea typeface="+mn-ea"/>
                <a:cs typeface="+mn-cs"/>
              </a:rPr>
              <a:t>Counting Bloom Filter</a:t>
            </a:r>
            <a:r>
              <a:rPr lang="en-US" sz="1200" b="0" i="0" kern="1200" dirty="0">
                <a:solidFill>
                  <a:schemeClr val="tx1"/>
                </a:solidFill>
                <a:effectLst/>
                <a:latin typeface="+mn-lt"/>
                <a:ea typeface="+mn-ea"/>
                <a:cs typeface="+mn-cs"/>
              </a:rPr>
              <a:t> allows deletions (counters instead of bits). </a:t>
            </a:r>
            <a:r>
              <a:rPr lang="en-US" sz="1200" b="1" i="0" kern="1200" dirty="0">
                <a:solidFill>
                  <a:schemeClr val="tx1"/>
                </a:solidFill>
                <a:effectLst/>
                <a:latin typeface="+mn-lt"/>
                <a:ea typeface="+mn-ea"/>
                <a:cs typeface="+mn-cs"/>
              </a:rPr>
              <a:t>Scalable Bloom Filter</a:t>
            </a:r>
            <a:r>
              <a:rPr lang="en-US" sz="1200" b="0" i="0" kern="1200" dirty="0">
                <a:solidFill>
                  <a:schemeClr val="tx1"/>
                </a:solidFill>
                <a:effectLst/>
                <a:latin typeface="+mn-lt"/>
                <a:ea typeface="+mn-ea"/>
                <a:cs typeface="+mn-cs"/>
              </a:rPr>
              <a:t> grows. </a:t>
            </a:r>
            <a:r>
              <a:rPr lang="en-US" sz="1200" b="1" i="0" kern="1200" dirty="0">
                <a:solidFill>
                  <a:schemeClr val="tx1"/>
                </a:solidFill>
                <a:effectLst/>
                <a:latin typeface="+mn-lt"/>
                <a:ea typeface="+mn-ea"/>
                <a:cs typeface="+mn-cs"/>
              </a:rPr>
              <a:t>Cuckoo Filter</a:t>
            </a:r>
            <a:r>
              <a:rPr lang="en-US" sz="1200" b="0" i="0" kern="1200" dirty="0">
                <a:solidFill>
                  <a:schemeClr val="tx1"/>
                </a:solidFill>
                <a:effectLst/>
                <a:latin typeface="+mn-lt"/>
                <a:ea typeface="+mn-ea"/>
                <a:cs typeface="+mn-cs"/>
              </a:rPr>
              <a:t> better performance.</a:t>
            </a:r>
          </a:p>
          <a:p>
            <a:r>
              <a:rPr lang="en-US" sz="1200" b="0" i="0" kern="1200" dirty="0">
                <a:solidFill>
                  <a:schemeClr val="tx1"/>
                </a:solidFill>
                <a:effectLst/>
                <a:latin typeface="+mn-lt"/>
                <a:ea typeface="+mn-ea"/>
                <a:cs typeface="+mn-cs"/>
              </a:rPr>
              <a:t>Advantages: </a:t>
            </a:r>
            <a:r>
              <a:rPr lang="en-US" sz="1200" b="1" i="0" kern="1200" dirty="0">
                <a:solidFill>
                  <a:schemeClr val="tx1"/>
                </a:solidFill>
                <a:effectLst/>
                <a:latin typeface="+mn-lt"/>
                <a:ea typeface="+mn-ea"/>
                <a:cs typeface="+mn-cs"/>
              </a:rPr>
              <a:t>Extreme space efficiency</a:t>
            </a:r>
            <a:r>
              <a:rPr lang="en-US" sz="1200" b="0" i="0" kern="1200" dirty="0">
                <a:solidFill>
                  <a:schemeClr val="tx1"/>
                </a:solidFill>
                <a:effectLst/>
                <a:latin typeface="+mn-lt"/>
                <a:ea typeface="+mn-ea"/>
                <a:cs typeface="+mn-cs"/>
              </a:rPr>
              <a:t> - bits per element, not bytes. </a:t>
            </a:r>
            <a:r>
              <a:rPr lang="en-US" sz="1200" b="1" i="0" kern="1200" dirty="0">
                <a:solidFill>
                  <a:schemeClr val="tx1"/>
                </a:solidFill>
                <a:effectLst/>
                <a:latin typeface="+mn-lt"/>
                <a:ea typeface="+mn-ea"/>
                <a:cs typeface="+mn-cs"/>
              </a:rPr>
              <a:t>Constant time</a:t>
            </a:r>
            <a:r>
              <a:rPr lang="en-US" sz="1200" b="0" i="0" kern="1200" dirty="0">
                <a:solidFill>
                  <a:schemeClr val="tx1"/>
                </a:solidFill>
                <a:effectLst/>
                <a:latin typeface="+mn-lt"/>
                <a:ea typeface="+mn-ea"/>
                <a:cs typeface="+mn-cs"/>
              </a:rPr>
              <a:t> operations. </a:t>
            </a:r>
            <a:r>
              <a:rPr lang="en-US" sz="1200" b="1" i="0" kern="1200" dirty="0">
                <a:solidFill>
                  <a:schemeClr val="tx1"/>
                </a:solidFill>
                <a:effectLst/>
                <a:latin typeface="+mn-lt"/>
                <a:ea typeface="+mn-ea"/>
                <a:cs typeface="+mn-cs"/>
              </a:rPr>
              <a:t>No false negatives</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Mergeable</a:t>
            </a:r>
            <a:r>
              <a:rPr lang="en-US" sz="1200" b="0" i="0" kern="1200" dirty="0">
                <a:solidFill>
                  <a:schemeClr val="tx1"/>
                </a:solidFill>
                <a:effectLst/>
                <a:latin typeface="+mn-lt"/>
                <a:ea typeface="+mn-ea"/>
                <a:cs typeface="+mn-cs"/>
              </a:rPr>
              <a:t> (OR bit arrays).</a:t>
            </a:r>
          </a:p>
          <a:p>
            <a:r>
              <a:rPr lang="en-US" sz="1200" b="0" i="0" kern="1200" dirty="0">
                <a:solidFill>
                  <a:schemeClr val="tx1"/>
                </a:solidFill>
                <a:effectLst/>
                <a:latin typeface="+mn-lt"/>
                <a:ea typeface="+mn-ea"/>
                <a:cs typeface="+mn-cs"/>
              </a:rPr>
              <a:t>Disadvantages: </a:t>
            </a:r>
            <a:r>
              <a:rPr lang="en-US" sz="1200" b="1" i="0" kern="1200" dirty="0">
                <a:solidFill>
                  <a:schemeClr val="tx1"/>
                </a:solidFill>
                <a:effectLst/>
                <a:latin typeface="+mn-lt"/>
                <a:ea typeface="+mn-ea"/>
                <a:cs typeface="+mn-cs"/>
              </a:rPr>
              <a:t>False positives</a:t>
            </a:r>
            <a:r>
              <a:rPr lang="en-US" sz="1200" b="0" i="0" kern="1200" dirty="0">
                <a:solidFill>
                  <a:schemeClr val="tx1"/>
                </a:solidFill>
                <a:effectLst/>
                <a:latin typeface="+mn-lt"/>
                <a:ea typeface="+mn-ea"/>
                <a:cs typeface="+mn-cs"/>
              </a:rPr>
              <a:t> (trade space for accuracy). </a:t>
            </a:r>
            <a:r>
              <a:rPr lang="en-US" sz="1200" b="1" i="0" kern="1200" dirty="0">
                <a:solidFill>
                  <a:schemeClr val="tx1"/>
                </a:solidFill>
                <a:effectLst/>
                <a:latin typeface="+mn-lt"/>
                <a:ea typeface="+mn-ea"/>
                <a:cs typeface="+mn-cs"/>
              </a:rPr>
              <a:t>Cannot remove items</a:t>
            </a:r>
            <a:r>
              <a:rPr lang="en-US" sz="1200" b="0" i="0" kern="1200" dirty="0">
                <a:solidFill>
                  <a:schemeClr val="tx1"/>
                </a:solidFill>
                <a:effectLst/>
                <a:latin typeface="+mn-lt"/>
                <a:ea typeface="+mn-ea"/>
                <a:cs typeface="+mn-cs"/>
              </a:rPr>
              <a:t> (basic version). </a:t>
            </a:r>
            <a:r>
              <a:rPr lang="en-US" sz="1200" b="1" i="0" kern="1200" dirty="0">
                <a:solidFill>
                  <a:schemeClr val="tx1"/>
                </a:solidFill>
                <a:effectLst/>
                <a:latin typeface="+mn-lt"/>
                <a:ea typeface="+mn-ea"/>
                <a:cs typeface="+mn-cs"/>
              </a:rPr>
              <a:t>Cannot list elements</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Hash function quality matters</a:t>
            </a:r>
            <a:r>
              <a:rPr lang="en-US" sz="1200" b="0" i="0" kern="1200" dirty="0">
                <a:solidFill>
                  <a:schemeClr val="tx1"/>
                </a:solidFill>
                <a:effectLst/>
                <a:latin typeface="+mn-lt"/>
                <a:ea typeface="+mn-ea"/>
                <a:cs typeface="+mn-cs"/>
              </a:rPr>
              <a:t>.</a:t>
            </a:r>
          </a:p>
          <a:p>
            <a:r>
              <a:rPr lang="en-US" sz="1200" b="0" i="0" kern="1200" dirty="0">
                <a:solidFill>
                  <a:schemeClr val="tx1"/>
                </a:solidFill>
                <a:effectLst/>
                <a:latin typeface="+mn-lt"/>
                <a:ea typeface="+mn-ea"/>
                <a:cs typeface="+mn-cs"/>
              </a:rPr>
              <a:t>Bloom filters exemplify a distributed systems mindset: </a:t>
            </a:r>
            <a:r>
              <a:rPr lang="en-US" sz="1200" b="1" i="0" kern="1200" dirty="0">
                <a:solidFill>
                  <a:schemeClr val="tx1"/>
                </a:solidFill>
                <a:effectLst/>
                <a:latin typeface="+mn-lt"/>
                <a:ea typeface="+mn-ea"/>
                <a:cs typeface="+mn-cs"/>
              </a:rPr>
              <a:t>accept probabilistic answers for huge efficiency gains</a:t>
            </a:r>
            <a:r>
              <a:rPr lang="en-US" sz="1200" b="0" i="0" kern="1200" dirty="0">
                <a:solidFill>
                  <a:schemeClr val="tx1"/>
                </a:solidFill>
                <a:effectLst/>
                <a:latin typeface="+mn-lt"/>
                <a:ea typeface="+mn-ea"/>
                <a:cs typeface="+mn-cs"/>
              </a:rPr>
              <a:t>. When a 1% chance of unnecessary disk lookup saves 99% of lookups, that's a good trade.</a:t>
            </a:r>
          </a:p>
          <a:p>
            <a:endParaRPr lang="en-IN" dirty="0"/>
          </a:p>
        </p:txBody>
      </p:sp>
      <p:sp>
        <p:nvSpPr>
          <p:cNvPr id="4" name="Slide Number Placeholder 3">
            <a:extLst>
              <a:ext uri="{FF2B5EF4-FFF2-40B4-BE49-F238E27FC236}">
                <a16:creationId xmlns:a16="http://schemas.microsoft.com/office/drawing/2014/main" id="{B33519C9-84A3-A6BC-D149-1184477DF639}"/>
              </a:ext>
            </a:extLst>
          </p:cNvPr>
          <p:cNvSpPr>
            <a:spLocks noGrp="1"/>
          </p:cNvSpPr>
          <p:nvPr>
            <p:ph type="sldNum" sz="quarter" idx="5"/>
          </p:nvPr>
        </p:nvSpPr>
        <p:spPr/>
        <p:txBody>
          <a:bodyPr/>
          <a:lstStyle/>
          <a:p>
            <a:fld id="{72853293-4F00-4813-B74A-3945ABE0C2FC}" type="slidenum">
              <a:rPr lang="en-IN" smtClean="0"/>
              <a:t>16</a:t>
            </a:fld>
            <a:endParaRPr lang="en-IN"/>
          </a:p>
        </p:txBody>
      </p:sp>
    </p:spTree>
    <p:extLst>
      <p:ext uri="{BB962C8B-B14F-4D97-AF65-F5344CB8AC3E}">
        <p14:creationId xmlns:p14="http://schemas.microsoft.com/office/powerpoint/2010/main" val="366591552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6A8AFC-C926-6F19-3D37-9113F640C39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A55671D-F1AB-6D8A-006D-DCD13A539A7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31A0A8B-88C7-4298-15BD-36C2CA846B47}"/>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Now for another brilliant probabilistic data structure: </a:t>
            </a:r>
            <a:r>
              <a:rPr lang="en-US" sz="1200" b="1" i="0" kern="1200" dirty="0" err="1">
                <a:solidFill>
                  <a:schemeClr val="tx1"/>
                </a:solidFill>
                <a:effectLst/>
                <a:latin typeface="+mn-lt"/>
                <a:ea typeface="+mn-ea"/>
                <a:cs typeface="+mn-cs"/>
              </a:rPr>
              <a:t>HyperLogLog</a:t>
            </a:r>
            <a:r>
              <a:rPr lang="en-US" sz="1200" b="0" i="0" kern="1200" dirty="0">
                <a:solidFill>
                  <a:schemeClr val="tx1"/>
                </a:solidFill>
                <a:effectLst/>
                <a:latin typeface="+mn-lt"/>
                <a:ea typeface="+mn-ea"/>
                <a:cs typeface="+mn-cs"/>
              </a:rPr>
              <a:t>, for counting unique items in massive datasets.</a:t>
            </a:r>
          </a:p>
          <a:p>
            <a:r>
              <a:rPr lang="en-US" sz="1200" b="0" i="0" kern="1200" dirty="0">
                <a:solidFill>
                  <a:schemeClr val="tx1"/>
                </a:solidFill>
                <a:effectLst/>
                <a:latin typeface="+mn-lt"/>
                <a:ea typeface="+mn-ea"/>
                <a:cs typeface="+mn-cs"/>
              </a:rPr>
              <a:t>The problem: Count distinct elements - unique visitors, distinct IPs, different products sold. Storing all items uses O(n) memory. For billions of items, that's impossible.</a:t>
            </a:r>
          </a:p>
          <a:p>
            <a:r>
              <a:rPr lang="en-US" sz="1200" b="0" i="0" kern="1200" dirty="0" err="1">
                <a:solidFill>
                  <a:schemeClr val="tx1"/>
                </a:solidFill>
                <a:effectLst/>
                <a:latin typeface="+mn-lt"/>
                <a:ea typeface="+mn-ea"/>
                <a:cs typeface="+mn-cs"/>
              </a:rPr>
              <a:t>HyperLogLog</a:t>
            </a:r>
            <a:r>
              <a:rPr lang="en-US" sz="1200" b="0" i="0" kern="1200" dirty="0">
                <a:solidFill>
                  <a:schemeClr val="tx1"/>
                </a:solidFill>
                <a:effectLst/>
                <a:latin typeface="+mn-lt"/>
                <a:ea typeface="+mn-ea"/>
                <a:cs typeface="+mn-cs"/>
              </a:rPr>
              <a:t> gives </a:t>
            </a:r>
            <a:r>
              <a:rPr lang="en-US" sz="1200" b="1" i="0" kern="1200" dirty="0">
                <a:solidFill>
                  <a:schemeClr val="tx1"/>
                </a:solidFill>
                <a:effectLst/>
                <a:latin typeface="+mn-lt"/>
                <a:ea typeface="+mn-ea"/>
                <a:cs typeface="+mn-cs"/>
              </a:rPr>
              <a:t>approximate counts with extreme memory efficiency</a:t>
            </a:r>
            <a:r>
              <a:rPr lang="en-US" sz="1200" b="0" i="0" kern="1200" dirty="0">
                <a:solidFill>
                  <a:schemeClr val="tx1"/>
                </a:solidFill>
                <a:effectLst/>
                <a:latin typeface="+mn-lt"/>
                <a:ea typeface="+mn-ea"/>
                <a:cs typeface="+mn-cs"/>
              </a:rPr>
              <a:t>. ~1.5KB can estimate up to ~1 billion unique items with ~2% error. Memory is </a:t>
            </a:r>
            <a:r>
              <a:rPr lang="en-US" sz="1200" b="1" i="0" kern="1200" dirty="0">
                <a:solidFill>
                  <a:schemeClr val="tx1"/>
                </a:solidFill>
                <a:effectLst/>
                <a:latin typeface="+mn-lt"/>
                <a:ea typeface="+mn-ea"/>
                <a:cs typeface="+mn-cs"/>
              </a:rPr>
              <a:t>constant</a:t>
            </a:r>
            <a:r>
              <a:rPr lang="en-US" sz="1200" b="0" i="0" kern="1200" dirty="0">
                <a:solidFill>
                  <a:schemeClr val="tx1"/>
                </a:solidFill>
                <a:effectLst/>
                <a:latin typeface="+mn-lt"/>
                <a:ea typeface="+mn-ea"/>
                <a:cs typeface="+mn-cs"/>
              </a:rPr>
              <a:t> - doesn't grow with dataset size.</a:t>
            </a:r>
          </a:p>
          <a:p>
            <a:r>
              <a:rPr lang="en-US" sz="1200" b="0" i="0" kern="1200" dirty="0">
                <a:solidFill>
                  <a:schemeClr val="tx1"/>
                </a:solidFill>
                <a:effectLst/>
                <a:latin typeface="+mn-lt"/>
                <a:ea typeface="+mn-ea"/>
                <a:cs typeface="+mn-cs"/>
              </a:rPr>
              <a:t>How it works: Hash each element. Use first p bits to pick a bucket (0 to m-1). Count leading zeros in remaining bits. Keep the maximum leading zeros seen per bucket. The estimate comes from the harmonic mean of 2^{bucket values}.</a:t>
            </a:r>
          </a:p>
          <a:p>
            <a:r>
              <a:rPr lang="en-US" sz="1200" b="0" i="0" kern="1200" dirty="0">
                <a:solidFill>
                  <a:schemeClr val="tx1"/>
                </a:solidFill>
                <a:effectLst/>
                <a:latin typeface="+mn-lt"/>
                <a:ea typeface="+mn-ea"/>
                <a:cs typeface="+mn-cs"/>
              </a:rPr>
              <a:t>Parameters: m buckets (typically 2^p, p=14 → 16384 buckets). Error rate ~1.04/√m (1.3% for 16384 buckets).</a:t>
            </a:r>
          </a:p>
          <a:p>
            <a:r>
              <a:rPr lang="en-US" sz="1200" b="0" i="0" kern="1200" dirty="0">
                <a:solidFill>
                  <a:schemeClr val="tx1"/>
                </a:solidFill>
                <a:effectLst/>
                <a:latin typeface="+mn-lt"/>
                <a:ea typeface="+mn-ea"/>
                <a:cs typeface="+mn-cs"/>
              </a:rPr>
              <a:t>Properties: </a:t>
            </a:r>
            <a:r>
              <a:rPr lang="en-US" sz="1200" b="1" i="0" kern="1200" dirty="0">
                <a:solidFill>
                  <a:schemeClr val="tx1"/>
                </a:solidFill>
                <a:effectLst/>
                <a:latin typeface="+mn-lt"/>
                <a:ea typeface="+mn-ea"/>
                <a:cs typeface="+mn-cs"/>
              </a:rPr>
              <a:t>Mergeable</a:t>
            </a:r>
            <a:r>
              <a:rPr lang="en-US" sz="1200" b="0" i="0" kern="1200" dirty="0">
                <a:solidFill>
                  <a:schemeClr val="tx1"/>
                </a:solidFill>
                <a:effectLst/>
                <a:latin typeface="+mn-lt"/>
                <a:ea typeface="+mn-ea"/>
                <a:cs typeface="+mn-cs"/>
              </a:rPr>
              <a:t> - combine HLLs by taking max per bucket. </a:t>
            </a:r>
            <a:r>
              <a:rPr lang="en-US" sz="1200" b="1" i="0" kern="1200" dirty="0">
                <a:solidFill>
                  <a:schemeClr val="tx1"/>
                </a:solidFill>
                <a:effectLst/>
                <a:latin typeface="+mn-lt"/>
                <a:ea typeface="+mn-ea"/>
                <a:cs typeface="+mn-cs"/>
              </a:rPr>
              <a:t>Additive</a:t>
            </a:r>
            <a:r>
              <a:rPr lang="en-US" sz="1200" b="0" i="0" kern="1200" dirty="0">
                <a:solidFill>
                  <a:schemeClr val="tx1"/>
                </a:solidFill>
                <a:effectLst/>
                <a:latin typeface="+mn-lt"/>
                <a:ea typeface="+mn-ea"/>
                <a:cs typeface="+mn-cs"/>
              </a:rPr>
              <a:t> - add elements anytime. </a:t>
            </a:r>
            <a:r>
              <a:rPr lang="en-US" sz="1200" b="1" i="0" kern="1200" dirty="0">
                <a:solidFill>
                  <a:schemeClr val="tx1"/>
                </a:solidFill>
                <a:effectLst/>
                <a:latin typeface="+mn-lt"/>
                <a:ea typeface="+mn-ea"/>
                <a:cs typeface="+mn-cs"/>
              </a:rPr>
              <a:t>Constant memory</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Parallelizable</a:t>
            </a:r>
            <a:r>
              <a:rPr lang="en-US" sz="1200" b="0" i="0" kern="1200" dirty="0">
                <a:solidFill>
                  <a:schemeClr val="tx1"/>
                </a:solidFill>
                <a:effectLst/>
                <a:latin typeface="+mn-lt"/>
                <a:ea typeface="+mn-ea"/>
                <a:cs typeface="+mn-cs"/>
              </a:rPr>
              <a:t>.</a:t>
            </a:r>
          </a:p>
          <a:p>
            <a:endParaRPr lang="en-IN" dirty="0"/>
          </a:p>
          <a:p>
            <a:endParaRPr lang="en-IN" dirty="0"/>
          </a:p>
          <a:p>
            <a:r>
              <a:rPr lang="en-IN" sz="1200" b="0" i="0" kern="1200" dirty="0">
                <a:solidFill>
                  <a:schemeClr val="tx1"/>
                </a:solidFill>
                <a:effectLst/>
                <a:latin typeface="+mn-lt"/>
                <a:ea typeface="+mn-ea"/>
                <a:cs typeface="+mn-cs"/>
              </a:rPr>
              <a:t>Use cases: </a:t>
            </a:r>
            <a:r>
              <a:rPr lang="en-IN" sz="1200" b="1" i="0" kern="1200" dirty="0">
                <a:solidFill>
                  <a:schemeClr val="tx1"/>
                </a:solidFill>
                <a:effectLst/>
                <a:latin typeface="+mn-lt"/>
                <a:ea typeface="+mn-ea"/>
                <a:cs typeface="+mn-cs"/>
              </a:rPr>
              <a:t>Web analytics</a:t>
            </a:r>
            <a:r>
              <a:rPr lang="en-IN" sz="1200" b="0" i="0" kern="1200" dirty="0">
                <a:solidFill>
                  <a:schemeClr val="tx1"/>
                </a:solidFill>
                <a:effectLst/>
                <a:latin typeface="+mn-lt"/>
                <a:ea typeface="+mn-ea"/>
                <a:cs typeface="+mn-cs"/>
              </a:rPr>
              <a:t> - unique visitors (Google Analytics uses similar). </a:t>
            </a:r>
            <a:r>
              <a:rPr lang="en-IN" sz="1200" b="1" i="0" kern="1200" dirty="0">
                <a:solidFill>
                  <a:schemeClr val="tx1"/>
                </a:solidFill>
                <a:effectLst/>
                <a:latin typeface="+mn-lt"/>
                <a:ea typeface="+mn-ea"/>
                <a:cs typeface="+mn-cs"/>
              </a:rPr>
              <a:t>Databases</a:t>
            </a:r>
            <a:r>
              <a:rPr lang="en-IN" sz="1200" b="0" i="0" kern="1200" dirty="0">
                <a:solidFill>
                  <a:schemeClr val="tx1"/>
                </a:solidFill>
                <a:effectLst/>
                <a:latin typeface="+mn-lt"/>
                <a:ea typeface="+mn-ea"/>
                <a:cs typeface="+mn-cs"/>
              </a:rPr>
              <a:t> - Redis has native HLL commands. </a:t>
            </a:r>
            <a:r>
              <a:rPr lang="en-IN" sz="1200" b="1" i="0" kern="1200" dirty="0">
                <a:solidFill>
                  <a:schemeClr val="tx1"/>
                </a:solidFill>
                <a:effectLst/>
                <a:latin typeface="+mn-lt"/>
                <a:ea typeface="+mn-ea"/>
                <a:cs typeface="+mn-cs"/>
              </a:rPr>
              <a:t>Network monitoring</a:t>
            </a:r>
            <a:r>
              <a:rPr lang="en-IN" sz="1200" b="0" i="0" kern="1200" dirty="0">
                <a:solidFill>
                  <a:schemeClr val="tx1"/>
                </a:solidFill>
                <a:effectLst/>
                <a:latin typeface="+mn-lt"/>
                <a:ea typeface="+mn-ea"/>
                <a:cs typeface="+mn-cs"/>
              </a:rPr>
              <a:t> - distinct IPs. </a:t>
            </a:r>
            <a:r>
              <a:rPr lang="en-IN" sz="1200" b="1" i="0" kern="1200" dirty="0">
                <a:solidFill>
                  <a:schemeClr val="tx1"/>
                </a:solidFill>
                <a:effectLst/>
                <a:latin typeface="+mn-lt"/>
                <a:ea typeface="+mn-ea"/>
                <a:cs typeface="+mn-cs"/>
              </a:rPr>
              <a:t>Stream processing</a:t>
            </a:r>
            <a:r>
              <a:rPr lang="en-IN" sz="1200" b="0" i="0" kern="1200" dirty="0">
                <a:solidFill>
                  <a:schemeClr val="tx1"/>
                </a:solidFill>
                <a:effectLst/>
                <a:latin typeface="+mn-lt"/>
                <a:ea typeface="+mn-ea"/>
                <a:cs typeface="+mn-cs"/>
              </a:rPr>
              <a:t> - real-time distinct counts.</a:t>
            </a:r>
          </a:p>
          <a:p>
            <a:r>
              <a:rPr lang="en-IN" sz="1200" b="0" i="0" kern="1200" dirty="0">
                <a:solidFill>
                  <a:schemeClr val="tx1"/>
                </a:solidFill>
                <a:effectLst/>
                <a:latin typeface="+mn-lt"/>
                <a:ea typeface="+mn-ea"/>
                <a:cs typeface="+mn-cs"/>
              </a:rPr>
              <a:t>Comparison: Exact counting (HashSet) uses O(n) memory. Linear counting uses less but still grows. </a:t>
            </a:r>
            <a:r>
              <a:rPr lang="en-IN" sz="1200" b="0" i="0" kern="1200" dirty="0" err="1">
                <a:solidFill>
                  <a:schemeClr val="tx1"/>
                </a:solidFill>
                <a:effectLst/>
                <a:latin typeface="+mn-lt"/>
                <a:ea typeface="+mn-ea"/>
                <a:cs typeface="+mn-cs"/>
              </a:rPr>
              <a:t>LogLog</a:t>
            </a:r>
            <a:r>
              <a:rPr lang="en-IN" sz="1200" b="0" i="0" kern="1200" dirty="0">
                <a:solidFill>
                  <a:schemeClr val="tx1"/>
                </a:solidFill>
                <a:effectLst/>
                <a:latin typeface="+mn-lt"/>
                <a:ea typeface="+mn-ea"/>
                <a:cs typeface="+mn-cs"/>
              </a:rPr>
              <a:t> and </a:t>
            </a:r>
            <a:r>
              <a:rPr lang="en-IN" sz="1200" b="0" i="0" kern="1200" dirty="0" err="1">
                <a:solidFill>
                  <a:schemeClr val="tx1"/>
                </a:solidFill>
                <a:effectLst/>
                <a:latin typeface="+mn-lt"/>
                <a:ea typeface="+mn-ea"/>
                <a:cs typeface="+mn-cs"/>
              </a:rPr>
              <a:t>HyperLogLog</a:t>
            </a:r>
            <a:r>
              <a:rPr lang="en-IN" sz="1200" b="0" i="0" kern="1200" dirty="0">
                <a:solidFill>
                  <a:schemeClr val="tx1"/>
                </a:solidFill>
                <a:effectLst/>
                <a:latin typeface="+mn-lt"/>
                <a:ea typeface="+mn-ea"/>
                <a:cs typeface="+mn-cs"/>
              </a:rPr>
              <a:t> use O(log </a:t>
            </a:r>
            <a:r>
              <a:rPr lang="en-IN" sz="1200" b="0" i="0" kern="1200" dirty="0" err="1">
                <a:solidFill>
                  <a:schemeClr val="tx1"/>
                </a:solidFill>
                <a:effectLst/>
                <a:latin typeface="+mn-lt"/>
                <a:ea typeface="+mn-ea"/>
                <a:cs typeface="+mn-cs"/>
              </a:rPr>
              <a:t>log</a:t>
            </a:r>
            <a:r>
              <a:rPr lang="en-IN" sz="1200" b="0" i="0" kern="1200" dirty="0">
                <a:solidFill>
                  <a:schemeClr val="tx1"/>
                </a:solidFill>
                <a:effectLst/>
                <a:latin typeface="+mn-lt"/>
                <a:ea typeface="+mn-ea"/>
                <a:cs typeface="+mn-cs"/>
              </a:rPr>
              <a:t> n) - tiny!</a:t>
            </a:r>
          </a:p>
          <a:p>
            <a:r>
              <a:rPr lang="en-IN" sz="1200" b="0" i="0" kern="1200" dirty="0">
                <a:solidFill>
                  <a:schemeClr val="tx1"/>
                </a:solidFill>
                <a:effectLst/>
                <a:latin typeface="+mn-lt"/>
                <a:ea typeface="+mn-ea"/>
                <a:cs typeface="+mn-cs"/>
              </a:rPr>
              <a:t>Advantages: </a:t>
            </a:r>
            <a:r>
              <a:rPr lang="en-IN" sz="1200" b="1" i="0" kern="1200" dirty="0">
                <a:solidFill>
                  <a:schemeClr val="tx1"/>
                </a:solidFill>
                <a:effectLst/>
                <a:latin typeface="+mn-lt"/>
                <a:ea typeface="+mn-ea"/>
                <a:cs typeface="+mn-cs"/>
              </a:rPr>
              <a:t>Extreme memory efficiency</a:t>
            </a:r>
            <a:r>
              <a:rPr lang="en-IN" sz="1200" b="0" i="0" kern="1200" dirty="0">
                <a:solidFill>
                  <a:schemeClr val="tx1"/>
                </a:solidFill>
                <a:effectLst/>
                <a:latin typeface="+mn-lt"/>
                <a:ea typeface="+mn-ea"/>
                <a:cs typeface="+mn-cs"/>
              </a:rPr>
              <a:t>. </a:t>
            </a:r>
            <a:r>
              <a:rPr lang="en-IN" sz="1200" b="1" i="0" kern="1200" dirty="0">
                <a:solidFill>
                  <a:schemeClr val="tx1"/>
                </a:solidFill>
                <a:effectLst/>
                <a:latin typeface="+mn-lt"/>
                <a:ea typeface="+mn-ea"/>
                <a:cs typeface="+mn-cs"/>
              </a:rPr>
              <a:t>Constant memory</a:t>
            </a:r>
            <a:r>
              <a:rPr lang="en-IN" sz="1200" b="0" i="0" kern="1200" dirty="0">
                <a:solidFill>
                  <a:schemeClr val="tx1"/>
                </a:solidFill>
                <a:effectLst/>
                <a:latin typeface="+mn-lt"/>
                <a:ea typeface="+mn-ea"/>
                <a:cs typeface="+mn-cs"/>
              </a:rPr>
              <a:t>. </a:t>
            </a:r>
            <a:r>
              <a:rPr lang="en-IN" sz="1200" b="1" i="0" kern="1200" dirty="0">
                <a:solidFill>
                  <a:schemeClr val="tx1"/>
                </a:solidFill>
                <a:effectLst/>
                <a:latin typeface="+mn-lt"/>
                <a:ea typeface="+mn-ea"/>
                <a:cs typeface="+mn-cs"/>
              </a:rPr>
              <a:t>Mergeable</a:t>
            </a:r>
            <a:r>
              <a:rPr lang="en-IN" sz="1200" b="0" i="0" kern="1200" dirty="0">
                <a:solidFill>
                  <a:schemeClr val="tx1"/>
                </a:solidFill>
                <a:effectLst/>
                <a:latin typeface="+mn-lt"/>
                <a:ea typeface="+mn-ea"/>
                <a:cs typeface="+mn-cs"/>
              </a:rPr>
              <a:t>. </a:t>
            </a:r>
            <a:r>
              <a:rPr lang="en-IN" sz="1200" b="1" i="0" kern="1200" dirty="0">
                <a:solidFill>
                  <a:schemeClr val="tx1"/>
                </a:solidFill>
                <a:effectLst/>
                <a:latin typeface="+mn-lt"/>
                <a:ea typeface="+mn-ea"/>
                <a:cs typeface="+mn-cs"/>
              </a:rPr>
              <a:t>Parallelizable</a:t>
            </a:r>
            <a:r>
              <a:rPr lang="en-IN" sz="1200" b="0" i="0" kern="1200" dirty="0">
                <a:solidFill>
                  <a:schemeClr val="tx1"/>
                </a:solidFill>
                <a:effectLst/>
                <a:latin typeface="+mn-lt"/>
                <a:ea typeface="+mn-ea"/>
                <a:cs typeface="+mn-cs"/>
              </a:rPr>
              <a:t>. </a:t>
            </a:r>
            <a:r>
              <a:rPr lang="en-IN" sz="1200" b="1" i="0" kern="1200" dirty="0">
                <a:solidFill>
                  <a:schemeClr val="tx1"/>
                </a:solidFill>
                <a:effectLst/>
                <a:latin typeface="+mn-lt"/>
                <a:ea typeface="+mn-ea"/>
                <a:cs typeface="+mn-cs"/>
              </a:rPr>
              <a:t>Accurate enough</a:t>
            </a:r>
            <a:r>
              <a:rPr lang="en-IN" sz="1200" b="0" i="0" kern="1200" dirty="0">
                <a:solidFill>
                  <a:schemeClr val="tx1"/>
                </a:solidFill>
                <a:effectLst/>
                <a:latin typeface="+mn-lt"/>
                <a:ea typeface="+mn-ea"/>
                <a:cs typeface="+mn-cs"/>
              </a:rPr>
              <a:t> for most purposes.</a:t>
            </a:r>
          </a:p>
          <a:p>
            <a:r>
              <a:rPr lang="en-IN" sz="1200" b="0" i="0" kern="1200" dirty="0">
                <a:solidFill>
                  <a:schemeClr val="tx1"/>
                </a:solidFill>
                <a:effectLst/>
                <a:latin typeface="+mn-lt"/>
                <a:ea typeface="+mn-ea"/>
                <a:cs typeface="+mn-cs"/>
              </a:rPr>
              <a:t>Disadvantages: </a:t>
            </a:r>
            <a:r>
              <a:rPr lang="en-IN" sz="1200" b="1" i="0" kern="1200" dirty="0">
                <a:solidFill>
                  <a:schemeClr val="tx1"/>
                </a:solidFill>
                <a:effectLst/>
                <a:latin typeface="+mn-lt"/>
                <a:ea typeface="+mn-ea"/>
                <a:cs typeface="+mn-cs"/>
              </a:rPr>
              <a:t>Approximate</a:t>
            </a:r>
            <a:r>
              <a:rPr lang="en-IN" sz="1200" b="0" i="0" kern="1200" dirty="0">
                <a:solidFill>
                  <a:schemeClr val="tx1"/>
                </a:solidFill>
                <a:effectLst/>
                <a:latin typeface="+mn-lt"/>
                <a:ea typeface="+mn-ea"/>
                <a:cs typeface="+mn-cs"/>
              </a:rPr>
              <a:t> (not exact). </a:t>
            </a:r>
            <a:r>
              <a:rPr lang="en-IN" sz="1200" b="1" i="0" kern="1200" dirty="0">
                <a:solidFill>
                  <a:schemeClr val="tx1"/>
                </a:solidFill>
                <a:effectLst/>
                <a:latin typeface="+mn-lt"/>
                <a:ea typeface="+mn-ea"/>
                <a:cs typeface="+mn-cs"/>
              </a:rPr>
              <a:t>Cannot list elements</a:t>
            </a:r>
            <a:r>
              <a:rPr lang="en-IN" sz="1200" b="0" i="0" kern="1200" dirty="0">
                <a:solidFill>
                  <a:schemeClr val="tx1"/>
                </a:solidFill>
                <a:effectLst/>
                <a:latin typeface="+mn-lt"/>
                <a:ea typeface="+mn-ea"/>
                <a:cs typeface="+mn-cs"/>
              </a:rPr>
              <a:t>. </a:t>
            </a:r>
            <a:r>
              <a:rPr lang="en-IN" sz="1200" b="1" i="0" kern="1200" dirty="0">
                <a:solidFill>
                  <a:schemeClr val="tx1"/>
                </a:solidFill>
                <a:effectLst/>
                <a:latin typeface="+mn-lt"/>
                <a:ea typeface="+mn-ea"/>
                <a:cs typeface="+mn-cs"/>
              </a:rPr>
              <a:t>Less accurate for small sets</a:t>
            </a:r>
            <a:r>
              <a:rPr lang="en-IN" sz="1200" b="0" i="0" kern="1200" dirty="0">
                <a:solidFill>
                  <a:schemeClr val="tx1"/>
                </a:solidFill>
                <a:effectLst/>
                <a:latin typeface="+mn-lt"/>
                <a:ea typeface="+mn-ea"/>
                <a:cs typeface="+mn-cs"/>
              </a:rPr>
              <a:t>. </a:t>
            </a:r>
            <a:r>
              <a:rPr lang="en-IN" sz="1200" b="1" i="0" kern="1200" dirty="0">
                <a:solidFill>
                  <a:schemeClr val="tx1"/>
                </a:solidFill>
                <a:effectLst/>
                <a:latin typeface="+mn-lt"/>
                <a:ea typeface="+mn-ea"/>
                <a:cs typeface="+mn-cs"/>
              </a:rPr>
              <a:t>Hash function critical</a:t>
            </a:r>
            <a:r>
              <a:rPr lang="en-IN" sz="1200" b="0" i="0" kern="1200" dirty="0">
                <a:solidFill>
                  <a:schemeClr val="tx1"/>
                </a:solidFill>
                <a:effectLst/>
                <a:latin typeface="+mn-lt"/>
                <a:ea typeface="+mn-ea"/>
                <a:cs typeface="+mn-cs"/>
              </a:rPr>
              <a:t>.</a:t>
            </a:r>
          </a:p>
          <a:p>
            <a:r>
              <a:rPr lang="en-IN" sz="1200" b="0" i="0" kern="1200" dirty="0">
                <a:solidFill>
                  <a:schemeClr val="tx1"/>
                </a:solidFill>
                <a:effectLst/>
                <a:latin typeface="+mn-lt"/>
                <a:ea typeface="+mn-ea"/>
                <a:cs typeface="+mn-cs"/>
              </a:rPr>
              <a:t>Real usage: </a:t>
            </a:r>
            <a:r>
              <a:rPr lang="en-IN" sz="1200" b="1" i="0" kern="1200" dirty="0">
                <a:solidFill>
                  <a:schemeClr val="tx1"/>
                </a:solidFill>
                <a:effectLst/>
                <a:latin typeface="+mn-lt"/>
                <a:ea typeface="+mn-ea"/>
                <a:cs typeface="+mn-cs"/>
              </a:rPr>
              <a:t>Redis</a:t>
            </a:r>
            <a:r>
              <a:rPr lang="en-IN" sz="1200" b="0" i="0" kern="1200" dirty="0">
                <a:solidFill>
                  <a:schemeClr val="tx1"/>
                </a:solidFill>
                <a:effectLst/>
                <a:latin typeface="+mn-lt"/>
                <a:ea typeface="+mn-ea"/>
                <a:cs typeface="+mn-cs"/>
              </a:rPr>
              <a:t> (PFADD, PFCOUNT). </a:t>
            </a:r>
            <a:r>
              <a:rPr lang="en-IN" sz="1200" b="1" i="0" kern="1200" dirty="0">
                <a:solidFill>
                  <a:schemeClr val="tx1"/>
                </a:solidFill>
                <a:effectLst/>
                <a:latin typeface="+mn-lt"/>
                <a:ea typeface="+mn-ea"/>
                <a:cs typeface="+mn-cs"/>
              </a:rPr>
              <a:t>Google </a:t>
            </a:r>
            <a:r>
              <a:rPr lang="en-IN" sz="1200" b="1" i="0" kern="1200" dirty="0" err="1">
                <a:solidFill>
                  <a:schemeClr val="tx1"/>
                </a:solidFill>
                <a:effectLst/>
                <a:latin typeface="+mn-lt"/>
                <a:ea typeface="+mn-ea"/>
                <a:cs typeface="+mn-cs"/>
              </a:rPr>
              <a:t>BigQuery</a:t>
            </a:r>
            <a:r>
              <a:rPr lang="en-IN" sz="1200" b="0" i="0" kern="1200" dirty="0">
                <a:solidFill>
                  <a:schemeClr val="tx1"/>
                </a:solidFill>
                <a:effectLst/>
                <a:latin typeface="+mn-lt"/>
                <a:ea typeface="+mn-ea"/>
                <a:cs typeface="+mn-cs"/>
              </a:rPr>
              <a:t>. </a:t>
            </a:r>
            <a:r>
              <a:rPr lang="en-IN" sz="1200" b="1" i="0" kern="1200" dirty="0">
                <a:solidFill>
                  <a:schemeClr val="tx1"/>
                </a:solidFill>
                <a:effectLst/>
                <a:latin typeface="+mn-lt"/>
                <a:ea typeface="+mn-ea"/>
                <a:cs typeface="+mn-cs"/>
              </a:rPr>
              <a:t>Apache Spark</a:t>
            </a:r>
            <a:r>
              <a:rPr lang="en-IN" sz="1200" b="0" i="0" kern="1200" dirty="0">
                <a:solidFill>
                  <a:schemeClr val="tx1"/>
                </a:solidFill>
                <a:effectLst/>
                <a:latin typeface="+mn-lt"/>
                <a:ea typeface="+mn-ea"/>
                <a:cs typeface="+mn-cs"/>
              </a:rPr>
              <a:t>. </a:t>
            </a:r>
            <a:r>
              <a:rPr lang="en-IN" sz="1200" b="1" i="0" kern="1200" dirty="0">
                <a:solidFill>
                  <a:schemeClr val="tx1"/>
                </a:solidFill>
                <a:effectLst/>
                <a:latin typeface="+mn-lt"/>
                <a:ea typeface="+mn-ea"/>
                <a:cs typeface="+mn-cs"/>
              </a:rPr>
              <a:t>PostgreSQL </a:t>
            </a:r>
            <a:r>
              <a:rPr lang="en-IN" sz="1200" b="1" i="0" kern="1200" dirty="0" err="1">
                <a:solidFill>
                  <a:schemeClr val="tx1"/>
                </a:solidFill>
                <a:effectLst/>
                <a:latin typeface="+mn-lt"/>
                <a:ea typeface="+mn-ea"/>
                <a:cs typeface="+mn-cs"/>
              </a:rPr>
              <a:t>hll</a:t>
            </a:r>
            <a:r>
              <a:rPr lang="en-IN" sz="1200" b="1" i="0" kern="1200" dirty="0">
                <a:solidFill>
                  <a:schemeClr val="tx1"/>
                </a:solidFill>
                <a:effectLst/>
                <a:latin typeface="+mn-lt"/>
                <a:ea typeface="+mn-ea"/>
                <a:cs typeface="+mn-cs"/>
              </a:rPr>
              <a:t> extension</a:t>
            </a:r>
            <a:r>
              <a:rPr lang="en-IN" sz="1200" b="0" i="0" kern="1200" dirty="0">
                <a:solidFill>
                  <a:schemeClr val="tx1"/>
                </a:solidFill>
                <a:effectLst/>
                <a:latin typeface="+mn-lt"/>
                <a:ea typeface="+mn-ea"/>
                <a:cs typeface="+mn-cs"/>
              </a:rPr>
              <a:t>.</a:t>
            </a:r>
          </a:p>
          <a:p>
            <a:endParaRPr lang="en-IN" dirty="0"/>
          </a:p>
          <a:p>
            <a:endParaRPr lang="en-IN" dirty="0"/>
          </a:p>
          <a:p>
            <a:r>
              <a:rPr lang="en-US" sz="1200" b="0" i="0" kern="1200" dirty="0" err="1">
                <a:solidFill>
                  <a:schemeClr val="tx1"/>
                </a:solidFill>
                <a:effectLst/>
                <a:latin typeface="+mn-lt"/>
                <a:ea typeface="+mn-ea"/>
                <a:cs typeface="+mn-cs"/>
              </a:rPr>
              <a:t>HyperLogLog</a:t>
            </a:r>
            <a:r>
              <a:rPr lang="en-US" sz="1200" b="0" i="0" kern="1200" dirty="0">
                <a:solidFill>
                  <a:schemeClr val="tx1"/>
                </a:solidFill>
                <a:effectLst/>
                <a:latin typeface="+mn-lt"/>
                <a:ea typeface="+mn-ea"/>
                <a:cs typeface="+mn-cs"/>
              </a:rPr>
              <a:t> exemplifies the big data mindset: </a:t>
            </a:r>
            <a:r>
              <a:rPr lang="en-US" sz="1200" b="1" i="0" kern="1200" dirty="0">
                <a:solidFill>
                  <a:schemeClr val="tx1"/>
                </a:solidFill>
                <a:effectLst/>
                <a:latin typeface="+mn-lt"/>
                <a:ea typeface="+mn-ea"/>
                <a:cs typeface="+mn-cs"/>
              </a:rPr>
              <a:t>approximate answers now are better than exact answers never</a:t>
            </a:r>
            <a:r>
              <a:rPr lang="en-US" sz="1200" b="0" i="0" kern="1200" dirty="0">
                <a:solidFill>
                  <a:schemeClr val="tx1"/>
                </a:solidFill>
                <a:effectLst/>
                <a:latin typeface="+mn-lt"/>
                <a:ea typeface="+mn-ea"/>
                <a:cs typeface="+mn-cs"/>
              </a:rPr>
              <a:t>.</a:t>
            </a:r>
            <a:endParaRPr lang="en-IN" dirty="0"/>
          </a:p>
        </p:txBody>
      </p:sp>
      <p:sp>
        <p:nvSpPr>
          <p:cNvPr id="4" name="Slide Number Placeholder 3">
            <a:extLst>
              <a:ext uri="{FF2B5EF4-FFF2-40B4-BE49-F238E27FC236}">
                <a16:creationId xmlns:a16="http://schemas.microsoft.com/office/drawing/2014/main" id="{5865A47E-3AD3-008E-9A45-267B84233FFF}"/>
              </a:ext>
            </a:extLst>
          </p:cNvPr>
          <p:cNvSpPr>
            <a:spLocks noGrp="1"/>
          </p:cNvSpPr>
          <p:nvPr>
            <p:ph type="sldNum" sz="quarter" idx="5"/>
          </p:nvPr>
        </p:nvSpPr>
        <p:spPr/>
        <p:txBody>
          <a:bodyPr/>
          <a:lstStyle/>
          <a:p>
            <a:fld id="{72853293-4F00-4813-B74A-3945ABE0C2FC}" type="slidenum">
              <a:rPr lang="en-IN" smtClean="0"/>
              <a:t>17</a:t>
            </a:fld>
            <a:endParaRPr lang="en-IN"/>
          </a:p>
        </p:txBody>
      </p:sp>
    </p:spTree>
    <p:extLst>
      <p:ext uri="{BB962C8B-B14F-4D97-AF65-F5344CB8AC3E}">
        <p14:creationId xmlns:p14="http://schemas.microsoft.com/office/powerpoint/2010/main" val="1719837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85AA69-A214-DD85-4A17-1EE0A5766C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7497B7-BDD5-5C1B-F201-05D4C816781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3E8D506-94B9-AB73-E1D5-CA08CAFD0666}"/>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Now let's look at </a:t>
            </a:r>
            <a:r>
              <a:rPr lang="en-US" sz="1200" b="1" i="0" kern="1200" dirty="0">
                <a:solidFill>
                  <a:schemeClr val="tx1"/>
                </a:solidFill>
                <a:effectLst/>
                <a:latin typeface="+mn-lt"/>
                <a:ea typeface="+mn-ea"/>
                <a:cs typeface="+mn-cs"/>
              </a:rPr>
              <a:t>Count-Min Sketch</a:t>
            </a:r>
            <a:r>
              <a:rPr lang="en-US" sz="1200" b="0" i="0" kern="1200" dirty="0">
                <a:solidFill>
                  <a:schemeClr val="tx1"/>
                </a:solidFill>
                <a:effectLst/>
                <a:latin typeface="+mn-lt"/>
                <a:ea typeface="+mn-ea"/>
                <a:cs typeface="+mn-cs"/>
              </a:rPr>
              <a:t>, a probabilistic data structure for </a:t>
            </a:r>
            <a:r>
              <a:rPr lang="en-US" sz="1200" b="1" i="0" kern="1200" dirty="0">
                <a:solidFill>
                  <a:schemeClr val="tx1"/>
                </a:solidFill>
                <a:effectLst/>
                <a:latin typeface="+mn-lt"/>
                <a:ea typeface="+mn-ea"/>
                <a:cs typeface="+mn-cs"/>
              </a:rPr>
              <a:t>frequency estimation</a:t>
            </a:r>
            <a:r>
              <a:rPr lang="en-US" sz="1200" b="0" i="0" kern="1200" dirty="0">
                <a:solidFill>
                  <a:schemeClr val="tx1"/>
                </a:solidFill>
                <a:effectLst/>
                <a:latin typeface="+mn-lt"/>
                <a:ea typeface="+mn-ea"/>
                <a:cs typeface="+mn-cs"/>
              </a:rPr>
              <a:t>.</a:t>
            </a:r>
          </a:p>
          <a:p>
            <a:r>
              <a:rPr lang="en-US" sz="1200" b="0" i="0" kern="1200" dirty="0">
                <a:solidFill>
                  <a:schemeClr val="tx1"/>
                </a:solidFill>
                <a:effectLst/>
                <a:latin typeface="+mn-lt"/>
                <a:ea typeface="+mn-ea"/>
                <a:cs typeface="+mn-cs"/>
              </a:rPr>
              <a:t>The problem: In a data stream (network traffic, user clicks, search queries), we want to know: "Approximately how many times have we seen this item?" Exact counting requires storing all items → O(n) memory. For massive streams, impossible.</a:t>
            </a:r>
          </a:p>
          <a:p>
            <a:r>
              <a:rPr lang="en-US" sz="1200" b="0" i="0" kern="1200" dirty="0">
                <a:solidFill>
                  <a:schemeClr val="tx1"/>
                </a:solidFill>
                <a:effectLst/>
                <a:latin typeface="+mn-lt"/>
                <a:ea typeface="+mn-ea"/>
                <a:cs typeface="+mn-cs"/>
              </a:rPr>
              <a:t>Count-Min Sketch uses a fixed 2D array (d rows × w columns) and d hash functions. To record an item: hash it d ways, increment those d counters. To query: hash it d ways, take the </a:t>
            </a:r>
            <a:r>
              <a:rPr lang="en-US" sz="1200" b="1" i="0" kern="1200" dirty="0">
                <a:solidFill>
                  <a:schemeClr val="tx1"/>
                </a:solidFill>
                <a:effectLst/>
                <a:latin typeface="+mn-lt"/>
                <a:ea typeface="+mn-ea"/>
                <a:cs typeface="+mn-cs"/>
              </a:rPr>
              <a:t>minimum</a:t>
            </a:r>
            <a:r>
              <a:rPr lang="en-US" sz="1200" b="0" i="0" kern="1200" dirty="0">
                <a:solidFill>
                  <a:schemeClr val="tx1"/>
                </a:solidFill>
                <a:effectLst/>
                <a:latin typeface="+mn-lt"/>
                <a:ea typeface="+mn-ea"/>
                <a:cs typeface="+mn-cs"/>
              </a:rPr>
              <a:t> of those d counters.</a:t>
            </a:r>
          </a:p>
          <a:p>
            <a:r>
              <a:rPr lang="en-US" sz="1200" b="0" i="0" kern="1200" dirty="0">
                <a:solidFill>
                  <a:schemeClr val="tx1"/>
                </a:solidFill>
                <a:effectLst/>
                <a:latin typeface="+mn-lt"/>
                <a:ea typeface="+mn-ea"/>
                <a:cs typeface="+mn-cs"/>
              </a:rPr>
              <a:t>Why minimum? Hash collisions cause </a:t>
            </a:r>
            <a:r>
              <a:rPr lang="en-US" sz="1200" b="1" i="0" kern="1200" dirty="0">
                <a:solidFill>
                  <a:schemeClr val="tx1"/>
                </a:solidFill>
                <a:effectLst/>
                <a:latin typeface="+mn-lt"/>
                <a:ea typeface="+mn-ea"/>
                <a:cs typeface="+mn-cs"/>
              </a:rPr>
              <a:t>overestimation</a:t>
            </a:r>
            <a:r>
              <a:rPr lang="en-US" sz="1200" b="0" i="0" kern="1200" dirty="0">
                <a:solidFill>
                  <a:schemeClr val="tx1"/>
                </a:solidFill>
                <a:effectLst/>
                <a:latin typeface="+mn-lt"/>
                <a:ea typeface="+mn-ea"/>
                <a:cs typeface="+mn-cs"/>
              </a:rPr>
              <a:t> - other items increment the same counter. The minimum gives the tightest upper bound. More rows (d) reduce error probability.</a:t>
            </a:r>
          </a:p>
          <a:p>
            <a:r>
              <a:rPr lang="en-US" sz="1200" b="0" i="0" kern="1200" dirty="0">
                <a:solidFill>
                  <a:schemeClr val="tx1"/>
                </a:solidFill>
                <a:effectLst/>
                <a:latin typeface="+mn-lt"/>
                <a:ea typeface="+mn-ea"/>
                <a:cs typeface="+mn-cs"/>
              </a:rPr>
              <a:t>Parameters: Width w controls error bound ε. Depth d controls failure probability δ. Memory is d × w counters. Error guarantee: estimate ≤ true count + </a:t>
            </a:r>
            <a:r>
              <a:rPr lang="en-US" sz="1200" b="0" i="0" kern="1200" dirty="0" err="1">
                <a:solidFill>
                  <a:schemeClr val="tx1"/>
                </a:solidFill>
                <a:effectLst/>
                <a:latin typeface="+mn-lt"/>
                <a:ea typeface="+mn-ea"/>
                <a:cs typeface="+mn-cs"/>
              </a:rPr>
              <a:t>εN</a:t>
            </a:r>
            <a:r>
              <a:rPr lang="en-US" sz="1200" b="0" i="0" kern="1200" dirty="0">
                <a:solidFill>
                  <a:schemeClr val="tx1"/>
                </a:solidFill>
                <a:effectLst/>
                <a:latin typeface="+mn-lt"/>
                <a:ea typeface="+mn-ea"/>
                <a:cs typeface="+mn-cs"/>
              </a:rPr>
              <a:t> with probability 1-δ, where N is total stream length.</a:t>
            </a:r>
          </a:p>
          <a:p>
            <a:r>
              <a:rPr lang="en-US" sz="1200" b="0" i="0" kern="1200" dirty="0">
                <a:solidFill>
                  <a:schemeClr val="tx1"/>
                </a:solidFill>
                <a:effectLst/>
                <a:latin typeface="+mn-lt"/>
                <a:ea typeface="+mn-ea"/>
                <a:cs typeface="+mn-cs"/>
              </a:rPr>
              <a:t>Use cases: </a:t>
            </a:r>
            <a:r>
              <a:rPr lang="en-US" sz="1200" b="1" i="0" kern="1200" dirty="0">
                <a:solidFill>
                  <a:schemeClr val="tx1"/>
                </a:solidFill>
                <a:effectLst/>
                <a:latin typeface="+mn-lt"/>
                <a:ea typeface="+mn-ea"/>
                <a:cs typeface="+mn-cs"/>
              </a:rPr>
              <a:t>Heavy hitters</a:t>
            </a:r>
            <a:r>
              <a:rPr lang="en-US" sz="1200" b="0" i="0" kern="1200" dirty="0">
                <a:solidFill>
                  <a:schemeClr val="tx1"/>
                </a:solidFill>
                <a:effectLst/>
                <a:latin typeface="+mn-lt"/>
                <a:ea typeface="+mn-ea"/>
                <a:cs typeface="+mn-cs"/>
              </a:rPr>
              <a:t> (top-K frequent items). </a:t>
            </a:r>
            <a:r>
              <a:rPr lang="en-US" sz="1200" b="1" i="0" kern="1200" dirty="0">
                <a:solidFill>
                  <a:schemeClr val="tx1"/>
                </a:solidFill>
                <a:effectLst/>
                <a:latin typeface="+mn-lt"/>
                <a:ea typeface="+mn-ea"/>
                <a:cs typeface="+mn-cs"/>
              </a:rPr>
              <a:t>Frequency estimation</a:t>
            </a:r>
            <a:r>
              <a:rPr lang="en-US" sz="1200" b="0" i="0" kern="1200" dirty="0">
                <a:solidFill>
                  <a:schemeClr val="tx1"/>
                </a:solidFill>
                <a:effectLst/>
                <a:latin typeface="+mn-lt"/>
                <a:ea typeface="+mn-ea"/>
                <a:cs typeface="+mn-cs"/>
              </a:rPr>
              <a:t> (ad clicks, product views). </a:t>
            </a:r>
            <a:r>
              <a:rPr lang="en-US" sz="1200" b="1" i="0" kern="1200" dirty="0">
                <a:solidFill>
                  <a:schemeClr val="tx1"/>
                </a:solidFill>
                <a:effectLst/>
                <a:latin typeface="+mn-lt"/>
                <a:ea typeface="+mn-ea"/>
                <a:cs typeface="+mn-cs"/>
              </a:rPr>
              <a:t>Network monitoring</a:t>
            </a:r>
            <a:r>
              <a:rPr lang="en-US" sz="1200" b="0" i="0" kern="1200" dirty="0">
                <a:solidFill>
                  <a:schemeClr val="tx1"/>
                </a:solidFill>
                <a:effectLst/>
                <a:latin typeface="+mn-lt"/>
                <a:ea typeface="+mn-ea"/>
                <a:cs typeface="+mn-cs"/>
              </a:rPr>
              <a:t> (DDoS detection). </a:t>
            </a:r>
            <a:r>
              <a:rPr lang="en-US" sz="1200" b="1" i="0" kern="1200" dirty="0">
                <a:solidFill>
                  <a:schemeClr val="tx1"/>
                </a:solidFill>
                <a:effectLst/>
                <a:latin typeface="+mn-lt"/>
                <a:ea typeface="+mn-ea"/>
                <a:cs typeface="+mn-cs"/>
              </a:rPr>
              <a:t>Database optimization</a:t>
            </a:r>
            <a:r>
              <a:rPr lang="en-US" sz="1200" b="0" i="0" kern="1200" dirty="0">
                <a:solidFill>
                  <a:schemeClr val="tx1"/>
                </a:solidFill>
                <a:effectLst/>
                <a:latin typeface="+mn-lt"/>
                <a:ea typeface="+mn-ea"/>
                <a:cs typeface="+mn-cs"/>
              </a:rPr>
              <a:t> (hot key detection).</a:t>
            </a:r>
          </a:p>
          <a:p>
            <a:endParaRPr lang="en-IN" dirty="0"/>
          </a:p>
          <a:p>
            <a:r>
              <a:rPr lang="en-US" sz="1200" b="0" i="0" kern="1200" dirty="0">
                <a:solidFill>
                  <a:schemeClr val="tx1"/>
                </a:solidFill>
                <a:effectLst/>
                <a:latin typeface="+mn-lt"/>
                <a:ea typeface="+mn-ea"/>
                <a:cs typeface="+mn-cs"/>
              </a:rPr>
              <a:t>Variants: </a:t>
            </a:r>
            <a:r>
              <a:rPr lang="en-US" sz="1200" b="1" i="0" kern="1200" dirty="0">
                <a:solidFill>
                  <a:schemeClr val="tx1"/>
                </a:solidFill>
                <a:effectLst/>
                <a:latin typeface="+mn-lt"/>
                <a:ea typeface="+mn-ea"/>
                <a:cs typeface="+mn-cs"/>
              </a:rPr>
              <a:t>Count Sketch</a:t>
            </a:r>
            <a:r>
              <a:rPr lang="en-US" sz="1200" b="0" i="0" kern="1200" dirty="0">
                <a:solidFill>
                  <a:schemeClr val="tx1"/>
                </a:solidFill>
                <a:effectLst/>
                <a:latin typeface="+mn-lt"/>
                <a:ea typeface="+mn-ea"/>
                <a:cs typeface="+mn-cs"/>
              </a:rPr>
              <a:t> uses ±1 updates for better mean estimation. </a:t>
            </a:r>
            <a:r>
              <a:rPr lang="en-US" sz="1200" b="1" i="0" kern="1200" dirty="0">
                <a:solidFill>
                  <a:schemeClr val="tx1"/>
                </a:solidFill>
                <a:effectLst/>
                <a:latin typeface="+mn-lt"/>
                <a:ea typeface="+mn-ea"/>
                <a:cs typeface="+mn-cs"/>
              </a:rPr>
              <a:t>Conservative Update</a:t>
            </a:r>
            <a:r>
              <a:rPr lang="en-US" sz="1200" b="0" i="0" kern="1200" dirty="0">
                <a:solidFill>
                  <a:schemeClr val="tx1"/>
                </a:solidFill>
                <a:effectLst/>
                <a:latin typeface="+mn-lt"/>
                <a:ea typeface="+mn-ea"/>
                <a:cs typeface="+mn-cs"/>
              </a:rPr>
              <a:t> only increments minimum counter(s) for better accuracy.</a:t>
            </a:r>
          </a:p>
          <a:p>
            <a:r>
              <a:rPr lang="en-US" sz="1200" b="0" i="0" kern="1200" dirty="0">
                <a:solidFill>
                  <a:schemeClr val="tx1"/>
                </a:solidFill>
                <a:effectLst/>
                <a:latin typeface="+mn-lt"/>
                <a:ea typeface="+mn-ea"/>
                <a:cs typeface="+mn-cs"/>
              </a:rPr>
              <a:t>Comparison: Count-Min overestimates only. Count Sketch can over/underestimate. Both use fixed memory while exact counting grows.</a:t>
            </a:r>
          </a:p>
          <a:p>
            <a:r>
              <a:rPr lang="en-US" sz="1200" b="0" i="0" kern="1200" dirty="0">
                <a:solidFill>
                  <a:schemeClr val="tx1"/>
                </a:solidFill>
                <a:effectLst/>
                <a:latin typeface="+mn-lt"/>
                <a:ea typeface="+mn-ea"/>
                <a:cs typeface="+mn-cs"/>
              </a:rPr>
              <a:t>Advantages: </a:t>
            </a:r>
            <a:r>
              <a:rPr lang="en-US" sz="1200" b="1" i="0" kern="1200" dirty="0">
                <a:solidFill>
                  <a:schemeClr val="tx1"/>
                </a:solidFill>
                <a:effectLst/>
                <a:latin typeface="+mn-lt"/>
                <a:ea typeface="+mn-ea"/>
                <a:cs typeface="+mn-cs"/>
              </a:rPr>
              <a:t>Fixed memory</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Fast O(d) operations</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Mergeable</a:t>
            </a:r>
            <a:r>
              <a:rPr lang="en-US" sz="1200" b="0" i="0" kern="1200" dirty="0">
                <a:solidFill>
                  <a:schemeClr val="tx1"/>
                </a:solidFill>
                <a:effectLst/>
                <a:latin typeface="+mn-lt"/>
                <a:ea typeface="+mn-ea"/>
                <a:cs typeface="+mn-cs"/>
              </a:rPr>
              <a:t> (sum counters). </a:t>
            </a:r>
            <a:r>
              <a:rPr lang="en-US" sz="1200" b="1" i="0" kern="1200" dirty="0">
                <a:solidFill>
                  <a:schemeClr val="tx1"/>
                </a:solidFill>
                <a:effectLst/>
                <a:latin typeface="+mn-lt"/>
                <a:ea typeface="+mn-ea"/>
                <a:cs typeface="+mn-cs"/>
              </a:rPr>
              <a:t>Theoretical guarantees</a:t>
            </a:r>
            <a:r>
              <a:rPr lang="en-US" sz="1200" b="0" i="0" kern="1200" dirty="0">
                <a:solidFill>
                  <a:schemeClr val="tx1"/>
                </a:solidFill>
                <a:effectLst/>
                <a:latin typeface="+mn-lt"/>
                <a:ea typeface="+mn-ea"/>
                <a:cs typeface="+mn-cs"/>
              </a:rPr>
              <a:t>.</a:t>
            </a:r>
          </a:p>
          <a:p>
            <a:r>
              <a:rPr lang="en-US" sz="1200" b="0" i="0" kern="1200" dirty="0">
                <a:solidFill>
                  <a:schemeClr val="tx1"/>
                </a:solidFill>
                <a:effectLst/>
                <a:latin typeface="+mn-lt"/>
                <a:ea typeface="+mn-ea"/>
                <a:cs typeface="+mn-cs"/>
              </a:rPr>
              <a:t>Disadvantages: </a:t>
            </a:r>
            <a:r>
              <a:rPr lang="en-US" sz="1200" b="1" i="0" kern="1200" dirty="0">
                <a:solidFill>
                  <a:schemeClr val="tx1"/>
                </a:solidFill>
                <a:effectLst/>
                <a:latin typeface="+mn-lt"/>
                <a:ea typeface="+mn-ea"/>
                <a:cs typeface="+mn-cs"/>
              </a:rPr>
              <a:t>Overestimation</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Memory/accuracy trade-off</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Cannot delete</a:t>
            </a:r>
            <a:r>
              <a:rPr lang="en-US" sz="1200" b="0" i="0" kern="1200" dirty="0">
                <a:solidFill>
                  <a:schemeClr val="tx1"/>
                </a:solidFill>
                <a:effectLst/>
                <a:latin typeface="+mn-lt"/>
                <a:ea typeface="+mn-ea"/>
                <a:cs typeface="+mn-cs"/>
              </a:rPr>
              <a:t> (basic version).</a:t>
            </a:r>
          </a:p>
          <a:p>
            <a:r>
              <a:rPr lang="en-US" sz="1200" b="0" i="0" kern="1200" dirty="0">
                <a:solidFill>
                  <a:schemeClr val="tx1"/>
                </a:solidFill>
                <a:effectLst/>
                <a:latin typeface="+mn-lt"/>
                <a:ea typeface="+mn-ea"/>
                <a:cs typeface="+mn-cs"/>
              </a:rPr>
              <a:t>Real usage: </a:t>
            </a:r>
            <a:r>
              <a:rPr lang="en-US" sz="1200" b="1" i="0" kern="1200" dirty="0">
                <a:solidFill>
                  <a:schemeClr val="tx1"/>
                </a:solidFill>
                <a:effectLst/>
                <a:latin typeface="+mn-lt"/>
                <a:ea typeface="+mn-ea"/>
                <a:cs typeface="+mn-cs"/>
              </a:rPr>
              <a:t>Google</a:t>
            </a:r>
            <a:r>
              <a:rPr lang="en-US" sz="1200" b="0" i="0" kern="1200" dirty="0">
                <a:solidFill>
                  <a:schemeClr val="tx1"/>
                </a:solidFill>
                <a:effectLst/>
                <a:latin typeface="+mn-lt"/>
                <a:ea typeface="+mn-ea"/>
                <a:cs typeface="+mn-cs"/>
              </a:rPr>
              <a:t> (trending queries). </a:t>
            </a:r>
            <a:r>
              <a:rPr lang="en-US" sz="1200" b="1" i="0" kern="1200" dirty="0">
                <a:solidFill>
                  <a:schemeClr val="tx1"/>
                </a:solidFill>
                <a:effectLst/>
                <a:latin typeface="+mn-lt"/>
                <a:ea typeface="+mn-ea"/>
                <a:cs typeface="+mn-cs"/>
              </a:rPr>
              <a:t>Twitter</a:t>
            </a:r>
            <a:r>
              <a:rPr lang="en-US" sz="1200" b="0" i="0" kern="1200" dirty="0">
                <a:solidFill>
                  <a:schemeClr val="tx1"/>
                </a:solidFill>
                <a:effectLst/>
                <a:latin typeface="+mn-lt"/>
                <a:ea typeface="+mn-ea"/>
                <a:cs typeface="+mn-cs"/>
              </a:rPr>
              <a:t> (trending topics). </a:t>
            </a:r>
            <a:r>
              <a:rPr lang="en-US" sz="1200" b="1" i="0" kern="1200" dirty="0">
                <a:solidFill>
                  <a:schemeClr val="tx1"/>
                </a:solidFill>
                <a:effectLst/>
                <a:latin typeface="+mn-lt"/>
                <a:ea typeface="+mn-ea"/>
                <a:cs typeface="+mn-cs"/>
              </a:rPr>
              <a:t>Network switches</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Stream processing</a:t>
            </a:r>
            <a:r>
              <a:rPr lang="en-US" sz="1200" b="0" i="0" kern="1200" dirty="0">
                <a:solidFill>
                  <a:schemeClr val="tx1"/>
                </a:solidFill>
                <a:effectLst/>
                <a:latin typeface="+mn-lt"/>
                <a:ea typeface="+mn-ea"/>
                <a:cs typeface="+mn-cs"/>
              </a:rPr>
              <a:t> systems.</a:t>
            </a:r>
          </a:p>
          <a:p>
            <a:endParaRPr lang="en-IN" dirty="0"/>
          </a:p>
          <a:p>
            <a:r>
              <a:rPr lang="en-US" sz="1200" b="0" i="0" kern="1200" dirty="0">
                <a:solidFill>
                  <a:schemeClr val="tx1"/>
                </a:solidFill>
                <a:effectLst/>
                <a:latin typeface="+mn-lt"/>
                <a:ea typeface="+mn-ea"/>
                <a:cs typeface="+mn-cs"/>
              </a:rPr>
              <a:t>Count-Min Sketch shows how we can track statistics over massive streams with tiny, fixed memory, accepting small errors for huge scalability benefits.</a:t>
            </a:r>
            <a:endParaRPr lang="en-IN" dirty="0"/>
          </a:p>
        </p:txBody>
      </p:sp>
      <p:sp>
        <p:nvSpPr>
          <p:cNvPr id="4" name="Slide Number Placeholder 3">
            <a:extLst>
              <a:ext uri="{FF2B5EF4-FFF2-40B4-BE49-F238E27FC236}">
                <a16:creationId xmlns:a16="http://schemas.microsoft.com/office/drawing/2014/main" id="{375468EE-B8D8-4B45-8D73-E02C6D34D081}"/>
              </a:ext>
            </a:extLst>
          </p:cNvPr>
          <p:cNvSpPr>
            <a:spLocks noGrp="1"/>
          </p:cNvSpPr>
          <p:nvPr>
            <p:ph type="sldNum" sz="quarter" idx="5"/>
          </p:nvPr>
        </p:nvSpPr>
        <p:spPr/>
        <p:txBody>
          <a:bodyPr/>
          <a:lstStyle/>
          <a:p>
            <a:fld id="{72853293-4F00-4813-B74A-3945ABE0C2FC}" type="slidenum">
              <a:rPr lang="en-IN" smtClean="0"/>
              <a:t>18</a:t>
            </a:fld>
            <a:endParaRPr lang="en-IN"/>
          </a:p>
        </p:txBody>
      </p:sp>
    </p:spTree>
    <p:extLst>
      <p:ext uri="{BB962C8B-B14F-4D97-AF65-F5344CB8AC3E}">
        <p14:creationId xmlns:p14="http://schemas.microsoft.com/office/powerpoint/2010/main" val="333537310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73090A-8390-3F0D-0A6A-D860F886CF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98324A-2EE7-33E7-3F01-A4717119288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322F26C-919B-5CA0-A75B-54439F8A605C}"/>
              </a:ext>
            </a:extLst>
          </p:cNvPr>
          <p:cNvSpPr>
            <a:spLocks noGrp="1"/>
          </p:cNvSpPr>
          <p:nvPr>
            <p:ph type="body" idx="1"/>
          </p:nvPr>
        </p:nvSpPr>
        <p:spPr/>
        <p:txBody>
          <a:bodyPr/>
          <a:lstStyle/>
          <a:p>
            <a:r>
              <a:rPr lang="en-IN" sz="1200" b="0" i="0" kern="1200" dirty="0">
                <a:solidFill>
                  <a:schemeClr val="tx1"/>
                </a:solidFill>
                <a:effectLst/>
                <a:latin typeface="+mn-lt"/>
                <a:ea typeface="+mn-ea"/>
                <a:cs typeface="+mn-cs"/>
              </a:rPr>
              <a:t>Now let's discuss something fundamental but critical: </a:t>
            </a:r>
            <a:r>
              <a:rPr lang="en-IN" sz="1200" b="1" i="0" kern="1200" dirty="0">
                <a:solidFill>
                  <a:schemeClr val="tx1"/>
                </a:solidFill>
                <a:effectLst/>
                <a:latin typeface="+mn-lt"/>
                <a:ea typeface="+mn-ea"/>
                <a:cs typeface="+mn-cs"/>
              </a:rPr>
              <a:t>Checksums</a:t>
            </a:r>
            <a:r>
              <a:rPr lang="en-IN" sz="1200" b="0" i="0" kern="1200" dirty="0">
                <a:solidFill>
                  <a:schemeClr val="tx1"/>
                </a:solidFill>
                <a:effectLst/>
                <a:latin typeface="+mn-lt"/>
                <a:ea typeface="+mn-ea"/>
                <a:cs typeface="+mn-cs"/>
              </a:rPr>
              <a:t> for data integrity.</a:t>
            </a:r>
          </a:p>
          <a:p>
            <a:r>
              <a:rPr lang="en-IN" sz="1200" b="0" i="0" kern="1200" dirty="0">
                <a:solidFill>
                  <a:schemeClr val="tx1"/>
                </a:solidFill>
                <a:effectLst/>
                <a:latin typeface="+mn-lt"/>
                <a:ea typeface="+mn-ea"/>
                <a:cs typeface="+mn-cs"/>
              </a:rPr>
              <a:t>Checksums are small values computed from data to detect accidental corruption. They're not for security (that's cryptographic hashes), but for catching errors from bad hardware, network glitches, cosmic rays!</a:t>
            </a:r>
          </a:p>
          <a:p>
            <a:r>
              <a:rPr lang="en-IN" sz="1200" b="0" i="0" kern="1200" dirty="0">
                <a:solidFill>
                  <a:schemeClr val="tx1"/>
                </a:solidFill>
                <a:effectLst/>
                <a:latin typeface="+mn-lt"/>
                <a:ea typeface="+mn-ea"/>
                <a:cs typeface="+mn-cs"/>
              </a:rPr>
              <a:t>Types: </a:t>
            </a:r>
            <a:r>
              <a:rPr lang="en-IN" sz="1200" b="1" i="0" kern="1200" dirty="0">
                <a:solidFill>
                  <a:schemeClr val="tx1"/>
                </a:solidFill>
                <a:effectLst/>
                <a:latin typeface="+mn-lt"/>
                <a:ea typeface="+mn-ea"/>
                <a:cs typeface="+mn-cs"/>
              </a:rPr>
              <a:t>Simple checksums</a:t>
            </a:r>
            <a:r>
              <a:rPr lang="en-IN" sz="1200" b="0" i="0" kern="1200" dirty="0">
                <a:solidFill>
                  <a:schemeClr val="tx1"/>
                </a:solidFill>
                <a:effectLst/>
                <a:latin typeface="+mn-lt"/>
                <a:ea typeface="+mn-ea"/>
                <a:cs typeface="+mn-cs"/>
              </a:rPr>
              <a:t> (sum of bytes) - fast but weak. </a:t>
            </a:r>
            <a:r>
              <a:rPr lang="en-IN" sz="1200" b="1" i="0" kern="1200" dirty="0">
                <a:solidFill>
                  <a:schemeClr val="tx1"/>
                </a:solidFill>
                <a:effectLst/>
                <a:latin typeface="+mn-lt"/>
                <a:ea typeface="+mn-ea"/>
                <a:cs typeface="+mn-cs"/>
              </a:rPr>
              <a:t>CRCs</a:t>
            </a:r>
            <a:r>
              <a:rPr lang="en-IN" sz="1200" b="0" i="0" kern="1200" dirty="0">
                <a:solidFill>
                  <a:schemeClr val="tx1"/>
                </a:solidFill>
                <a:effectLst/>
                <a:latin typeface="+mn-lt"/>
                <a:ea typeface="+mn-ea"/>
                <a:cs typeface="+mn-cs"/>
              </a:rPr>
              <a:t> (Cyclic Redundancy Checks) - based on polynomial division, strong error detection. </a:t>
            </a:r>
            <a:r>
              <a:rPr lang="en-IN" sz="1200" b="1" i="0" kern="1200" dirty="0">
                <a:solidFill>
                  <a:schemeClr val="tx1"/>
                </a:solidFill>
                <a:effectLst/>
                <a:latin typeface="+mn-lt"/>
                <a:ea typeface="+mn-ea"/>
                <a:cs typeface="+mn-cs"/>
              </a:rPr>
              <a:t>Cryptographic hashes</a:t>
            </a:r>
            <a:r>
              <a:rPr lang="en-IN" sz="1200" b="0" i="0" kern="1200" dirty="0">
                <a:solidFill>
                  <a:schemeClr val="tx1"/>
                </a:solidFill>
                <a:effectLst/>
                <a:latin typeface="+mn-lt"/>
                <a:ea typeface="+mn-ea"/>
                <a:cs typeface="+mn-cs"/>
              </a:rPr>
              <a:t> (MD5, SHA) - stronger but slower.</a:t>
            </a:r>
          </a:p>
          <a:p>
            <a:r>
              <a:rPr lang="en-IN" sz="1200" b="0" i="0" kern="1200" dirty="0">
                <a:solidFill>
                  <a:schemeClr val="tx1"/>
                </a:solidFill>
                <a:effectLst/>
                <a:latin typeface="+mn-lt"/>
                <a:ea typeface="+mn-ea"/>
                <a:cs typeface="+mn-cs"/>
              </a:rPr>
              <a:t>CRC works by treating data as a polynomial, dividing by a generator polynomial, the remainder is the CRC. Common: CRC-32 (Ethernet, ZIP files) - 4 bytes, detects all single-bit errors, most burst errors.</a:t>
            </a:r>
          </a:p>
          <a:p>
            <a:r>
              <a:rPr lang="en-IN" sz="1200" b="0" i="0" kern="1200" dirty="0">
                <a:solidFill>
                  <a:schemeClr val="tx1"/>
                </a:solidFill>
                <a:effectLst/>
                <a:latin typeface="+mn-lt"/>
                <a:ea typeface="+mn-ea"/>
                <a:cs typeface="+mn-cs"/>
              </a:rPr>
              <a:t>In distributed systems, checksums are everywhere: </a:t>
            </a:r>
            <a:r>
              <a:rPr lang="en-IN" sz="1200" b="1" i="0" kern="1200" dirty="0">
                <a:solidFill>
                  <a:schemeClr val="tx1"/>
                </a:solidFill>
                <a:effectLst/>
                <a:latin typeface="+mn-lt"/>
                <a:ea typeface="+mn-ea"/>
                <a:cs typeface="+mn-cs"/>
              </a:rPr>
              <a:t>Network communication</a:t>
            </a:r>
            <a:r>
              <a:rPr lang="en-IN" sz="1200" b="0" i="0" kern="1200" dirty="0">
                <a:solidFill>
                  <a:schemeClr val="tx1"/>
                </a:solidFill>
                <a:effectLst/>
                <a:latin typeface="+mn-lt"/>
                <a:ea typeface="+mn-ea"/>
                <a:cs typeface="+mn-cs"/>
              </a:rPr>
              <a:t> (Ethernet CRC-32). </a:t>
            </a:r>
            <a:r>
              <a:rPr lang="en-IN" sz="1200" b="1" i="0" kern="1200" dirty="0">
                <a:solidFill>
                  <a:schemeClr val="tx1"/>
                </a:solidFill>
                <a:effectLst/>
                <a:latin typeface="+mn-lt"/>
                <a:ea typeface="+mn-ea"/>
                <a:cs typeface="+mn-cs"/>
              </a:rPr>
              <a:t>Storage</a:t>
            </a:r>
            <a:r>
              <a:rPr lang="en-IN" sz="1200" b="0" i="0" kern="1200" dirty="0">
                <a:solidFill>
                  <a:schemeClr val="tx1"/>
                </a:solidFill>
                <a:effectLst/>
                <a:latin typeface="+mn-lt"/>
                <a:ea typeface="+mn-ea"/>
                <a:cs typeface="+mn-cs"/>
              </a:rPr>
              <a:t> (ZFS per-block checksums). </a:t>
            </a:r>
            <a:r>
              <a:rPr lang="en-IN" sz="1200" b="1" i="0" kern="1200" dirty="0">
                <a:solidFill>
                  <a:schemeClr val="tx1"/>
                </a:solidFill>
                <a:effectLst/>
                <a:latin typeface="+mn-lt"/>
                <a:ea typeface="+mn-ea"/>
                <a:cs typeface="+mn-cs"/>
              </a:rPr>
              <a:t>Data replication</a:t>
            </a:r>
            <a:r>
              <a:rPr lang="en-IN" sz="1200" b="0" i="0" kern="1200" dirty="0">
                <a:solidFill>
                  <a:schemeClr val="tx1"/>
                </a:solidFill>
                <a:effectLst/>
                <a:latin typeface="+mn-lt"/>
                <a:ea typeface="+mn-ea"/>
                <a:cs typeface="+mn-cs"/>
              </a:rPr>
              <a:t> (verify copies match). </a:t>
            </a:r>
            <a:r>
              <a:rPr lang="en-IN" sz="1200" b="1" i="0" kern="1200" dirty="0">
                <a:solidFill>
                  <a:schemeClr val="tx1"/>
                </a:solidFill>
                <a:effectLst/>
                <a:latin typeface="+mn-lt"/>
                <a:ea typeface="+mn-ea"/>
                <a:cs typeface="+mn-cs"/>
              </a:rPr>
              <a:t>Message queues</a:t>
            </a:r>
            <a:r>
              <a:rPr lang="en-IN" sz="1200" b="0" i="0" kern="1200" dirty="0">
                <a:solidFill>
                  <a:schemeClr val="tx1"/>
                </a:solidFill>
                <a:effectLst/>
                <a:latin typeface="+mn-lt"/>
                <a:ea typeface="+mn-ea"/>
                <a:cs typeface="+mn-cs"/>
              </a:rPr>
              <a:t> (Kafka optional checksums).</a:t>
            </a:r>
          </a:p>
          <a:p>
            <a:r>
              <a:rPr lang="en-IN" sz="1200" b="0" i="0" kern="1200" dirty="0">
                <a:solidFill>
                  <a:schemeClr val="tx1"/>
                </a:solidFill>
                <a:effectLst/>
                <a:latin typeface="+mn-lt"/>
                <a:ea typeface="+mn-ea"/>
                <a:cs typeface="+mn-cs"/>
              </a:rPr>
              <a:t>Important distinction: </a:t>
            </a:r>
            <a:r>
              <a:rPr lang="en-IN" sz="1200" b="1" i="0" kern="1200" dirty="0">
                <a:solidFill>
                  <a:schemeClr val="tx1"/>
                </a:solidFill>
                <a:effectLst/>
                <a:latin typeface="+mn-lt"/>
                <a:ea typeface="+mn-ea"/>
                <a:cs typeface="+mn-cs"/>
              </a:rPr>
              <a:t>Checksums vs Hashes</a:t>
            </a:r>
            <a:r>
              <a:rPr lang="en-IN" sz="1200" b="0" i="0" kern="1200" dirty="0">
                <a:solidFill>
                  <a:schemeClr val="tx1"/>
                </a:solidFill>
                <a:effectLst/>
                <a:latin typeface="+mn-lt"/>
                <a:ea typeface="+mn-ea"/>
                <a:cs typeface="+mn-cs"/>
              </a:rPr>
              <a:t>. Checksums (CRC) for error detection, very fast. Hashes (SHA) for security, slower. Different purposes.</a:t>
            </a:r>
          </a:p>
          <a:p>
            <a:endParaRPr lang="en-IN" dirty="0"/>
          </a:p>
          <a:p>
            <a:r>
              <a:rPr lang="en-US" sz="1200" b="0" i="0" kern="1200" dirty="0">
                <a:solidFill>
                  <a:schemeClr val="tx1"/>
                </a:solidFill>
                <a:effectLst/>
                <a:latin typeface="+mn-lt"/>
                <a:ea typeface="+mn-ea"/>
                <a:cs typeface="+mn-cs"/>
              </a:rPr>
              <a:t>The </a:t>
            </a:r>
            <a:r>
              <a:rPr lang="en-US" sz="1200" b="1" i="0" kern="1200" dirty="0">
                <a:solidFill>
                  <a:schemeClr val="tx1"/>
                </a:solidFill>
                <a:effectLst/>
                <a:latin typeface="+mn-lt"/>
                <a:ea typeface="+mn-ea"/>
                <a:cs typeface="+mn-cs"/>
              </a:rPr>
              <a:t>checksum chain problem</a:t>
            </a:r>
            <a:r>
              <a:rPr lang="en-US" sz="1200" b="0" i="0" kern="1200" dirty="0">
                <a:solidFill>
                  <a:schemeClr val="tx1"/>
                </a:solidFill>
                <a:effectLst/>
                <a:latin typeface="+mn-lt"/>
                <a:ea typeface="+mn-ea"/>
                <a:cs typeface="+mn-cs"/>
              </a:rPr>
              <a:t>: Data moves through layers (app → filesystem → disk → network...). Each layer might checksum, but corruption could happen between layers. Solution: </a:t>
            </a:r>
            <a:r>
              <a:rPr lang="en-US" sz="1200" b="1" i="0" kern="1200" dirty="0">
                <a:solidFill>
                  <a:schemeClr val="tx1"/>
                </a:solidFill>
                <a:effectLst/>
                <a:latin typeface="+mn-lt"/>
                <a:ea typeface="+mn-ea"/>
                <a:cs typeface="+mn-cs"/>
              </a:rPr>
              <a:t>End-to-end checksums</a:t>
            </a:r>
            <a:r>
              <a:rPr lang="en-US" sz="1200" b="0" i="0" kern="1200" dirty="0">
                <a:solidFill>
                  <a:schemeClr val="tx1"/>
                </a:solidFill>
                <a:effectLst/>
                <a:latin typeface="+mn-lt"/>
                <a:ea typeface="+mn-ea"/>
                <a:cs typeface="+mn-cs"/>
              </a:rPr>
              <a:t> from original source to final destination.</a:t>
            </a:r>
          </a:p>
          <a:p>
            <a:r>
              <a:rPr lang="en-US" sz="1200" b="0" i="0" kern="1200" dirty="0">
                <a:solidFill>
                  <a:schemeClr val="tx1"/>
                </a:solidFill>
                <a:effectLst/>
                <a:latin typeface="+mn-lt"/>
                <a:ea typeface="+mn-ea"/>
                <a:cs typeface="+mn-cs"/>
              </a:rPr>
              <a:t>Real examples: </a:t>
            </a:r>
            <a:r>
              <a:rPr lang="en-US" sz="1200" b="1" i="0" kern="1200" dirty="0">
                <a:solidFill>
                  <a:schemeClr val="tx1"/>
                </a:solidFill>
                <a:effectLst/>
                <a:latin typeface="+mn-lt"/>
                <a:ea typeface="+mn-ea"/>
                <a:cs typeface="+mn-cs"/>
              </a:rPr>
              <a:t>ZFS</a:t>
            </a:r>
            <a:r>
              <a:rPr lang="en-US" sz="1200" b="0" i="0" kern="1200" dirty="0">
                <a:solidFill>
                  <a:schemeClr val="tx1"/>
                </a:solidFill>
                <a:effectLst/>
                <a:latin typeface="+mn-lt"/>
                <a:ea typeface="+mn-ea"/>
                <a:cs typeface="+mn-cs"/>
              </a:rPr>
              <a:t> with self-healing (detect corruption, repair from replica). </a:t>
            </a:r>
            <a:r>
              <a:rPr lang="en-US" sz="1200" b="1" i="0" kern="1200" dirty="0">
                <a:solidFill>
                  <a:schemeClr val="tx1"/>
                </a:solidFill>
                <a:effectLst/>
                <a:latin typeface="+mn-lt"/>
                <a:ea typeface="+mn-ea"/>
                <a:cs typeface="+mn-cs"/>
              </a:rPr>
              <a:t>Amazon S3</a:t>
            </a:r>
            <a:r>
              <a:rPr lang="en-US" sz="1200" b="0" i="0" kern="1200" dirty="0">
                <a:solidFill>
                  <a:schemeClr val="tx1"/>
                </a:solidFill>
                <a:effectLst/>
                <a:latin typeface="+mn-lt"/>
                <a:ea typeface="+mn-ea"/>
                <a:cs typeface="+mn-cs"/>
              </a:rPr>
              <a:t> MD5 verification. </a:t>
            </a:r>
            <a:r>
              <a:rPr lang="en-US" sz="1200" b="1" i="0" kern="1200" dirty="0">
                <a:solidFill>
                  <a:schemeClr val="tx1"/>
                </a:solidFill>
                <a:effectLst/>
                <a:latin typeface="+mn-lt"/>
                <a:ea typeface="+mn-ea"/>
                <a:cs typeface="+mn-cs"/>
              </a:rPr>
              <a:t>BitTorrent</a:t>
            </a:r>
            <a:r>
              <a:rPr lang="en-US" sz="1200" b="0" i="0" kern="1200" dirty="0">
                <a:solidFill>
                  <a:schemeClr val="tx1"/>
                </a:solidFill>
                <a:effectLst/>
                <a:latin typeface="+mn-lt"/>
                <a:ea typeface="+mn-ea"/>
                <a:cs typeface="+mn-cs"/>
              </a:rPr>
              <a:t> SHA-1 per piece. </a:t>
            </a:r>
            <a:r>
              <a:rPr lang="en-US" sz="1200" b="1" i="0" kern="1200" dirty="0">
                <a:solidFill>
                  <a:schemeClr val="tx1"/>
                </a:solidFill>
                <a:effectLst/>
                <a:latin typeface="+mn-lt"/>
                <a:ea typeface="+mn-ea"/>
                <a:cs typeface="+mn-cs"/>
              </a:rPr>
              <a:t>Git</a:t>
            </a:r>
            <a:r>
              <a:rPr lang="en-US" sz="1200" b="0" i="0" kern="1200" dirty="0">
                <a:solidFill>
                  <a:schemeClr val="tx1"/>
                </a:solidFill>
                <a:effectLst/>
                <a:latin typeface="+mn-lt"/>
                <a:ea typeface="+mn-ea"/>
                <a:cs typeface="+mn-cs"/>
              </a:rPr>
              <a:t> SHA-1 for commits.</a:t>
            </a:r>
          </a:p>
          <a:p>
            <a:r>
              <a:rPr lang="en-US" sz="1200" b="0" i="0" kern="1200" dirty="0">
                <a:solidFill>
                  <a:schemeClr val="tx1"/>
                </a:solidFill>
                <a:effectLst/>
                <a:latin typeface="+mn-lt"/>
                <a:ea typeface="+mn-ea"/>
                <a:cs typeface="+mn-cs"/>
              </a:rPr>
              <a:t>Best practices: </a:t>
            </a:r>
            <a:r>
              <a:rPr lang="en-US" sz="1200" b="1" i="0" kern="1200" dirty="0">
                <a:solidFill>
                  <a:schemeClr val="tx1"/>
                </a:solidFill>
                <a:effectLst/>
                <a:latin typeface="+mn-lt"/>
                <a:ea typeface="+mn-ea"/>
                <a:cs typeface="+mn-cs"/>
              </a:rPr>
              <a:t>Always checksum</a:t>
            </a:r>
            <a:r>
              <a:rPr lang="en-US" sz="1200" b="0" i="0" kern="1200" dirty="0">
                <a:solidFill>
                  <a:schemeClr val="tx1"/>
                </a:solidFill>
                <a:effectLst/>
                <a:latin typeface="+mn-lt"/>
                <a:ea typeface="+mn-ea"/>
                <a:cs typeface="+mn-cs"/>
              </a:rPr>
              <a:t> critical data. </a:t>
            </a:r>
            <a:r>
              <a:rPr lang="en-US" sz="1200" b="1" i="0" kern="1200" dirty="0">
                <a:solidFill>
                  <a:schemeClr val="tx1"/>
                </a:solidFill>
                <a:effectLst/>
                <a:latin typeface="+mn-lt"/>
                <a:ea typeface="+mn-ea"/>
                <a:cs typeface="+mn-cs"/>
              </a:rPr>
              <a:t>End-to-end</a:t>
            </a:r>
            <a:r>
              <a:rPr lang="en-US" sz="1200" b="0" i="0" kern="1200" dirty="0">
                <a:solidFill>
                  <a:schemeClr val="tx1"/>
                </a:solidFill>
                <a:effectLst/>
                <a:latin typeface="+mn-lt"/>
                <a:ea typeface="+mn-ea"/>
                <a:cs typeface="+mn-cs"/>
              </a:rPr>
              <a:t> when possible. </a:t>
            </a:r>
            <a:r>
              <a:rPr lang="en-US" sz="1200" b="1" i="0" kern="1200" dirty="0">
                <a:solidFill>
                  <a:schemeClr val="tx1"/>
                </a:solidFill>
                <a:effectLst/>
                <a:latin typeface="+mn-lt"/>
                <a:ea typeface="+mn-ea"/>
                <a:cs typeface="+mn-cs"/>
              </a:rPr>
              <a:t>Strong enough</a:t>
            </a:r>
            <a:r>
              <a:rPr lang="en-US" sz="1200" b="0" i="0" kern="1200" dirty="0">
                <a:solidFill>
                  <a:schemeClr val="tx1"/>
                </a:solidFill>
                <a:effectLst/>
                <a:latin typeface="+mn-lt"/>
                <a:ea typeface="+mn-ea"/>
                <a:cs typeface="+mn-cs"/>
              </a:rPr>
              <a:t> for risk (CRC-32 usually sufficient). </a:t>
            </a:r>
            <a:r>
              <a:rPr lang="en-US" sz="1200" b="1" i="0" kern="1200" dirty="0">
                <a:solidFill>
                  <a:schemeClr val="tx1"/>
                </a:solidFill>
                <a:effectLst/>
                <a:latin typeface="+mn-lt"/>
                <a:ea typeface="+mn-ea"/>
                <a:cs typeface="+mn-cs"/>
              </a:rPr>
              <a:t>Verify on read</a:t>
            </a:r>
            <a:r>
              <a:rPr lang="en-US" sz="1200" b="0" i="0" kern="1200" dirty="0">
                <a:solidFill>
                  <a:schemeClr val="tx1"/>
                </a:solidFill>
                <a:effectLst/>
                <a:latin typeface="+mn-lt"/>
                <a:ea typeface="+mn-ea"/>
                <a:cs typeface="+mn-cs"/>
              </a:rPr>
              <a:t>, not just write. </a:t>
            </a:r>
            <a:r>
              <a:rPr lang="en-US" sz="1200" b="1" i="0" kern="1200" dirty="0">
                <a:solidFill>
                  <a:schemeClr val="tx1"/>
                </a:solidFill>
                <a:effectLst/>
                <a:latin typeface="+mn-lt"/>
                <a:ea typeface="+mn-ea"/>
                <a:cs typeface="+mn-cs"/>
              </a:rPr>
              <a:t>Repair automatically</a:t>
            </a:r>
            <a:r>
              <a:rPr lang="en-US" sz="1200" b="0" i="0" kern="1200" dirty="0">
                <a:solidFill>
                  <a:schemeClr val="tx1"/>
                </a:solidFill>
                <a:effectLst/>
                <a:latin typeface="+mn-lt"/>
                <a:ea typeface="+mn-ea"/>
                <a:cs typeface="+mn-cs"/>
              </a:rPr>
              <a:t> when detected.</a:t>
            </a:r>
          </a:p>
          <a:p>
            <a:r>
              <a:rPr lang="en-US" sz="1200" b="0" i="0" kern="1200" dirty="0">
                <a:solidFill>
                  <a:schemeClr val="tx1"/>
                </a:solidFill>
                <a:effectLst/>
                <a:latin typeface="+mn-lt"/>
                <a:ea typeface="+mn-ea"/>
                <a:cs typeface="+mn-cs"/>
              </a:rPr>
              <a:t>In distributed systems, you can't trust anything: not the network, not the disk, not memory. Checksums are your first line of defense against silent data corruption.</a:t>
            </a:r>
          </a:p>
          <a:p>
            <a:endParaRPr lang="en-IN" dirty="0"/>
          </a:p>
        </p:txBody>
      </p:sp>
      <p:sp>
        <p:nvSpPr>
          <p:cNvPr id="4" name="Slide Number Placeholder 3">
            <a:extLst>
              <a:ext uri="{FF2B5EF4-FFF2-40B4-BE49-F238E27FC236}">
                <a16:creationId xmlns:a16="http://schemas.microsoft.com/office/drawing/2014/main" id="{C0261160-B80C-B32E-59A0-E0FA4E880876}"/>
              </a:ext>
            </a:extLst>
          </p:cNvPr>
          <p:cNvSpPr>
            <a:spLocks noGrp="1"/>
          </p:cNvSpPr>
          <p:nvPr>
            <p:ph type="sldNum" sz="quarter" idx="5"/>
          </p:nvPr>
        </p:nvSpPr>
        <p:spPr/>
        <p:txBody>
          <a:bodyPr/>
          <a:lstStyle/>
          <a:p>
            <a:fld id="{72853293-4F00-4813-B74A-3945ABE0C2FC}" type="slidenum">
              <a:rPr lang="en-IN" smtClean="0"/>
              <a:t>19</a:t>
            </a:fld>
            <a:endParaRPr lang="en-IN"/>
          </a:p>
        </p:txBody>
      </p:sp>
    </p:spTree>
    <p:extLst>
      <p:ext uri="{BB962C8B-B14F-4D97-AF65-F5344CB8AC3E}">
        <p14:creationId xmlns:p14="http://schemas.microsoft.com/office/powerpoint/2010/main" val="303309797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1EB6B1-6740-97E5-AEFF-DE9997D2FD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1BB03C-811D-0F37-7526-BD8ED09E4E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D4BF37E-FBFD-DC53-C41F-B8CE4338BCCC}"/>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Now let's discuss </a:t>
            </a:r>
            <a:r>
              <a:rPr lang="en-US" sz="1200" b="1" i="0" kern="1200" dirty="0">
                <a:solidFill>
                  <a:schemeClr val="tx1"/>
                </a:solidFill>
                <a:effectLst/>
                <a:latin typeface="+mn-lt"/>
                <a:ea typeface="+mn-ea"/>
                <a:cs typeface="+mn-cs"/>
              </a:rPr>
              <a:t>Vector Clocks</a:t>
            </a:r>
            <a:r>
              <a:rPr lang="en-US" sz="1200" b="0" i="0" kern="1200" dirty="0">
                <a:solidFill>
                  <a:schemeClr val="tx1"/>
                </a:solidFill>
                <a:effectLst/>
                <a:latin typeface="+mn-lt"/>
                <a:ea typeface="+mn-ea"/>
                <a:cs typeface="+mn-cs"/>
              </a:rPr>
              <a:t>, which solve a limitation of Lamport clocks.</a:t>
            </a:r>
          </a:p>
          <a:p>
            <a:r>
              <a:rPr lang="en-US" sz="1200" b="0" i="0" kern="1200" dirty="0">
                <a:solidFill>
                  <a:schemeClr val="tx1"/>
                </a:solidFill>
                <a:effectLst/>
                <a:latin typeface="+mn-lt"/>
                <a:ea typeface="+mn-ea"/>
                <a:cs typeface="+mn-cs"/>
              </a:rPr>
              <a:t>Lamport clocks tell us "happened before" but can't detect </a:t>
            </a:r>
            <a:r>
              <a:rPr lang="en-US" sz="1200" b="1" i="0" kern="1200" dirty="0">
                <a:solidFill>
                  <a:schemeClr val="tx1"/>
                </a:solidFill>
                <a:effectLst/>
                <a:latin typeface="+mn-lt"/>
                <a:ea typeface="+mn-ea"/>
                <a:cs typeface="+mn-cs"/>
              </a:rPr>
              <a:t>concurrency</a:t>
            </a:r>
            <a:r>
              <a:rPr lang="en-US" sz="1200" b="0" i="0" kern="1200" dirty="0">
                <a:solidFill>
                  <a:schemeClr val="tx1"/>
                </a:solidFill>
                <a:effectLst/>
                <a:latin typeface="+mn-lt"/>
                <a:ea typeface="+mn-ea"/>
                <a:cs typeface="+mn-cs"/>
              </a:rPr>
              <a:t> - when two events happened independently. In eventually consistent systems, we need to know: "Are these updates causally related or concurrent?" Concurrent updates might conflict.</a:t>
            </a:r>
          </a:p>
          <a:p>
            <a:r>
              <a:rPr lang="en-US" sz="1200" b="0" i="0" kern="1200" dirty="0">
                <a:solidFill>
                  <a:schemeClr val="tx1"/>
                </a:solidFill>
                <a:effectLst/>
                <a:latin typeface="+mn-lt"/>
                <a:ea typeface="+mn-ea"/>
                <a:cs typeface="+mn-cs"/>
              </a:rPr>
              <a:t>Vector clocks are </a:t>
            </a:r>
            <a:r>
              <a:rPr lang="en-US" sz="1200" b="1" i="0" kern="1200" dirty="0">
                <a:solidFill>
                  <a:schemeClr val="tx1"/>
                </a:solidFill>
                <a:effectLst/>
                <a:latin typeface="+mn-lt"/>
                <a:ea typeface="+mn-ea"/>
                <a:cs typeface="+mn-cs"/>
              </a:rPr>
              <a:t>arrays of counters</a:t>
            </a:r>
            <a:r>
              <a:rPr lang="en-US" sz="1200" b="0" i="0" kern="1200" dirty="0">
                <a:solidFill>
                  <a:schemeClr val="tx1"/>
                </a:solidFill>
                <a:effectLst/>
                <a:latin typeface="+mn-lt"/>
                <a:ea typeface="+mn-ea"/>
                <a:cs typeface="+mn-cs"/>
              </a:rPr>
              <a:t>, one per node. Each node increments its own counter on local events. When nodes communicate, they merge clocks (take element-wise maximum).</a:t>
            </a:r>
          </a:p>
          <a:p>
            <a:r>
              <a:rPr lang="en-US" sz="1200" b="0" i="0" kern="1200" dirty="0">
                <a:solidFill>
                  <a:schemeClr val="tx1"/>
                </a:solidFill>
                <a:effectLst/>
                <a:latin typeface="+mn-lt"/>
                <a:ea typeface="+mn-ea"/>
                <a:cs typeface="+mn-cs"/>
              </a:rPr>
              <a:t>Comparing vector clocks: If all counters in VC₁ ≤ VC₂ and at least one is &lt;, then VC₁ happened before VC₂. If neither ≤ nor ≥ in all positions, they're </a:t>
            </a:r>
            <a:r>
              <a:rPr lang="en-US" sz="1200" b="1" i="0" kern="1200" dirty="0">
                <a:solidFill>
                  <a:schemeClr val="tx1"/>
                </a:solidFill>
                <a:effectLst/>
                <a:latin typeface="+mn-lt"/>
                <a:ea typeface="+mn-ea"/>
                <a:cs typeface="+mn-cs"/>
              </a:rPr>
              <a:t>concurrent</a:t>
            </a:r>
            <a:r>
              <a:rPr lang="en-US" sz="1200" b="0" i="0" kern="1200" dirty="0">
                <a:solidFill>
                  <a:schemeClr val="tx1"/>
                </a:solidFill>
                <a:effectLst/>
                <a:latin typeface="+mn-lt"/>
                <a:ea typeface="+mn-ea"/>
                <a:cs typeface="+mn-cs"/>
              </a:rPr>
              <a:t> → potential conflict.</a:t>
            </a:r>
          </a:p>
          <a:p>
            <a:r>
              <a:rPr lang="en-US" sz="1200" b="0" i="0" kern="1200" dirty="0">
                <a:solidFill>
                  <a:schemeClr val="tx1"/>
                </a:solidFill>
                <a:effectLst/>
                <a:latin typeface="+mn-lt"/>
                <a:ea typeface="+mn-ea"/>
                <a:cs typeface="+mn-cs"/>
              </a:rPr>
              <a:t>Example: Node A: [A:2, B:1]. Node B: [A:1, B:3]. Compare: 2 &gt; 1 for A, 1 &lt; 3 for B. Neither ≤ nor ≥ → concurrent.</a:t>
            </a:r>
          </a:p>
          <a:p>
            <a:r>
              <a:rPr lang="en-US" sz="1200" b="0" i="0" kern="1200" dirty="0">
                <a:solidFill>
                  <a:schemeClr val="tx1"/>
                </a:solidFill>
                <a:effectLst/>
                <a:latin typeface="+mn-lt"/>
                <a:ea typeface="+mn-ea"/>
                <a:cs typeface="+mn-cs"/>
              </a:rPr>
              <a:t>Use cases: </a:t>
            </a:r>
            <a:r>
              <a:rPr lang="en-US" sz="1200" b="1" i="0" kern="1200" dirty="0">
                <a:solidFill>
                  <a:schemeClr val="tx1"/>
                </a:solidFill>
                <a:effectLst/>
                <a:latin typeface="+mn-lt"/>
                <a:ea typeface="+mn-ea"/>
                <a:cs typeface="+mn-cs"/>
              </a:rPr>
              <a:t>Conflict detection</a:t>
            </a:r>
            <a:r>
              <a:rPr lang="en-US" sz="1200" b="0" i="0" kern="1200" dirty="0">
                <a:solidFill>
                  <a:schemeClr val="tx1"/>
                </a:solidFill>
                <a:effectLst/>
                <a:latin typeface="+mn-lt"/>
                <a:ea typeface="+mn-ea"/>
                <a:cs typeface="+mn-cs"/>
              </a:rPr>
              <a:t> in eventually consistent databases (Dynamo, Riak). </a:t>
            </a:r>
            <a:r>
              <a:rPr lang="en-US" sz="1200" b="1" i="0" kern="1200" dirty="0">
                <a:solidFill>
                  <a:schemeClr val="tx1"/>
                </a:solidFill>
                <a:effectLst/>
                <a:latin typeface="+mn-lt"/>
                <a:ea typeface="+mn-ea"/>
                <a:cs typeface="+mn-cs"/>
              </a:rPr>
              <a:t>Causal consistency</a:t>
            </a:r>
            <a:r>
              <a:rPr lang="en-US" sz="1200" b="0" i="0" kern="1200" dirty="0">
                <a:solidFill>
                  <a:schemeClr val="tx1"/>
                </a:solidFill>
                <a:effectLst/>
                <a:latin typeface="+mn-lt"/>
                <a:ea typeface="+mn-ea"/>
                <a:cs typeface="+mn-cs"/>
              </a:rPr>
              <a:t> - ensuring causally related operations are seen in order. </a:t>
            </a:r>
            <a:r>
              <a:rPr lang="en-US" sz="1200" b="1" i="0" kern="1200" dirty="0">
                <a:solidFill>
                  <a:schemeClr val="tx1"/>
                </a:solidFill>
                <a:effectLst/>
                <a:latin typeface="+mn-lt"/>
                <a:ea typeface="+mn-ea"/>
                <a:cs typeface="+mn-cs"/>
              </a:rPr>
              <a:t>Debugging</a:t>
            </a:r>
            <a:r>
              <a:rPr lang="en-US" sz="1200" b="0" i="0" kern="1200" dirty="0">
                <a:solidFill>
                  <a:schemeClr val="tx1"/>
                </a:solidFill>
                <a:effectLst/>
                <a:latin typeface="+mn-lt"/>
                <a:ea typeface="+mn-ea"/>
                <a:cs typeface="+mn-cs"/>
              </a:rPr>
              <a:t> - understanding event ordering.</a:t>
            </a:r>
          </a:p>
          <a:p>
            <a:r>
              <a:rPr lang="en-IN" sz="1200" b="0" i="0" kern="1200" dirty="0">
                <a:solidFill>
                  <a:schemeClr val="tx1"/>
                </a:solidFill>
                <a:effectLst/>
                <a:latin typeface="+mn-lt"/>
                <a:ea typeface="+mn-ea"/>
                <a:cs typeface="+mn-cs"/>
              </a:rPr>
              <a:t>Advantages: </a:t>
            </a:r>
            <a:r>
              <a:rPr lang="en-IN" sz="1200" b="1" i="0" kern="1200" dirty="0">
                <a:solidFill>
                  <a:schemeClr val="tx1"/>
                </a:solidFill>
                <a:effectLst/>
                <a:latin typeface="+mn-lt"/>
                <a:ea typeface="+mn-ea"/>
                <a:cs typeface="+mn-cs"/>
              </a:rPr>
              <a:t>Detects concurrency</a:t>
            </a:r>
            <a:r>
              <a:rPr lang="en-IN" sz="1200" b="0" i="0" kern="1200" dirty="0">
                <a:solidFill>
                  <a:schemeClr val="tx1"/>
                </a:solidFill>
                <a:effectLst/>
                <a:latin typeface="+mn-lt"/>
                <a:ea typeface="+mn-ea"/>
                <a:cs typeface="+mn-cs"/>
              </a:rPr>
              <a:t>. </a:t>
            </a:r>
            <a:r>
              <a:rPr lang="en-IN" sz="1200" b="1" i="0" kern="1200" dirty="0">
                <a:solidFill>
                  <a:schemeClr val="tx1"/>
                </a:solidFill>
                <a:effectLst/>
                <a:latin typeface="+mn-lt"/>
                <a:ea typeface="+mn-ea"/>
                <a:cs typeface="+mn-cs"/>
              </a:rPr>
              <a:t>Captures causality precisely</a:t>
            </a:r>
            <a:r>
              <a:rPr lang="en-IN" sz="1200" b="0" i="0" kern="1200" dirty="0">
                <a:solidFill>
                  <a:schemeClr val="tx1"/>
                </a:solidFill>
                <a:effectLst/>
                <a:latin typeface="+mn-lt"/>
                <a:ea typeface="+mn-ea"/>
                <a:cs typeface="+mn-cs"/>
              </a:rPr>
              <a:t>. </a:t>
            </a:r>
            <a:r>
              <a:rPr lang="en-IN" sz="1200" b="1" i="0" kern="1200" dirty="0">
                <a:solidFill>
                  <a:schemeClr val="tx1"/>
                </a:solidFill>
                <a:effectLst/>
                <a:latin typeface="+mn-lt"/>
                <a:ea typeface="+mn-ea"/>
                <a:cs typeface="+mn-cs"/>
              </a:rPr>
              <a:t>Mergeable</a:t>
            </a:r>
            <a:r>
              <a:rPr lang="en-IN" sz="1200" b="0" i="0" kern="1200" dirty="0">
                <a:solidFill>
                  <a:schemeClr val="tx1"/>
                </a:solidFill>
                <a:effectLst/>
                <a:latin typeface="+mn-lt"/>
                <a:ea typeface="+mn-ea"/>
                <a:cs typeface="+mn-cs"/>
              </a:rPr>
              <a:t>. </a:t>
            </a:r>
            <a:r>
              <a:rPr lang="en-IN" sz="1200" b="1" i="0" kern="1200" dirty="0">
                <a:solidFill>
                  <a:schemeClr val="tx1"/>
                </a:solidFill>
                <a:effectLst/>
                <a:latin typeface="+mn-lt"/>
                <a:ea typeface="+mn-ea"/>
                <a:cs typeface="+mn-cs"/>
              </a:rPr>
              <a:t>Compact</a:t>
            </a:r>
            <a:r>
              <a:rPr lang="en-IN" sz="1200" b="0" i="0" kern="1200" dirty="0">
                <a:solidFill>
                  <a:schemeClr val="tx1"/>
                </a:solidFill>
                <a:effectLst/>
                <a:latin typeface="+mn-lt"/>
                <a:ea typeface="+mn-ea"/>
                <a:cs typeface="+mn-cs"/>
              </a:rPr>
              <a:t> (O(n) for n nodes).</a:t>
            </a:r>
          </a:p>
          <a:p>
            <a:r>
              <a:rPr lang="en-IN" sz="1200" b="0" i="0" kern="1200" dirty="0">
                <a:solidFill>
                  <a:schemeClr val="tx1"/>
                </a:solidFill>
                <a:effectLst/>
                <a:latin typeface="+mn-lt"/>
                <a:ea typeface="+mn-ea"/>
                <a:cs typeface="+mn-cs"/>
              </a:rPr>
              <a:t>Disadvantages: </a:t>
            </a:r>
            <a:r>
              <a:rPr lang="en-IN" sz="1200" b="1" i="0" kern="1200" dirty="0">
                <a:solidFill>
                  <a:schemeClr val="tx1"/>
                </a:solidFill>
                <a:effectLst/>
                <a:latin typeface="+mn-lt"/>
                <a:ea typeface="+mn-ea"/>
                <a:cs typeface="+mn-cs"/>
              </a:rPr>
              <a:t>Grows with nodes</a:t>
            </a:r>
            <a:r>
              <a:rPr lang="en-IN" sz="1200" b="0" i="0" kern="1200" dirty="0">
                <a:solidFill>
                  <a:schemeClr val="tx1"/>
                </a:solidFill>
                <a:effectLst/>
                <a:latin typeface="+mn-lt"/>
                <a:ea typeface="+mn-ea"/>
                <a:cs typeface="+mn-cs"/>
              </a:rPr>
              <a:t>. </a:t>
            </a:r>
            <a:r>
              <a:rPr lang="en-IN" sz="1200" b="1" i="0" kern="1200" dirty="0">
                <a:solidFill>
                  <a:schemeClr val="tx1"/>
                </a:solidFill>
                <a:effectLst/>
                <a:latin typeface="+mn-lt"/>
                <a:ea typeface="+mn-ea"/>
                <a:cs typeface="+mn-cs"/>
              </a:rPr>
              <a:t>No total order</a:t>
            </a:r>
            <a:r>
              <a:rPr lang="en-IN" sz="1200" b="0" i="0" kern="1200" dirty="0">
                <a:solidFill>
                  <a:schemeClr val="tx1"/>
                </a:solidFill>
                <a:effectLst/>
                <a:latin typeface="+mn-lt"/>
                <a:ea typeface="+mn-ea"/>
                <a:cs typeface="+mn-cs"/>
              </a:rPr>
              <a:t>. </a:t>
            </a:r>
            <a:r>
              <a:rPr lang="en-IN" sz="1200" b="1" i="0" kern="1200" dirty="0">
                <a:solidFill>
                  <a:schemeClr val="tx1"/>
                </a:solidFill>
                <a:effectLst/>
                <a:latin typeface="+mn-lt"/>
                <a:ea typeface="+mn-ea"/>
                <a:cs typeface="+mn-cs"/>
              </a:rPr>
              <a:t>Maintenance overhead</a:t>
            </a:r>
            <a:r>
              <a:rPr lang="en-IN" sz="1200" b="0" i="0" kern="1200" dirty="0">
                <a:solidFill>
                  <a:schemeClr val="tx1"/>
                </a:solidFill>
                <a:effectLst/>
                <a:latin typeface="+mn-lt"/>
                <a:ea typeface="+mn-ea"/>
                <a:cs typeface="+mn-cs"/>
              </a:rPr>
              <a:t>. </a:t>
            </a:r>
            <a:r>
              <a:rPr lang="en-IN" sz="1200" b="1" i="0" kern="1200" dirty="0">
                <a:solidFill>
                  <a:schemeClr val="tx1"/>
                </a:solidFill>
                <a:effectLst/>
                <a:latin typeface="+mn-lt"/>
                <a:ea typeface="+mn-ea"/>
                <a:cs typeface="+mn-cs"/>
              </a:rPr>
              <a:t>Garbage collection needed</a:t>
            </a:r>
            <a:r>
              <a:rPr lang="en-IN" sz="1200" b="0" i="0" kern="1200" dirty="0">
                <a:solidFill>
                  <a:schemeClr val="tx1"/>
                </a:solidFill>
                <a:effectLst/>
                <a:latin typeface="+mn-lt"/>
                <a:ea typeface="+mn-ea"/>
                <a:cs typeface="+mn-cs"/>
              </a:rPr>
              <a:t>.</a:t>
            </a:r>
          </a:p>
          <a:p>
            <a:r>
              <a:rPr lang="en-IN" sz="1200" b="0" i="0" kern="1200" dirty="0">
                <a:solidFill>
                  <a:schemeClr val="tx1"/>
                </a:solidFill>
                <a:effectLst/>
                <a:latin typeface="+mn-lt"/>
                <a:ea typeface="+mn-ea"/>
                <a:cs typeface="+mn-cs"/>
              </a:rPr>
              <a:t>Real usage: </a:t>
            </a:r>
            <a:r>
              <a:rPr lang="en-IN" sz="1200" b="1" i="0" kern="1200" dirty="0">
                <a:solidFill>
                  <a:schemeClr val="tx1"/>
                </a:solidFill>
                <a:effectLst/>
                <a:latin typeface="+mn-lt"/>
                <a:ea typeface="+mn-ea"/>
                <a:cs typeface="+mn-cs"/>
              </a:rPr>
              <a:t>Amazon Dynamo</a:t>
            </a:r>
            <a:r>
              <a:rPr lang="en-IN" sz="1200" b="0" i="0" kern="1200" dirty="0">
                <a:solidFill>
                  <a:schemeClr val="tx1"/>
                </a:solidFill>
                <a:effectLst/>
                <a:latin typeface="+mn-lt"/>
                <a:ea typeface="+mn-ea"/>
                <a:cs typeface="+mn-cs"/>
              </a:rPr>
              <a:t> (version vectors). </a:t>
            </a:r>
            <a:r>
              <a:rPr lang="en-IN" sz="1200" b="1" i="0" kern="1200" dirty="0">
                <a:solidFill>
                  <a:schemeClr val="tx1"/>
                </a:solidFill>
                <a:effectLst/>
                <a:latin typeface="+mn-lt"/>
                <a:ea typeface="+mn-ea"/>
                <a:cs typeface="+mn-cs"/>
              </a:rPr>
              <a:t>Riak</a:t>
            </a:r>
            <a:r>
              <a:rPr lang="en-IN" sz="1200" b="0" i="0" kern="1200" dirty="0">
                <a:solidFill>
                  <a:schemeClr val="tx1"/>
                </a:solidFill>
                <a:effectLst/>
                <a:latin typeface="+mn-lt"/>
                <a:ea typeface="+mn-ea"/>
                <a:cs typeface="+mn-cs"/>
              </a:rPr>
              <a:t> (vector clocks for siblings). </a:t>
            </a:r>
            <a:r>
              <a:rPr lang="en-IN" sz="1200" b="1" i="0" kern="1200" dirty="0">
                <a:solidFill>
                  <a:schemeClr val="tx1"/>
                </a:solidFill>
                <a:effectLst/>
                <a:latin typeface="+mn-lt"/>
                <a:ea typeface="+mn-ea"/>
                <a:cs typeface="+mn-cs"/>
              </a:rPr>
              <a:t>Cassandra</a:t>
            </a:r>
            <a:r>
              <a:rPr lang="en-IN" sz="1200" b="0" i="0" kern="1200" dirty="0">
                <a:solidFill>
                  <a:schemeClr val="tx1"/>
                </a:solidFill>
                <a:effectLst/>
                <a:latin typeface="+mn-lt"/>
                <a:ea typeface="+mn-ea"/>
                <a:cs typeface="+mn-cs"/>
              </a:rPr>
              <a:t> (modified approach).</a:t>
            </a:r>
          </a:p>
          <a:p>
            <a:r>
              <a:rPr lang="en-IN" sz="1200" b="0" i="0" kern="1200" dirty="0">
                <a:solidFill>
                  <a:schemeClr val="tx1"/>
                </a:solidFill>
                <a:effectLst/>
                <a:latin typeface="+mn-lt"/>
                <a:ea typeface="+mn-ea"/>
                <a:cs typeface="+mn-cs"/>
              </a:rPr>
              <a:t>Vector clocks vs version vectors: Similar but different granularity. Vector clocks per node (logical time). Version vectors per replica/data item.</a:t>
            </a:r>
          </a:p>
          <a:p>
            <a:r>
              <a:rPr lang="en-IN" sz="1200" b="0" i="0" kern="1200" dirty="0">
                <a:solidFill>
                  <a:schemeClr val="tx1"/>
                </a:solidFill>
                <a:effectLst/>
                <a:latin typeface="+mn-lt"/>
                <a:ea typeface="+mn-ea"/>
                <a:cs typeface="+mn-cs"/>
              </a:rPr>
              <a:t>Garbage collection is needed: As nodes join/leave, the vector grows. Solutions: Reuse IDs, dotted version vectors, Bloom filters.</a:t>
            </a:r>
          </a:p>
          <a:p>
            <a:r>
              <a:rPr lang="en-IN" sz="1200" b="0" i="0" kern="1200" dirty="0">
                <a:solidFill>
                  <a:schemeClr val="tx1"/>
                </a:solidFill>
                <a:effectLst/>
                <a:latin typeface="+mn-lt"/>
                <a:ea typeface="+mn-ea"/>
                <a:cs typeface="+mn-cs"/>
              </a:rPr>
              <a:t>Vector clocks enable eventually consistent systems to understand causality and detect conflicts - crucial for correct conflict resolution.</a:t>
            </a:r>
          </a:p>
          <a:p>
            <a:endParaRPr lang="en-IN" dirty="0"/>
          </a:p>
        </p:txBody>
      </p:sp>
      <p:sp>
        <p:nvSpPr>
          <p:cNvPr id="4" name="Slide Number Placeholder 3">
            <a:extLst>
              <a:ext uri="{FF2B5EF4-FFF2-40B4-BE49-F238E27FC236}">
                <a16:creationId xmlns:a16="http://schemas.microsoft.com/office/drawing/2014/main" id="{221B10D1-16B4-8994-E5D2-6AC433302F93}"/>
              </a:ext>
            </a:extLst>
          </p:cNvPr>
          <p:cNvSpPr>
            <a:spLocks noGrp="1"/>
          </p:cNvSpPr>
          <p:nvPr>
            <p:ph type="sldNum" sz="quarter" idx="5"/>
          </p:nvPr>
        </p:nvSpPr>
        <p:spPr/>
        <p:txBody>
          <a:bodyPr/>
          <a:lstStyle/>
          <a:p>
            <a:fld id="{72853293-4F00-4813-B74A-3945ABE0C2FC}" type="slidenum">
              <a:rPr lang="en-IN" smtClean="0"/>
              <a:t>20</a:t>
            </a:fld>
            <a:endParaRPr lang="en-IN"/>
          </a:p>
        </p:txBody>
      </p:sp>
    </p:spTree>
    <p:extLst>
      <p:ext uri="{BB962C8B-B14F-4D97-AF65-F5344CB8AC3E}">
        <p14:creationId xmlns:p14="http://schemas.microsoft.com/office/powerpoint/2010/main" val="91647602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6C6202-A5DD-490E-B92C-87557F977A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B2EEAD-BF6D-3802-0A4F-B1D1A14BF53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4A630D3-DE24-DB52-1EBD-10DD10D7BB1B}"/>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Now let's discuss </a:t>
            </a:r>
            <a:r>
              <a:rPr lang="en-US" sz="1200" b="1" i="0" kern="1200" dirty="0">
                <a:solidFill>
                  <a:schemeClr val="tx1"/>
                </a:solidFill>
                <a:effectLst/>
                <a:latin typeface="+mn-lt"/>
                <a:ea typeface="+mn-ea"/>
                <a:cs typeface="+mn-cs"/>
              </a:rPr>
              <a:t>Quorum Systems</a:t>
            </a:r>
            <a:r>
              <a:rPr lang="en-US" sz="1200" b="0" i="0" kern="1200" dirty="0">
                <a:solidFill>
                  <a:schemeClr val="tx1"/>
                </a:solidFill>
                <a:effectLst/>
                <a:latin typeface="+mn-lt"/>
                <a:ea typeface="+mn-ea"/>
                <a:cs typeface="+mn-cs"/>
              </a:rPr>
              <a:t>, a mathematical framework for distributed coordination.</a:t>
            </a:r>
          </a:p>
          <a:p>
            <a:r>
              <a:rPr lang="en-US" sz="1200" b="0" i="0" kern="1200" dirty="0">
                <a:solidFill>
                  <a:schemeClr val="tx1"/>
                </a:solidFill>
                <a:effectLst/>
                <a:latin typeface="+mn-lt"/>
                <a:ea typeface="+mn-ea"/>
                <a:cs typeface="+mn-cs"/>
              </a:rPr>
              <a:t>The core idea: Instead of requiring all nodes to agree (which is slow and fragile), we require only a </a:t>
            </a:r>
            <a:r>
              <a:rPr lang="en-US" sz="1200" b="1" i="0" kern="1200" dirty="0">
                <a:solidFill>
                  <a:schemeClr val="tx1"/>
                </a:solidFill>
                <a:effectLst/>
                <a:latin typeface="+mn-lt"/>
                <a:ea typeface="+mn-ea"/>
                <a:cs typeface="+mn-cs"/>
              </a:rPr>
              <a:t>quorum</a:t>
            </a:r>
            <a:r>
              <a:rPr lang="en-US" sz="1200" b="0" i="0" kern="1200" dirty="0">
                <a:solidFill>
                  <a:schemeClr val="tx1"/>
                </a:solidFill>
                <a:effectLst/>
                <a:latin typeface="+mn-lt"/>
                <a:ea typeface="+mn-ea"/>
                <a:cs typeface="+mn-cs"/>
              </a:rPr>
              <a:t> - a subset. Different operations can use different quorum sizes. The magic is in the </a:t>
            </a:r>
            <a:r>
              <a:rPr lang="en-US" sz="1200" b="1" i="0" kern="1200" dirty="0">
                <a:solidFill>
                  <a:schemeClr val="tx1"/>
                </a:solidFill>
                <a:effectLst/>
                <a:latin typeface="+mn-lt"/>
                <a:ea typeface="+mn-ea"/>
                <a:cs typeface="+mn-cs"/>
              </a:rPr>
              <a:t>intersection</a:t>
            </a:r>
            <a:r>
              <a:rPr lang="en-US" sz="1200" b="0" i="0" kern="1200" dirty="0">
                <a:solidFill>
                  <a:schemeClr val="tx1"/>
                </a:solidFill>
                <a:effectLst/>
                <a:latin typeface="+mn-lt"/>
                <a:ea typeface="+mn-ea"/>
                <a:cs typeface="+mn-cs"/>
              </a:rPr>
              <a:t>: if every read quorum intersects every write quorum, readers will see the latest write.</a:t>
            </a:r>
          </a:p>
          <a:p>
            <a:r>
              <a:rPr lang="en-US" sz="1200" b="0" i="0" kern="1200" dirty="0">
                <a:solidFill>
                  <a:schemeClr val="tx1"/>
                </a:solidFill>
                <a:effectLst/>
                <a:latin typeface="+mn-lt"/>
                <a:ea typeface="+mn-ea"/>
                <a:cs typeface="+mn-cs"/>
              </a:rPr>
              <a:t>We have three parameters: </a:t>
            </a:r>
            <a:r>
              <a:rPr lang="en-US" sz="1200" b="1" i="0" kern="1200" dirty="0">
                <a:solidFill>
                  <a:schemeClr val="tx1"/>
                </a:solidFill>
                <a:effectLst/>
                <a:latin typeface="+mn-lt"/>
                <a:ea typeface="+mn-ea"/>
                <a:cs typeface="+mn-cs"/>
              </a:rPr>
              <a:t>N</a:t>
            </a:r>
            <a:r>
              <a:rPr lang="en-US" sz="1200" b="0" i="0" kern="1200" dirty="0">
                <a:solidFill>
                  <a:schemeClr val="tx1"/>
                </a:solidFill>
                <a:effectLst/>
                <a:latin typeface="+mn-lt"/>
                <a:ea typeface="+mn-ea"/>
                <a:cs typeface="+mn-cs"/>
              </a:rPr>
              <a:t> (total replicas), </a:t>
            </a:r>
            <a:r>
              <a:rPr lang="en-US" sz="1200" b="1" i="0" kern="1200" dirty="0">
                <a:solidFill>
                  <a:schemeClr val="tx1"/>
                </a:solidFill>
                <a:effectLst/>
                <a:latin typeface="+mn-lt"/>
                <a:ea typeface="+mn-ea"/>
                <a:cs typeface="+mn-cs"/>
              </a:rPr>
              <a:t>R</a:t>
            </a:r>
            <a:r>
              <a:rPr lang="en-US" sz="1200" b="0" i="0" kern="1200" dirty="0">
                <a:solidFill>
                  <a:schemeClr val="tx1"/>
                </a:solidFill>
                <a:effectLst/>
                <a:latin typeface="+mn-lt"/>
                <a:ea typeface="+mn-ea"/>
                <a:cs typeface="+mn-cs"/>
              </a:rPr>
              <a:t> (read quorum size), </a:t>
            </a:r>
            <a:r>
              <a:rPr lang="en-US" sz="1200" b="1" i="0" kern="1200" dirty="0">
                <a:solidFill>
                  <a:schemeClr val="tx1"/>
                </a:solidFill>
                <a:effectLst/>
                <a:latin typeface="+mn-lt"/>
                <a:ea typeface="+mn-ea"/>
                <a:cs typeface="+mn-cs"/>
              </a:rPr>
              <a:t>W</a:t>
            </a:r>
            <a:r>
              <a:rPr lang="en-US" sz="1200" b="0" i="0" kern="1200" dirty="0">
                <a:solidFill>
                  <a:schemeClr val="tx1"/>
                </a:solidFill>
                <a:effectLst/>
                <a:latin typeface="+mn-lt"/>
                <a:ea typeface="+mn-ea"/>
                <a:cs typeface="+mn-cs"/>
              </a:rPr>
              <a:t> (write quorum size). For strong consistency: </a:t>
            </a:r>
            <a:r>
              <a:rPr lang="en-US" sz="1200" b="1" i="0" kern="1200" dirty="0">
                <a:solidFill>
                  <a:schemeClr val="tx1"/>
                </a:solidFill>
                <a:effectLst/>
                <a:latin typeface="+mn-lt"/>
                <a:ea typeface="+mn-ea"/>
                <a:cs typeface="+mn-cs"/>
              </a:rPr>
              <a:t>R + W &gt; N</a:t>
            </a:r>
            <a:r>
              <a:rPr lang="en-US" sz="1200" b="0" i="0" kern="1200" dirty="0">
                <a:solidFill>
                  <a:schemeClr val="tx1"/>
                </a:solidFill>
                <a:effectLst/>
                <a:latin typeface="+mn-lt"/>
                <a:ea typeface="+mn-ea"/>
                <a:cs typeface="+mn-cs"/>
              </a:rPr>
              <a:t>. This ensures every read sees the latest write.</a:t>
            </a:r>
          </a:p>
          <a:p>
            <a:r>
              <a:rPr lang="en-US" sz="1200" b="0" i="0" kern="1200" dirty="0">
                <a:solidFill>
                  <a:schemeClr val="tx1"/>
                </a:solidFill>
                <a:effectLst/>
                <a:latin typeface="+mn-lt"/>
                <a:ea typeface="+mn-ea"/>
                <a:cs typeface="+mn-cs"/>
              </a:rPr>
              <a:t>Common configurations: </a:t>
            </a:r>
            <a:r>
              <a:rPr lang="en-US" sz="1200" b="1" i="0" kern="1200" dirty="0">
                <a:solidFill>
                  <a:schemeClr val="tx1"/>
                </a:solidFill>
                <a:effectLst/>
                <a:latin typeface="+mn-lt"/>
                <a:ea typeface="+mn-ea"/>
                <a:cs typeface="+mn-cs"/>
              </a:rPr>
              <a:t>Majority quorum</a:t>
            </a:r>
            <a:r>
              <a:rPr lang="en-US" sz="1200" b="0" i="0" kern="1200" dirty="0">
                <a:solidFill>
                  <a:schemeClr val="tx1"/>
                </a:solidFill>
                <a:effectLst/>
                <a:latin typeface="+mn-lt"/>
                <a:ea typeface="+mn-ea"/>
                <a:cs typeface="+mn-cs"/>
              </a:rPr>
              <a:t> (R=W=majority) for strong consistency - used in Paxos, Raft. </a:t>
            </a:r>
            <a:r>
              <a:rPr lang="en-US" sz="1200" b="1" i="0" kern="1200" dirty="0">
                <a:solidFill>
                  <a:schemeClr val="tx1"/>
                </a:solidFill>
                <a:effectLst/>
                <a:latin typeface="+mn-lt"/>
                <a:ea typeface="+mn-ea"/>
                <a:cs typeface="+mn-cs"/>
              </a:rPr>
              <a:t>Write-all, read-one</a:t>
            </a:r>
            <a:r>
              <a:rPr lang="en-US" sz="1200" b="0" i="0" kern="1200" dirty="0">
                <a:solidFill>
                  <a:schemeClr val="tx1"/>
                </a:solidFill>
                <a:effectLst/>
                <a:latin typeface="+mn-lt"/>
                <a:ea typeface="+mn-ea"/>
                <a:cs typeface="+mn-cs"/>
              </a:rPr>
              <a:t> for fast reads but slow writes. </a:t>
            </a:r>
            <a:r>
              <a:rPr lang="en-US" sz="1200" b="1" i="0" kern="1200" dirty="0">
                <a:solidFill>
                  <a:schemeClr val="tx1"/>
                </a:solidFill>
                <a:effectLst/>
                <a:latin typeface="+mn-lt"/>
                <a:ea typeface="+mn-ea"/>
                <a:cs typeface="+mn-cs"/>
              </a:rPr>
              <a:t>Sloppy quorum</a:t>
            </a:r>
            <a:r>
              <a:rPr lang="en-US" sz="1200" b="0" i="0" kern="1200" dirty="0">
                <a:solidFill>
                  <a:schemeClr val="tx1"/>
                </a:solidFill>
                <a:effectLst/>
                <a:latin typeface="+mn-lt"/>
                <a:ea typeface="+mn-ea"/>
                <a:cs typeface="+mn-cs"/>
              </a:rPr>
              <a:t> (R+W ≤ N) for availability during partitions - used in Dynamo, Cassandra.</a:t>
            </a:r>
          </a:p>
          <a:p>
            <a:r>
              <a:rPr lang="en-US" sz="1200" b="0" i="0" kern="1200" dirty="0">
                <a:solidFill>
                  <a:schemeClr val="tx1"/>
                </a:solidFill>
                <a:effectLst/>
                <a:latin typeface="+mn-lt"/>
                <a:ea typeface="+mn-ea"/>
                <a:cs typeface="+mn-cs"/>
              </a:rPr>
              <a:t>Quorum types vary: Simple majority, weighted (nodes have different votes), grid quorums, hierarchical.</a:t>
            </a:r>
          </a:p>
          <a:p>
            <a:r>
              <a:rPr lang="en-US" sz="1200" b="0" i="0" kern="1200" dirty="0">
                <a:solidFill>
                  <a:schemeClr val="tx1"/>
                </a:solidFill>
                <a:effectLst/>
                <a:latin typeface="+mn-lt"/>
                <a:ea typeface="+mn-ea"/>
                <a:cs typeface="+mn-cs"/>
              </a:rPr>
              <a:t>Use cases: </a:t>
            </a:r>
            <a:r>
              <a:rPr lang="en-US" sz="1200" b="1" i="0" kern="1200" dirty="0">
                <a:solidFill>
                  <a:schemeClr val="tx1"/>
                </a:solidFill>
                <a:effectLst/>
                <a:latin typeface="+mn-lt"/>
                <a:ea typeface="+mn-ea"/>
                <a:cs typeface="+mn-cs"/>
              </a:rPr>
              <a:t>Distributed databases</a:t>
            </a:r>
            <a:r>
              <a:rPr lang="en-US" sz="1200" b="0" i="0" kern="1200" dirty="0">
                <a:solidFill>
                  <a:schemeClr val="tx1"/>
                </a:solidFill>
                <a:effectLst/>
                <a:latin typeface="+mn-lt"/>
                <a:ea typeface="+mn-ea"/>
                <a:cs typeface="+mn-cs"/>
              </a:rPr>
              <a:t> (Cassandra's tunable consistency). </a:t>
            </a:r>
            <a:r>
              <a:rPr lang="en-US" sz="1200" b="1" i="0" kern="1200" dirty="0">
                <a:solidFill>
                  <a:schemeClr val="tx1"/>
                </a:solidFill>
                <a:effectLst/>
                <a:latin typeface="+mn-lt"/>
                <a:ea typeface="+mn-ea"/>
                <a:cs typeface="+mn-cs"/>
              </a:rPr>
              <a:t>Distributed locks</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Consensus protocols</a:t>
            </a:r>
            <a:r>
              <a:rPr lang="en-US" sz="1200" b="0" i="0" kern="1200" dirty="0">
                <a:solidFill>
                  <a:schemeClr val="tx1"/>
                </a:solidFill>
                <a:effectLst/>
                <a:latin typeface="+mn-lt"/>
                <a:ea typeface="+mn-ea"/>
                <a:cs typeface="+mn-cs"/>
              </a:rPr>
              <a:t> (Paxos acceptors). </a:t>
            </a:r>
            <a:r>
              <a:rPr lang="en-US" sz="1200" b="1" i="0" kern="1200" dirty="0">
                <a:solidFill>
                  <a:schemeClr val="tx1"/>
                </a:solidFill>
                <a:effectLst/>
                <a:latin typeface="+mn-lt"/>
                <a:ea typeface="+mn-ea"/>
                <a:cs typeface="+mn-cs"/>
              </a:rPr>
              <a:t>Atomic registers</a:t>
            </a:r>
            <a:r>
              <a:rPr lang="en-US" sz="1200" b="0" i="0" kern="1200" dirty="0">
                <a:solidFill>
                  <a:schemeClr val="tx1"/>
                </a:solidFill>
                <a:effectLst/>
                <a:latin typeface="+mn-lt"/>
                <a:ea typeface="+mn-ea"/>
                <a:cs typeface="+mn-cs"/>
              </a:rPr>
              <a:t>.</a:t>
            </a:r>
          </a:p>
          <a:p>
            <a:endParaRPr lang="en-IN" dirty="0"/>
          </a:p>
          <a:p>
            <a:r>
              <a:rPr lang="en-IN" sz="1200" b="0" i="0" kern="1200" dirty="0">
                <a:solidFill>
                  <a:schemeClr val="tx1"/>
                </a:solidFill>
                <a:effectLst/>
                <a:latin typeface="+mn-lt"/>
                <a:ea typeface="+mn-ea"/>
                <a:cs typeface="+mn-cs"/>
              </a:rPr>
              <a:t>Examples: N=3, R=2, W=2 gives strong consistency, tolerates 1 failure. N=3, R=1, W=1 gives eventual consistency, faster but may return stale data.</a:t>
            </a:r>
          </a:p>
          <a:p>
            <a:r>
              <a:rPr lang="en-IN" sz="1200" b="0" i="0" kern="1200" dirty="0">
                <a:solidFill>
                  <a:schemeClr val="tx1"/>
                </a:solidFill>
                <a:effectLst/>
                <a:latin typeface="+mn-lt"/>
                <a:ea typeface="+mn-ea"/>
                <a:cs typeface="+mn-cs"/>
              </a:rPr>
              <a:t>In practice, Amazon Dynamo lets clients choose R,W per operation. Typical: R=2, W=2 for N=3. During failures, it uses hinted handoff and sloppy quorum.</a:t>
            </a:r>
          </a:p>
          <a:p>
            <a:r>
              <a:rPr lang="en-IN" sz="1200" b="0" i="0" kern="1200" dirty="0">
                <a:solidFill>
                  <a:schemeClr val="tx1"/>
                </a:solidFill>
                <a:effectLst/>
                <a:latin typeface="+mn-lt"/>
                <a:ea typeface="+mn-ea"/>
                <a:cs typeface="+mn-cs"/>
              </a:rPr>
              <a:t>Advantages: </a:t>
            </a:r>
            <a:r>
              <a:rPr lang="en-IN" sz="1200" b="1" i="0" kern="1200" dirty="0">
                <a:solidFill>
                  <a:schemeClr val="tx1"/>
                </a:solidFill>
                <a:effectLst/>
                <a:latin typeface="+mn-lt"/>
                <a:ea typeface="+mn-ea"/>
                <a:cs typeface="+mn-cs"/>
              </a:rPr>
              <a:t>Flexible consistency</a:t>
            </a:r>
            <a:r>
              <a:rPr lang="en-IN" sz="1200" b="0" i="0" kern="1200" dirty="0">
                <a:solidFill>
                  <a:schemeClr val="tx1"/>
                </a:solidFill>
                <a:effectLst/>
                <a:latin typeface="+mn-lt"/>
                <a:ea typeface="+mn-ea"/>
                <a:cs typeface="+mn-cs"/>
              </a:rPr>
              <a:t> tuning. </a:t>
            </a:r>
            <a:r>
              <a:rPr lang="en-IN" sz="1200" b="1" i="0" kern="1200" dirty="0">
                <a:solidFill>
                  <a:schemeClr val="tx1"/>
                </a:solidFill>
                <a:effectLst/>
                <a:latin typeface="+mn-lt"/>
                <a:ea typeface="+mn-ea"/>
                <a:cs typeface="+mn-cs"/>
              </a:rPr>
              <a:t>Fault tolerance</a:t>
            </a:r>
            <a:r>
              <a:rPr lang="en-IN" sz="1200" b="0" i="0" kern="1200" dirty="0">
                <a:solidFill>
                  <a:schemeClr val="tx1"/>
                </a:solidFill>
                <a:effectLst/>
                <a:latin typeface="+mn-lt"/>
                <a:ea typeface="+mn-ea"/>
                <a:cs typeface="+mn-cs"/>
              </a:rPr>
              <a:t>. </a:t>
            </a:r>
            <a:r>
              <a:rPr lang="en-IN" sz="1200" b="1" i="0" kern="1200" dirty="0">
                <a:solidFill>
                  <a:schemeClr val="tx1"/>
                </a:solidFill>
                <a:effectLst/>
                <a:latin typeface="+mn-lt"/>
                <a:ea typeface="+mn-ea"/>
                <a:cs typeface="+mn-cs"/>
              </a:rPr>
              <a:t>Performance trade-offs</a:t>
            </a:r>
            <a:r>
              <a:rPr lang="en-IN" sz="1200" b="0" i="0" kern="1200" dirty="0">
                <a:solidFill>
                  <a:schemeClr val="tx1"/>
                </a:solidFill>
                <a:effectLst/>
                <a:latin typeface="+mn-lt"/>
                <a:ea typeface="+mn-ea"/>
                <a:cs typeface="+mn-cs"/>
              </a:rPr>
              <a:t>. </a:t>
            </a:r>
            <a:r>
              <a:rPr lang="en-IN" sz="1200" b="1" i="0" kern="1200" dirty="0">
                <a:solidFill>
                  <a:schemeClr val="tx1"/>
                </a:solidFill>
                <a:effectLst/>
                <a:latin typeface="+mn-lt"/>
                <a:ea typeface="+mn-ea"/>
                <a:cs typeface="+mn-cs"/>
              </a:rPr>
              <a:t>Mathematically proven</a:t>
            </a:r>
            <a:r>
              <a:rPr lang="en-IN" sz="1200" b="0" i="0" kern="1200" dirty="0">
                <a:solidFill>
                  <a:schemeClr val="tx1"/>
                </a:solidFill>
                <a:effectLst/>
                <a:latin typeface="+mn-lt"/>
                <a:ea typeface="+mn-ea"/>
                <a:cs typeface="+mn-cs"/>
              </a:rPr>
              <a:t>.</a:t>
            </a:r>
          </a:p>
          <a:p>
            <a:r>
              <a:rPr lang="en-IN" sz="1200" b="0" i="0" kern="1200" dirty="0">
                <a:solidFill>
                  <a:schemeClr val="tx1"/>
                </a:solidFill>
                <a:effectLst/>
                <a:latin typeface="+mn-lt"/>
                <a:ea typeface="+mn-ea"/>
                <a:cs typeface="+mn-cs"/>
              </a:rPr>
              <a:t>Disadvantages: </a:t>
            </a:r>
            <a:r>
              <a:rPr lang="en-IN" sz="1200" b="1" i="0" kern="1200" dirty="0">
                <a:solidFill>
                  <a:schemeClr val="tx1"/>
                </a:solidFill>
                <a:effectLst/>
                <a:latin typeface="+mn-lt"/>
                <a:ea typeface="+mn-ea"/>
                <a:cs typeface="+mn-cs"/>
              </a:rPr>
              <a:t>Latency</a:t>
            </a:r>
            <a:r>
              <a:rPr lang="en-IN" sz="1200" b="0" i="0" kern="1200" dirty="0">
                <a:solidFill>
                  <a:schemeClr val="tx1"/>
                </a:solidFill>
                <a:effectLst/>
                <a:latin typeface="+mn-lt"/>
                <a:ea typeface="+mn-ea"/>
                <a:cs typeface="+mn-cs"/>
              </a:rPr>
              <a:t> waiting for quorum. </a:t>
            </a:r>
            <a:r>
              <a:rPr lang="en-IN" sz="1200" b="1" i="0" kern="1200" dirty="0">
                <a:solidFill>
                  <a:schemeClr val="tx1"/>
                </a:solidFill>
                <a:effectLst/>
                <a:latin typeface="+mn-lt"/>
                <a:ea typeface="+mn-ea"/>
                <a:cs typeface="+mn-cs"/>
              </a:rPr>
              <a:t>Complex configuration</a:t>
            </a:r>
            <a:r>
              <a:rPr lang="en-IN" sz="1200" b="0" i="0" kern="1200" dirty="0">
                <a:solidFill>
                  <a:schemeClr val="tx1"/>
                </a:solidFill>
                <a:effectLst/>
                <a:latin typeface="+mn-lt"/>
                <a:ea typeface="+mn-ea"/>
                <a:cs typeface="+mn-cs"/>
              </a:rPr>
              <a:t>. </a:t>
            </a:r>
            <a:r>
              <a:rPr lang="en-IN" sz="1200" b="1" i="0" kern="1200" dirty="0">
                <a:solidFill>
                  <a:schemeClr val="tx1"/>
                </a:solidFill>
                <a:effectLst/>
                <a:latin typeface="+mn-lt"/>
                <a:ea typeface="+mn-ea"/>
                <a:cs typeface="+mn-cs"/>
              </a:rPr>
              <a:t>CAP trade-offs</a:t>
            </a:r>
            <a:r>
              <a:rPr lang="en-IN" sz="1200" b="0" i="0" kern="1200" dirty="0">
                <a:solidFill>
                  <a:schemeClr val="tx1"/>
                </a:solidFill>
                <a:effectLst/>
                <a:latin typeface="+mn-lt"/>
                <a:ea typeface="+mn-ea"/>
                <a:cs typeface="+mn-cs"/>
              </a:rPr>
              <a:t>.</a:t>
            </a:r>
          </a:p>
          <a:p>
            <a:r>
              <a:rPr lang="en-IN" sz="1200" b="0" i="0" kern="1200" dirty="0">
                <a:solidFill>
                  <a:schemeClr val="tx1"/>
                </a:solidFill>
                <a:effectLst/>
                <a:latin typeface="+mn-lt"/>
                <a:ea typeface="+mn-ea"/>
                <a:cs typeface="+mn-cs"/>
              </a:rPr>
              <a:t>Best practice: Start with majority quorum for strong consistency, then optimize based on workload and latency requirements.</a:t>
            </a:r>
          </a:p>
          <a:p>
            <a:endParaRPr lang="en-IN" dirty="0"/>
          </a:p>
        </p:txBody>
      </p:sp>
      <p:sp>
        <p:nvSpPr>
          <p:cNvPr id="4" name="Slide Number Placeholder 3">
            <a:extLst>
              <a:ext uri="{FF2B5EF4-FFF2-40B4-BE49-F238E27FC236}">
                <a16:creationId xmlns:a16="http://schemas.microsoft.com/office/drawing/2014/main" id="{CFAEF01A-68D9-8A51-006E-05BC0A1949B6}"/>
              </a:ext>
            </a:extLst>
          </p:cNvPr>
          <p:cNvSpPr>
            <a:spLocks noGrp="1"/>
          </p:cNvSpPr>
          <p:nvPr>
            <p:ph type="sldNum" sz="quarter" idx="5"/>
          </p:nvPr>
        </p:nvSpPr>
        <p:spPr/>
        <p:txBody>
          <a:bodyPr/>
          <a:lstStyle/>
          <a:p>
            <a:fld id="{72853293-4F00-4813-B74A-3945ABE0C2FC}" type="slidenum">
              <a:rPr lang="en-IN" smtClean="0"/>
              <a:t>21</a:t>
            </a:fld>
            <a:endParaRPr lang="en-IN"/>
          </a:p>
        </p:txBody>
      </p:sp>
    </p:spTree>
    <p:extLst>
      <p:ext uri="{BB962C8B-B14F-4D97-AF65-F5344CB8AC3E}">
        <p14:creationId xmlns:p14="http://schemas.microsoft.com/office/powerpoint/2010/main" val="313575565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83EED1-44DD-41EA-62F3-402DBA72CA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5B3224-9BF1-61B8-BC73-EFD37507147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3D4FDCF-B145-35A9-9A52-5B2A543A0D96}"/>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BEC9411E-C549-9337-F687-AEBB3F03DA3C}"/>
              </a:ext>
            </a:extLst>
          </p:cNvPr>
          <p:cNvSpPr>
            <a:spLocks noGrp="1"/>
          </p:cNvSpPr>
          <p:nvPr>
            <p:ph type="sldNum" sz="quarter" idx="5"/>
          </p:nvPr>
        </p:nvSpPr>
        <p:spPr/>
        <p:txBody>
          <a:bodyPr/>
          <a:lstStyle/>
          <a:p>
            <a:fld id="{72853293-4F00-4813-B74A-3945ABE0C2FC}" type="slidenum">
              <a:rPr lang="en-IN" smtClean="0"/>
              <a:t>22</a:t>
            </a:fld>
            <a:endParaRPr lang="en-IN"/>
          </a:p>
        </p:txBody>
      </p:sp>
    </p:spTree>
    <p:extLst>
      <p:ext uri="{BB962C8B-B14F-4D97-AF65-F5344CB8AC3E}">
        <p14:creationId xmlns:p14="http://schemas.microsoft.com/office/powerpoint/2010/main" val="32171831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obj" preserve="1">
  <p:cSld name="Title Slide">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7007711" y="3176893"/>
            <a:ext cx="562610" cy="0"/>
          </a:xfrm>
          <a:custGeom>
            <a:avLst/>
            <a:gdLst/>
            <a:ahLst/>
            <a:cxnLst/>
            <a:rect l="l" t="t" r="r" b="b"/>
            <a:pathLst>
              <a:path w="562609">
                <a:moveTo>
                  <a:pt x="0" y="0"/>
                </a:moveTo>
                <a:lnTo>
                  <a:pt x="562198" y="0"/>
                </a:lnTo>
              </a:path>
            </a:pathLst>
          </a:custGeom>
          <a:ln w="76199">
            <a:solidFill>
              <a:srgbClr val="B3A77C"/>
            </a:solidFill>
          </a:ln>
        </p:spPr>
        <p:txBody>
          <a:bodyPr wrap="square" lIns="0" tIns="0" rIns="0" bIns="0" rtlCol="0"/>
          <a:lstStyle/>
          <a:p>
            <a:endParaRPr/>
          </a:p>
        </p:txBody>
      </p:sp>
      <p:sp>
        <p:nvSpPr>
          <p:cNvPr id="17" name="bg object 17"/>
          <p:cNvSpPr/>
          <p:nvPr/>
        </p:nvSpPr>
        <p:spPr>
          <a:xfrm>
            <a:off x="1575031" y="3158243"/>
            <a:ext cx="562610" cy="0"/>
          </a:xfrm>
          <a:custGeom>
            <a:avLst/>
            <a:gdLst/>
            <a:ahLst/>
            <a:cxnLst/>
            <a:rect l="l" t="t" r="r" b="b"/>
            <a:pathLst>
              <a:path w="562610">
                <a:moveTo>
                  <a:pt x="0" y="0"/>
                </a:moveTo>
                <a:lnTo>
                  <a:pt x="562198" y="0"/>
                </a:lnTo>
              </a:path>
            </a:pathLst>
          </a:custGeom>
          <a:ln w="76199">
            <a:solidFill>
              <a:srgbClr val="B3A77C"/>
            </a:solidFill>
          </a:ln>
        </p:spPr>
        <p:txBody>
          <a:bodyPr wrap="square" lIns="0" tIns="0" rIns="0" bIns="0" rtlCol="0"/>
          <a:lstStyle/>
          <a:p>
            <a:endParaRPr/>
          </a:p>
        </p:txBody>
      </p:sp>
      <p:sp>
        <p:nvSpPr>
          <p:cNvPr id="18" name="bg object 18"/>
          <p:cNvSpPr/>
          <p:nvPr/>
        </p:nvSpPr>
        <p:spPr>
          <a:xfrm>
            <a:off x="1004142" y="1022022"/>
            <a:ext cx="7136765" cy="0"/>
          </a:xfrm>
          <a:custGeom>
            <a:avLst/>
            <a:gdLst/>
            <a:ahLst/>
            <a:cxnLst/>
            <a:rect l="l" t="t" r="r" b="b"/>
            <a:pathLst>
              <a:path w="7136765">
                <a:moveTo>
                  <a:pt x="7136640" y="0"/>
                </a:moveTo>
                <a:lnTo>
                  <a:pt x="0" y="0"/>
                </a:lnTo>
              </a:path>
            </a:pathLst>
          </a:custGeom>
          <a:ln w="76199">
            <a:solidFill>
              <a:srgbClr val="4DB6AC"/>
            </a:solidFill>
          </a:ln>
        </p:spPr>
        <p:txBody>
          <a:bodyPr wrap="square" lIns="0" tIns="0" rIns="0" bIns="0" rtlCol="0"/>
          <a:lstStyle/>
          <a:p>
            <a:endParaRPr/>
          </a:p>
        </p:txBody>
      </p:sp>
      <p:sp>
        <p:nvSpPr>
          <p:cNvPr id="19" name="bg object 19"/>
          <p:cNvSpPr/>
          <p:nvPr/>
        </p:nvSpPr>
        <p:spPr>
          <a:xfrm>
            <a:off x="1004142" y="1174422"/>
            <a:ext cx="7136765" cy="0"/>
          </a:xfrm>
          <a:custGeom>
            <a:avLst/>
            <a:gdLst/>
            <a:ahLst/>
            <a:cxnLst/>
            <a:rect l="l" t="t" r="r" b="b"/>
            <a:pathLst>
              <a:path w="7136765">
                <a:moveTo>
                  <a:pt x="7136640" y="0"/>
                </a:moveTo>
                <a:lnTo>
                  <a:pt x="0" y="0"/>
                </a:lnTo>
              </a:path>
            </a:pathLst>
          </a:custGeom>
          <a:ln w="9524">
            <a:solidFill>
              <a:srgbClr val="4DB6AC"/>
            </a:solidFill>
          </a:ln>
        </p:spPr>
        <p:txBody>
          <a:bodyPr wrap="square" lIns="0" tIns="0" rIns="0" bIns="0" rtlCol="0"/>
          <a:lstStyle/>
          <a:p>
            <a:endParaRPr/>
          </a:p>
        </p:txBody>
      </p:sp>
      <p:sp>
        <p:nvSpPr>
          <p:cNvPr id="20" name="bg object 20"/>
          <p:cNvSpPr/>
          <p:nvPr/>
        </p:nvSpPr>
        <p:spPr>
          <a:xfrm>
            <a:off x="1004148" y="4121491"/>
            <a:ext cx="7136765" cy="0"/>
          </a:xfrm>
          <a:custGeom>
            <a:avLst/>
            <a:gdLst/>
            <a:ahLst/>
            <a:cxnLst/>
            <a:rect l="l" t="t" r="r" b="b"/>
            <a:pathLst>
              <a:path w="7136765">
                <a:moveTo>
                  <a:pt x="0" y="0"/>
                </a:moveTo>
                <a:lnTo>
                  <a:pt x="7136660" y="0"/>
                </a:lnTo>
              </a:path>
            </a:pathLst>
          </a:custGeom>
          <a:ln w="76199">
            <a:solidFill>
              <a:srgbClr val="4DB6AC"/>
            </a:solidFill>
          </a:ln>
        </p:spPr>
        <p:txBody>
          <a:bodyPr wrap="square" lIns="0" tIns="0" rIns="0" bIns="0" rtlCol="0"/>
          <a:lstStyle/>
          <a:p>
            <a:endParaRPr/>
          </a:p>
        </p:txBody>
      </p:sp>
      <p:sp>
        <p:nvSpPr>
          <p:cNvPr id="21" name="bg object 21"/>
          <p:cNvSpPr/>
          <p:nvPr/>
        </p:nvSpPr>
        <p:spPr>
          <a:xfrm>
            <a:off x="1004148" y="3969091"/>
            <a:ext cx="7136765" cy="0"/>
          </a:xfrm>
          <a:custGeom>
            <a:avLst/>
            <a:gdLst/>
            <a:ahLst/>
            <a:cxnLst/>
            <a:rect l="l" t="t" r="r" b="b"/>
            <a:pathLst>
              <a:path w="7136765">
                <a:moveTo>
                  <a:pt x="0" y="0"/>
                </a:moveTo>
                <a:lnTo>
                  <a:pt x="7136660" y="0"/>
                </a:lnTo>
              </a:path>
            </a:pathLst>
          </a:custGeom>
          <a:ln w="9524">
            <a:solidFill>
              <a:srgbClr val="4DB6AC"/>
            </a:solidFill>
          </a:ln>
        </p:spPr>
        <p:txBody>
          <a:bodyPr wrap="square" lIns="0" tIns="0" rIns="0" bIns="0" rtlCol="0"/>
          <a:lstStyle/>
          <a:p>
            <a:endParaRPr/>
          </a:p>
        </p:txBody>
      </p:sp>
      <p:sp>
        <p:nvSpPr>
          <p:cNvPr id="2" name="Holder 2"/>
          <p:cNvSpPr>
            <a:spLocks noGrp="1"/>
          </p:cNvSpPr>
          <p:nvPr>
            <p:ph type="ctrTitle"/>
          </p:nvPr>
        </p:nvSpPr>
        <p:spPr>
          <a:xfrm>
            <a:off x="2075352" y="1815086"/>
            <a:ext cx="4993295" cy="690244"/>
          </a:xfrm>
          <a:prstGeom prst="rect">
            <a:avLst/>
          </a:prstGeom>
        </p:spPr>
        <p:txBody>
          <a:bodyPr wrap="square" lIns="0" tIns="0" rIns="0" bIns="0">
            <a:spAutoFit/>
          </a:bodyPr>
          <a:lstStyle>
            <a:lvl1pPr>
              <a:defRPr sz="3200" b="1" i="0">
                <a:solidFill>
                  <a:srgbClr val="EF6B00"/>
                </a:solidFill>
                <a:latin typeface="Calibri"/>
                <a:cs typeface="Calibri"/>
              </a:defRPr>
            </a:lvl1pPr>
          </a:lstStyle>
          <a:p>
            <a:endParaRPr/>
          </a:p>
        </p:txBody>
      </p:sp>
      <p:sp>
        <p:nvSpPr>
          <p:cNvPr id="3" name="Holder 3"/>
          <p:cNvSpPr>
            <a:spLocks noGrp="1"/>
          </p:cNvSpPr>
          <p:nvPr>
            <p:ph type="subTitle" idx="4"/>
          </p:nvPr>
        </p:nvSpPr>
        <p:spPr>
          <a:xfrm>
            <a:off x="1371600" y="2880360"/>
            <a:ext cx="6400800" cy="1285875"/>
          </a:xfrm>
          <a:prstGeom prst="rect">
            <a:avLst/>
          </a:prstGeom>
        </p:spPr>
        <p:txBody>
          <a:bodyPr wrap="square" lIns="0" tIns="0" rIns="0" bIns="0">
            <a:spAutoFit/>
          </a:bodyPr>
          <a:lstStyle>
            <a:lvl1pPr>
              <a:defRPr sz="1200" b="0" i="0">
                <a:solidFill>
                  <a:srgbClr val="695D46"/>
                </a:solidFill>
                <a:latin typeface="Arial"/>
                <a:cs typeface="Aria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1/3/2026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rgbClr val="EF6B00"/>
                </a:solidFill>
                <a:latin typeface="Calibri"/>
                <a:cs typeface="Calibri"/>
              </a:defRPr>
            </a:lvl1pPr>
          </a:lstStyle>
          <a:p>
            <a:endParaRPr/>
          </a:p>
        </p:txBody>
      </p:sp>
      <p:sp>
        <p:nvSpPr>
          <p:cNvPr id="3" name="Holder 3"/>
          <p:cNvSpPr>
            <a:spLocks noGrp="1"/>
          </p:cNvSpPr>
          <p:nvPr>
            <p:ph type="body" idx="1"/>
          </p:nvPr>
        </p:nvSpPr>
        <p:spPr/>
        <p:txBody>
          <a:bodyPr lIns="0" tIns="0" rIns="0" bIns="0"/>
          <a:lstStyle>
            <a:lvl1pPr>
              <a:defRPr sz="1200" b="0" i="0">
                <a:solidFill>
                  <a:srgbClr val="695D46"/>
                </a:solidFill>
                <a:latin typeface="Arial"/>
                <a:cs typeface="Aria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1/3/2026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rgbClr val="EF6B00"/>
                </a:solidFill>
                <a:latin typeface="Calibri"/>
                <a:cs typeface="Calibri"/>
              </a:defRPr>
            </a:lvl1pPr>
          </a:lstStyle>
          <a:p>
            <a:endParaRPr/>
          </a:p>
        </p:txBody>
      </p:sp>
      <p:sp>
        <p:nvSpPr>
          <p:cNvPr id="3" name="Holder 3"/>
          <p:cNvSpPr>
            <a:spLocks noGrp="1"/>
          </p:cNvSpPr>
          <p:nvPr>
            <p:ph sz="half" idx="2"/>
          </p:nvPr>
        </p:nvSpPr>
        <p:spPr>
          <a:xfrm>
            <a:off x="457200" y="1183005"/>
            <a:ext cx="3977640" cy="339471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183005"/>
            <a:ext cx="3977640" cy="339471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1/3/2026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rgbClr val="EF6B00"/>
                </a:solidFill>
                <a:latin typeface="Calibri"/>
                <a:cs typeface="Calibri"/>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1/3/2026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74" y="5045689"/>
            <a:ext cx="9144000" cy="98425"/>
          </a:xfrm>
          <a:custGeom>
            <a:avLst/>
            <a:gdLst/>
            <a:ahLst/>
            <a:cxnLst/>
            <a:rect l="l" t="t" r="r" b="b"/>
            <a:pathLst>
              <a:path w="9144000" h="98425">
                <a:moveTo>
                  <a:pt x="9143981" y="97799"/>
                </a:moveTo>
                <a:lnTo>
                  <a:pt x="0" y="97799"/>
                </a:lnTo>
                <a:lnTo>
                  <a:pt x="0" y="0"/>
                </a:lnTo>
                <a:lnTo>
                  <a:pt x="9143981" y="0"/>
                </a:lnTo>
                <a:lnTo>
                  <a:pt x="9143981" y="97799"/>
                </a:lnTo>
                <a:close/>
              </a:path>
            </a:pathLst>
          </a:custGeom>
          <a:solidFill>
            <a:srgbClr val="4DB6AC"/>
          </a:solidFill>
        </p:spPr>
        <p:txBody>
          <a:bodyPr wrap="square" lIns="0" tIns="0" rIns="0" bIns="0" rtlCol="0"/>
          <a:lstStyle/>
          <a:p>
            <a:endParaRPr/>
          </a:p>
        </p:txBody>
      </p:sp>
      <p:pic>
        <p:nvPicPr>
          <p:cNvPr id="17" name="bg object 17"/>
          <p:cNvPicPr/>
          <p:nvPr/>
        </p:nvPicPr>
        <p:blipFill>
          <a:blip r:embed="rId2" cstate="print"/>
          <a:stretch>
            <a:fillRect/>
          </a:stretch>
        </p:blipFill>
        <p:spPr>
          <a:xfrm>
            <a:off x="1498097" y="425399"/>
            <a:ext cx="6419816" cy="4599758"/>
          </a:xfrm>
          <a:prstGeom prst="rect">
            <a:avLst/>
          </a:prstGeom>
        </p:spPr>
      </p:pic>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1/3/2026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74" y="5045689"/>
            <a:ext cx="9144000" cy="98425"/>
          </a:xfrm>
          <a:custGeom>
            <a:avLst/>
            <a:gdLst/>
            <a:ahLst/>
            <a:cxnLst/>
            <a:rect l="l" t="t" r="r" b="b"/>
            <a:pathLst>
              <a:path w="9144000" h="98425">
                <a:moveTo>
                  <a:pt x="9143981" y="97799"/>
                </a:moveTo>
                <a:lnTo>
                  <a:pt x="0" y="97799"/>
                </a:lnTo>
                <a:lnTo>
                  <a:pt x="0" y="0"/>
                </a:lnTo>
                <a:lnTo>
                  <a:pt x="9143981" y="0"/>
                </a:lnTo>
                <a:lnTo>
                  <a:pt x="9143981" y="97799"/>
                </a:lnTo>
                <a:close/>
              </a:path>
            </a:pathLst>
          </a:custGeom>
          <a:solidFill>
            <a:srgbClr val="4DB6AC"/>
          </a:solidFill>
        </p:spPr>
        <p:txBody>
          <a:bodyPr wrap="square" lIns="0" tIns="0" rIns="0" bIns="0" rtlCol="0"/>
          <a:lstStyle/>
          <a:p>
            <a:endParaRPr/>
          </a:p>
        </p:txBody>
      </p:sp>
      <p:sp>
        <p:nvSpPr>
          <p:cNvPr id="2" name="Holder 2"/>
          <p:cNvSpPr>
            <a:spLocks noGrp="1"/>
          </p:cNvSpPr>
          <p:nvPr>
            <p:ph type="title"/>
          </p:nvPr>
        </p:nvSpPr>
        <p:spPr>
          <a:xfrm>
            <a:off x="384724" y="501589"/>
            <a:ext cx="4861560" cy="519430"/>
          </a:xfrm>
          <a:prstGeom prst="rect">
            <a:avLst/>
          </a:prstGeom>
        </p:spPr>
        <p:txBody>
          <a:bodyPr wrap="square" lIns="0" tIns="0" rIns="0" bIns="0">
            <a:spAutoFit/>
          </a:bodyPr>
          <a:lstStyle>
            <a:lvl1pPr>
              <a:defRPr sz="3200" b="1" i="0">
                <a:solidFill>
                  <a:srgbClr val="EF6B00"/>
                </a:solidFill>
                <a:latin typeface="Calibri"/>
                <a:cs typeface="Calibri"/>
              </a:defRPr>
            </a:lvl1pPr>
          </a:lstStyle>
          <a:p>
            <a:endParaRPr/>
          </a:p>
        </p:txBody>
      </p:sp>
      <p:sp>
        <p:nvSpPr>
          <p:cNvPr id="3" name="Holder 3"/>
          <p:cNvSpPr>
            <a:spLocks noGrp="1"/>
          </p:cNvSpPr>
          <p:nvPr>
            <p:ph type="body" idx="1"/>
          </p:nvPr>
        </p:nvSpPr>
        <p:spPr>
          <a:xfrm>
            <a:off x="521273" y="1333256"/>
            <a:ext cx="5205730" cy="3009900"/>
          </a:xfrm>
          <a:prstGeom prst="rect">
            <a:avLst/>
          </a:prstGeom>
        </p:spPr>
        <p:txBody>
          <a:bodyPr wrap="square" lIns="0" tIns="0" rIns="0" bIns="0">
            <a:spAutoFit/>
          </a:bodyPr>
          <a:lstStyle>
            <a:lvl1pPr>
              <a:defRPr sz="1200" b="0" i="0">
                <a:solidFill>
                  <a:srgbClr val="695D46"/>
                </a:solidFill>
                <a:latin typeface="Arial"/>
                <a:cs typeface="Arial"/>
              </a:defRPr>
            </a:lvl1pPr>
          </a:lstStyle>
          <a:p>
            <a:endParaRPr/>
          </a:p>
        </p:txBody>
      </p:sp>
      <p:sp>
        <p:nvSpPr>
          <p:cNvPr id="4" name="Holder 4"/>
          <p:cNvSpPr>
            <a:spLocks noGrp="1"/>
          </p:cNvSpPr>
          <p:nvPr>
            <p:ph type="ftr" sz="quarter" idx="5"/>
          </p:nvPr>
        </p:nvSpPr>
        <p:spPr>
          <a:xfrm>
            <a:off x="3108960" y="4783455"/>
            <a:ext cx="2926080" cy="257175"/>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4783455"/>
            <a:ext cx="2103120" cy="257175"/>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1/3/2026</a:t>
            </a:fld>
            <a:endParaRPr lang="en-US"/>
          </a:p>
        </p:txBody>
      </p:sp>
      <p:sp>
        <p:nvSpPr>
          <p:cNvPr id="6" name="Holder 6"/>
          <p:cNvSpPr>
            <a:spLocks noGrp="1"/>
          </p:cNvSpPr>
          <p:nvPr>
            <p:ph type="sldNum" sz="quarter" idx="7"/>
          </p:nvPr>
        </p:nvSpPr>
        <p:spPr>
          <a:xfrm>
            <a:off x="6583680" y="4783455"/>
            <a:ext cx="2103120" cy="257175"/>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ctrTitle"/>
          </p:nvPr>
        </p:nvSpPr>
        <p:spPr>
          <a:xfrm>
            <a:off x="990600" y="1815086"/>
            <a:ext cx="7162800" cy="683520"/>
          </a:xfrm>
          <a:prstGeom prst="rect">
            <a:avLst/>
          </a:prstGeom>
        </p:spPr>
        <p:txBody>
          <a:bodyPr vert="horz" wrap="square" lIns="0" tIns="13970" rIns="0" bIns="0" rtlCol="0">
            <a:spAutoFit/>
          </a:bodyPr>
          <a:lstStyle/>
          <a:p>
            <a:pPr marL="14604">
              <a:lnSpc>
                <a:spcPct val="100000"/>
              </a:lnSpc>
              <a:spcBef>
                <a:spcPts val="110"/>
              </a:spcBef>
            </a:pPr>
            <a:r>
              <a:rPr lang="en-IN" sz="4350" spc="-330" dirty="0"/>
              <a:t>Mastering Distributed</a:t>
            </a:r>
            <a:r>
              <a:rPr lang="en-IN" sz="4350" spc="-80" dirty="0"/>
              <a:t> </a:t>
            </a:r>
            <a:r>
              <a:rPr lang="en-IN" sz="4350" spc="-330" dirty="0"/>
              <a:t>System</a:t>
            </a:r>
            <a:r>
              <a:rPr lang="en-IN" sz="4350" spc="-65" dirty="0"/>
              <a:t> </a:t>
            </a:r>
            <a:r>
              <a:rPr lang="en-IN" sz="4350" spc="-275" dirty="0"/>
              <a:t>Design</a:t>
            </a:r>
            <a:endParaRPr sz="4350" dirty="0"/>
          </a:p>
        </p:txBody>
      </p:sp>
      <p:sp>
        <p:nvSpPr>
          <p:cNvPr id="3" name="object 3"/>
          <p:cNvSpPr txBox="1"/>
          <p:nvPr/>
        </p:nvSpPr>
        <p:spPr>
          <a:xfrm>
            <a:off x="1218341" y="2624935"/>
            <a:ext cx="6701790" cy="382156"/>
          </a:xfrm>
          <a:prstGeom prst="rect">
            <a:avLst/>
          </a:prstGeom>
        </p:spPr>
        <p:txBody>
          <a:bodyPr vert="horz" wrap="square" lIns="0" tIns="12700" rIns="0" bIns="0" rtlCol="0">
            <a:spAutoFit/>
          </a:bodyPr>
          <a:lstStyle/>
          <a:p>
            <a:pPr marL="12700" algn="ctr">
              <a:lnSpc>
                <a:spcPct val="100000"/>
              </a:lnSpc>
              <a:spcBef>
                <a:spcPts val="100"/>
              </a:spcBef>
            </a:pPr>
            <a:r>
              <a:rPr lang="en-US" sz="2400" dirty="0">
                <a:solidFill>
                  <a:srgbClr val="695D46"/>
                </a:solidFill>
                <a:latin typeface="Arial"/>
                <a:cs typeface="Arial"/>
              </a:rPr>
              <a:t>Distributed System Theorems &amp; Data Structures</a:t>
            </a:r>
            <a:endParaRPr sz="2400" dirty="0">
              <a:latin typeface="Arial"/>
              <a:cs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prstGeom prst="rect">
            <a:avLst/>
          </a:prstGeom>
        </p:spPr>
        <p:txBody>
          <a:bodyPr vert="horz" wrap="square" lIns="0" tIns="17780" rIns="0" bIns="0" rtlCol="0">
            <a:spAutoFit/>
          </a:bodyPr>
          <a:lstStyle/>
          <a:p>
            <a:pPr marL="12700">
              <a:lnSpc>
                <a:spcPct val="100000"/>
              </a:lnSpc>
              <a:spcBef>
                <a:spcPts val="140"/>
              </a:spcBef>
            </a:pPr>
            <a:r>
              <a:rPr lang="en-IN" spc="-330" dirty="0"/>
              <a:t>What This Section Covers</a:t>
            </a:r>
            <a:endParaRPr spc="-150" dirty="0"/>
          </a:p>
        </p:txBody>
      </p:sp>
      <p:sp>
        <p:nvSpPr>
          <p:cNvPr id="4" name="object 4"/>
          <p:cNvSpPr txBox="1"/>
          <p:nvPr/>
        </p:nvSpPr>
        <p:spPr>
          <a:xfrm>
            <a:off x="475248" y="1289060"/>
            <a:ext cx="8363952" cy="1120820"/>
          </a:xfrm>
          <a:prstGeom prst="rect">
            <a:avLst/>
          </a:prstGeom>
        </p:spPr>
        <p:txBody>
          <a:bodyPr vert="horz" wrap="square" lIns="0" tIns="12700" rIns="0" bIns="0" rtlCol="0">
            <a:spAutoFit/>
          </a:bodyPr>
          <a:lstStyle/>
          <a:p>
            <a:pPr marL="285750" indent="-285750">
              <a:buFont typeface="Wingdings" panose="05000000000000000000" pitchFamily="2" charset="2"/>
              <a:buChar char="v"/>
            </a:pPr>
            <a:r>
              <a:rPr lang="en-US" b="1" dirty="0"/>
              <a:t>Fundamental Theorems</a:t>
            </a:r>
            <a:r>
              <a:rPr lang="en-US" dirty="0"/>
              <a:t> - The "laws of physics" for distributed systems</a:t>
            </a:r>
          </a:p>
          <a:p>
            <a:pPr marL="285750" indent="-285750">
              <a:buFont typeface="Wingdings" panose="05000000000000000000" pitchFamily="2" charset="2"/>
              <a:buChar char="v"/>
            </a:pPr>
            <a:r>
              <a:rPr lang="en-US" b="1" dirty="0"/>
              <a:t>Consensus Algorithms</a:t>
            </a:r>
            <a:r>
              <a:rPr lang="en-US" dirty="0"/>
              <a:t> - How nodes agree despite failures</a:t>
            </a:r>
          </a:p>
          <a:p>
            <a:pPr marL="285750" indent="-285750">
              <a:buFont typeface="Wingdings" panose="05000000000000000000" pitchFamily="2" charset="2"/>
              <a:buChar char="v"/>
            </a:pPr>
            <a:r>
              <a:rPr lang="en-US" b="1" dirty="0"/>
              <a:t>Coordination Patterns</a:t>
            </a:r>
            <a:r>
              <a:rPr lang="en-US" dirty="0"/>
              <a:t> - Practical ways systems work together</a:t>
            </a:r>
          </a:p>
          <a:p>
            <a:pPr marL="285750" indent="-285750">
              <a:buFont typeface="Wingdings" panose="05000000000000000000" pitchFamily="2" charset="2"/>
              <a:buChar char="v"/>
            </a:pPr>
            <a:r>
              <a:rPr lang="en-US" b="1" dirty="0"/>
              <a:t>Distributed Data Structures</a:t>
            </a:r>
            <a:r>
              <a:rPr lang="en-US" dirty="0"/>
              <a:t> - Specialized tools for scale and efficiency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7F5287-179A-3AA1-19D3-C2542A8C073C}"/>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1C0F23B2-B4B5-F635-5075-5D3E87B480D3}"/>
              </a:ext>
            </a:extLst>
          </p:cNvPr>
          <p:cNvSpPr txBox="1">
            <a:spLocks noGrp="1"/>
          </p:cNvSpPr>
          <p:nvPr>
            <p:ph type="title"/>
          </p:nvPr>
        </p:nvSpPr>
        <p:spPr>
          <a:prstGeom prst="rect">
            <a:avLst/>
          </a:prstGeom>
        </p:spPr>
        <p:txBody>
          <a:bodyPr vert="horz" wrap="square" lIns="0" tIns="17780" rIns="0" bIns="0" rtlCol="0">
            <a:spAutoFit/>
          </a:bodyPr>
          <a:lstStyle/>
          <a:p>
            <a:pPr marL="12700">
              <a:lnSpc>
                <a:spcPct val="100000"/>
              </a:lnSpc>
              <a:spcBef>
                <a:spcPts val="140"/>
              </a:spcBef>
            </a:pPr>
            <a:r>
              <a:rPr lang="en-IN" spc="-330" dirty="0"/>
              <a:t>The CAP Theorem</a:t>
            </a:r>
            <a:endParaRPr spc="-150" dirty="0"/>
          </a:p>
        </p:txBody>
      </p:sp>
      <p:sp>
        <p:nvSpPr>
          <p:cNvPr id="4" name="object 4">
            <a:extLst>
              <a:ext uri="{FF2B5EF4-FFF2-40B4-BE49-F238E27FC236}">
                <a16:creationId xmlns:a16="http://schemas.microsoft.com/office/drawing/2014/main" id="{A7299B10-011D-082B-7087-EBAB40933B72}"/>
              </a:ext>
            </a:extLst>
          </p:cNvPr>
          <p:cNvSpPr txBox="1"/>
          <p:nvPr/>
        </p:nvSpPr>
        <p:spPr>
          <a:xfrm>
            <a:off x="475248" y="1289060"/>
            <a:ext cx="8363952" cy="3244478"/>
          </a:xfrm>
          <a:prstGeom prst="rect">
            <a:avLst/>
          </a:prstGeom>
        </p:spPr>
        <p:txBody>
          <a:bodyPr vert="horz" wrap="square" lIns="0" tIns="12700" rIns="0" bIns="0" rtlCol="0">
            <a:spAutoFit/>
          </a:bodyPr>
          <a:lstStyle/>
          <a:p>
            <a:r>
              <a:rPr lang="en-US" sz="1400" b="1" dirty="0"/>
              <a:t>C</a:t>
            </a:r>
            <a:r>
              <a:rPr lang="en-US" sz="1400" dirty="0"/>
              <a:t>onsistency (All nodes see same data)</a:t>
            </a:r>
          </a:p>
          <a:p>
            <a:r>
              <a:rPr lang="en-US" sz="1400" b="1" dirty="0"/>
              <a:t>A</a:t>
            </a:r>
            <a:r>
              <a:rPr lang="en-US" sz="1400" dirty="0"/>
              <a:t>vailability (Every request gets response)</a:t>
            </a:r>
          </a:p>
          <a:p>
            <a:r>
              <a:rPr lang="en-US" sz="1400" b="1" dirty="0"/>
              <a:t>P</a:t>
            </a:r>
            <a:r>
              <a:rPr lang="en-US" sz="1400" dirty="0"/>
              <a:t>artition Tolerance (System works despite network failures)</a:t>
            </a:r>
          </a:p>
          <a:p>
            <a:endParaRPr lang="en-US" sz="1400" dirty="0"/>
          </a:p>
          <a:p>
            <a:r>
              <a:rPr lang="en-US" sz="1400" b="1" dirty="0"/>
              <a:t>The Theorem:</a:t>
            </a:r>
            <a:endParaRPr lang="en-US" sz="1400" dirty="0"/>
          </a:p>
          <a:p>
            <a:r>
              <a:rPr lang="en-US" sz="1400" dirty="0"/>
              <a:t>In a distributed system, you can have </a:t>
            </a:r>
            <a:r>
              <a:rPr lang="en-US" sz="1400" b="1" dirty="0"/>
              <a:t>at most two</a:t>
            </a:r>
            <a:r>
              <a:rPr lang="en-US" sz="1400" dirty="0"/>
              <a:t> of the three properties</a:t>
            </a:r>
          </a:p>
          <a:p>
            <a:r>
              <a:rPr lang="en-US" sz="1400" dirty="0"/>
              <a:t>During a </a:t>
            </a:r>
            <a:r>
              <a:rPr lang="en-US" sz="1400" b="1" dirty="0"/>
              <a:t>network partition</a:t>
            </a:r>
            <a:r>
              <a:rPr lang="en-US" sz="1400" dirty="0"/>
              <a:t>, you must choose between </a:t>
            </a:r>
            <a:r>
              <a:rPr lang="en-US" sz="1400" b="1" dirty="0"/>
              <a:t>C</a:t>
            </a:r>
            <a:r>
              <a:rPr lang="en-US" sz="1400" dirty="0"/>
              <a:t> and </a:t>
            </a:r>
            <a:r>
              <a:rPr lang="en-US" sz="1400" b="1" dirty="0"/>
              <a:t>A</a:t>
            </a:r>
          </a:p>
          <a:p>
            <a:endParaRPr lang="en-US" sz="1400" b="1" dirty="0"/>
          </a:p>
          <a:p>
            <a:r>
              <a:rPr lang="en-IN" sz="1400" b="1" dirty="0"/>
              <a:t>The Three Choices:</a:t>
            </a:r>
            <a:endParaRPr lang="en-IN" sz="1400" dirty="0"/>
          </a:p>
          <a:p>
            <a:r>
              <a:rPr lang="en-IN" sz="1400" b="1" dirty="0"/>
              <a:t>CP (Consistency + Partition Tolerance): </a:t>
            </a:r>
            <a:r>
              <a:rPr lang="en-IN" sz="1400" dirty="0"/>
              <a:t>During partition, system becomes unavailable to maintain consistency</a:t>
            </a:r>
          </a:p>
          <a:p>
            <a:r>
              <a:rPr lang="en-IN" sz="1400" b="1" dirty="0"/>
              <a:t>AP (Availability + Partition Tolerance): </a:t>
            </a:r>
            <a:r>
              <a:rPr lang="en-IN" sz="1400" dirty="0"/>
              <a:t>During partition, system remains available but may return stale data</a:t>
            </a:r>
          </a:p>
          <a:p>
            <a:r>
              <a:rPr lang="en-IN" sz="1400" b="1" dirty="0"/>
              <a:t>CA (Consistency + Availability): </a:t>
            </a:r>
            <a:r>
              <a:rPr lang="en-IN" sz="1400" dirty="0"/>
              <a:t>Only works without network partitions (not truly distributed)</a:t>
            </a:r>
          </a:p>
          <a:p>
            <a:endParaRPr lang="en-US" sz="1400" dirty="0"/>
          </a:p>
        </p:txBody>
      </p:sp>
    </p:spTree>
    <p:extLst>
      <p:ext uri="{BB962C8B-B14F-4D97-AF65-F5344CB8AC3E}">
        <p14:creationId xmlns:p14="http://schemas.microsoft.com/office/powerpoint/2010/main" val="20172758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F9850B-B588-E591-F79C-EBFAE28D0176}"/>
              </a:ext>
            </a:extLst>
          </p:cNvPr>
          <p:cNvSpPr>
            <a:spLocks noGrp="1"/>
          </p:cNvSpPr>
          <p:nvPr>
            <p:ph type="title"/>
          </p:nvPr>
        </p:nvSpPr>
        <p:spPr>
          <a:xfrm>
            <a:off x="384724" y="501589"/>
            <a:ext cx="4861560" cy="492443"/>
          </a:xfrm>
        </p:spPr>
        <p:txBody>
          <a:bodyPr/>
          <a:lstStyle/>
          <a:p>
            <a:r>
              <a:rPr lang="en-IN" dirty="0"/>
              <a:t>CAP Theorem in Practice</a:t>
            </a:r>
          </a:p>
        </p:txBody>
      </p:sp>
      <p:sp>
        <p:nvSpPr>
          <p:cNvPr id="3" name="Content Placeholder 2">
            <a:extLst>
              <a:ext uri="{FF2B5EF4-FFF2-40B4-BE49-F238E27FC236}">
                <a16:creationId xmlns:a16="http://schemas.microsoft.com/office/drawing/2014/main" id="{8DF76E40-696D-E91C-D860-1C7900BF7086}"/>
              </a:ext>
            </a:extLst>
          </p:cNvPr>
          <p:cNvSpPr>
            <a:spLocks noGrp="1"/>
          </p:cNvSpPr>
          <p:nvPr>
            <p:ph sz="half" idx="2"/>
          </p:nvPr>
        </p:nvSpPr>
        <p:spPr>
          <a:xfrm>
            <a:off x="457200" y="1183005"/>
            <a:ext cx="3977640" cy="2400657"/>
          </a:xfrm>
        </p:spPr>
        <p:txBody>
          <a:bodyPr/>
          <a:lstStyle/>
          <a:p>
            <a:r>
              <a:rPr lang="en-IN" b="1" dirty="0"/>
              <a:t>CP Systems (Consistency First)</a:t>
            </a:r>
          </a:p>
          <a:p>
            <a:endParaRPr lang="en-US" b="1" dirty="0"/>
          </a:p>
          <a:p>
            <a:r>
              <a:rPr lang="en-US" b="1" dirty="0"/>
              <a:t>Example: </a:t>
            </a:r>
            <a:r>
              <a:rPr lang="en-US" b="1" dirty="0" err="1"/>
              <a:t>ZooKeeper</a:t>
            </a:r>
            <a:endParaRPr lang="en-US" dirty="0"/>
          </a:p>
          <a:p>
            <a:r>
              <a:rPr lang="en-US" dirty="0"/>
              <a:t>During partition: </a:t>
            </a:r>
            <a:r>
              <a:rPr lang="en-US" b="1" dirty="0"/>
              <a:t>Stops serving writes</a:t>
            </a:r>
            <a:r>
              <a:rPr lang="en-US" dirty="0"/>
              <a:t> to avoid inconsistency</a:t>
            </a:r>
          </a:p>
          <a:p>
            <a:r>
              <a:rPr lang="en-US" dirty="0"/>
              <a:t>Implements </a:t>
            </a:r>
            <a:r>
              <a:rPr lang="en-US" b="1" dirty="0"/>
              <a:t>leader election</a:t>
            </a:r>
            <a:r>
              <a:rPr lang="en-US" dirty="0"/>
              <a:t> - only leader serves writes</a:t>
            </a:r>
          </a:p>
          <a:p>
            <a:r>
              <a:rPr lang="en-US" dirty="0"/>
              <a:t>Guarantees: Linearizable consistency</a:t>
            </a:r>
          </a:p>
          <a:p>
            <a:r>
              <a:rPr lang="en-US" dirty="0"/>
              <a:t>Use case: Configuration management, leader election</a:t>
            </a:r>
          </a:p>
          <a:p>
            <a:endParaRPr lang="en-US" dirty="0"/>
          </a:p>
          <a:p>
            <a:r>
              <a:rPr lang="en-US" b="1" dirty="0"/>
              <a:t>Design Decision Flow:</a:t>
            </a:r>
            <a:endParaRPr lang="en-US" dirty="0"/>
          </a:p>
          <a:p>
            <a:r>
              <a:rPr lang="en-US" dirty="0"/>
              <a:t>Must all reads be current? → </a:t>
            </a:r>
            <a:r>
              <a:rPr lang="en-US" b="1" dirty="0"/>
              <a:t>CP</a:t>
            </a:r>
            <a:endParaRPr lang="en-US" dirty="0"/>
          </a:p>
          <a:p>
            <a:endParaRPr lang="en-US" dirty="0"/>
          </a:p>
          <a:p>
            <a:endParaRPr lang="en-IN" dirty="0"/>
          </a:p>
        </p:txBody>
      </p:sp>
      <p:sp>
        <p:nvSpPr>
          <p:cNvPr id="4" name="Content Placeholder 3">
            <a:extLst>
              <a:ext uri="{FF2B5EF4-FFF2-40B4-BE49-F238E27FC236}">
                <a16:creationId xmlns:a16="http://schemas.microsoft.com/office/drawing/2014/main" id="{41392A49-71CB-E5E4-3A16-4A6DC4887047}"/>
              </a:ext>
            </a:extLst>
          </p:cNvPr>
          <p:cNvSpPr>
            <a:spLocks noGrp="1"/>
          </p:cNvSpPr>
          <p:nvPr>
            <p:ph sz="half" idx="3"/>
          </p:nvPr>
        </p:nvSpPr>
        <p:spPr>
          <a:xfrm>
            <a:off x="4709160" y="1183005"/>
            <a:ext cx="3977640" cy="2400657"/>
          </a:xfrm>
        </p:spPr>
        <p:txBody>
          <a:bodyPr/>
          <a:lstStyle/>
          <a:p>
            <a:r>
              <a:rPr lang="en-IN" b="1" dirty="0"/>
              <a:t>AP Systems (Availability First)</a:t>
            </a:r>
          </a:p>
          <a:p>
            <a:endParaRPr lang="en-IN" dirty="0"/>
          </a:p>
          <a:p>
            <a:r>
              <a:rPr lang="en-US" b="1" dirty="0"/>
              <a:t>Example: Cassandra</a:t>
            </a:r>
            <a:endParaRPr lang="en-US" dirty="0"/>
          </a:p>
          <a:p>
            <a:r>
              <a:rPr lang="en-US" dirty="0"/>
              <a:t>During partition: </a:t>
            </a:r>
            <a:r>
              <a:rPr lang="en-US" b="1" dirty="0"/>
              <a:t>Continues serving all requests</a:t>
            </a:r>
            <a:endParaRPr lang="en-US" dirty="0"/>
          </a:p>
          <a:p>
            <a:r>
              <a:rPr lang="en-US" dirty="0"/>
              <a:t>Uses </a:t>
            </a:r>
            <a:r>
              <a:rPr lang="en-US" b="1" dirty="0"/>
              <a:t>last-write-wins</a:t>
            </a:r>
            <a:r>
              <a:rPr lang="en-US" dirty="0"/>
              <a:t> + vector clocks for conflict resolution</a:t>
            </a:r>
          </a:p>
          <a:p>
            <a:r>
              <a:rPr lang="en-US" dirty="0"/>
              <a:t>Guarantees: Eventual consistency</a:t>
            </a:r>
          </a:p>
          <a:p>
            <a:r>
              <a:rPr lang="en-US" dirty="0"/>
              <a:t>Use case: User profiles, product catalogs</a:t>
            </a:r>
          </a:p>
          <a:p>
            <a:endParaRPr lang="en-US" dirty="0"/>
          </a:p>
          <a:p>
            <a:r>
              <a:rPr lang="en-US" b="1" dirty="0"/>
              <a:t>Design Decision Flow:</a:t>
            </a:r>
            <a:endParaRPr lang="en-US" dirty="0"/>
          </a:p>
          <a:p>
            <a:r>
              <a:rPr lang="en-US" dirty="0"/>
              <a:t>Can you accept stale reads? → </a:t>
            </a:r>
            <a:r>
              <a:rPr lang="en-US" b="1" dirty="0"/>
              <a:t>AP</a:t>
            </a:r>
            <a:endParaRPr lang="en-US" dirty="0"/>
          </a:p>
          <a:p>
            <a:endParaRPr lang="en-US" dirty="0"/>
          </a:p>
          <a:p>
            <a:endParaRPr lang="en-US" dirty="0"/>
          </a:p>
          <a:p>
            <a:endParaRPr lang="en-IN" dirty="0"/>
          </a:p>
        </p:txBody>
      </p:sp>
    </p:spTree>
    <p:extLst>
      <p:ext uri="{BB962C8B-B14F-4D97-AF65-F5344CB8AC3E}">
        <p14:creationId xmlns:p14="http://schemas.microsoft.com/office/powerpoint/2010/main" val="886546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CCC204-CA2C-5DF4-A398-E04E2E55D222}"/>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F3CA2762-D6A3-5274-A51C-D526A9B23E90}"/>
              </a:ext>
            </a:extLst>
          </p:cNvPr>
          <p:cNvSpPr txBox="1">
            <a:spLocks noGrp="1"/>
          </p:cNvSpPr>
          <p:nvPr>
            <p:ph type="title"/>
          </p:nvPr>
        </p:nvSpPr>
        <p:spPr>
          <a:prstGeom prst="rect">
            <a:avLst/>
          </a:prstGeom>
        </p:spPr>
        <p:txBody>
          <a:bodyPr vert="horz" wrap="square" lIns="0" tIns="17780" rIns="0" bIns="0" rtlCol="0">
            <a:spAutoFit/>
          </a:bodyPr>
          <a:lstStyle/>
          <a:p>
            <a:pPr marL="12700">
              <a:lnSpc>
                <a:spcPct val="100000"/>
              </a:lnSpc>
              <a:spcBef>
                <a:spcPts val="140"/>
              </a:spcBef>
            </a:pPr>
            <a:r>
              <a:rPr lang="en-IN" spc="-330" dirty="0"/>
              <a:t>PACELC Theorem</a:t>
            </a:r>
            <a:endParaRPr spc="-150" dirty="0"/>
          </a:p>
        </p:txBody>
      </p:sp>
      <p:sp>
        <p:nvSpPr>
          <p:cNvPr id="4" name="object 4">
            <a:extLst>
              <a:ext uri="{FF2B5EF4-FFF2-40B4-BE49-F238E27FC236}">
                <a16:creationId xmlns:a16="http://schemas.microsoft.com/office/drawing/2014/main" id="{BC8A3ABD-4D11-171E-E55A-EACC2997ADDD}"/>
              </a:ext>
            </a:extLst>
          </p:cNvPr>
          <p:cNvSpPr txBox="1"/>
          <p:nvPr/>
        </p:nvSpPr>
        <p:spPr>
          <a:xfrm>
            <a:off x="475248" y="1289060"/>
            <a:ext cx="8363952" cy="2598147"/>
          </a:xfrm>
          <a:prstGeom prst="rect">
            <a:avLst/>
          </a:prstGeom>
        </p:spPr>
        <p:txBody>
          <a:bodyPr vert="horz" wrap="square" lIns="0" tIns="12700" rIns="0" bIns="0" rtlCol="0">
            <a:spAutoFit/>
          </a:bodyPr>
          <a:lstStyle/>
          <a:p>
            <a:r>
              <a:rPr lang="it-IT" sz="1400" b="1" dirty="0"/>
              <a:t>Scenario 1: Network Partition (P):</a:t>
            </a:r>
          </a:p>
          <a:p>
            <a:endParaRPr lang="it-IT" sz="1400" b="1" dirty="0"/>
          </a:p>
          <a:p>
            <a:pPr latinLnBrk="1"/>
            <a:r>
              <a:rPr lang="en-US" sz="1400" dirty="0"/>
              <a:t>If Partition occurs:</a:t>
            </a:r>
          </a:p>
          <a:p>
            <a:pPr latinLnBrk="1"/>
            <a:r>
              <a:rPr lang="en-US" sz="1400" dirty="0"/>
              <a:t>   → Choose between Availability (A) and Consistency (C)</a:t>
            </a:r>
          </a:p>
          <a:p>
            <a:pPr latinLnBrk="1"/>
            <a:r>
              <a:rPr lang="en-US" sz="1400" dirty="0"/>
              <a:t>   Result: PA or PC</a:t>
            </a:r>
          </a:p>
          <a:p>
            <a:endParaRPr lang="en-US" sz="1400" dirty="0"/>
          </a:p>
          <a:p>
            <a:r>
              <a:rPr lang="en-IN" sz="1400" b="1" dirty="0"/>
              <a:t>Scenario 2: Normal Operation (Else)</a:t>
            </a:r>
          </a:p>
          <a:p>
            <a:endParaRPr lang="en-IN" sz="1400" b="1" dirty="0"/>
          </a:p>
          <a:p>
            <a:pPr latinLnBrk="1"/>
            <a:r>
              <a:rPr lang="en-US" sz="1400" dirty="0"/>
              <a:t>If No Partition (normal operation):</a:t>
            </a:r>
          </a:p>
          <a:p>
            <a:pPr latinLnBrk="1"/>
            <a:r>
              <a:rPr lang="en-US" sz="1400" dirty="0"/>
              <a:t>   → Choose between Latency (L) and Consistency (C)</a:t>
            </a:r>
          </a:p>
          <a:p>
            <a:pPr latinLnBrk="1"/>
            <a:r>
              <a:rPr lang="en-US" sz="1400" dirty="0"/>
              <a:t>   Result: EL or EC</a:t>
            </a:r>
          </a:p>
          <a:p>
            <a:endParaRPr lang="en-US" sz="1400" dirty="0"/>
          </a:p>
        </p:txBody>
      </p:sp>
    </p:spTree>
    <p:extLst>
      <p:ext uri="{BB962C8B-B14F-4D97-AF65-F5344CB8AC3E}">
        <p14:creationId xmlns:p14="http://schemas.microsoft.com/office/powerpoint/2010/main" val="16406684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2C1DF6-7E2D-8199-0FCC-CE6282EDA714}"/>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80458CD0-7422-E8CD-E94A-73AF4A451740}"/>
              </a:ext>
            </a:extLst>
          </p:cNvPr>
          <p:cNvSpPr txBox="1">
            <a:spLocks noGrp="1"/>
          </p:cNvSpPr>
          <p:nvPr>
            <p:ph type="title"/>
          </p:nvPr>
        </p:nvSpPr>
        <p:spPr>
          <a:prstGeom prst="rect">
            <a:avLst/>
          </a:prstGeom>
        </p:spPr>
        <p:txBody>
          <a:bodyPr vert="horz" wrap="square" lIns="0" tIns="17780" rIns="0" bIns="0" rtlCol="0">
            <a:spAutoFit/>
          </a:bodyPr>
          <a:lstStyle/>
          <a:p>
            <a:pPr marL="12700">
              <a:lnSpc>
                <a:spcPct val="100000"/>
              </a:lnSpc>
              <a:spcBef>
                <a:spcPts val="140"/>
              </a:spcBef>
            </a:pPr>
            <a:r>
              <a:rPr lang="en-IN" spc="-330" dirty="0"/>
              <a:t>FLP Theorem</a:t>
            </a:r>
            <a:endParaRPr spc="-150" dirty="0"/>
          </a:p>
        </p:txBody>
      </p:sp>
      <p:sp>
        <p:nvSpPr>
          <p:cNvPr id="4" name="object 4">
            <a:extLst>
              <a:ext uri="{FF2B5EF4-FFF2-40B4-BE49-F238E27FC236}">
                <a16:creationId xmlns:a16="http://schemas.microsoft.com/office/drawing/2014/main" id="{18095DC0-E4EC-6775-9648-C9A49906A6F6}"/>
              </a:ext>
            </a:extLst>
          </p:cNvPr>
          <p:cNvSpPr txBox="1"/>
          <p:nvPr/>
        </p:nvSpPr>
        <p:spPr>
          <a:xfrm>
            <a:off x="475248" y="1289060"/>
            <a:ext cx="8363952" cy="1305486"/>
          </a:xfrm>
          <a:prstGeom prst="rect">
            <a:avLst/>
          </a:prstGeom>
        </p:spPr>
        <p:txBody>
          <a:bodyPr vert="horz" wrap="square" lIns="0" tIns="12700" rIns="0" bIns="0" rtlCol="0">
            <a:spAutoFit/>
          </a:bodyPr>
          <a:lstStyle/>
          <a:p>
            <a:r>
              <a:rPr lang="en-US" sz="1400" b="1" dirty="0"/>
              <a:t>The Theorem (Fischer, Lynch, Patterson - 1985):</a:t>
            </a:r>
            <a:endParaRPr lang="en-US" sz="1400" dirty="0"/>
          </a:p>
          <a:p>
            <a:r>
              <a:rPr lang="en-US" sz="1400" dirty="0"/>
              <a:t>In </a:t>
            </a:r>
            <a:r>
              <a:rPr lang="en-US" sz="1400" b="1" dirty="0"/>
              <a:t>asynchronous</a:t>
            </a:r>
            <a:r>
              <a:rPr lang="en-US" sz="1400" dirty="0"/>
              <a:t> distributed systems with </a:t>
            </a:r>
            <a:r>
              <a:rPr lang="en-US" sz="1400" b="1" dirty="0"/>
              <a:t>crash failures</a:t>
            </a:r>
            <a:endParaRPr lang="en-US" sz="1400" dirty="0"/>
          </a:p>
          <a:p>
            <a:r>
              <a:rPr lang="en-US" sz="1400" b="1" dirty="0"/>
              <a:t>No deterministic algorithm</a:t>
            </a:r>
            <a:r>
              <a:rPr lang="en-US" sz="1400" dirty="0"/>
              <a:t> can guarantee consensus</a:t>
            </a:r>
          </a:p>
          <a:p>
            <a:r>
              <a:rPr lang="en-US" sz="1400" dirty="0"/>
              <a:t>Even with just </a:t>
            </a:r>
            <a:r>
              <a:rPr lang="en-US" sz="1400" b="1" dirty="0"/>
              <a:t>one</a:t>
            </a:r>
            <a:r>
              <a:rPr lang="en-US" sz="1400" dirty="0"/>
              <a:t> faulty process</a:t>
            </a:r>
          </a:p>
          <a:p>
            <a:r>
              <a:rPr lang="en-US" sz="1400" dirty="0"/>
              <a:t>Formal name: </a:t>
            </a:r>
            <a:r>
              <a:rPr lang="en-US" sz="1400" b="1" dirty="0"/>
              <a:t>"Impossibility of Distributed Consensus with One Faulty Process"</a:t>
            </a:r>
            <a:endParaRPr lang="en-US" sz="1400" dirty="0"/>
          </a:p>
          <a:p>
            <a:endParaRPr lang="en-US" sz="1400" dirty="0"/>
          </a:p>
        </p:txBody>
      </p:sp>
    </p:spTree>
    <p:extLst>
      <p:ext uri="{BB962C8B-B14F-4D97-AF65-F5344CB8AC3E}">
        <p14:creationId xmlns:p14="http://schemas.microsoft.com/office/powerpoint/2010/main" val="9405618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5B2CB7-89DC-8B24-EF3D-CCBDF44E9CF6}"/>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B3731E8B-6D64-B3A2-303F-DB29F9FBDD40}"/>
              </a:ext>
            </a:extLst>
          </p:cNvPr>
          <p:cNvSpPr txBox="1">
            <a:spLocks noGrp="1"/>
          </p:cNvSpPr>
          <p:nvPr>
            <p:ph type="title"/>
          </p:nvPr>
        </p:nvSpPr>
        <p:spPr>
          <a:prstGeom prst="rect">
            <a:avLst/>
          </a:prstGeom>
        </p:spPr>
        <p:txBody>
          <a:bodyPr vert="horz" wrap="square" lIns="0" tIns="17780" rIns="0" bIns="0" rtlCol="0">
            <a:spAutoFit/>
          </a:bodyPr>
          <a:lstStyle/>
          <a:p>
            <a:pPr marL="12700">
              <a:lnSpc>
                <a:spcPct val="100000"/>
              </a:lnSpc>
              <a:spcBef>
                <a:spcPts val="140"/>
              </a:spcBef>
            </a:pPr>
            <a:r>
              <a:rPr lang="en-IN" spc="-330" dirty="0"/>
              <a:t>ACID Properties</a:t>
            </a:r>
            <a:endParaRPr spc="-150" dirty="0"/>
          </a:p>
        </p:txBody>
      </p:sp>
      <p:sp>
        <p:nvSpPr>
          <p:cNvPr id="4" name="object 4">
            <a:extLst>
              <a:ext uri="{FF2B5EF4-FFF2-40B4-BE49-F238E27FC236}">
                <a16:creationId xmlns:a16="http://schemas.microsoft.com/office/drawing/2014/main" id="{3F1C0740-5C1C-AC33-3659-8C24A17D4FC4}"/>
              </a:ext>
            </a:extLst>
          </p:cNvPr>
          <p:cNvSpPr txBox="1"/>
          <p:nvPr/>
        </p:nvSpPr>
        <p:spPr>
          <a:xfrm>
            <a:off x="475248" y="1289060"/>
            <a:ext cx="8363952" cy="3459922"/>
          </a:xfrm>
          <a:prstGeom prst="rect">
            <a:avLst/>
          </a:prstGeom>
        </p:spPr>
        <p:txBody>
          <a:bodyPr vert="horz" wrap="square" lIns="0" tIns="12700" rIns="0" bIns="0" rtlCol="0">
            <a:spAutoFit/>
          </a:bodyPr>
          <a:lstStyle/>
          <a:p>
            <a:r>
              <a:rPr lang="en-IN" sz="1400" b="1" dirty="0"/>
              <a:t>A - Atomicity: </a:t>
            </a:r>
            <a:r>
              <a:rPr lang="en-US" sz="1400" b="1" dirty="0"/>
              <a:t>All or nothing</a:t>
            </a:r>
            <a:r>
              <a:rPr lang="en-US" sz="1400" dirty="0"/>
              <a:t> transactions</a:t>
            </a:r>
          </a:p>
          <a:p>
            <a:pPr marL="285750" lvl="6" indent="-285750">
              <a:buFont typeface="Courier New" panose="02070309020205020404" pitchFamily="49" charset="0"/>
              <a:buChar char="o"/>
            </a:pPr>
            <a:r>
              <a:rPr lang="en-US" sz="1400" dirty="0"/>
              <a:t>Example: Bank transfer - both debit AND credit succeed or NEITHER does</a:t>
            </a:r>
          </a:p>
          <a:p>
            <a:pPr marL="285750" indent="-285750">
              <a:buFont typeface="Courier New" panose="02070309020205020404" pitchFamily="49" charset="0"/>
              <a:buChar char="o"/>
            </a:pPr>
            <a:r>
              <a:rPr lang="en-US" sz="1400" dirty="0"/>
              <a:t>Implementation: </a:t>
            </a:r>
            <a:r>
              <a:rPr lang="en-US" sz="1400" b="1" dirty="0"/>
              <a:t>Undo logs</a:t>
            </a:r>
            <a:r>
              <a:rPr lang="en-US" sz="1400" dirty="0"/>
              <a:t>, transaction rollback</a:t>
            </a:r>
          </a:p>
          <a:p>
            <a:r>
              <a:rPr lang="en-IN" sz="1400" b="1" dirty="0"/>
              <a:t>C - Consistency: </a:t>
            </a:r>
            <a:r>
              <a:rPr lang="en-US" sz="1400" b="1" dirty="0"/>
              <a:t>Valid state transitions</a:t>
            </a:r>
            <a:endParaRPr lang="en-US" sz="1400" dirty="0"/>
          </a:p>
          <a:p>
            <a:pPr marL="285750" indent="-285750">
              <a:buFont typeface="Courier New" panose="02070309020205020404" pitchFamily="49" charset="0"/>
              <a:buChar char="o"/>
            </a:pPr>
            <a:r>
              <a:rPr lang="en-US" sz="1400" dirty="0"/>
              <a:t>Database moves from one valid state to another</a:t>
            </a:r>
          </a:p>
          <a:p>
            <a:pPr marL="285750" indent="-285750">
              <a:buFont typeface="Courier New" panose="02070309020205020404" pitchFamily="49" charset="0"/>
              <a:buChar char="o"/>
            </a:pPr>
            <a:r>
              <a:rPr lang="en-US" sz="1400" dirty="0"/>
              <a:t>Example: Account balance never negative (if constraint defined)</a:t>
            </a:r>
          </a:p>
          <a:p>
            <a:pPr marL="285750" indent="-285750">
              <a:buFont typeface="Courier New" panose="02070309020205020404" pitchFamily="49" charset="0"/>
              <a:buChar char="o"/>
            </a:pPr>
            <a:r>
              <a:rPr lang="en-US" sz="1400" dirty="0"/>
              <a:t>Implementation: </a:t>
            </a:r>
            <a:r>
              <a:rPr lang="en-US" sz="1400" b="1" dirty="0"/>
              <a:t>Constraints, triggers, application logic</a:t>
            </a:r>
            <a:endParaRPr lang="en-US" sz="1400" dirty="0"/>
          </a:p>
          <a:p>
            <a:r>
              <a:rPr lang="en-IN" sz="1400" b="1" dirty="0"/>
              <a:t>I - Isolation:</a:t>
            </a:r>
            <a:r>
              <a:rPr lang="en-IN" sz="1400" dirty="0"/>
              <a:t> </a:t>
            </a:r>
            <a:r>
              <a:rPr lang="en-IN" sz="1400" b="1" dirty="0"/>
              <a:t>Concurrent transactions don't interfere</a:t>
            </a:r>
            <a:endParaRPr lang="en-IN" sz="1400" dirty="0"/>
          </a:p>
          <a:p>
            <a:pPr marL="285750" indent="-285750">
              <a:buFont typeface="Courier New" panose="02070309020205020404" pitchFamily="49" charset="0"/>
              <a:buChar char="o"/>
            </a:pPr>
            <a:r>
              <a:rPr lang="en-IN" sz="1400" dirty="0"/>
              <a:t>As if transactions executed serially</a:t>
            </a:r>
          </a:p>
          <a:p>
            <a:pPr marL="285750" indent="-285750">
              <a:buFont typeface="Courier New" panose="02070309020205020404" pitchFamily="49" charset="0"/>
              <a:buChar char="o"/>
            </a:pPr>
            <a:r>
              <a:rPr lang="en-IN" sz="1400" dirty="0"/>
              <a:t>Levels: Read Uncommitted → Read Committed → Repeatable Read → Serializable</a:t>
            </a:r>
          </a:p>
          <a:p>
            <a:pPr marL="285750" indent="-285750">
              <a:buFont typeface="Courier New" panose="02070309020205020404" pitchFamily="49" charset="0"/>
              <a:buChar char="o"/>
            </a:pPr>
            <a:r>
              <a:rPr lang="en-IN" sz="1400" dirty="0"/>
              <a:t>Implementation: </a:t>
            </a:r>
            <a:r>
              <a:rPr lang="en-IN" sz="1400" b="1" dirty="0"/>
              <a:t>Locks, MVCC (Multi-Version Concurrency Control)</a:t>
            </a:r>
            <a:endParaRPr lang="en-IN" sz="1400" dirty="0"/>
          </a:p>
          <a:p>
            <a:r>
              <a:rPr lang="en-US" sz="1400" b="1" dirty="0"/>
              <a:t>D - Durability:</a:t>
            </a:r>
            <a:r>
              <a:rPr lang="en-US" sz="1400" dirty="0"/>
              <a:t> </a:t>
            </a:r>
            <a:r>
              <a:rPr lang="en-US" sz="1400" b="1" dirty="0"/>
              <a:t>Committed transactions survive crashes</a:t>
            </a:r>
            <a:endParaRPr lang="en-US" sz="1400" dirty="0"/>
          </a:p>
          <a:p>
            <a:pPr marL="285750" indent="-285750">
              <a:buFont typeface="Courier New" panose="02070309020205020404" pitchFamily="49" charset="0"/>
              <a:buChar char="o"/>
            </a:pPr>
            <a:r>
              <a:rPr lang="en-US" sz="1400" dirty="0"/>
              <a:t>Once committed, data is permanent</a:t>
            </a:r>
          </a:p>
          <a:p>
            <a:pPr marL="285750" indent="-285750">
              <a:buFont typeface="Courier New" panose="02070309020205020404" pitchFamily="49" charset="0"/>
              <a:buChar char="o"/>
            </a:pPr>
            <a:r>
              <a:rPr lang="en-US" sz="1400" dirty="0"/>
              <a:t>Example: After "Transfer Complete", even power loss doesn't revert</a:t>
            </a:r>
          </a:p>
          <a:p>
            <a:pPr marL="285750" indent="-285750">
              <a:buFont typeface="Courier New" panose="02070309020205020404" pitchFamily="49" charset="0"/>
              <a:buChar char="o"/>
            </a:pPr>
            <a:r>
              <a:rPr lang="en-US" sz="1400" dirty="0"/>
              <a:t>Implementation: </a:t>
            </a:r>
            <a:r>
              <a:rPr lang="en-US" sz="1400" b="1" dirty="0"/>
              <a:t>Write-ahead logging (WAL), replication</a:t>
            </a:r>
            <a:endParaRPr lang="en-US" sz="1400" dirty="0"/>
          </a:p>
          <a:p>
            <a:endParaRPr lang="en-US" sz="1400" dirty="0"/>
          </a:p>
        </p:txBody>
      </p:sp>
    </p:spTree>
    <p:extLst>
      <p:ext uri="{BB962C8B-B14F-4D97-AF65-F5344CB8AC3E}">
        <p14:creationId xmlns:p14="http://schemas.microsoft.com/office/powerpoint/2010/main" val="3742758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0F2CE9-A2FE-6CCD-E94B-5BBF9914DA6E}"/>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5FA343D5-B4D4-4A82-ED62-0C6690F11DB6}"/>
              </a:ext>
            </a:extLst>
          </p:cNvPr>
          <p:cNvSpPr txBox="1">
            <a:spLocks noGrp="1"/>
          </p:cNvSpPr>
          <p:nvPr>
            <p:ph type="title"/>
          </p:nvPr>
        </p:nvSpPr>
        <p:spPr>
          <a:prstGeom prst="rect">
            <a:avLst/>
          </a:prstGeom>
        </p:spPr>
        <p:txBody>
          <a:bodyPr vert="horz" wrap="square" lIns="0" tIns="17780" rIns="0" bIns="0" rtlCol="0">
            <a:spAutoFit/>
          </a:bodyPr>
          <a:lstStyle/>
          <a:p>
            <a:pPr marL="12700">
              <a:lnSpc>
                <a:spcPct val="100000"/>
              </a:lnSpc>
              <a:spcBef>
                <a:spcPts val="140"/>
              </a:spcBef>
            </a:pPr>
            <a:r>
              <a:rPr lang="en-IN" spc="-330" dirty="0"/>
              <a:t>BASE Properties</a:t>
            </a:r>
            <a:endParaRPr spc="-150" dirty="0"/>
          </a:p>
        </p:txBody>
      </p:sp>
      <p:sp>
        <p:nvSpPr>
          <p:cNvPr id="4" name="object 4">
            <a:extLst>
              <a:ext uri="{FF2B5EF4-FFF2-40B4-BE49-F238E27FC236}">
                <a16:creationId xmlns:a16="http://schemas.microsoft.com/office/drawing/2014/main" id="{74A61A2F-93BE-5E1E-3FBA-6155BC79195C}"/>
              </a:ext>
            </a:extLst>
          </p:cNvPr>
          <p:cNvSpPr txBox="1"/>
          <p:nvPr/>
        </p:nvSpPr>
        <p:spPr>
          <a:xfrm>
            <a:off x="475248" y="1289060"/>
            <a:ext cx="8363952" cy="2598147"/>
          </a:xfrm>
          <a:prstGeom prst="rect">
            <a:avLst/>
          </a:prstGeom>
        </p:spPr>
        <p:txBody>
          <a:bodyPr vert="horz" wrap="square" lIns="0" tIns="12700" rIns="0" bIns="0" rtlCol="0">
            <a:spAutoFit/>
          </a:bodyPr>
          <a:lstStyle/>
          <a:p>
            <a:r>
              <a:rPr lang="en-US" sz="1400" b="1" dirty="0"/>
              <a:t>B - Basically Available: </a:t>
            </a:r>
            <a:r>
              <a:rPr lang="en-US" sz="1400" dirty="0"/>
              <a:t>System </a:t>
            </a:r>
            <a:r>
              <a:rPr lang="en-US" sz="1400" b="1" dirty="0"/>
              <a:t>responds to all requests</a:t>
            </a:r>
            <a:endParaRPr lang="en-US" sz="1400" dirty="0"/>
          </a:p>
          <a:p>
            <a:pPr marL="285750" indent="-285750">
              <a:buFont typeface="Courier New" panose="02070309020205020404" pitchFamily="49" charset="0"/>
              <a:buChar char="o"/>
            </a:pPr>
            <a:r>
              <a:rPr lang="en-US" sz="1400" dirty="0"/>
              <a:t>May return </a:t>
            </a:r>
            <a:r>
              <a:rPr lang="en-US" sz="1400" b="1" dirty="0"/>
              <a:t>degraded or stale</a:t>
            </a:r>
            <a:r>
              <a:rPr lang="en-US" sz="1400" dirty="0"/>
              <a:t> data</a:t>
            </a:r>
          </a:p>
          <a:p>
            <a:pPr marL="285750" indent="-285750">
              <a:buFont typeface="Courier New" panose="02070309020205020404" pitchFamily="49" charset="0"/>
              <a:buChar char="o"/>
            </a:pPr>
            <a:r>
              <a:rPr lang="en-US" sz="1400" b="1" dirty="0"/>
              <a:t>Trade-off:</a:t>
            </a:r>
            <a:r>
              <a:rPr lang="en-US" sz="1400" dirty="0"/>
              <a:t> Availability over consistency</a:t>
            </a:r>
          </a:p>
          <a:p>
            <a:pPr marL="285750" indent="-285750">
              <a:buFont typeface="Courier New" panose="02070309020205020404" pitchFamily="49" charset="0"/>
              <a:buChar char="o"/>
            </a:pPr>
            <a:r>
              <a:rPr lang="en-US" sz="1400" b="1" dirty="0"/>
              <a:t>Example:</a:t>
            </a:r>
            <a:r>
              <a:rPr lang="en-US" sz="1400" dirty="0"/>
              <a:t> Shopping cart available even during updates</a:t>
            </a:r>
          </a:p>
          <a:p>
            <a:r>
              <a:rPr lang="en-US" sz="1400" b="1" dirty="0"/>
              <a:t>A - Soft State: </a:t>
            </a:r>
            <a:r>
              <a:rPr lang="en-US" sz="1400" dirty="0"/>
              <a:t>System state may change </a:t>
            </a:r>
            <a:r>
              <a:rPr lang="en-US" sz="1400" b="1" dirty="0"/>
              <a:t>without input</a:t>
            </a:r>
            <a:endParaRPr lang="en-US" sz="1400" dirty="0"/>
          </a:p>
          <a:p>
            <a:pPr marL="285750" indent="-285750">
              <a:buFont typeface="Courier New" panose="02070309020205020404" pitchFamily="49" charset="0"/>
              <a:buChar char="o"/>
            </a:pPr>
            <a:r>
              <a:rPr lang="en-US" sz="1400" dirty="0"/>
              <a:t>Due to </a:t>
            </a:r>
            <a:r>
              <a:rPr lang="en-US" sz="1400" b="1" dirty="0"/>
              <a:t>eventual consistency</a:t>
            </a:r>
            <a:r>
              <a:rPr lang="en-US" sz="1400" dirty="0"/>
              <a:t>, replication delays</a:t>
            </a:r>
          </a:p>
          <a:p>
            <a:r>
              <a:rPr lang="en-US" sz="1400" b="1" dirty="0"/>
              <a:t>S - State is "soft"</a:t>
            </a:r>
            <a:r>
              <a:rPr lang="en-US" sz="1400" dirty="0"/>
              <a:t> - not immediately consistent everywhere</a:t>
            </a:r>
          </a:p>
          <a:p>
            <a:pPr marL="285750" indent="-285750">
              <a:buFont typeface="Courier New" panose="02070309020205020404" pitchFamily="49" charset="0"/>
              <a:buChar char="o"/>
            </a:pPr>
            <a:r>
              <a:rPr lang="en-US" sz="1400" b="1" dirty="0"/>
              <a:t>Example:</a:t>
            </a:r>
            <a:r>
              <a:rPr lang="en-US" sz="1400" dirty="0"/>
              <a:t> Product inventory count across regions</a:t>
            </a:r>
          </a:p>
          <a:p>
            <a:r>
              <a:rPr lang="en-US" sz="1400" b="1" dirty="0"/>
              <a:t>E - Eventual Consistency: </a:t>
            </a:r>
            <a:r>
              <a:rPr lang="en-US" sz="1400" dirty="0"/>
              <a:t>Given </a:t>
            </a:r>
            <a:r>
              <a:rPr lang="en-US" sz="1400" b="1" dirty="0"/>
              <a:t>no new updates</a:t>
            </a:r>
            <a:r>
              <a:rPr lang="en-US" sz="1400" dirty="0"/>
              <a:t>, all replicas </a:t>
            </a:r>
            <a:r>
              <a:rPr lang="en-US" sz="1400" b="1" dirty="0"/>
              <a:t>eventually converge</a:t>
            </a:r>
            <a:endParaRPr lang="en-US" sz="1400" dirty="0"/>
          </a:p>
          <a:p>
            <a:pPr marL="285750" indent="-285750">
              <a:buFont typeface="Courier New" panose="02070309020205020404" pitchFamily="49" charset="0"/>
              <a:buChar char="o"/>
            </a:pPr>
            <a:r>
              <a:rPr lang="en-US" sz="1400" b="1" dirty="0"/>
              <a:t>Time window</a:t>
            </a:r>
            <a:r>
              <a:rPr lang="en-US" sz="1400" dirty="0"/>
              <a:t> for inconsistency</a:t>
            </a:r>
          </a:p>
          <a:p>
            <a:pPr marL="285750" indent="-285750">
              <a:buFont typeface="Courier New" panose="02070309020205020404" pitchFamily="49" charset="0"/>
              <a:buChar char="o"/>
            </a:pPr>
            <a:r>
              <a:rPr lang="en-US" sz="1400" b="1" dirty="0"/>
              <a:t>Not "inconsistent"</a:t>
            </a:r>
            <a:r>
              <a:rPr lang="en-US" sz="1400" dirty="0"/>
              <a:t> - temporarily inconsistent</a:t>
            </a:r>
          </a:p>
          <a:p>
            <a:pPr marL="285750" indent="-285750">
              <a:buFont typeface="Courier New" panose="02070309020205020404" pitchFamily="49" charset="0"/>
              <a:buChar char="o"/>
            </a:pPr>
            <a:r>
              <a:rPr lang="en-US" sz="1400" b="1" dirty="0"/>
              <a:t>Example:</a:t>
            </a:r>
            <a:r>
              <a:rPr lang="en-US" sz="1400" dirty="0"/>
              <a:t> Social media likes propagation</a:t>
            </a:r>
          </a:p>
        </p:txBody>
      </p:sp>
    </p:spTree>
    <p:extLst>
      <p:ext uri="{BB962C8B-B14F-4D97-AF65-F5344CB8AC3E}">
        <p14:creationId xmlns:p14="http://schemas.microsoft.com/office/powerpoint/2010/main" val="34750731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666533-F8B2-6933-954F-34011FC9A620}"/>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AB98EFF8-4AFC-F6E9-D110-353E577AC69D}"/>
              </a:ext>
            </a:extLst>
          </p:cNvPr>
          <p:cNvSpPr txBox="1">
            <a:spLocks noGrp="1"/>
          </p:cNvSpPr>
          <p:nvPr>
            <p:ph type="title"/>
          </p:nvPr>
        </p:nvSpPr>
        <p:spPr>
          <a:prstGeom prst="rect">
            <a:avLst/>
          </a:prstGeom>
        </p:spPr>
        <p:txBody>
          <a:bodyPr vert="horz" wrap="square" lIns="0" tIns="17780" rIns="0" bIns="0" rtlCol="0">
            <a:spAutoFit/>
          </a:bodyPr>
          <a:lstStyle/>
          <a:p>
            <a:pPr marL="12700">
              <a:lnSpc>
                <a:spcPct val="100000"/>
              </a:lnSpc>
              <a:spcBef>
                <a:spcPts val="140"/>
              </a:spcBef>
            </a:pPr>
            <a:r>
              <a:rPr lang="en-IN" spc="-330" dirty="0"/>
              <a:t>The Consensus Problem</a:t>
            </a:r>
            <a:endParaRPr spc="-150" dirty="0"/>
          </a:p>
        </p:txBody>
      </p:sp>
      <p:sp>
        <p:nvSpPr>
          <p:cNvPr id="4" name="object 4">
            <a:extLst>
              <a:ext uri="{FF2B5EF4-FFF2-40B4-BE49-F238E27FC236}">
                <a16:creationId xmlns:a16="http://schemas.microsoft.com/office/drawing/2014/main" id="{35F84A31-E34E-9AD5-A1AE-2FCAEA7CC52A}"/>
              </a:ext>
            </a:extLst>
          </p:cNvPr>
          <p:cNvSpPr txBox="1"/>
          <p:nvPr/>
        </p:nvSpPr>
        <p:spPr>
          <a:xfrm>
            <a:off x="475248" y="1289060"/>
            <a:ext cx="8363952" cy="1951816"/>
          </a:xfrm>
          <a:prstGeom prst="rect">
            <a:avLst/>
          </a:prstGeom>
        </p:spPr>
        <p:txBody>
          <a:bodyPr vert="horz" wrap="square" lIns="0" tIns="12700" rIns="0" bIns="0" rtlCol="0">
            <a:spAutoFit/>
          </a:bodyPr>
          <a:lstStyle/>
          <a:p>
            <a:r>
              <a:rPr lang="en-US" sz="1400" dirty="0"/>
              <a:t>Server A proposes: "Value = X"</a:t>
            </a:r>
          </a:p>
          <a:p>
            <a:r>
              <a:rPr lang="en-US" sz="1400" dirty="0"/>
              <a:t>Server B proposes: "Value = Y"</a:t>
            </a:r>
          </a:p>
          <a:p>
            <a:r>
              <a:rPr lang="en-US" sz="1400" dirty="0"/>
              <a:t>Server C: "I need to agree with everyone“</a:t>
            </a:r>
          </a:p>
          <a:p>
            <a:endParaRPr lang="en-US" sz="1400" dirty="0"/>
          </a:p>
          <a:p>
            <a:r>
              <a:rPr lang="en-US" sz="1400" b="1" dirty="0"/>
              <a:t>What is Consensus?</a:t>
            </a:r>
            <a:endParaRPr lang="en-US" sz="1400" dirty="0"/>
          </a:p>
          <a:p>
            <a:r>
              <a:rPr lang="en-US" sz="1400" dirty="0"/>
              <a:t>Multiple nodes must </a:t>
            </a:r>
            <a:r>
              <a:rPr lang="en-US" sz="1400" b="1" dirty="0"/>
              <a:t>agree on a single value</a:t>
            </a:r>
            <a:endParaRPr lang="en-US" sz="1400" dirty="0"/>
          </a:p>
          <a:p>
            <a:r>
              <a:rPr lang="en-US" sz="1400" dirty="0"/>
              <a:t>Despite </a:t>
            </a:r>
            <a:r>
              <a:rPr lang="en-US" sz="1400" b="1" dirty="0"/>
              <a:t>failures, delays, network issues</a:t>
            </a:r>
            <a:endParaRPr lang="en-US" sz="1400" dirty="0"/>
          </a:p>
          <a:p>
            <a:r>
              <a:rPr lang="en-US" sz="1400" dirty="0"/>
              <a:t>Foundation for: </a:t>
            </a:r>
            <a:r>
              <a:rPr lang="en-US" sz="1400" b="1" dirty="0"/>
              <a:t>Leader election, configuration, distributed locks</a:t>
            </a:r>
            <a:endParaRPr lang="en-US" sz="1400" dirty="0"/>
          </a:p>
          <a:p>
            <a:endParaRPr lang="en-US" sz="1400" dirty="0"/>
          </a:p>
        </p:txBody>
      </p:sp>
    </p:spTree>
    <p:extLst>
      <p:ext uri="{BB962C8B-B14F-4D97-AF65-F5344CB8AC3E}">
        <p14:creationId xmlns:p14="http://schemas.microsoft.com/office/powerpoint/2010/main" val="2550160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1972BB-D01C-135A-359B-B5538083A5DD}"/>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E3FA626B-3569-8DC9-FB62-E4C7618C276B}"/>
              </a:ext>
            </a:extLst>
          </p:cNvPr>
          <p:cNvSpPr txBox="1">
            <a:spLocks noGrp="1"/>
          </p:cNvSpPr>
          <p:nvPr>
            <p:ph type="title"/>
          </p:nvPr>
        </p:nvSpPr>
        <p:spPr>
          <a:prstGeom prst="rect">
            <a:avLst/>
          </a:prstGeom>
        </p:spPr>
        <p:txBody>
          <a:bodyPr vert="horz" wrap="square" lIns="0" tIns="17780" rIns="0" bIns="0" rtlCol="0">
            <a:spAutoFit/>
          </a:bodyPr>
          <a:lstStyle/>
          <a:p>
            <a:pPr marL="12700">
              <a:lnSpc>
                <a:spcPct val="100000"/>
              </a:lnSpc>
              <a:spcBef>
                <a:spcPts val="140"/>
              </a:spcBef>
            </a:pPr>
            <a:r>
              <a:rPr lang="en-IN" spc="-330" dirty="0"/>
              <a:t>Paxos Algorithm</a:t>
            </a:r>
            <a:endParaRPr spc="-150" dirty="0"/>
          </a:p>
        </p:txBody>
      </p:sp>
      <p:sp>
        <p:nvSpPr>
          <p:cNvPr id="4" name="object 4">
            <a:extLst>
              <a:ext uri="{FF2B5EF4-FFF2-40B4-BE49-F238E27FC236}">
                <a16:creationId xmlns:a16="http://schemas.microsoft.com/office/drawing/2014/main" id="{F96BA5BB-3CEE-3FD8-5100-678A59E0D3DD}"/>
              </a:ext>
            </a:extLst>
          </p:cNvPr>
          <p:cNvSpPr txBox="1"/>
          <p:nvPr/>
        </p:nvSpPr>
        <p:spPr>
          <a:xfrm>
            <a:off x="475248" y="1289060"/>
            <a:ext cx="8363952" cy="2782813"/>
          </a:xfrm>
          <a:prstGeom prst="rect">
            <a:avLst/>
          </a:prstGeom>
        </p:spPr>
        <p:txBody>
          <a:bodyPr vert="horz" wrap="square" lIns="0" tIns="12700" rIns="0" bIns="0" rtlCol="0">
            <a:spAutoFit/>
          </a:bodyPr>
          <a:lstStyle/>
          <a:p>
            <a:r>
              <a:rPr lang="en-US" b="1" dirty="0"/>
              <a:t>Prepare Phase:</a:t>
            </a:r>
            <a:endParaRPr lang="en-US" dirty="0"/>
          </a:p>
          <a:p>
            <a:pPr marL="285750" lvl="1" indent="-285750">
              <a:buFont typeface="Courier New" panose="02070309020205020404" pitchFamily="49" charset="0"/>
              <a:buChar char="o"/>
            </a:pPr>
            <a:r>
              <a:rPr lang="en-US" sz="1400" dirty="0"/>
              <a:t>Proposer picks unique, increasing </a:t>
            </a:r>
            <a:r>
              <a:rPr lang="en-US" sz="1400" b="1" dirty="0"/>
              <a:t>proposal number</a:t>
            </a:r>
            <a:endParaRPr lang="en-US" sz="1400" dirty="0"/>
          </a:p>
          <a:p>
            <a:pPr marL="285750" lvl="1" indent="-285750">
              <a:buFont typeface="Courier New" panose="02070309020205020404" pitchFamily="49" charset="0"/>
              <a:buChar char="o"/>
            </a:pPr>
            <a:r>
              <a:rPr lang="en-US" sz="1400" dirty="0"/>
              <a:t>Sends </a:t>
            </a:r>
            <a:r>
              <a:rPr lang="en-US" sz="1400" b="1" dirty="0"/>
              <a:t>Prepare</a:t>
            </a:r>
            <a:r>
              <a:rPr lang="en-US" sz="1400" dirty="0"/>
              <a:t> to acceptors</a:t>
            </a:r>
          </a:p>
          <a:p>
            <a:pPr marL="285750" lvl="1" indent="-285750">
              <a:buFont typeface="Courier New" panose="02070309020205020404" pitchFamily="49" charset="0"/>
              <a:buChar char="o"/>
            </a:pPr>
            <a:r>
              <a:rPr lang="en-US" sz="1400" dirty="0"/>
              <a:t>Acceptors </a:t>
            </a:r>
            <a:r>
              <a:rPr lang="en-US" sz="1400" b="1" dirty="0"/>
              <a:t>promise</a:t>
            </a:r>
            <a:r>
              <a:rPr lang="en-US" sz="1400" dirty="0"/>
              <a:t> not to accept older proposals</a:t>
            </a:r>
          </a:p>
          <a:p>
            <a:pPr marL="285750" lvl="1" indent="-285750">
              <a:buFont typeface="Courier New" panose="02070309020205020404" pitchFamily="49" charset="0"/>
              <a:buChar char="o"/>
            </a:pPr>
            <a:r>
              <a:rPr lang="en-US" sz="1400" dirty="0"/>
              <a:t>If acceptor already accepted a value, includes it in promise</a:t>
            </a:r>
          </a:p>
          <a:p>
            <a:r>
              <a:rPr lang="en-US" b="1" dirty="0"/>
              <a:t>Accept Phase:</a:t>
            </a:r>
            <a:endParaRPr lang="en-US" dirty="0"/>
          </a:p>
          <a:p>
            <a:pPr marL="285750" lvl="1" indent="-285750">
              <a:buFont typeface="Courier New" panose="02070309020205020404" pitchFamily="49" charset="0"/>
              <a:buChar char="o"/>
            </a:pPr>
            <a:r>
              <a:rPr lang="en-US" sz="1400" dirty="0"/>
              <a:t>If majority promise, proposer sends </a:t>
            </a:r>
            <a:r>
              <a:rPr lang="en-US" sz="1400" b="1" dirty="0"/>
              <a:t>Accept</a:t>
            </a:r>
            <a:r>
              <a:rPr lang="en-US" sz="1400" dirty="0"/>
              <a:t> with value</a:t>
            </a:r>
          </a:p>
          <a:p>
            <a:pPr marL="285750" lvl="1" indent="-285750">
              <a:buFont typeface="Courier New" panose="02070309020205020404" pitchFamily="49" charset="0"/>
              <a:buChar char="o"/>
            </a:pPr>
            <a:r>
              <a:rPr lang="en-US" sz="1400" dirty="0"/>
              <a:t>Value = own value OR value from promises (if any acceptor already accepted)</a:t>
            </a:r>
          </a:p>
          <a:p>
            <a:pPr marL="285750" lvl="1" indent="-285750">
              <a:buFont typeface="Courier New" panose="02070309020205020404" pitchFamily="49" charset="0"/>
              <a:buChar char="o"/>
            </a:pPr>
            <a:r>
              <a:rPr lang="en-US" sz="1400" dirty="0"/>
              <a:t>Acceptors accept if no broken promise</a:t>
            </a:r>
          </a:p>
          <a:p>
            <a:r>
              <a:rPr lang="en-US" b="1" dirty="0"/>
              <a:t>Learn Phase:</a:t>
            </a:r>
            <a:endParaRPr lang="en-US" dirty="0"/>
          </a:p>
          <a:p>
            <a:pPr marL="285750" lvl="1" indent="-285750">
              <a:buFont typeface="Courier New" panose="02070309020205020404" pitchFamily="49" charset="0"/>
              <a:buChar char="o"/>
            </a:pPr>
            <a:r>
              <a:rPr lang="en-US" sz="1400" dirty="0"/>
              <a:t>If majority accept, value is </a:t>
            </a:r>
            <a:r>
              <a:rPr lang="en-US" sz="1400" b="1" dirty="0"/>
              <a:t>chosen</a:t>
            </a:r>
            <a:endParaRPr lang="en-US" sz="1400" dirty="0"/>
          </a:p>
          <a:p>
            <a:pPr marL="285750" lvl="1" indent="-285750">
              <a:buFont typeface="Courier New" panose="02070309020205020404" pitchFamily="49" charset="0"/>
              <a:buChar char="o"/>
            </a:pPr>
            <a:r>
              <a:rPr lang="en-US" sz="1400" dirty="0"/>
              <a:t>Acceptors notify </a:t>
            </a:r>
            <a:r>
              <a:rPr lang="en-US" sz="1400" b="1" dirty="0"/>
              <a:t>learners</a:t>
            </a:r>
            <a:endParaRPr lang="en-US" sz="1400" dirty="0"/>
          </a:p>
        </p:txBody>
      </p:sp>
    </p:spTree>
    <p:extLst>
      <p:ext uri="{BB962C8B-B14F-4D97-AF65-F5344CB8AC3E}">
        <p14:creationId xmlns:p14="http://schemas.microsoft.com/office/powerpoint/2010/main" val="35653060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50E2B6-D873-3E3A-1D5B-F0CED8B7D93F}"/>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58E9A9F3-64E2-1BFE-83E9-F1C04EBEDFD2}"/>
              </a:ext>
            </a:extLst>
          </p:cNvPr>
          <p:cNvSpPr txBox="1">
            <a:spLocks noGrp="1"/>
          </p:cNvSpPr>
          <p:nvPr>
            <p:ph type="title"/>
          </p:nvPr>
        </p:nvSpPr>
        <p:spPr>
          <a:prstGeom prst="rect">
            <a:avLst/>
          </a:prstGeom>
        </p:spPr>
        <p:txBody>
          <a:bodyPr vert="horz" wrap="square" lIns="0" tIns="17780" rIns="0" bIns="0" rtlCol="0">
            <a:spAutoFit/>
          </a:bodyPr>
          <a:lstStyle/>
          <a:p>
            <a:pPr marL="12700">
              <a:lnSpc>
                <a:spcPct val="100000"/>
              </a:lnSpc>
              <a:spcBef>
                <a:spcPts val="140"/>
              </a:spcBef>
            </a:pPr>
            <a:r>
              <a:rPr lang="en-IN" spc="-330" dirty="0"/>
              <a:t>Raft Algorithm</a:t>
            </a:r>
            <a:endParaRPr spc="-150" dirty="0"/>
          </a:p>
        </p:txBody>
      </p:sp>
      <p:sp>
        <p:nvSpPr>
          <p:cNvPr id="4" name="object 4">
            <a:extLst>
              <a:ext uri="{FF2B5EF4-FFF2-40B4-BE49-F238E27FC236}">
                <a16:creationId xmlns:a16="http://schemas.microsoft.com/office/drawing/2014/main" id="{64D39404-0225-DCB9-4272-462662EFF801}"/>
              </a:ext>
            </a:extLst>
          </p:cNvPr>
          <p:cNvSpPr txBox="1"/>
          <p:nvPr/>
        </p:nvSpPr>
        <p:spPr>
          <a:xfrm>
            <a:off x="475248" y="1047750"/>
            <a:ext cx="8363952" cy="3767698"/>
          </a:xfrm>
          <a:prstGeom prst="rect">
            <a:avLst/>
          </a:prstGeom>
        </p:spPr>
        <p:txBody>
          <a:bodyPr vert="horz" wrap="square" lIns="0" tIns="12700" rIns="0" bIns="0" rtlCol="0">
            <a:spAutoFit/>
          </a:bodyPr>
          <a:lstStyle/>
          <a:p>
            <a:r>
              <a:rPr lang="en-US" b="1" dirty="0"/>
              <a:t>Decompose</a:t>
            </a:r>
            <a:r>
              <a:rPr lang="en-US" dirty="0"/>
              <a:t> consensus into separate problems</a:t>
            </a:r>
          </a:p>
          <a:p>
            <a:r>
              <a:rPr lang="en-US" b="1" dirty="0"/>
              <a:t>Leader Election:</a:t>
            </a:r>
            <a:endParaRPr lang="en-US" dirty="0"/>
          </a:p>
          <a:p>
            <a:pPr marL="285750" lvl="1" indent="-285750">
              <a:buFont typeface="Courier New" panose="02070309020205020404" pitchFamily="49" charset="0"/>
              <a:buChar char="o"/>
            </a:pPr>
            <a:r>
              <a:rPr lang="en-US" sz="1400" dirty="0"/>
              <a:t>One </a:t>
            </a:r>
            <a:r>
              <a:rPr lang="en-US" sz="1400" b="1" dirty="0"/>
              <a:t>leader</a:t>
            </a:r>
            <a:r>
              <a:rPr lang="en-US" sz="1400" dirty="0"/>
              <a:t>, others are </a:t>
            </a:r>
            <a:r>
              <a:rPr lang="en-US" sz="1400" b="1" dirty="0"/>
              <a:t>followers</a:t>
            </a:r>
            <a:endParaRPr lang="en-US" sz="1400" dirty="0"/>
          </a:p>
          <a:p>
            <a:pPr marL="285750" lvl="1" indent="-285750">
              <a:buFont typeface="Courier New" panose="02070309020205020404" pitchFamily="49" charset="0"/>
              <a:buChar char="o"/>
            </a:pPr>
            <a:r>
              <a:rPr lang="en-US" sz="1400" dirty="0"/>
              <a:t>Leader handles all client requests</a:t>
            </a:r>
          </a:p>
          <a:p>
            <a:pPr marL="285750" lvl="1" indent="-285750">
              <a:buFont typeface="Courier New" panose="02070309020205020404" pitchFamily="49" charset="0"/>
              <a:buChar char="o"/>
            </a:pPr>
            <a:r>
              <a:rPr lang="en-US" sz="1400" b="1" dirty="0"/>
              <a:t>Terms:</a:t>
            </a:r>
            <a:r>
              <a:rPr lang="en-US" sz="1400" dirty="0"/>
              <a:t> Time periods with at most one leader</a:t>
            </a:r>
          </a:p>
          <a:p>
            <a:pPr marL="285750" lvl="1" indent="-285750">
              <a:buFont typeface="Courier New" panose="02070309020205020404" pitchFamily="49" charset="0"/>
              <a:buChar char="o"/>
            </a:pPr>
            <a:r>
              <a:rPr lang="en-US" sz="1400" b="1" dirty="0"/>
              <a:t>Elections:</a:t>
            </a:r>
            <a:r>
              <a:rPr lang="en-US" sz="1400" dirty="0"/>
              <a:t> Timeout → follower becomes candidate → requests votes</a:t>
            </a:r>
          </a:p>
          <a:p>
            <a:r>
              <a:rPr lang="en-US" b="1" dirty="0"/>
              <a:t>Log Replication:</a:t>
            </a:r>
            <a:endParaRPr lang="en-US" dirty="0"/>
          </a:p>
          <a:p>
            <a:pPr marL="285750" lvl="1" indent="-285750">
              <a:buFont typeface="Courier New" panose="02070309020205020404" pitchFamily="49" charset="0"/>
              <a:buChar char="o"/>
            </a:pPr>
            <a:r>
              <a:rPr lang="en-US" sz="1400" dirty="0"/>
              <a:t>Leader appends entries to its </a:t>
            </a:r>
            <a:r>
              <a:rPr lang="en-US" sz="1400" b="1" dirty="0"/>
              <a:t>log</a:t>
            </a:r>
            <a:endParaRPr lang="en-US" sz="1400" dirty="0"/>
          </a:p>
          <a:p>
            <a:pPr marL="285750" lvl="1" indent="-285750">
              <a:buFont typeface="Courier New" panose="02070309020205020404" pitchFamily="49" charset="0"/>
              <a:buChar char="o"/>
            </a:pPr>
            <a:r>
              <a:rPr lang="en-US" sz="1400" dirty="0"/>
              <a:t>Replicates to followers</a:t>
            </a:r>
          </a:p>
          <a:p>
            <a:pPr marL="285750" lvl="1" indent="-285750">
              <a:buFont typeface="Courier New" panose="02070309020205020404" pitchFamily="49" charset="0"/>
              <a:buChar char="o"/>
            </a:pPr>
            <a:r>
              <a:rPr lang="en-US" sz="1400" dirty="0"/>
              <a:t>Entry </a:t>
            </a:r>
            <a:r>
              <a:rPr lang="en-US" sz="1400" b="1" dirty="0"/>
              <a:t>committed</a:t>
            </a:r>
            <a:r>
              <a:rPr lang="en-US" sz="1400" dirty="0"/>
              <a:t> when majority have it</a:t>
            </a:r>
          </a:p>
          <a:p>
            <a:pPr marL="285750" lvl="1" indent="-285750">
              <a:buFont typeface="Courier New" panose="02070309020205020404" pitchFamily="49" charset="0"/>
              <a:buChar char="o"/>
            </a:pPr>
            <a:r>
              <a:rPr lang="en-US" sz="1400" dirty="0"/>
              <a:t>Followers apply committed entries to state machine</a:t>
            </a:r>
          </a:p>
          <a:p>
            <a:r>
              <a:rPr lang="en-US" b="1" dirty="0"/>
              <a:t>Safety:</a:t>
            </a:r>
            <a:endParaRPr lang="en-US" dirty="0"/>
          </a:p>
          <a:p>
            <a:pPr marL="285750" lvl="1" indent="-285750">
              <a:buFont typeface="Courier New" panose="02070309020205020404" pitchFamily="49" charset="0"/>
              <a:buChar char="o"/>
            </a:pPr>
            <a:r>
              <a:rPr lang="en-US" sz="1400" b="1" dirty="0"/>
              <a:t>Election restriction:</a:t>
            </a:r>
            <a:r>
              <a:rPr lang="en-US" sz="1400" dirty="0"/>
              <a:t> Only most up-to-date nodes can become leader</a:t>
            </a:r>
          </a:p>
          <a:p>
            <a:pPr marL="285750" lvl="1" indent="-285750">
              <a:buFont typeface="Courier New" panose="02070309020205020404" pitchFamily="49" charset="0"/>
              <a:buChar char="o"/>
            </a:pPr>
            <a:r>
              <a:rPr lang="en-US" sz="1400" b="1" dirty="0"/>
              <a:t>Log matching:</a:t>
            </a:r>
            <a:r>
              <a:rPr lang="en-US" sz="1400" dirty="0"/>
              <a:t> If two logs have same entry, all preceding entries match</a:t>
            </a:r>
          </a:p>
          <a:p>
            <a:pPr marL="285750" lvl="1" indent="-285750">
              <a:buFont typeface="Courier New" panose="02070309020205020404" pitchFamily="49" charset="0"/>
              <a:buChar char="o"/>
            </a:pPr>
            <a:r>
              <a:rPr lang="en-US" sz="1400" b="1" dirty="0"/>
              <a:t>State machine safety:</a:t>
            </a:r>
            <a:r>
              <a:rPr lang="en-US" sz="1400" dirty="0"/>
              <a:t> All servers apply same commands in same order</a:t>
            </a:r>
          </a:p>
          <a:p>
            <a:endParaRPr lang="en-US" dirty="0"/>
          </a:p>
        </p:txBody>
      </p:sp>
    </p:spTree>
    <p:extLst>
      <p:ext uri="{BB962C8B-B14F-4D97-AF65-F5344CB8AC3E}">
        <p14:creationId xmlns:p14="http://schemas.microsoft.com/office/powerpoint/2010/main" val="4842521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51F8C5-924D-6F0E-9E9F-0CE9453CFE1A}"/>
              </a:ext>
            </a:extLst>
          </p:cNvPr>
          <p:cNvSpPr>
            <a:spLocks noGrp="1"/>
          </p:cNvSpPr>
          <p:nvPr>
            <p:ph type="title"/>
          </p:nvPr>
        </p:nvSpPr>
        <p:spPr>
          <a:xfrm>
            <a:off x="384724" y="501589"/>
            <a:ext cx="4861560" cy="492443"/>
          </a:xfrm>
        </p:spPr>
        <p:txBody>
          <a:bodyPr/>
          <a:lstStyle/>
          <a:p>
            <a:r>
              <a:rPr lang="en-IN" dirty="0"/>
              <a:t>Paxos vs Raft</a:t>
            </a:r>
          </a:p>
        </p:txBody>
      </p:sp>
      <p:sp>
        <p:nvSpPr>
          <p:cNvPr id="3" name="Text Placeholder 2">
            <a:extLst>
              <a:ext uri="{FF2B5EF4-FFF2-40B4-BE49-F238E27FC236}">
                <a16:creationId xmlns:a16="http://schemas.microsoft.com/office/drawing/2014/main" id="{213C87C3-EC4D-ED14-DEF6-63C7E2E56B19}"/>
              </a:ext>
            </a:extLst>
          </p:cNvPr>
          <p:cNvSpPr>
            <a:spLocks noGrp="1"/>
          </p:cNvSpPr>
          <p:nvPr>
            <p:ph type="body" idx="1"/>
          </p:nvPr>
        </p:nvSpPr>
        <p:spPr/>
        <p:txBody>
          <a:bodyPr/>
          <a:lstStyle/>
          <a:p>
            <a:endParaRPr lang="en-IN" dirty="0"/>
          </a:p>
        </p:txBody>
      </p:sp>
      <p:graphicFrame>
        <p:nvGraphicFramePr>
          <p:cNvPr id="15" name="Table 14">
            <a:extLst>
              <a:ext uri="{FF2B5EF4-FFF2-40B4-BE49-F238E27FC236}">
                <a16:creationId xmlns:a16="http://schemas.microsoft.com/office/drawing/2014/main" id="{4DA566E4-A65C-7014-CD99-FDEE6844BCD7}"/>
              </a:ext>
            </a:extLst>
          </p:cNvPr>
          <p:cNvGraphicFramePr>
            <a:graphicFrameLocks noGrp="1"/>
          </p:cNvGraphicFramePr>
          <p:nvPr>
            <p:extLst>
              <p:ext uri="{D42A27DB-BD31-4B8C-83A1-F6EECF244321}">
                <p14:modId xmlns:p14="http://schemas.microsoft.com/office/powerpoint/2010/main" val="3236722215"/>
              </p:ext>
            </p:extLst>
          </p:nvPr>
        </p:nvGraphicFramePr>
        <p:xfrm>
          <a:off x="384724" y="1125543"/>
          <a:ext cx="8238003" cy="3761824"/>
        </p:xfrm>
        <a:graphic>
          <a:graphicData uri="http://schemas.openxmlformats.org/drawingml/2006/table">
            <a:tbl>
              <a:tblPr/>
              <a:tblGrid>
                <a:gridCol w="2746001">
                  <a:extLst>
                    <a:ext uri="{9D8B030D-6E8A-4147-A177-3AD203B41FA5}">
                      <a16:colId xmlns:a16="http://schemas.microsoft.com/office/drawing/2014/main" val="3309355874"/>
                    </a:ext>
                  </a:extLst>
                </a:gridCol>
                <a:gridCol w="2746001">
                  <a:extLst>
                    <a:ext uri="{9D8B030D-6E8A-4147-A177-3AD203B41FA5}">
                      <a16:colId xmlns:a16="http://schemas.microsoft.com/office/drawing/2014/main" val="1962870506"/>
                    </a:ext>
                  </a:extLst>
                </a:gridCol>
                <a:gridCol w="2746001">
                  <a:extLst>
                    <a:ext uri="{9D8B030D-6E8A-4147-A177-3AD203B41FA5}">
                      <a16:colId xmlns:a16="http://schemas.microsoft.com/office/drawing/2014/main" val="1141025760"/>
                    </a:ext>
                  </a:extLst>
                </a:gridCol>
              </a:tblGrid>
              <a:tr h="310771">
                <a:tc>
                  <a:txBody>
                    <a:bodyPr/>
                    <a:lstStyle/>
                    <a:p>
                      <a:pPr algn="l">
                        <a:lnSpc>
                          <a:spcPts val="1875"/>
                        </a:lnSpc>
                        <a:buNone/>
                      </a:pPr>
                      <a:r>
                        <a:rPr lang="en-IN" sz="1400" b="1">
                          <a:effectLst/>
                          <a:latin typeface="quote-cjk-patch"/>
                        </a:rPr>
                        <a:t>Aspect</a:t>
                      </a:r>
                      <a:endParaRPr lang="en-IN" sz="1400" b="0">
                        <a:effectLst/>
                        <a:latin typeface="quote-cjk-patch"/>
                      </a:endParaRPr>
                    </a:p>
                  </a:txBody>
                  <a:tcPr marL="39402" marR="52536" marT="32835" marB="32835" anchor="ctr">
                    <a:lnL>
                      <a:noFill/>
                    </a:lnL>
                    <a:lnR>
                      <a:noFill/>
                    </a:lnR>
                    <a:lnT>
                      <a:noFill/>
                    </a:lnT>
                    <a:lnB>
                      <a:noFill/>
                    </a:lnB>
                    <a:solidFill>
                      <a:srgbClr val="FFFFFF"/>
                    </a:solidFill>
                  </a:tcPr>
                </a:tc>
                <a:tc>
                  <a:txBody>
                    <a:bodyPr/>
                    <a:lstStyle/>
                    <a:p>
                      <a:pPr algn="l">
                        <a:lnSpc>
                          <a:spcPts val="1875"/>
                        </a:lnSpc>
                        <a:buNone/>
                      </a:pPr>
                      <a:r>
                        <a:rPr lang="en-IN" sz="1400" b="1">
                          <a:effectLst/>
                          <a:latin typeface="quote-cjk-patch"/>
                        </a:rPr>
                        <a:t>Paxos</a:t>
                      </a:r>
                      <a:endParaRPr lang="en-IN" sz="1400" b="0">
                        <a:effectLst/>
                        <a:latin typeface="quote-cjk-patch"/>
                      </a:endParaRPr>
                    </a:p>
                  </a:txBody>
                  <a:tcPr marL="52536" marR="52536" marT="32835" marB="32835" anchor="ctr">
                    <a:lnL>
                      <a:noFill/>
                    </a:lnL>
                    <a:lnR>
                      <a:noFill/>
                    </a:lnR>
                    <a:lnT>
                      <a:noFill/>
                    </a:lnT>
                    <a:lnB>
                      <a:noFill/>
                    </a:lnB>
                    <a:solidFill>
                      <a:srgbClr val="FFFFFF"/>
                    </a:solidFill>
                  </a:tcPr>
                </a:tc>
                <a:tc>
                  <a:txBody>
                    <a:bodyPr/>
                    <a:lstStyle/>
                    <a:p>
                      <a:pPr algn="l">
                        <a:lnSpc>
                          <a:spcPts val="1875"/>
                        </a:lnSpc>
                        <a:buNone/>
                      </a:pPr>
                      <a:r>
                        <a:rPr lang="en-IN" sz="1400" b="1">
                          <a:effectLst/>
                          <a:latin typeface="quote-cjk-patch"/>
                        </a:rPr>
                        <a:t>Raft</a:t>
                      </a:r>
                      <a:endParaRPr lang="en-IN" sz="1400" b="0">
                        <a:effectLst/>
                        <a:latin typeface="quote-cjk-patch"/>
                      </a:endParaRPr>
                    </a:p>
                  </a:txBody>
                  <a:tcPr marL="52536" marR="52536" marT="32835" marB="32835" anchor="ctr">
                    <a:lnL>
                      <a:noFill/>
                    </a:lnL>
                    <a:lnR>
                      <a:noFill/>
                    </a:lnR>
                    <a:lnT>
                      <a:noFill/>
                    </a:lnT>
                    <a:lnB>
                      <a:noFill/>
                    </a:lnB>
                    <a:solidFill>
                      <a:srgbClr val="FFFFFF"/>
                    </a:solidFill>
                  </a:tcPr>
                </a:tc>
                <a:extLst>
                  <a:ext uri="{0D108BD9-81ED-4DB2-BD59-A6C34878D82A}">
                    <a16:rowId xmlns:a16="http://schemas.microsoft.com/office/drawing/2014/main" val="3785765469"/>
                  </a:ext>
                </a:extLst>
              </a:tr>
              <a:tr h="310908">
                <a:tc>
                  <a:txBody>
                    <a:bodyPr/>
                    <a:lstStyle/>
                    <a:p>
                      <a:pPr>
                        <a:lnSpc>
                          <a:spcPts val="1875"/>
                        </a:lnSpc>
                        <a:buNone/>
                      </a:pPr>
                      <a:r>
                        <a:rPr lang="en-IN" sz="1400" b="1">
                          <a:effectLst/>
                          <a:latin typeface="quote-cjk-patch"/>
                        </a:rPr>
                        <a:t>Conceptual Model</a:t>
                      </a:r>
                      <a:endParaRPr lang="en-IN" sz="1400" b="0">
                        <a:effectLst/>
                        <a:latin typeface="quote-cjk-patch"/>
                      </a:endParaRPr>
                    </a:p>
                  </a:txBody>
                  <a:tcPr marL="39402" marR="52536" marT="32835" marB="32835" anchor="ctr">
                    <a:lnL>
                      <a:noFill/>
                    </a:lnL>
                    <a:lnR>
                      <a:noFill/>
                    </a:lnR>
                    <a:lnT>
                      <a:noFill/>
                    </a:lnT>
                    <a:lnB>
                      <a:noFill/>
                    </a:lnB>
                    <a:solidFill>
                      <a:srgbClr val="FFFFFF"/>
                    </a:solidFill>
                  </a:tcPr>
                </a:tc>
                <a:tc>
                  <a:txBody>
                    <a:bodyPr/>
                    <a:lstStyle/>
                    <a:p>
                      <a:pPr>
                        <a:lnSpc>
                          <a:spcPts val="1875"/>
                        </a:lnSpc>
                        <a:buNone/>
                      </a:pPr>
                      <a:r>
                        <a:rPr lang="en-IN" sz="1400" b="0">
                          <a:effectLst/>
                          <a:latin typeface="quote-cjk-patch"/>
                        </a:rPr>
                        <a:t>Multi-round voting</a:t>
                      </a:r>
                    </a:p>
                  </a:txBody>
                  <a:tcPr marL="52536" marR="52536" marT="32835" marB="32835" anchor="ctr">
                    <a:lnL>
                      <a:noFill/>
                    </a:lnL>
                    <a:lnR>
                      <a:noFill/>
                    </a:lnR>
                    <a:lnT>
                      <a:noFill/>
                    </a:lnT>
                    <a:lnB>
                      <a:noFill/>
                    </a:lnB>
                    <a:solidFill>
                      <a:srgbClr val="FFFFFF"/>
                    </a:solidFill>
                  </a:tcPr>
                </a:tc>
                <a:tc>
                  <a:txBody>
                    <a:bodyPr/>
                    <a:lstStyle/>
                    <a:p>
                      <a:pPr>
                        <a:lnSpc>
                          <a:spcPts val="1875"/>
                        </a:lnSpc>
                        <a:buNone/>
                      </a:pPr>
                      <a:r>
                        <a:rPr lang="en-IN" sz="1400" b="0">
                          <a:effectLst/>
                          <a:latin typeface="quote-cjk-patch"/>
                        </a:rPr>
                        <a:t>Leader-based replication</a:t>
                      </a:r>
                    </a:p>
                  </a:txBody>
                  <a:tcPr marL="52536" marR="39402" marT="32835" marB="32835" anchor="ctr">
                    <a:lnL>
                      <a:noFill/>
                    </a:lnL>
                    <a:lnR>
                      <a:noFill/>
                    </a:lnR>
                    <a:lnT>
                      <a:noFill/>
                    </a:lnT>
                    <a:lnB>
                      <a:noFill/>
                    </a:lnB>
                    <a:solidFill>
                      <a:srgbClr val="FFFFFF"/>
                    </a:solidFill>
                  </a:tcPr>
                </a:tc>
                <a:extLst>
                  <a:ext uri="{0D108BD9-81ED-4DB2-BD59-A6C34878D82A}">
                    <a16:rowId xmlns:a16="http://schemas.microsoft.com/office/drawing/2014/main" val="2981046"/>
                  </a:ext>
                </a:extLst>
              </a:tr>
              <a:tr h="310908">
                <a:tc>
                  <a:txBody>
                    <a:bodyPr/>
                    <a:lstStyle/>
                    <a:p>
                      <a:pPr>
                        <a:lnSpc>
                          <a:spcPts val="1875"/>
                        </a:lnSpc>
                        <a:buNone/>
                      </a:pPr>
                      <a:r>
                        <a:rPr lang="en-IN" sz="1400" b="1">
                          <a:effectLst/>
                          <a:latin typeface="quote-cjk-patch"/>
                        </a:rPr>
                        <a:t>Understandability</a:t>
                      </a:r>
                      <a:endParaRPr lang="en-IN" sz="1400" b="0">
                        <a:effectLst/>
                        <a:latin typeface="quote-cjk-patch"/>
                      </a:endParaRPr>
                    </a:p>
                  </a:txBody>
                  <a:tcPr marL="39402" marR="52536" marT="32835" marB="32835" anchor="ctr">
                    <a:lnL>
                      <a:noFill/>
                    </a:lnL>
                    <a:lnR>
                      <a:noFill/>
                    </a:lnR>
                    <a:lnT>
                      <a:noFill/>
                    </a:lnT>
                    <a:lnB>
                      <a:noFill/>
                    </a:lnB>
                    <a:solidFill>
                      <a:srgbClr val="FFFFFF"/>
                    </a:solidFill>
                  </a:tcPr>
                </a:tc>
                <a:tc>
                  <a:txBody>
                    <a:bodyPr/>
                    <a:lstStyle/>
                    <a:p>
                      <a:pPr>
                        <a:lnSpc>
                          <a:spcPts val="1875"/>
                        </a:lnSpc>
                        <a:buNone/>
                      </a:pPr>
                      <a:r>
                        <a:rPr lang="en-IN" sz="1400" b="0">
                          <a:effectLst/>
                          <a:latin typeface="quote-cjk-patch"/>
                        </a:rPr>
                        <a:t>Complex, subtle</a:t>
                      </a:r>
                    </a:p>
                  </a:txBody>
                  <a:tcPr marL="52536" marR="52536" marT="32835" marB="32835" anchor="ctr">
                    <a:lnL>
                      <a:noFill/>
                    </a:lnL>
                    <a:lnR>
                      <a:noFill/>
                    </a:lnR>
                    <a:lnT>
                      <a:noFill/>
                    </a:lnT>
                    <a:lnB>
                      <a:noFill/>
                    </a:lnB>
                    <a:solidFill>
                      <a:srgbClr val="FFFFFF"/>
                    </a:solidFill>
                  </a:tcPr>
                </a:tc>
                <a:tc>
                  <a:txBody>
                    <a:bodyPr/>
                    <a:lstStyle/>
                    <a:p>
                      <a:pPr>
                        <a:lnSpc>
                          <a:spcPts val="1875"/>
                        </a:lnSpc>
                        <a:buNone/>
                      </a:pPr>
                      <a:r>
                        <a:rPr lang="en-IN" sz="1400" b="0">
                          <a:effectLst/>
                          <a:latin typeface="quote-cjk-patch"/>
                        </a:rPr>
                        <a:t>Designed for understandability</a:t>
                      </a:r>
                    </a:p>
                  </a:txBody>
                  <a:tcPr marL="52536" marR="39402" marT="32835" marB="32835" anchor="ctr">
                    <a:lnL>
                      <a:noFill/>
                    </a:lnL>
                    <a:lnR>
                      <a:noFill/>
                    </a:lnR>
                    <a:lnT>
                      <a:noFill/>
                    </a:lnT>
                    <a:lnB>
                      <a:noFill/>
                    </a:lnB>
                    <a:solidFill>
                      <a:srgbClr val="FFFFFF"/>
                    </a:solidFill>
                  </a:tcPr>
                </a:tc>
                <a:extLst>
                  <a:ext uri="{0D108BD9-81ED-4DB2-BD59-A6C34878D82A}">
                    <a16:rowId xmlns:a16="http://schemas.microsoft.com/office/drawing/2014/main" val="1164851896"/>
                  </a:ext>
                </a:extLst>
              </a:tr>
              <a:tr h="429054">
                <a:tc>
                  <a:txBody>
                    <a:bodyPr/>
                    <a:lstStyle/>
                    <a:p>
                      <a:pPr>
                        <a:lnSpc>
                          <a:spcPts val="1875"/>
                        </a:lnSpc>
                        <a:buNone/>
                      </a:pPr>
                      <a:r>
                        <a:rPr lang="en-IN" sz="1400" b="1">
                          <a:effectLst/>
                          <a:latin typeface="quote-cjk-patch"/>
                        </a:rPr>
                        <a:t>Leader Role</a:t>
                      </a:r>
                      <a:endParaRPr lang="en-IN" sz="1400" b="0">
                        <a:effectLst/>
                        <a:latin typeface="quote-cjk-patch"/>
                      </a:endParaRPr>
                    </a:p>
                  </a:txBody>
                  <a:tcPr marL="39402" marR="52536" marT="32835" marB="32835" anchor="ctr">
                    <a:lnL>
                      <a:noFill/>
                    </a:lnL>
                    <a:lnR>
                      <a:noFill/>
                    </a:lnR>
                    <a:lnT>
                      <a:noFill/>
                    </a:lnT>
                    <a:lnB>
                      <a:noFill/>
                    </a:lnB>
                    <a:solidFill>
                      <a:srgbClr val="FFFFFF"/>
                    </a:solidFill>
                  </a:tcPr>
                </a:tc>
                <a:tc>
                  <a:txBody>
                    <a:bodyPr/>
                    <a:lstStyle/>
                    <a:p>
                      <a:pPr>
                        <a:lnSpc>
                          <a:spcPts val="1875"/>
                        </a:lnSpc>
                        <a:buNone/>
                      </a:pPr>
                      <a:r>
                        <a:rPr lang="en-IN" sz="1400" b="0">
                          <a:effectLst/>
                          <a:latin typeface="quote-cjk-patch"/>
                        </a:rPr>
                        <a:t>Optional optimization (Multi-Paxos)</a:t>
                      </a:r>
                    </a:p>
                  </a:txBody>
                  <a:tcPr marL="52536" marR="52536" marT="32835" marB="32835" anchor="ctr">
                    <a:lnL>
                      <a:noFill/>
                    </a:lnL>
                    <a:lnR>
                      <a:noFill/>
                    </a:lnR>
                    <a:lnT>
                      <a:noFill/>
                    </a:lnT>
                    <a:lnB>
                      <a:noFill/>
                    </a:lnB>
                    <a:solidFill>
                      <a:srgbClr val="FFFFFF"/>
                    </a:solidFill>
                  </a:tcPr>
                </a:tc>
                <a:tc>
                  <a:txBody>
                    <a:bodyPr/>
                    <a:lstStyle/>
                    <a:p>
                      <a:pPr>
                        <a:lnSpc>
                          <a:spcPts val="1875"/>
                        </a:lnSpc>
                        <a:buNone/>
                      </a:pPr>
                      <a:r>
                        <a:rPr lang="en-IN" sz="1400" b="0" dirty="0">
                          <a:effectLst/>
                          <a:latin typeface="quote-cjk-patch"/>
                        </a:rPr>
                        <a:t>Fundamental to design</a:t>
                      </a:r>
                    </a:p>
                  </a:txBody>
                  <a:tcPr marL="52536" marR="39402" marT="32835" marB="32835" anchor="ctr">
                    <a:lnL>
                      <a:noFill/>
                    </a:lnL>
                    <a:lnR>
                      <a:noFill/>
                    </a:lnR>
                    <a:lnT>
                      <a:noFill/>
                    </a:lnT>
                    <a:lnB>
                      <a:noFill/>
                    </a:lnB>
                    <a:solidFill>
                      <a:srgbClr val="FFFFFF"/>
                    </a:solidFill>
                  </a:tcPr>
                </a:tc>
                <a:extLst>
                  <a:ext uri="{0D108BD9-81ED-4DB2-BD59-A6C34878D82A}">
                    <a16:rowId xmlns:a16="http://schemas.microsoft.com/office/drawing/2014/main" val="3403222182"/>
                  </a:ext>
                </a:extLst>
              </a:tr>
              <a:tr h="310908">
                <a:tc>
                  <a:txBody>
                    <a:bodyPr/>
                    <a:lstStyle/>
                    <a:p>
                      <a:pPr>
                        <a:lnSpc>
                          <a:spcPts val="1875"/>
                        </a:lnSpc>
                        <a:buNone/>
                      </a:pPr>
                      <a:r>
                        <a:rPr lang="en-IN" sz="1400" b="1">
                          <a:effectLst/>
                          <a:latin typeface="quote-cjk-patch"/>
                        </a:rPr>
                        <a:t>Log Structure</a:t>
                      </a:r>
                      <a:endParaRPr lang="en-IN" sz="1400" b="0">
                        <a:effectLst/>
                        <a:latin typeface="quote-cjk-patch"/>
                      </a:endParaRPr>
                    </a:p>
                  </a:txBody>
                  <a:tcPr marL="39402" marR="52536" marT="32835" marB="32835" anchor="ctr">
                    <a:lnL>
                      <a:noFill/>
                    </a:lnL>
                    <a:lnR>
                      <a:noFill/>
                    </a:lnR>
                    <a:lnT>
                      <a:noFill/>
                    </a:lnT>
                    <a:lnB>
                      <a:noFill/>
                    </a:lnB>
                    <a:solidFill>
                      <a:srgbClr val="FFFFFF"/>
                    </a:solidFill>
                  </a:tcPr>
                </a:tc>
                <a:tc>
                  <a:txBody>
                    <a:bodyPr/>
                    <a:lstStyle/>
                    <a:p>
                      <a:pPr>
                        <a:lnSpc>
                          <a:spcPts val="1875"/>
                        </a:lnSpc>
                        <a:buNone/>
                      </a:pPr>
                      <a:r>
                        <a:rPr lang="en-IN" sz="1400" b="0" dirty="0">
                          <a:effectLst/>
                          <a:latin typeface="quote-cjk-patch"/>
                        </a:rPr>
                        <a:t>Independent instances</a:t>
                      </a:r>
                    </a:p>
                  </a:txBody>
                  <a:tcPr marL="52536" marR="52536" marT="32835" marB="32835" anchor="ctr">
                    <a:lnL>
                      <a:noFill/>
                    </a:lnL>
                    <a:lnR>
                      <a:noFill/>
                    </a:lnR>
                    <a:lnT>
                      <a:noFill/>
                    </a:lnT>
                    <a:lnB>
                      <a:noFill/>
                    </a:lnB>
                    <a:solidFill>
                      <a:srgbClr val="FFFFFF"/>
                    </a:solidFill>
                  </a:tcPr>
                </a:tc>
                <a:tc>
                  <a:txBody>
                    <a:bodyPr/>
                    <a:lstStyle/>
                    <a:p>
                      <a:pPr>
                        <a:lnSpc>
                          <a:spcPts val="1875"/>
                        </a:lnSpc>
                        <a:buNone/>
                      </a:pPr>
                      <a:r>
                        <a:rPr lang="en-IN" sz="1400" b="0">
                          <a:effectLst/>
                          <a:latin typeface="quote-cjk-patch"/>
                        </a:rPr>
                        <a:t>Single, continuous log</a:t>
                      </a:r>
                    </a:p>
                  </a:txBody>
                  <a:tcPr marL="52536" marR="39402" marT="32835" marB="32835" anchor="ctr">
                    <a:lnL>
                      <a:noFill/>
                    </a:lnL>
                    <a:lnR>
                      <a:noFill/>
                    </a:lnR>
                    <a:lnT>
                      <a:noFill/>
                    </a:lnT>
                    <a:lnB>
                      <a:noFill/>
                    </a:lnB>
                    <a:solidFill>
                      <a:srgbClr val="FFFFFF"/>
                    </a:solidFill>
                  </a:tcPr>
                </a:tc>
                <a:extLst>
                  <a:ext uri="{0D108BD9-81ED-4DB2-BD59-A6C34878D82A}">
                    <a16:rowId xmlns:a16="http://schemas.microsoft.com/office/drawing/2014/main" val="2206480257"/>
                  </a:ext>
                </a:extLst>
              </a:tr>
              <a:tr h="310908">
                <a:tc>
                  <a:txBody>
                    <a:bodyPr/>
                    <a:lstStyle/>
                    <a:p>
                      <a:pPr>
                        <a:lnSpc>
                          <a:spcPts val="1875"/>
                        </a:lnSpc>
                        <a:buNone/>
                      </a:pPr>
                      <a:r>
                        <a:rPr lang="en-IN" sz="1400" b="1">
                          <a:effectLst/>
                          <a:latin typeface="quote-cjk-patch"/>
                        </a:rPr>
                        <a:t>Configuration Changes</a:t>
                      </a:r>
                      <a:endParaRPr lang="en-IN" sz="1400" b="0">
                        <a:effectLst/>
                        <a:latin typeface="quote-cjk-patch"/>
                      </a:endParaRPr>
                    </a:p>
                  </a:txBody>
                  <a:tcPr marL="39402" marR="52536" marT="32835" marB="32835" anchor="ctr">
                    <a:lnL>
                      <a:noFill/>
                    </a:lnL>
                    <a:lnR>
                      <a:noFill/>
                    </a:lnR>
                    <a:lnT>
                      <a:noFill/>
                    </a:lnT>
                    <a:lnB>
                      <a:noFill/>
                    </a:lnB>
                    <a:solidFill>
                      <a:srgbClr val="FFFFFF"/>
                    </a:solidFill>
                  </a:tcPr>
                </a:tc>
                <a:tc>
                  <a:txBody>
                    <a:bodyPr/>
                    <a:lstStyle/>
                    <a:p>
                      <a:pPr>
                        <a:lnSpc>
                          <a:spcPts val="1875"/>
                        </a:lnSpc>
                        <a:buNone/>
                      </a:pPr>
                      <a:r>
                        <a:rPr lang="en-IN" sz="1400" b="0">
                          <a:effectLst/>
                          <a:latin typeface="quote-cjk-patch"/>
                        </a:rPr>
                        <a:t>Complex</a:t>
                      </a:r>
                    </a:p>
                  </a:txBody>
                  <a:tcPr marL="52536" marR="52536" marT="32835" marB="32835" anchor="ctr">
                    <a:lnL>
                      <a:noFill/>
                    </a:lnL>
                    <a:lnR>
                      <a:noFill/>
                    </a:lnR>
                    <a:lnT>
                      <a:noFill/>
                    </a:lnT>
                    <a:lnB>
                      <a:noFill/>
                    </a:lnB>
                    <a:solidFill>
                      <a:srgbClr val="FFFFFF"/>
                    </a:solidFill>
                  </a:tcPr>
                </a:tc>
                <a:tc>
                  <a:txBody>
                    <a:bodyPr/>
                    <a:lstStyle/>
                    <a:p>
                      <a:pPr>
                        <a:lnSpc>
                          <a:spcPts val="1875"/>
                        </a:lnSpc>
                        <a:buNone/>
                      </a:pPr>
                      <a:r>
                        <a:rPr lang="en-IN" sz="1400" b="0">
                          <a:effectLst/>
                          <a:latin typeface="quote-cjk-patch"/>
                        </a:rPr>
                        <a:t>Built-in (joint consensus)</a:t>
                      </a:r>
                    </a:p>
                  </a:txBody>
                  <a:tcPr marL="52536" marR="39402" marT="32835" marB="32835" anchor="ctr">
                    <a:lnL>
                      <a:noFill/>
                    </a:lnL>
                    <a:lnR>
                      <a:noFill/>
                    </a:lnR>
                    <a:lnT>
                      <a:noFill/>
                    </a:lnT>
                    <a:lnB>
                      <a:noFill/>
                    </a:lnB>
                    <a:solidFill>
                      <a:srgbClr val="FFFFFF"/>
                    </a:solidFill>
                  </a:tcPr>
                </a:tc>
                <a:extLst>
                  <a:ext uri="{0D108BD9-81ED-4DB2-BD59-A6C34878D82A}">
                    <a16:rowId xmlns:a16="http://schemas.microsoft.com/office/drawing/2014/main" val="909155332"/>
                  </a:ext>
                </a:extLst>
              </a:tr>
              <a:tr h="310908">
                <a:tc>
                  <a:txBody>
                    <a:bodyPr/>
                    <a:lstStyle/>
                    <a:p>
                      <a:pPr>
                        <a:lnSpc>
                          <a:spcPts val="1875"/>
                        </a:lnSpc>
                        <a:buNone/>
                      </a:pPr>
                      <a:r>
                        <a:rPr lang="en-IN" sz="1400" b="1">
                          <a:effectLst/>
                          <a:latin typeface="quote-cjk-patch"/>
                        </a:rPr>
                        <a:t>Implementation Complexity</a:t>
                      </a:r>
                      <a:endParaRPr lang="en-IN" sz="1400" b="0">
                        <a:effectLst/>
                        <a:latin typeface="quote-cjk-patch"/>
                      </a:endParaRPr>
                    </a:p>
                  </a:txBody>
                  <a:tcPr marL="39402" marR="52536" marT="32835" marB="32835" anchor="ctr">
                    <a:lnL>
                      <a:noFill/>
                    </a:lnL>
                    <a:lnR>
                      <a:noFill/>
                    </a:lnR>
                    <a:lnT>
                      <a:noFill/>
                    </a:lnT>
                    <a:lnB>
                      <a:noFill/>
                    </a:lnB>
                    <a:solidFill>
                      <a:srgbClr val="FFFFFF"/>
                    </a:solidFill>
                  </a:tcPr>
                </a:tc>
                <a:tc>
                  <a:txBody>
                    <a:bodyPr/>
                    <a:lstStyle/>
                    <a:p>
                      <a:pPr>
                        <a:lnSpc>
                          <a:spcPts val="1875"/>
                        </a:lnSpc>
                        <a:buNone/>
                      </a:pPr>
                      <a:r>
                        <a:rPr lang="en-IN" sz="1400" b="0">
                          <a:effectLst/>
                          <a:latin typeface="quote-cjk-patch"/>
                        </a:rPr>
                        <a:t>High (many edge cases)</a:t>
                      </a:r>
                    </a:p>
                  </a:txBody>
                  <a:tcPr marL="52536" marR="52536" marT="32835" marB="32835" anchor="ctr">
                    <a:lnL>
                      <a:noFill/>
                    </a:lnL>
                    <a:lnR>
                      <a:noFill/>
                    </a:lnR>
                    <a:lnT>
                      <a:noFill/>
                    </a:lnT>
                    <a:lnB>
                      <a:noFill/>
                    </a:lnB>
                    <a:solidFill>
                      <a:srgbClr val="FFFFFF"/>
                    </a:solidFill>
                  </a:tcPr>
                </a:tc>
                <a:tc>
                  <a:txBody>
                    <a:bodyPr/>
                    <a:lstStyle/>
                    <a:p>
                      <a:pPr>
                        <a:lnSpc>
                          <a:spcPts val="1875"/>
                        </a:lnSpc>
                        <a:buNone/>
                      </a:pPr>
                      <a:r>
                        <a:rPr lang="en-IN" sz="1400" b="0">
                          <a:effectLst/>
                          <a:latin typeface="quote-cjk-patch"/>
                        </a:rPr>
                        <a:t>Moderate (well-specified)</a:t>
                      </a:r>
                    </a:p>
                  </a:txBody>
                  <a:tcPr marL="52536" marR="39402" marT="32835" marB="32835" anchor="ctr">
                    <a:lnL>
                      <a:noFill/>
                    </a:lnL>
                    <a:lnR>
                      <a:noFill/>
                    </a:lnR>
                    <a:lnT>
                      <a:noFill/>
                    </a:lnT>
                    <a:lnB>
                      <a:noFill/>
                    </a:lnB>
                    <a:solidFill>
                      <a:srgbClr val="FFFFFF"/>
                    </a:solidFill>
                  </a:tcPr>
                </a:tc>
                <a:extLst>
                  <a:ext uri="{0D108BD9-81ED-4DB2-BD59-A6C34878D82A}">
                    <a16:rowId xmlns:a16="http://schemas.microsoft.com/office/drawing/2014/main" val="3449082601"/>
                  </a:ext>
                </a:extLst>
              </a:tr>
              <a:tr h="310908">
                <a:tc>
                  <a:txBody>
                    <a:bodyPr/>
                    <a:lstStyle/>
                    <a:p>
                      <a:pPr>
                        <a:lnSpc>
                          <a:spcPts val="1875"/>
                        </a:lnSpc>
                        <a:buNone/>
                      </a:pPr>
                      <a:r>
                        <a:rPr lang="en-IN" sz="1400" b="1">
                          <a:effectLst/>
                          <a:latin typeface="quote-cjk-patch"/>
                        </a:rPr>
                        <a:t>Performance</a:t>
                      </a:r>
                      <a:endParaRPr lang="en-IN" sz="1400" b="0">
                        <a:effectLst/>
                        <a:latin typeface="quote-cjk-patch"/>
                      </a:endParaRPr>
                    </a:p>
                  </a:txBody>
                  <a:tcPr marL="39402" marR="52536" marT="32835" marB="32835" anchor="ctr">
                    <a:lnL>
                      <a:noFill/>
                    </a:lnL>
                    <a:lnR>
                      <a:noFill/>
                    </a:lnR>
                    <a:lnT>
                      <a:noFill/>
                    </a:lnT>
                    <a:lnB>
                      <a:noFill/>
                    </a:lnB>
                    <a:solidFill>
                      <a:srgbClr val="FFFFFF"/>
                    </a:solidFill>
                  </a:tcPr>
                </a:tc>
                <a:tc>
                  <a:txBody>
                    <a:bodyPr/>
                    <a:lstStyle/>
                    <a:p>
                      <a:pPr>
                        <a:lnSpc>
                          <a:spcPts val="1875"/>
                        </a:lnSpc>
                        <a:buNone/>
                      </a:pPr>
                      <a:r>
                        <a:rPr lang="en-IN" sz="1400" b="0">
                          <a:effectLst/>
                          <a:latin typeface="quote-cjk-patch"/>
                        </a:rPr>
                        <a:t>Similar when optimized</a:t>
                      </a:r>
                    </a:p>
                  </a:txBody>
                  <a:tcPr marL="52536" marR="52536" marT="32835" marB="32835" anchor="ctr">
                    <a:lnL>
                      <a:noFill/>
                    </a:lnL>
                    <a:lnR>
                      <a:noFill/>
                    </a:lnR>
                    <a:lnT>
                      <a:noFill/>
                    </a:lnT>
                    <a:lnB>
                      <a:noFill/>
                    </a:lnB>
                    <a:solidFill>
                      <a:srgbClr val="FFFFFF"/>
                    </a:solidFill>
                  </a:tcPr>
                </a:tc>
                <a:tc>
                  <a:txBody>
                    <a:bodyPr/>
                    <a:lstStyle/>
                    <a:p>
                      <a:pPr>
                        <a:lnSpc>
                          <a:spcPts val="1875"/>
                        </a:lnSpc>
                        <a:buNone/>
                      </a:pPr>
                      <a:r>
                        <a:rPr lang="en-IN" sz="1400" b="0">
                          <a:effectLst/>
                          <a:latin typeface="quote-cjk-patch"/>
                        </a:rPr>
                        <a:t>Similar</a:t>
                      </a:r>
                    </a:p>
                  </a:txBody>
                  <a:tcPr marL="52536" marR="39402" marT="32835" marB="32835" anchor="ctr">
                    <a:lnL>
                      <a:noFill/>
                    </a:lnL>
                    <a:lnR>
                      <a:noFill/>
                    </a:lnR>
                    <a:lnT>
                      <a:noFill/>
                    </a:lnT>
                    <a:lnB>
                      <a:noFill/>
                    </a:lnB>
                    <a:solidFill>
                      <a:srgbClr val="FFFFFF"/>
                    </a:solidFill>
                  </a:tcPr>
                </a:tc>
                <a:extLst>
                  <a:ext uri="{0D108BD9-81ED-4DB2-BD59-A6C34878D82A}">
                    <a16:rowId xmlns:a16="http://schemas.microsoft.com/office/drawing/2014/main" val="1485006017"/>
                  </a:ext>
                </a:extLst>
              </a:tr>
              <a:tr h="310908">
                <a:tc>
                  <a:txBody>
                    <a:bodyPr/>
                    <a:lstStyle/>
                    <a:p>
                      <a:pPr>
                        <a:lnSpc>
                          <a:spcPts val="1875"/>
                        </a:lnSpc>
                        <a:buNone/>
                      </a:pPr>
                      <a:r>
                        <a:rPr lang="en-IN" sz="1400" b="1">
                          <a:effectLst/>
                          <a:latin typeface="quote-cjk-patch"/>
                        </a:rPr>
                        <a:t>Adoption</a:t>
                      </a:r>
                      <a:endParaRPr lang="en-IN" sz="1400" b="0">
                        <a:effectLst/>
                        <a:latin typeface="quote-cjk-patch"/>
                      </a:endParaRPr>
                    </a:p>
                  </a:txBody>
                  <a:tcPr marL="39402" marR="52536" marT="32835" marB="32835" anchor="ctr">
                    <a:lnL>
                      <a:noFill/>
                    </a:lnL>
                    <a:lnR>
                      <a:noFill/>
                    </a:lnR>
                    <a:lnT>
                      <a:noFill/>
                    </a:lnT>
                    <a:lnB>
                      <a:noFill/>
                    </a:lnB>
                    <a:solidFill>
                      <a:srgbClr val="FFFFFF"/>
                    </a:solidFill>
                  </a:tcPr>
                </a:tc>
                <a:tc>
                  <a:txBody>
                    <a:bodyPr/>
                    <a:lstStyle/>
                    <a:p>
                      <a:pPr>
                        <a:lnSpc>
                          <a:spcPts val="1875"/>
                        </a:lnSpc>
                        <a:buNone/>
                      </a:pPr>
                      <a:r>
                        <a:rPr lang="en-IN" sz="1400" b="0">
                          <a:effectLst/>
                          <a:latin typeface="quote-cjk-patch"/>
                        </a:rPr>
                        <a:t>Older systems (Chubby)</a:t>
                      </a:r>
                    </a:p>
                  </a:txBody>
                  <a:tcPr marL="52536" marR="52536" marT="32835" marB="32835" anchor="ctr">
                    <a:lnL>
                      <a:noFill/>
                    </a:lnL>
                    <a:lnR>
                      <a:noFill/>
                    </a:lnR>
                    <a:lnT>
                      <a:noFill/>
                    </a:lnT>
                    <a:lnB>
                      <a:noFill/>
                    </a:lnB>
                    <a:solidFill>
                      <a:srgbClr val="FFFFFF"/>
                    </a:solidFill>
                  </a:tcPr>
                </a:tc>
                <a:tc>
                  <a:txBody>
                    <a:bodyPr/>
                    <a:lstStyle/>
                    <a:p>
                      <a:pPr>
                        <a:lnSpc>
                          <a:spcPts val="1875"/>
                        </a:lnSpc>
                        <a:buNone/>
                      </a:pPr>
                      <a:r>
                        <a:rPr lang="en-IN" sz="1400" b="0">
                          <a:effectLst/>
                          <a:latin typeface="quote-cjk-patch"/>
                        </a:rPr>
                        <a:t>Newer systems (etcd, Consul)</a:t>
                      </a:r>
                    </a:p>
                  </a:txBody>
                  <a:tcPr marL="52536" marR="39402" marT="32835" marB="32835" anchor="ctr">
                    <a:lnL>
                      <a:noFill/>
                    </a:lnL>
                    <a:lnR>
                      <a:noFill/>
                    </a:lnR>
                    <a:lnT>
                      <a:noFill/>
                    </a:lnT>
                    <a:lnB>
                      <a:noFill/>
                    </a:lnB>
                    <a:solidFill>
                      <a:srgbClr val="FFFFFF"/>
                    </a:solidFill>
                  </a:tcPr>
                </a:tc>
                <a:extLst>
                  <a:ext uri="{0D108BD9-81ED-4DB2-BD59-A6C34878D82A}">
                    <a16:rowId xmlns:a16="http://schemas.microsoft.com/office/drawing/2014/main" val="3066429131"/>
                  </a:ext>
                </a:extLst>
              </a:tr>
              <a:tr h="310771">
                <a:tc>
                  <a:txBody>
                    <a:bodyPr/>
                    <a:lstStyle/>
                    <a:p>
                      <a:pPr>
                        <a:lnSpc>
                          <a:spcPts val="1875"/>
                        </a:lnSpc>
                        <a:buNone/>
                      </a:pPr>
                      <a:r>
                        <a:rPr lang="en-IN" sz="1400" b="1">
                          <a:effectLst/>
                          <a:latin typeface="quote-cjk-patch"/>
                        </a:rPr>
                        <a:t>Learning Curve</a:t>
                      </a:r>
                      <a:endParaRPr lang="en-IN" sz="1400" b="0">
                        <a:effectLst/>
                        <a:latin typeface="quote-cjk-patch"/>
                      </a:endParaRPr>
                    </a:p>
                  </a:txBody>
                  <a:tcPr marL="39402" marR="52536" marT="32835" marB="32835" anchor="ctr">
                    <a:lnL>
                      <a:noFill/>
                    </a:lnL>
                    <a:lnR>
                      <a:noFill/>
                    </a:lnR>
                    <a:lnT>
                      <a:noFill/>
                    </a:lnT>
                    <a:lnB>
                      <a:noFill/>
                    </a:lnB>
                    <a:solidFill>
                      <a:srgbClr val="FFFFFF"/>
                    </a:solidFill>
                  </a:tcPr>
                </a:tc>
                <a:tc>
                  <a:txBody>
                    <a:bodyPr/>
                    <a:lstStyle/>
                    <a:p>
                      <a:pPr>
                        <a:lnSpc>
                          <a:spcPts val="1875"/>
                        </a:lnSpc>
                        <a:buNone/>
                      </a:pPr>
                      <a:r>
                        <a:rPr lang="en-IN" sz="1400" b="0">
                          <a:effectLst/>
                          <a:latin typeface="quote-cjk-patch"/>
                        </a:rPr>
                        <a:t>Steep</a:t>
                      </a:r>
                    </a:p>
                  </a:txBody>
                  <a:tcPr marL="52536" marR="52536" marT="32835" marB="32835" anchor="ctr">
                    <a:lnL>
                      <a:noFill/>
                    </a:lnL>
                    <a:lnR>
                      <a:noFill/>
                    </a:lnR>
                    <a:lnT>
                      <a:noFill/>
                    </a:lnT>
                    <a:lnB>
                      <a:noFill/>
                    </a:lnB>
                    <a:solidFill>
                      <a:srgbClr val="FFFFFF"/>
                    </a:solidFill>
                  </a:tcPr>
                </a:tc>
                <a:tc>
                  <a:txBody>
                    <a:bodyPr/>
                    <a:lstStyle/>
                    <a:p>
                      <a:pPr>
                        <a:lnSpc>
                          <a:spcPts val="1875"/>
                        </a:lnSpc>
                        <a:buNone/>
                      </a:pPr>
                      <a:r>
                        <a:rPr lang="en-IN" sz="1400" b="0">
                          <a:effectLst/>
                          <a:latin typeface="quote-cjk-patch"/>
                        </a:rPr>
                        <a:t>Gradual</a:t>
                      </a:r>
                    </a:p>
                  </a:txBody>
                  <a:tcPr marL="52536" marR="39402" marT="32835" marB="32835" anchor="ctr">
                    <a:lnL>
                      <a:noFill/>
                    </a:lnL>
                    <a:lnR>
                      <a:noFill/>
                    </a:lnR>
                    <a:lnT>
                      <a:noFill/>
                    </a:lnT>
                    <a:lnB>
                      <a:noFill/>
                    </a:lnB>
                    <a:solidFill>
                      <a:srgbClr val="FFFFFF"/>
                    </a:solidFill>
                  </a:tcPr>
                </a:tc>
                <a:extLst>
                  <a:ext uri="{0D108BD9-81ED-4DB2-BD59-A6C34878D82A}">
                    <a16:rowId xmlns:a16="http://schemas.microsoft.com/office/drawing/2014/main" val="1966122152"/>
                  </a:ext>
                </a:extLst>
              </a:tr>
              <a:tr h="429054">
                <a:tc>
                  <a:txBody>
                    <a:bodyPr/>
                    <a:lstStyle/>
                    <a:p>
                      <a:pPr>
                        <a:lnSpc>
                          <a:spcPts val="1875"/>
                        </a:lnSpc>
                        <a:buNone/>
                      </a:pPr>
                      <a:r>
                        <a:rPr lang="en-IN" sz="1400" b="1">
                          <a:effectLst/>
                          <a:latin typeface="quote-cjk-patch"/>
                        </a:rPr>
                        <a:t>Paper Clarity</a:t>
                      </a:r>
                      <a:endParaRPr lang="en-IN" sz="1400" b="0">
                        <a:effectLst/>
                        <a:latin typeface="quote-cjk-patch"/>
                      </a:endParaRPr>
                    </a:p>
                  </a:txBody>
                  <a:tcPr marL="39402" marR="52536" marT="32835" marB="32835" anchor="ctr">
                    <a:lnL>
                      <a:noFill/>
                    </a:lnL>
                    <a:lnR>
                      <a:noFill/>
                    </a:lnR>
                    <a:lnT>
                      <a:noFill/>
                    </a:lnT>
                    <a:lnB>
                      <a:noFill/>
                    </a:lnB>
                    <a:solidFill>
                      <a:srgbClr val="FFFFFF"/>
                    </a:solidFill>
                  </a:tcPr>
                </a:tc>
                <a:tc>
                  <a:txBody>
                    <a:bodyPr/>
                    <a:lstStyle/>
                    <a:p>
                      <a:pPr>
                        <a:lnSpc>
                          <a:spcPts val="1875"/>
                        </a:lnSpc>
                        <a:buNone/>
                      </a:pPr>
                      <a:r>
                        <a:rPr lang="en-IN" sz="1400" b="0">
                          <a:effectLst/>
                          <a:latin typeface="quote-cjk-patch"/>
                        </a:rPr>
                        <a:t>"The Part-Time Parliament" (metaphorical)</a:t>
                      </a:r>
                    </a:p>
                  </a:txBody>
                  <a:tcPr marL="52536" marR="52536" marT="32835" marB="32835" anchor="ctr">
                    <a:lnL>
                      <a:noFill/>
                    </a:lnL>
                    <a:lnR>
                      <a:noFill/>
                    </a:lnR>
                    <a:lnT>
                      <a:noFill/>
                    </a:lnT>
                    <a:lnB>
                      <a:noFill/>
                    </a:lnB>
                    <a:solidFill>
                      <a:srgbClr val="FFFFFF"/>
                    </a:solidFill>
                  </a:tcPr>
                </a:tc>
                <a:tc>
                  <a:txBody>
                    <a:bodyPr/>
                    <a:lstStyle/>
                    <a:p>
                      <a:pPr>
                        <a:lnSpc>
                          <a:spcPts val="1875"/>
                        </a:lnSpc>
                        <a:buNone/>
                      </a:pPr>
                      <a:r>
                        <a:rPr lang="en-US" sz="1400" b="0" dirty="0">
                          <a:effectLst/>
                          <a:latin typeface="quote-cjk-patch"/>
                        </a:rPr>
                        <a:t>"In Search of an Understandable..." (clear)</a:t>
                      </a:r>
                    </a:p>
                  </a:txBody>
                  <a:tcPr marL="52536" marR="39402" marT="32835" marB="32835" anchor="ctr">
                    <a:lnL>
                      <a:noFill/>
                    </a:lnL>
                    <a:lnR>
                      <a:noFill/>
                    </a:lnR>
                    <a:lnT>
                      <a:noFill/>
                    </a:lnT>
                    <a:lnB>
                      <a:noFill/>
                    </a:lnB>
                    <a:solidFill>
                      <a:srgbClr val="FFFFFF"/>
                    </a:solidFill>
                  </a:tcPr>
                </a:tc>
                <a:extLst>
                  <a:ext uri="{0D108BD9-81ED-4DB2-BD59-A6C34878D82A}">
                    <a16:rowId xmlns:a16="http://schemas.microsoft.com/office/drawing/2014/main" val="1433562279"/>
                  </a:ext>
                </a:extLst>
              </a:tr>
            </a:tbl>
          </a:graphicData>
        </a:graphic>
      </p:graphicFrame>
    </p:spTree>
    <p:extLst>
      <p:ext uri="{BB962C8B-B14F-4D97-AF65-F5344CB8AC3E}">
        <p14:creationId xmlns:p14="http://schemas.microsoft.com/office/powerpoint/2010/main" val="29342251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00CE4A-4613-A406-F9A6-0E99CA37C420}"/>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CD525626-3523-3F90-F43B-939F21718620}"/>
              </a:ext>
            </a:extLst>
          </p:cNvPr>
          <p:cNvSpPr txBox="1">
            <a:spLocks noGrp="1"/>
          </p:cNvSpPr>
          <p:nvPr>
            <p:ph type="title"/>
          </p:nvPr>
        </p:nvSpPr>
        <p:spPr>
          <a:prstGeom prst="rect">
            <a:avLst/>
          </a:prstGeom>
        </p:spPr>
        <p:txBody>
          <a:bodyPr vert="horz" wrap="square" lIns="0" tIns="17780" rIns="0" bIns="0" rtlCol="0">
            <a:spAutoFit/>
          </a:bodyPr>
          <a:lstStyle/>
          <a:p>
            <a:pPr marL="12700">
              <a:lnSpc>
                <a:spcPct val="100000"/>
              </a:lnSpc>
              <a:spcBef>
                <a:spcPts val="140"/>
              </a:spcBef>
            </a:pPr>
            <a:r>
              <a:rPr lang="en-IN" spc="-330" dirty="0"/>
              <a:t>Gossip Protocol</a:t>
            </a:r>
            <a:endParaRPr spc="-150" dirty="0"/>
          </a:p>
        </p:txBody>
      </p:sp>
      <p:sp>
        <p:nvSpPr>
          <p:cNvPr id="4" name="object 4">
            <a:extLst>
              <a:ext uri="{FF2B5EF4-FFF2-40B4-BE49-F238E27FC236}">
                <a16:creationId xmlns:a16="http://schemas.microsoft.com/office/drawing/2014/main" id="{3F4BD946-E31D-D24C-4B93-B6DD21875677}"/>
              </a:ext>
            </a:extLst>
          </p:cNvPr>
          <p:cNvSpPr txBox="1"/>
          <p:nvPr/>
        </p:nvSpPr>
        <p:spPr>
          <a:xfrm>
            <a:off x="475248" y="1047750"/>
            <a:ext cx="8363952" cy="1921039"/>
          </a:xfrm>
          <a:prstGeom prst="rect">
            <a:avLst/>
          </a:prstGeom>
        </p:spPr>
        <p:txBody>
          <a:bodyPr vert="horz" wrap="square" lIns="0" tIns="12700" rIns="0" bIns="0" rtlCol="0">
            <a:spAutoFit/>
          </a:bodyPr>
          <a:lstStyle/>
          <a:p>
            <a:r>
              <a:rPr lang="en-US" dirty="0"/>
              <a:t>Nodes spreading rumor like epidemic (</a:t>
            </a:r>
            <a:r>
              <a:rPr lang="en-IN" dirty="0"/>
              <a:t>Coordination patterns )</a:t>
            </a:r>
            <a:endParaRPr lang="en-US" dirty="0"/>
          </a:p>
          <a:p>
            <a:r>
              <a:rPr lang="en-US" b="1" dirty="0"/>
              <a:t>How Gossip Works:</a:t>
            </a:r>
            <a:endParaRPr lang="en-US" dirty="0"/>
          </a:p>
          <a:p>
            <a:pPr marL="285750" indent="-285750">
              <a:buFont typeface="Courier New" panose="02070309020205020404" pitchFamily="49" charset="0"/>
              <a:buChar char="o"/>
            </a:pPr>
            <a:r>
              <a:rPr lang="en-US" sz="1400" dirty="0"/>
              <a:t>Node has new information (membership, state, etc.)</a:t>
            </a:r>
          </a:p>
          <a:p>
            <a:pPr marL="285750" indent="-285750">
              <a:buFont typeface="Courier New" panose="02070309020205020404" pitchFamily="49" charset="0"/>
              <a:buChar char="o"/>
            </a:pPr>
            <a:r>
              <a:rPr lang="en-US" sz="1400" dirty="0"/>
              <a:t>Periodically, selects </a:t>
            </a:r>
            <a:r>
              <a:rPr lang="en-US" sz="1400" b="1" dirty="0"/>
              <a:t>random peer(s)</a:t>
            </a:r>
            <a:endParaRPr lang="en-US" sz="1400" dirty="0"/>
          </a:p>
          <a:p>
            <a:pPr marL="285750" indent="-285750">
              <a:buFont typeface="Courier New" panose="02070309020205020404" pitchFamily="49" charset="0"/>
              <a:buChar char="o"/>
            </a:pPr>
            <a:r>
              <a:rPr lang="en-US" sz="1400" dirty="0"/>
              <a:t>Shares information with peer</a:t>
            </a:r>
          </a:p>
          <a:p>
            <a:pPr marL="285750" indent="-285750">
              <a:buFont typeface="Courier New" panose="02070309020205020404" pitchFamily="49" charset="0"/>
              <a:buChar char="o"/>
            </a:pPr>
            <a:r>
              <a:rPr lang="en-US" sz="1400" dirty="0"/>
              <a:t>Peer does same with its peers</a:t>
            </a:r>
          </a:p>
          <a:p>
            <a:pPr marL="285750" indent="-285750">
              <a:buFont typeface="Courier New" panose="02070309020205020404" pitchFamily="49" charset="0"/>
              <a:buChar char="o"/>
            </a:pPr>
            <a:r>
              <a:rPr lang="en-US" sz="1400" dirty="0"/>
              <a:t>Information spreads </a:t>
            </a:r>
            <a:r>
              <a:rPr lang="en-US" sz="1400" b="1" dirty="0"/>
              <a:t>exponentially</a:t>
            </a:r>
            <a:r>
              <a:rPr lang="en-US" sz="1400" dirty="0"/>
              <a:t> (like rumor, disease)</a:t>
            </a:r>
          </a:p>
          <a:p>
            <a:endParaRPr lang="en-US" dirty="0"/>
          </a:p>
        </p:txBody>
      </p:sp>
    </p:spTree>
    <p:extLst>
      <p:ext uri="{BB962C8B-B14F-4D97-AF65-F5344CB8AC3E}">
        <p14:creationId xmlns:p14="http://schemas.microsoft.com/office/powerpoint/2010/main" val="15139317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7BE164-46E9-D312-9AA4-FE329B013BB1}"/>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DA977157-775A-9751-5D6D-31FFF59BC668}"/>
              </a:ext>
            </a:extLst>
          </p:cNvPr>
          <p:cNvSpPr txBox="1">
            <a:spLocks noGrp="1"/>
          </p:cNvSpPr>
          <p:nvPr>
            <p:ph type="title"/>
          </p:nvPr>
        </p:nvSpPr>
        <p:spPr>
          <a:prstGeom prst="rect">
            <a:avLst/>
          </a:prstGeom>
        </p:spPr>
        <p:txBody>
          <a:bodyPr vert="horz" wrap="square" lIns="0" tIns="17780" rIns="0" bIns="0" rtlCol="0">
            <a:spAutoFit/>
          </a:bodyPr>
          <a:lstStyle/>
          <a:p>
            <a:pPr marL="12700">
              <a:lnSpc>
                <a:spcPct val="100000"/>
              </a:lnSpc>
              <a:spcBef>
                <a:spcPts val="140"/>
              </a:spcBef>
            </a:pPr>
            <a:r>
              <a:rPr lang="en-IN" spc="-330" dirty="0"/>
              <a:t>Write-Ahead Log (WAL)</a:t>
            </a:r>
            <a:endParaRPr spc="-150" dirty="0"/>
          </a:p>
        </p:txBody>
      </p:sp>
      <p:sp>
        <p:nvSpPr>
          <p:cNvPr id="4" name="object 4">
            <a:extLst>
              <a:ext uri="{FF2B5EF4-FFF2-40B4-BE49-F238E27FC236}">
                <a16:creationId xmlns:a16="http://schemas.microsoft.com/office/drawing/2014/main" id="{81B88617-9379-CA40-D057-C63E8D59DB18}"/>
              </a:ext>
            </a:extLst>
          </p:cNvPr>
          <p:cNvSpPr txBox="1"/>
          <p:nvPr/>
        </p:nvSpPr>
        <p:spPr>
          <a:xfrm>
            <a:off x="475248" y="1047750"/>
            <a:ext cx="8363952" cy="3336811"/>
          </a:xfrm>
          <a:prstGeom prst="rect">
            <a:avLst/>
          </a:prstGeom>
        </p:spPr>
        <p:txBody>
          <a:bodyPr vert="horz" wrap="square" lIns="0" tIns="12700" rIns="0" bIns="0" rtlCol="0">
            <a:spAutoFit/>
          </a:bodyPr>
          <a:lstStyle/>
          <a:p>
            <a:pPr marL="285750" indent="-285750">
              <a:buFont typeface="Wingdings" panose="05000000000000000000" pitchFamily="2" charset="2"/>
              <a:buChar char="v"/>
            </a:pPr>
            <a:r>
              <a:rPr lang="en-US" b="1" dirty="0"/>
              <a:t>Log-first</a:t>
            </a:r>
            <a:r>
              <a:rPr lang="en-US" dirty="0"/>
              <a:t> approach: Write to log </a:t>
            </a:r>
            <a:r>
              <a:rPr lang="en-US" b="1" dirty="0"/>
              <a:t>before</a:t>
            </a:r>
            <a:r>
              <a:rPr lang="en-US" dirty="0"/>
              <a:t> updating actual data</a:t>
            </a:r>
          </a:p>
          <a:p>
            <a:pPr marL="285750" indent="-285750">
              <a:buFont typeface="Wingdings" panose="05000000000000000000" pitchFamily="2" charset="2"/>
              <a:buChar char="v"/>
            </a:pPr>
            <a:r>
              <a:rPr lang="en-US" b="1" dirty="0"/>
              <a:t>Append-only</a:t>
            </a:r>
            <a:r>
              <a:rPr lang="en-US" dirty="0"/>
              <a:t> log: Sequential writes (fast, durable)</a:t>
            </a:r>
          </a:p>
          <a:p>
            <a:pPr marL="285750" indent="-285750">
              <a:buFont typeface="Wingdings" panose="05000000000000000000" pitchFamily="2" charset="2"/>
              <a:buChar char="v"/>
            </a:pPr>
            <a:r>
              <a:rPr lang="en-US" b="1" dirty="0"/>
              <a:t>Crash recovery:</a:t>
            </a:r>
            <a:r>
              <a:rPr lang="en-US" dirty="0"/>
              <a:t> Replay log to restore state</a:t>
            </a:r>
            <a:br>
              <a:rPr lang="en-US" dirty="0"/>
            </a:br>
            <a:endParaRPr lang="en-US" dirty="0"/>
          </a:p>
          <a:p>
            <a:r>
              <a:rPr lang="en-US" b="1" dirty="0"/>
              <a:t>How WAL Works:</a:t>
            </a:r>
            <a:endParaRPr lang="en-US" dirty="0"/>
          </a:p>
          <a:p>
            <a:r>
              <a:rPr lang="en-US" b="1" dirty="0"/>
              <a:t>1. Write Phase:</a:t>
            </a:r>
            <a:endParaRPr lang="en-US" dirty="0"/>
          </a:p>
          <a:p>
            <a:pPr marL="285750" indent="-285750" latinLnBrk="1">
              <a:buFont typeface="Courier New" panose="02070309020205020404" pitchFamily="49" charset="0"/>
              <a:buChar char="o"/>
            </a:pPr>
            <a:r>
              <a:rPr lang="en-US" dirty="0"/>
              <a:t>Client Request → Append to WAL (durable storage) → Update memory structures → Acknowledge</a:t>
            </a:r>
          </a:p>
          <a:p>
            <a:r>
              <a:rPr lang="en-US" b="1" dirty="0"/>
              <a:t>2. Recovery Phase (after crash):</a:t>
            </a:r>
            <a:endParaRPr lang="en-US" dirty="0"/>
          </a:p>
          <a:p>
            <a:pPr marL="285750" indent="-285750" latinLnBrk="1">
              <a:buFont typeface="Courier New" panose="02070309020205020404" pitchFamily="49" charset="0"/>
              <a:buChar char="o"/>
            </a:pPr>
            <a:r>
              <a:rPr lang="en-US" dirty="0"/>
              <a:t>Start → Read WAL from last checkpoint → Replay all operations → Restore consistent state</a:t>
            </a:r>
          </a:p>
          <a:p>
            <a:pPr marL="285750" indent="-285750">
              <a:buFont typeface="Wingdings" panose="05000000000000000000" pitchFamily="2" charset="2"/>
              <a:buChar char="v"/>
            </a:pPr>
            <a:endParaRPr lang="en-US" dirty="0"/>
          </a:p>
        </p:txBody>
      </p:sp>
    </p:spTree>
    <p:extLst>
      <p:ext uri="{BB962C8B-B14F-4D97-AF65-F5344CB8AC3E}">
        <p14:creationId xmlns:p14="http://schemas.microsoft.com/office/powerpoint/2010/main" val="42540468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31E57A-7DB4-AD1B-D15D-838277240EFF}"/>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DD159BFA-15C4-2DF5-0FED-60AA676D8D39}"/>
              </a:ext>
            </a:extLst>
          </p:cNvPr>
          <p:cNvSpPr txBox="1">
            <a:spLocks noGrp="1"/>
          </p:cNvSpPr>
          <p:nvPr>
            <p:ph type="title"/>
          </p:nvPr>
        </p:nvSpPr>
        <p:spPr>
          <a:prstGeom prst="rect">
            <a:avLst/>
          </a:prstGeom>
        </p:spPr>
        <p:txBody>
          <a:bodyPr vert="horz" wrap="square" lIns="0" tIns="17780" rIns="0" bIns="0" rtlCol="0">
            <a:spAutoFit/>
          </a:bodyPr>
          <a:lstStyle/>
          <a:p>
            <a:pPr marL="12700">
              <a:lnSpc>
                <a:spcPct val="100000"/>
              </a:lnSpc>
              <a:spcBef>
                <a:spcPts val="140"/>
              </a:spcBef>
            </a:pPr>
            <a:r>
              <a:rPr lang="en-IN" spc="-330" dirty="0"/>
              <a:t>Consistent Hashing</a:t>
            </a:r>
            <a:endParaRPr spc="-150" dirty="0"/>
          </a:p>
        </p:txBody>
      </p:sp>
      <p:sp>
        <p:nvSpPr>
          <p:cNvPr id="4" name="object 4">
            <a:extLst>
              <a:ext uri="{FF2B5EF4-FFF2-40B4-BE49-F238E27FC236}">
                <a16:creationId xmlns:a16="http://schemas.microsoft.com/office/drawing/2014/main" id="{B294E80F-568D-0FEB-DFC9-99AEAE95EF4D}"/>
              </a:ext>
            </a:extLst>
          </p:cNvPr>
          <p:cNvSpPr txBox="1"/>
          <p:nvPr/>
        </p:nvSpPr>
        <p:spPr>
          <a:xfrm>
            <a:off x="475248" y="1047750"/>
            <a:ext cx="8363952" cy="2782813"/>
          </a:xfrm>
          <a:prstGeom prst="rect">
            <a:avLst/>
          </a:prstGeom>
        </p:spPr>
        <p:txBody>
          <a:bodyPr vert="horz" wrap="square" lIns="0" tIns="12700" rIns="0" bIns="0" rtlCol="0">
            <a:spAutoFit/>
          </a:bodyPr>
          <a:lstStyle/>
          <a:p>
            <a:r>
              <a:rPr lang="en-US" b="1" dirty="0"/>
              <a:t>The Problem:</a:t>
            </a:r>
            <a:endParaRPr lang="en-US" dirty="0"/>
          </a:p>
          <a:p>
            <a:pPr marL="285750" indent="-285750">
              <a:buFont typeface="Courier New" panose="02070309020205020404" pitchFamily="49" charset="0"/>
              <a:buChar char="o"/>
            </a:pPr>
            <a:r>
              <a:rPr lang="en-US" dirty="0"/>
              <a:t>Traditional hashing: hash(key) % N (N = number of servers)</a:t>
            </a:r>
          </a:p>
          <a:p>
            <a:pPr marL="285750" indent="-285750">
              <a:buFont typeface="Courier New" panose="02070309020205020404" pitchFamily="49" charset="0"/>
              <a:buChar char="o"/>
            </a:pPr>
            <a:r>
              <a:rPr lang="en-US" dirty="0"/>
              <a:t>When </a:t>
            </a:r>
            <a:r>
              <a:rPr lang="en-US" b="1" dirty="0"/>
              <a:t>N changes</a:t>
            </a:r>
            <a:r>
              <a:rPr lang="en-US" dirty="0"/>
              <a:t> (add/remove server), </a:t>
            </a:r>
            <a:r>
              <a:rPr lang="en-US" b="1" dirty="0"/>
              <a:t>most keys move</a:t>
            </a:r>
            <a:endParaRPr lang="en-US" dirty="0"/>
          </a:p>
          <a:p>
            <a:pPr marL="285750" indent="-285750">
              <a:buFont typeface="Courier New" panose="02070309020205020404" pitchFamily="49" charset="0"/>
              <a:buChar char="o"/>
            </a:pPr>
            <a:r>
              <a:rPr lang="en-US" b="1" dirty="0"/>
              <a:t>Cache avalanche:</a:t>
            </a:r>
            <a:r>
              <a:rPr lang="en-US" dirty="0"/>
              <a:t> All clients recompute, hit different servers</a:t>
            </a:r>
          </a:p>
          <a:p>
            <a:endParaRPr lang="en-US" dirty="0"/>
          </a:p>
          <a:p>
            <a:r>
              <a:rPr lang="en-US" b="1" dirty="0"/>
              <a:t>Consistent Hashing Solution:</a:t>
            </a:r>
            <a:endParaRPr lang="en-US" dirty="0"/>
          </a:p>
          <a:p>
            <a:pPr marL="285750" indent="-285750">
              <a:buFont typeface="Courier New" panose="02070309020205020404" pitchFamily="49" charset="0"/>
              <a:buChar char="o"/>
            </a:pPr>
            <a:r>
              <a:rPr lang="en-US" dirty="0"/>
              <a:t>Create </a:t>
            </a:r>
            <a:r>
              <a:rPr lang="en-US" b="1" dirty="0"/>
              <a:t>hash ring</a:t>
            </a:r>
            <a:r>
              <a:rPr lang="en-US" dirty="0"/>
              <a:t> (0 to 2^64-1 or similar)</a:t>
            </a:r>
          </a:p>
          <a:p>
            <a:pPr marL="285750" indent="-285750">
              <a:buFont typeface="Courier New" panose="02070309020205020404" pitchFamily="49" charset="0"/>
              <a:buChar char="o"/>
            </a:pPr>
            <a:r>
              <a:rPr lang="en-US" dirty="0"/>
              <a:t>Hash </a:t>
            </a:r>
            <a:r>
              <a:rPr lang="en-US" b="1" dirty="0"/>
              <a:t>both servers and keys</a:t>
            </a:r>
            <a:r>
              <a:rPr lang="en-US" dirty="0"/>
              <a:t> onto the ring</a:t>
            </a:r>
          </a:p>
          <a:p>
            <a:pPr marL="285750" indent="-285750">
              <a:buFont typeface="Courier New" panose="02070309020205020404" pitchFamily="49" charset="0"/>
              <a:buChar char="o"/>
            </a:pPr>
            <a:r>
              <a:rPr lang="en-US" dirty="0"/>
              <a:t>Key goes to </a:t>
            </a:r>
            <a:r>
              <a:rPr lang="en-US" b="1" dirty="0"/>
              <a:t>next server clockwise</a:t>
            </a:r>
            <a:r>
              <a:rPr lang="en-US" dirty="0"/>
              <a:t> on ring</a:t>
            </a:r>
          </a:p>
          <a:p>
            <a:pPr marL="285750" indent="-285750">
              <a:buFont typeface="Courier New" panose="02070309020205020404" pitchFamily="49" charset="0"/>
              <a:buChar char="o"/>
            </a:pPr>
            <a:r>
              <a:rPr lang="en-US" dirty="0"/>
              <a:t>Add/remove server: Only </a:t>
            </a:r>
            <a:r>
              <a:rPr lang="en-US" b="1" dirty="0"/>
              <a:t>local keys move</a:t>
            </a:r>
            <a:endParaRPr lang="en-US" dirty="0"/>
          </a:p>
        </p:txBody>
      </p:sp>
    </p:spTree>
    <p:extLst>
      <p:ext uri="{BB962C8B-B14F-4D97-AF65-F5344CB8AC3E}">
        <p14:creationId xmlns:p14="http://schemas.microsoft.com/office/powerpoint/2010/main" val="10409799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488642-CD98-C01C-2F0D-161B7E6D22A9}"/>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88918175-0C66-5430-C08F-DF05EEC53590}"/>
              </a:ext>
            </a:extLst>
          </p:cNvPr>
          <p:cNvSpPr txBox="1">
            <a:spLocks noGrp="1"/>
          </p:cNvSpPr>
          <p:nvPr>
            <p:ph type="title"/>
          </p:nvPr>
        </p:nvSpPr>
        <p:spPr>
          <a:prstGeom prst="rect">
            <a:avLst/>
          </a:prstGeom>
        </p:spPr>
        <p:txBody>
          <a:bodyPr vert="horz" wrap="square" lIns="0" tIns="17780" rIns="0" bIns="0" rtlCol="0">
            <a:spAutoFit/>
          </a:bodyPr>
          <a:lstStyle/>
          <a:p>
            <a:pPr marL="12700">
              <a:lnSpc>
                <a:spcPct val="100000"/>
              </a:lnSpc>
              <a:spcBef>
                <a:spcPts val="140"/>
              </a:spcBef>
            </a:pPr>
            <a:r>
              <a:rPr lang="en-IN" spc="-330" dirty="0"/>
              <a:t>Bloom Filters</a:t>
            </a:r>
            <a:endParaRPr spc="-150" dirty="0"/>
          </a:p>
        </p:txBody>
      </p:sp>
      <p:sp>
        <p:nvSpPr>
          <p:cNvPr id="4" name="object 4">
            <a:extLst>
              <a:ext uri="{FF2B5EF4-FFF2-40B4-BE49-F238E27FC236}">
                <a16:creationId xmlns:a16="http://schemas.microsoft.com/office/drawing/2014/main" id="{1F309ABF-2A95-8D87-D294-5CD624C2AECD}"/>
              </a:ext>
            </a:extLst>
          </p:cNvPr>
          <p:cNvSpPr txBox="1"/>
          <p:nvPr/>
        </p:nvSpPr>
        <p:spPr>
          <a:xfrm>
            <a:off x="475248" y="1047750"/>
            <a:ext cx="8363952" cy="1120820"/>
          </a:xfrm>
          <a:prstGeom prst="rect">
            <a:avLst/>
          </a:prstGeom>
        </p:spPr>
        <p:txBody>
          <a:bodyPr vert="horz" wrap="square" lIns="0" tIns="12700" rIns="0" bIns="0" rtlCol="0">
            <a:spAutoFit/>
          </a:bodyPr>
          <a:lstStyle/>
          <a:p>
            <a:pPr marL="285750" indent="-285750">
              <a:buFont typeface="Wingdings" panose="05000000000000000000" pitchFamily="2" charset="2"/>
              <a:buChar char="v"/>
            </a:pPr>
            <a:r>
              <a:rPr lang="en-US" b="1" dirty="0"/>
              <a:t>Probabilistic</a:t>
            </a:r>
            <a:r>
              <a:rPr lang="en-US" dirty="0"/>
              <a:t> data structure for set membership</a:t>
            </a:r>
          </a:p>
          <a:p>
            <a:pPr marL="285750" indent="-285750">
              <a:buFont typeface="Wingdings" panose="05000000000000000000" pitchFamily="2" charset="2"/>
              <a:buChar char="v"/>
            </a:pPr>
            <a:r>
              <a:rPr lang="en-US" dirty="0"/>
              <a:t>Answers: "</a:t>
            </a:r>
            <a:r>
              <a:rPr lang="en-US" b="1" dirty="0"/>
              <a:t>Probably</a:t>
            </a:r>
            <a:r>
              <a:rPr lang="en-US" dirty="0"/>
              <a:t> in set" or "</a:t>
            </a:r>
            <a:r>
              <a:rPr lang="en-US" b="1" dirty="0"/>
              <a:t>Definitely not</a:t>
            </a:r>
            <a:r>
              <a:rPr lang="en-US" dirty="0"/>
              <a:t> in set"</a:t>
            </a:r>
          </a:p>
          <a:p>
            <a:pPr marL="285750" indent="-285750">
              <a:buFont typeface="Wingdings" panose="05000000000000000000" pitchFamily="2" charset="2"/>
              <a:buChar char="v"/>
            </a:pPr>
            <a:r>
              <a:rPr lang="en-US" b="1" dirty="0"/>
              <a:t>Space-efficient:</a:t>
            </a:r>
            <a:r>
              <a:rPr lang="en-US" dirty="0"/>
              <a:t> Uses bit array, not store actual items</a:t>
            </a:r>
          </a:p>
          <a:p>
            <a:pPr marL="285750" indent="-285750">
              <a:buFont typeface="Wingdings" panose="05000000000000000000" pitchFamily="2" charset="2"/>
              <a:buChar char="v"/>
            </a:pPr>
            <a:r>
              <a:rPr lang="en-US" b="1" dirty="0"/>
              <a:t>One-sided error:</a:t>
            </a:r>
            <a:r>
              <a:rPr lang="en-US" dirty="0"/>
              <a:t> False positives possible, false negatives impossible</a:t>
            </a:r>
          </a:p>
        </p:txBody>
      </p:sp>
    </p:spTree>
    <p:extLst>
      <p:ext uri="{BB962C8B-B14F-4D97-AF65-F5344CB8AC3E}">
        <p14:creationId xmlns:p14="http://schemas.microsoft.com/office/powerpoint/2010/main" val="6695536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98DCA2-61BE-0A23-A2FC-800E7C7F69FC}"/>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19AE9257-CEDF-10D3-F340-F3C71A613EC3}"/>
              </a:ext>
            </a:extLst>
          </p:cNvPr>
          <p:cNvSpPr txBox="1">
            <a:spLocks noGrp="1"/>
          </p:cNvSpPr>
          <p:nvPr>
            <p:ph type="title"/>
          </p:nvPr>
        </p:nvSpPr>
        <p:spPr>
          <a:prstGeom prst="rect">
            <a:avLst/>
          </a:prstGeom>
        </p:spPr>
        <p:txBody>
          <a:bodyPr vert="horz" wrap="square" lIns="0" tIns="17780" rIns="0" bIns="0" rtlCol="0">
            <a:spAutoFit/>
          </a:bodyPr>
          <a:lstStyle/>
          <a:p>
            <a:pPr marL="12700">
              <a:lnSpc>
                <a:spcPct val="100000"/>
              </a:lnSpc>
              <a:spcBef>
                <a:spcPts val="140"/>
              </a:spcBef>
            </a:pPr>
            <a:r>
              <a:rPr lang="en-IN" spc="-330" dirty="0" err="1"/>
              <a:t>HyperLogLog</a:t>
            </a:r>
            <a:r>
              <a:rPr lang="en-IN" spc="-330" dirty="0"/>
              <a:t> (HLL)</a:t>
            </a:r>
            <a:endParaRPr spc="-150" dirty="0"/>
          </a:p>
        </p:txBody>
      </p:sp>
      <p:sp>
        <p:nvSpPr>
          <p:cNvPr id="4" name="object 4">
            <a:extLst>
              <a:ext uri="{FF2B5EF4-FFF2-40B4-BE49-F238E27FC236}">
                <a16:creationId xmlns:a16="http://schemas.microsoft.com/office/drawing/2014/main" id="{7A09BA77-9FE5-0E45-C539-9D5058335E24}"/>
              </a:ext>
            </a:extLst>
          </p:cNvPr>
          <p:cNvSpPr txBox="1"/>
          <p:nvPr/>
        </p:nvSpPr>
        <p:spPr>
          <a:xfrm>
            <a:off x="475248" y="1047750"/>
            <a:ext cx="8363952" cy="2782813"/>
          </a:xfrm>
          <a:prstGeom prst="rect">
            <a:avLst/>
          </a:prstGeom>
        </p:spPr>
        <p:txBody>
          <a:bodyPr vert="horz" wrap="square" lIns="0" tIns="12700" rIns="0" bIns="0" rtlCol="0">
            <a:spAutoFit/>
          </a:bodyPr>
          <a:lstStyle/>
          <a:p>
            <a:r>
              <a:rPr lang="en-IN" b="1" dirty="0"/>
              <a:t>The Problem:</a:t>
            </a:r>
            <a:endParaRPr lang="en-IN" dirty="0"/>
          </a:p>
          <a:p>
            <a:pPr marL="285750" indent="-285750">
              <a:buFont typeface="Courier New" panose="02070309020205020404" pitchFamily="49" charset="0"/>
              <a:buChar char="o"/>
            </a:pPr>
            <a:r>
              <a:rPr lang="en-IN" dirty="0"/>
              <a:t>Count </a:t>
            </a:r>
            <a:r>
              <a:rPr lang="en-IN" b="1" dirty="0"/>
              <a:t>distinct elements</a:t>
            </a:r>
            <a:r>
              <a:rPr lang="en-IN" dirty="0"/>
              <a:t> in massive datasets</a:t>
            </a:r>
          </a:p>
          <a:p>
            <a:pPr marL="285750" indent="-285750">
              <a:buFont typeface="Courier New" panose="02070309020205020404" pitchFamily="49" charset="0"/>
              <a:buChar char="o"/>
            </a:pPr>
            <a:r>
              <a:rPr lang="en-IN" dirty="0"/>
              <a:t>Naive solution: Store all elements → </a:t>
            </a:r>
            <a:r>
              <a:rPr lang="en-IN" b="1" dirty="0"/>
              <a:t>O(n) memory</a:t>
            </a:r>
            <a:endParaRPr lang="en-IN" dirty="0"/>
          </a:p>
          <a:p>
            <a:pPr marL="285750" indent="-285750">
              <a:buFont typeface="Courier New" panose="02070309020205020404" pitchFamily="49" charset="0"/>
              <a:buChar char="o"/>
            </a:pPr>
            <a:r>
              <a:rPr lang="en-IN" dirty="0"/>
              <a:t>Approximate counting needed for big data</a:t>
            </a:r>
          </a:p>
          <a:p>
            <a:endParaRPr lang="en-IN" dirty="0"/>
          </a:p>
          <a:p>
            <a:r>
              <a:rPr lang="en-IN" b="1" dirty="0"/>
              <a:t>Solution:</a:t>
            </a:r>
            <a:endParaRPr lang="en-IN" dirty="0"/>
          </a:p>
          <a:p>
            <a:pPr marL="285750" indent="-285750">
              <a:buFont typeface="Courier New" panose="02070309020205020404" pitchFamily="49" charset="0"/>
              <a:buChar char="o"/>
            </a:pPr>
            <a:r>
              <a:rPr lang="en-IN" b="1" dirty="0"/>
              <a:t>Probabilistic</a:t>
            </a:r>
            <a:r>
              <a:rPr lang="en-IN" dirty="0"/>
              <a:t> cardinality estimation</a:t>
            </a:r>
          </a:p>
          <a:p>
            <a:pPr marL="285750" indent="-285750">
              <a:buFont typeface="Courier New" panose="02070309020205020404" pitchFamily="49" charset="0"/>
              <a:buChar char="o"/>
            </a:pPr>
            <a:r>
              <a:rPr lang="en-IN" b="1" dirty="0"/>
              <a:t>Extreme memory efficiency:</a:t>
            </a:r>
            <a:r>
              <a:rPr lang="en-IN" dirty="0"/>
              <a:t> ~1.5KB for counts up to ~10^9</a:t>
            </a:r>
          </a:p>
          <a:p>
            <a:pPr marL="285750" indent="-285750">
              <a:buFont typeface="Courier New" panose="02070309020205020404" pitchFamily="49" charset="0"/>
              <a:buChar char="o"/>
            </a:pPr>
            <a:r>
              <a:rPr lang="en-IN" b="1" dirty="0"/>
              <a:t>Constant memory:</a:t>
            </a:r>
            <a:r>
              <a:rPr lang="en-IN" dirty="0"/>
              <a:t> Doesn't grow with dataset size</a:t>
            </a:r>
          </a:p>
          <a:p>
            <a:pPr marL="285750" indent="-285750">
              <a:buFont typeface="Courier New" panose="02070309020205020404" pitchFamily="49" charset="0"/>
              <a:buChar char="o"/>
            </a:pPr>
            <a:r>
              <a:rPr lang="en-IN" b="1" dirty="0"/>
              <a:t>Error rate:</a:t>
            </a:r>
            <a:r>
              <a:rPr lang="en-IN" dirty="0"/>
              <a:t> ~1.04/√m (typically 1-2% error)</a:t>
            </a:r>
          </a:p>
        </p:txBody>
      </p:sp>
    </p:spTree>
    <p:extLst>
      <p:ext uri="{BB962C8B-B14F-4D97-AF65-F5344CB8AC3E}">
        <p14:creationId xmlns:p14="http://schemas.microsoft.com/office/powerpoint/2010/main" val="5023572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F1EDED-EEC8-0ACE-8C13-2217874DA791}"/>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C1CCE64B-3F12-0928-EE38-B62697D38944}"/>
              </a:ext>
            </a:extLst>
          </p:cNvPr>
          <p:cNvSpPr txBox="1">
            <a:spLocks noGrp="1"/>
          </p:cNvSpPr>
          <p:nvPr>
            <p:ph type="title"/>
          </p:nvPr>
        </p:nvSpPr>
        <p:spPr>
          <a:prstGeom prst="rect">
            <a:avLst/>
          </a:prstGeom>
        </p:spPr>
        <p:txBody>
          <a:bodyPr vert="horz" wrap="square" lIns="0" tIns="17780" rIns="0" bIns="0" rtlCol="0">
            <a:spAutoFit/>
          </a:bodyPr>
          <a:lstStyle/>
          <a:p>
            <a:pPr marL="12700">
              <a:lnSpc>
                <a:spcPct val="100000"/>
              </a:lnSpc>
              <a:spcBef>
                <a:spcPts val="140"/>
              </a:spcBef>
            </a:pPr>
            <a:r>
              <a:rPr lang="en-IN" spc="-330" dirty="0"/>
              <a:t>Count-Min Sketch</a:t>
            </a:r>
            <a:endParaRPr spc="-150" dirty="0"/>
          </a:p>
        </p:txBody>
      </p:sp>
      <p:sp>
        <p:nvSpPr>
          <p:cNvPr id="4" name="object 4">
            <a:extLst>
              <a:ext uri="{FF2B5EF4-FFF2-40B4-BE49-F238E27FC236}">
                <a16:creationId xmlns:a16="http://schemas.microsoft.com/office/drawing/2014/main" id="{3D0BC7EB-8175-51A8-C95B-550B11621206}"/>
              </a:ext>
            </a:extLst>
          </p:cNvPr>
          <p:cNvSpPr txBox="1"/>
          <p:nvPr/>
        </p:nvSpPr>
        <p:spPr>
          <a:xfrm>
            <a:off x="475248" y="1047750"/>
            <a:ext cx="8363952" cy="2782813"/>
          </a:xfrm>
          <a:prstGeom prst="rect">
            <a:avLst/>
          </a:prstGeom>
        </p:spPr>
        <p:txBody>
          <a:bodyPr vert="horz" wrap="square" lIns="0" tIns="12700" rIns="0" bIns="0" rtlCol="0">
            <a:spAutoFit/>
          </a:bodyPr>
          <a:lstStyle/>
          <a:p>
            <a:r>
              <a:rPr lang="en-US" b="1" dirty="0"/>
              <a:t>What is Count-Min Sketch?</a:t>
            </a:r>
            <a:endParaRPr lang="en-US" dirty="0"/>
          </a:p>
          <a:p>
            <a:pPr marL="285750" indent="-285750">
              <a:buFont typeface="Courier New" panose="02070309020205020404" pitchFamily="49" charset="0"/>
              <a:buChar char="o"/>
            </a:pPr>
            <a:r>
              <a:rPr lang="en-US" b="1" dirty="0"/>
              <a:t>Probabilistic</a:t>
            </a:r>
            <a:r>
              <a:rPr lang="en-US" dirty="0"/>
              <a:t> data structure for </a:t>
            </a:r>
            <a:r>
              <a:rPr lang="en-US" b="1" dirty="0"/>
              <a:t>frequency estimation</a:t>
            </a:r>
            <a:endParaRPr lang="en-US" dirty="0"/>
          </a:p>
          <a:p>
            <a:pPr marL="285750" indent="-285750">
              <a:buFont typeface="Courier New" panose="02070309020205020404" pitchFamily="49" charset="0"/>
              <a:buChar char="o"/>
            </a:pPr>
            <a:r>
              <a:rPr lang="en-US" dirty="0"/>
              <a:t>Answers: "Approximately how many times have we seen this item?"</a:t>
            </a:r>
          </a:p>
          <a:p>
            <a:pPr marL="285750" indent="-285750">
              <a:buFont typeface="Courier New" panose="02070309020205020404" pitchFamily="49" charset="0"/>
              <a:buChar char="o"/>
            </a:pPr>
            <a:r>
              <a:rPr lang="en-US" b="1" dirty="0"/>
              <a:t>Space-efficient:</a:t>
            </a:r>
            <a:r>
              <a:rPr lang="en-US" dirty="0"/>
              <a:t> Fixed 2D array (d × w counters)</a:t>
            </a:r>
          </a:p>
          <a:p>
            <a:pPr marL="285750" indent="-285750">
              <a:buFont typeface="Courier New" panose="02070309020205020404" pitchFamily="49" charset="0"/>
              <a:buChar char="o"/>
            </a:pPr>
            <a:r>
              <a:rPr lang="en-US" b="1" dirty="0"/>
              <a:t>One-sided error:</a:t>
            </a:r>
            <a:r>
              <a:rPr lang="en-US" dirty="0"/>
              <a:t> Overestimates (never underestimates)</a:t>
            </a:r>
          </a:p>
          <a:p>
            <a:endParaRPr lang="en-US" dirty="0"/>
          </a:p>
          <a:p>
            <a:r>
              <a:rPr lang="en-US" b="1" dirty="0"/>
              <a:t>The Problem:</a:t>
            </a:r>
            <a:endParaRPr lang="en-US" dirty="0"/>
          </a:p>
          <a:p>
            <a:pPr marL="285750" indent="-285750">
              <a:buFont typeface="Courier New" panose="02070309020205020404" pitchFamily="49" charset="0"/>
              <a:buChar char="o"/>
            </a:pPr>
            <a:r>
              <a:rPr lang="en-US" dirty="0"/>
              <a:t>Track frequency of items in data stream</a:t>
            </a:r>
          </a:p>
          <a:p>
            <a:pPr marL="285750" indent="-285750">
              <a:buFont typeface="Courier New" panose="02070309020205020404" pitchFamily="49" charset="0"/>
              <a:buChar char="o"/>
            </a:pPr>
            <a:r>
              <a:rPr lang="en-US" dirty="0"/>
              <a:t>Exact counting: Store item → count map → O(n) space</a:t>
            </a:r>
          </a:p>
          <a:p>
            <a:pPr marL="285750" indent="-285750">
              <a:buFont typeface="Courier New" panose="02070309020205020404" pitchFamily="49" charset="0"/>
              <a:buChar char="o"/>
            </a:pPr>
            <a:r>
              <a:rPr lang="en-US" dirty="0"/>
              <a:t>Need: Fixed memory, handle massive streams</a:t>
            </a:r>
          </a:p>
        </p:txBody>
      </p:sp>
    </p:spTree>
    <p:extLst>
      <p:ext uri="{BB962C8B-B14F-4D97-AF65-F5344CB8AC3E}">
        <p14:creationId xmlns:p14="http://schemas.microsoft.com/office/powerpoint/2010/main" val="40613438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B05C52-C492-97FD-E9F1-D9112BF234FA}"/>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3C2A4AA5-4DFF-B44C-58E3-3B3D96D61205}"/>
              </a:ext>
            </a:extLst>
          </p:cNvPr>
          <p:cNvSpPr txBox="1">
            <a:spLocks noGrp="1"/>
          </p:cNvSpPr>
          <p:nvPr>
            <p:ph type="title"/>
          </p:nvPr>
        </p:nvSpPr>
        <p:spPr>
          <a:prstGeom prst="rect">
            <a:avLst/>
          </a:prstGeom>
        </p:spPr>
        <p:txBody>
          <a:bodyPr vert="horz" wrap="square" lIns="0" tIns="17780" rIns="0" bIns="0" rtlCol="0">
            <a:spAutoFit/>
          </a:bodyPr>
          <a:lstStyle/>
          <a:p>
            <a:pPr marL="12700">
              <a:lnSpc>
                <a:spcPct val="100000"/>
              </a:lnSpc>
              <a:spcBef>
                <a:spcPts val="140"/>
              </a:spcBef>
            </a:pPr>
            <a:r>
              <a:rPr lang="en-IN" spc="-330" dirty="0"/>
              <a:t>Checksums &amp; CRCs</a:t>
            </a:r>
            <a:endParaRPr spc="-150" dirty="0"/>
          </a:p>
        </p:txBody>
      </p:sp>
      <p:sp>
        <p:nvSpPr>
          <p:cNvPr id="4" name="object 4">
            <a:extLst>
              <a:ext uri="{FF2B5EF4-FFF2-40B4-BE49-F238E27FC236}">
                <a16:creationId xmlns:a16="http://schemas.microsoft.com/office/drawing/2014/main" id="{AA829E7E-F64F-444D-01C5-3A25788F576A}"/>
              </a:ext>
            </a:extLst>
          </p:cNvPr>
          <p:cNvSpPr txBox="1"/>
          <p:nvPr/>
        </p:nvSpPr>
        <p:spPr>
          <a:xfrm>
            <a:off x="475248" y="1047750"/>
            <a:ext cx="8363952" cy="3059812"/>
          </a:xfrm>
          <a:prstGeom prst="rect">
            <a:avLst/>
          </a:prstGeom>
        </p:spPr>
        <p:txBody>
          <a:bodyPr vert="horz" wrap="square" lIns="0" tIns="12700" rIns="0" bIns="0" rtlCol="0">
            <a:spAutoFit/>
          </a:bodyPr>
          <a:lstStyle/>
          <a:p>
            <a:r>
              <a:rPr lang="en-US" b="1" dirty="0"/>
              <a:t>What are Checksums?</a:t>
            </a:r>
            <a:endParaRPr lang="en-US" dirty="0"/>
          </a:p>
          <a:p>
            <a:pPr marL="285750" indent="-285750">
              <a:buFont typeface="Courier New" panose="02070309020205020404" pitchFamily="49" charset="0"/>
              <a:buChar char="o"/>
            </a:pPr>
            <a:r>
              <a:rPr lang="en-US" b="1" dirty="0"/>
              <a:t>Small value</a:t>
            </a:r>
            <a:r>
              <a:rPr lang="en-US" dirty="0"/>
              <a:t> computed from data</a:t>
            </a:r>
          </a:p>
          <a:p>
            <a:pPr marL="285750" indent="-285750">
              <a:buFont typeface="Courier New" panose="02070309020205020404" pitchFamily="49" charset="0"/>
              <a:buChar char="o"/>
            </a:pPr>
            <a:r>
              <a:rPr lang="en-US" dirty="0"/>
              <a:t>Detects </a:t>
            </a:r>
            <a:r>
              <a:rPr lang="en-US" b="1" dirty="0"/>
              <a:t>accidental corruption</a:t>
            </a:r>
            <a:r>
              <a:rPr lang="en-US" dirty="0"/>
              <a:t> (not malicious tampering)</a:t>
            </a:r>
          </a:p>
          <a:p>
            <a:pPr marL="285750" indent="-285750">
              <a:buFont typeface="Courier New" panose="02070309020205020404" pitchFamily="49" charset="0"/>
              <a:buChar char="o"/>
            </a:pPr>
            <a:r>
              <a:rPr lang="en-US" b="1" dirty="0"/>
              <a:t>One-way:</a:t>
            </a:r>
            <a:r>
              <a:rPr lang="en-US" dirty="0"/>
              <a:t> Easy to compute, hard to reverse</a:t>
            </a:r>
          </a:p>
          <a:p>
            <a:pPr marL="285750" indent="-285750">
              <a:buFont typeface="Courier New" panose="02070309020205020404" pitchFamily="49" charset="0"/>
              <a:buChar char="o"/>
            </a:pPr>
            <a:r>
              <a:rPr lang="en-US" dirty="0"/>
              <a:t>Used for </a:t>
            </a:r>
            <a:r>
              <a:rPr lang="en-US" b="1" dirty="0"/>
              <a:t>data integrity verification</a:t>
            </a:r>
          </a:p>
          <a:p>
            <a:pPr marL="285750" indent="-285750">
              <a:buFont typeface="Courier New" panose="02070309020205020404" pitchFamily="49" charset="0"/>
              <a:buChar char="o"/>
            </a:pPr>
            <a:endParaRPr lang="en-US" b="1" dirty="0"/>
          </a:p>
          <a:p>
            <a:r>
              <a:rPr lang="en-IN" b="1" dirty="0"/>
              <a:t>Types of Checksums:</a:t>
            </a:r>
          </a:p>
          <a:p>
            <a:endParaRPr lang="en-IN" b="1" dirty="0"/>
          </a:p>
          <a:p>
            <a:pPr marL="285750" indent="-285750">
              <a:buFont typeface="Courier New" panose="02070309020205020404" pitchFamily="49" charset="0"/>
              <a:buChar char="o"/>
            </a:pPr>
            <a:r>
              <a:rPr lang="en-IN" dirty="0"/>
              <a:t>Simple Checksums</a:t>
            </a:r>
          </a:p>
          <a:p>
            <a:pPr marL="285750" indent="-285750">
              <a:buFont typeface="Courier New" panose="02070309020205020404" pitchFamily="49" charset="0"/>
              <a:buChar char="o"/>
            </a:pPr>
            <a:r>
              <a:rPr lang="en-IN" dirty="0"/>
              <a:t>CRCs (Cyclic Redundancy Checks)</a:t>
            </a:r>
          </a:p>
          <a:p>
            <a:pPr marL="285750" indent="-285750">
              <a:buFont typeface="Courier New" panose="02070309020205020404" pitchFamily="49" charset="0"/>
              <a:buChar char="o"/>
            </a:pPr>
            <a:r>
              <a:rPr lang="en-IN" dirty="0"/>
              <a:t>Cryptographic Hashes</a:t>
            </a:r>
            <a:endParaRPr lang="en-US" dirty="0"/>
          </a:p>
        </p:txBody>
      </p:sp>
    </p:spTree>
    <p:extLst>
      <p:ext uri="{BB962C8B-B14F-4D97-AF65-F5344CB8AC3E}">
        <p14:creationId xmlns:p14="http://schemas.microsoft.com/office/powerpoint/2010/main" val="14844337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55D7B9-AC6A-8BEF-1D22-0A73F54714C5}"/>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A59239FE-4A2C-A734-9E50-A560FE287FC5}"/>
              </a:ext>
            </a:extLst>
          </p:cNvPr>
          <p:cNvSpPr txBox="1">
            <a:spLocks noGrp="1"/>
          </p:cNvSpPr>
          <p:nvPr>
            <p:ph type="title"/>
          </p:nvPr>
        </p:nvSpPr>
        <p:spPr>
          <a:prstGeom prst="rect">
            <a:avLst/>
          </a:prstGeom>
        </p:spPr>
        <p:txBody>
          <a:bodyPr vert="horz" wrap="square" lIns="0" tIns="17780" rIns="0" bIns="0" rtlCol="0">
            <a:spAutoFit/>
          </a:bodyPr>
          <a:lstStyle/>
          <a:p>
            <a:pPr marL="12700">
              <a:lnSpc>
                <a:spcPct val="100000"/>
              </a:lnSpc>
              <a:spcBef>
                <a:spcPts val="140"/>
              </a:spcBef>
            </a:pPr>
            <a:r>
              <a:rPr lang="en-IN" spc="-330" dirty="0"/>
              <a:t>Vector Clocks</a:t>
            </a:r>
            <a:endParaRPr spc="-150" dirty="0"/>
          </a:p>
        </p:txBody>
      </p:sp>
      <p:sp>
        <p:nvSpPr>
          <p:cNvPr id="4" name="object 4">
            <a:extLst>
              <a:ext uri="{FF2B5EF4-FFF2-40B4-BE49-F238E27FC236}">
                <a16:creationId xmlns:a16="http://schemas.microsoft.com/office/drawing/2014/main" id="{2E80768A-1746-1CC8-1599-B35067F67B3E}"/>
              </a:ext>
            </a:extLst>
          </p:cNvPr>
          <p:cNvSpPr txBox="1"/>
          <p:nvPr/>
        </p:nvSpPr>
        <p:spPr>
          <a:xfrm>
            <a:off x="475248" y="1047750"/>
            <a:ext cx="8363952" cy="2505814"/>
          </a:xfrm>
          <a:prstGeom prst="rect">
            <a:avLst/>
          </a:prstGeom>
        </p:spPr>
        <p:txBody>
          <a:bodyPr vert="horz" wrap="square" lIns="0" tIns="12700" rIns="0" bIns="0" rtlCol="0">
            <a:spAutoFit/>
          </a:bodyPr>
          <a:lstStyle/>
          <a:p>
            <a:r>
              <a:rPr lang="en-US" b="1" dirty="0"/>
              <a:t>The Problem:</a:t>
            </a:r>
            <a:endParaRPr lang="en-US" dirty="0"/>
          </a:p>
          <a:p>
            <a:pPr marL="285750" indent="-285750">
              <a:buFont typeface="Courier New" panose="02070309020205020404" pitchFamily="49" charset="0"/>
              <a:buChar char="o"/>
            </a:pPr>
            <a:r>
              <a:rPr lang="en-US" dirty="0"/>
              <a:t>Lamport clocks tell </a:t>
            </a:r>
            <a:r>
              <a:rPr lang="en-US" b="1" dirty="0"/>
              <a:t>"happened before"</a:t>
            </a:r>
            <a:r>
              <a:rPr lang="en-US" dirty="0"/>
              <a:t> but not </a:t>
            </a:r>
            <a:r>
              <a:rPr lang="en-US" b="1" dirty="0"/>
              <a:t>concurrency</a:t>
            </a:r>
            <a:endParaRPr lang="en-US" dirty="0"/>
          </a:p>
          <a:p>
            <a:pPr marL="285750" indent="-285750">
              <a:buFont typeface="Courier New" panose="02070309020205020404" pitchFamily="49" charset="0"/>
              <a:buChar char="o"/>
            </a:pPr>
            <a:r>
              <a:rPr lang="en-US" dirty="0"/>
              <a:t>Need to know: "Are these updates causally related?"</a:t>
            </a:r>
          </a:p>
          <a:p>
            <a:pPr marL="285750" indent="-285750">
              <a:buFont typeface="Courier New" panose="02070309020205020404" pitchFamily="49" charset="0"/>
              <a:buChar char="o"/>
            </a:pPr>
            <a:r>
              <a:rPr lang="en-US" dirty="0"/>
              <a:t>For </a:t>
            </a:r>
            <a:r>
              <a:rPr lang="en-US" b="1" dirty="0"/>
              <a:t>conflict detection</a:t>
            </a:r>
            <a:r>
              <a:rPr lang="en-US" dirty="0"/>
              <a:t> in eventually consistent systems</a:t>
            </a:r>
          </a:p>
          <a:p>
            <a:endParaRPr lang="en-US" dirty="0"/>
          </a:p>
          <a:p>
            <a:r>
              <a:rPr lang="en-US" b="1" dirty="0"/>
              <a:t>What are Vector Clocks?</a:t>
            </a:r>
            <a:endParaRPr lang="en-US" dirty="0"/>
          </a:p>
          <a:p>
            <a:pPr marL="285750" indent="-285750">
              <a:buFont typeface="Courier New" panose="02070309020205020404" pitchFamily="49" charset="0"/>
              <a:buChar char="o"/>
            </a:pPr>
            <a:r>
              <a:rPr lang="en-US" b="1" dirty="0"/>
              <a:t>Array of counters</a:t>
            </a:r>
            <a:r>
              <a:rPr lang="en-US" dirty="0"/>
              <a:t>, one per node</a:t>
            </a:r>
          </a:p>
          <a:p>
            <a:pPr marL="285750" indent="-285750">
              <a:buFont typeface="Courier New" panose="02070309020205020404" pitchFamily="49" charset="0"/>
              <a:buChar char="o"/>
            </a:pPr>
            <a:r>
              <a:rPr lang="en-US" dirty="0"/>
              <a:t>Tracks </a:t>
            </a:r>
            <a:r>
              <a:rPr lang="en-US" b="1" dirty="0"/>
              <a:t>causal history</a:t>
            </a:r>
            <a:r>
              <a:rPr lang="en-US" dirty="0"/>
              <a:t> across distributed system</a:t>
            </a:r>
          </a:p>
          <a:p>
            <a:pPr marL="285750" indent="-285750">
              <a:buFont typeface="Courier New" panose="02070309020205020404" pitchFamily="49" charset="0"/>
              <a:buChar char="o"/>
            </a:pPr>
            <a:r>
              <a:rPr lang="en-US" dirty="0"/>
              <a:t>Can detect </a:t>
            </a:r>
            <a:r>
              <a:rPr lang="en-US" b="1" dirty="0"/>
              <a:t>concurrent updates</a:t>
            </a:r>
            <a:r>
              <a:rPr lang="en-US" dirty="0"/>
              <a:t> (potential conflicts)</a:t>
            </a:r>
          </a:p>
        </p:txBody>
      </p:sp>
    </p:spTree>
    <p:extLst>
      <p:ext uri="{BB962C8B-B14F-4D97-AF65-F5344CB8AC3E}">
        <p14:creationId xmlns:p14="http://schemas.microsoft.com/office/powerpoint/2010/main" val="6872956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8C966A-526D-EFD7-3F36-36E7D2DD0F3A}"/>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5020AA69-226D-3600-AC83-5EDC5AAF117A}"/>
              </a:ext>
            </a:extLst>
          </p:cNvPr>
          <p:cNvSpPr txBox="1">
            <a:spLocks noGrp="1"/>
          </p:cNvSpPr>
          <p:nvPr>
            <p:ph type="title"/>
          </p:nvPr>
        </p:nvSpPr>
        <p:spPr>
          <a:prstGeom prst="rect">
            <a:avLst/>
          </a:prstGeom>
        </p:spPr>
        <p:txBody>
          <a:bodyPr vert="horz" wrap="square" lIns="0" tIns="17780" rIns="0" bIns="0" rtlCol="0">
            <a:spAutoFit/>
          </a:bodyPr>
          <a:lstStyle/>
          <a:p>
            <a:pPr marL="12700">
              <a:lnSpc>
                <a:spcPct val="100000"/>
              </a:lnSpc>
              <a:spcBef>
                <a:spcPts val="140"/>
              </a:spcBef>
            </a:pPr>
            <a:r>
              <a:rPr lang="en-IN" spc="-330" dirty="0"/>
              <a:t>Quorum Systems</a:t>
            </a:r>
            <a:endParaRPr spc="-150" dirty="0"/>
          </a:p>
        </p:txBody>
      </p:sp>
      <p:sp>
        <p:nvSpPr>
          <p:cNvPr id="4" name="object 4">
            <a:extLst>
              <a:ext uri="{FF2B5EF4-FFF2-40B4-BE49-F238E27FC236}">
                <a16:creationId xmlns:a16="http://schemas.microsoft.com/office/drawing/2014/main" id="{E8F4BFA6-330F-EE1B-70BA-52710D698B68}"/>
              </a:ext>
            </a:extLst>
          </p:cNvPr>
          <p:cNvSpPr txBox="1"/>
          <p:nvPr/>
        </p:nvSpPr>
        <p:spPr>
          <a:xfrm>
            <a:off x="475248" y="1047750"/>
            <a:ext cx="8363952" cy="4167808"/>
          </a:xfrm>
          <a:prstGeom prst="rect">
            <a:avLst/>
          </a:prstGeom>
        </p:spPr>
        <p:txBody>
          <a:bodyPr vert="horz" wrap="square" lIns="0" tIns="12700" rIns="0" bIns="0" rtlCol="0">
            <a:spAutoFit/>
          </a:bodyPr>
          <a:lstStyle/>
          <a:p>
            <a:r>
              <a:rPr lang="en-US" b="1" dirty="0"/>
              <a:t>Basic Idea:</a:t>
            </a:r>
            <a:endParaRPr lang="en-US" dirty="0"/>
          </a:p>
          <a:p>
            <a:pPr marL="285750" indent="-285750">
              <a:buFont typeface="Courier New" panose="02070309020205020404" pitchFamily="49" charset="0"/>
              <a:buChar char="o"/>
            </a:pPr>
            <a:r>
              <a:rPr lang="en-US" dirty="0"/>
              <a:t>Instead of requiring </a:t>
            </a:r>
            <a:r>
              <a:rPr lang="en-US" b="1" dirty="0"/>
              <a:t>all</a:t>
            </a:r>
            <a:r>
              <a:rPr lang="en-US" dirty="0"/>
              <a:t> nodes to agree</a:t>
            </a:r>
          </a:p>
          <a:p>
            <a:pPr marL="285750" indent="-285750">
              <a:buFont typeface="Courier New" panose="02070309020205020404" pitchFamily="49" charset="0"/>
              <a:buChar char="o"/>
            </a:pPr>
            <a:r>
              <a:rPr lang="en-US" dirty="0"/>
              <a:t>Require only a </a:t>
            </a:r>
            <a:r>
              <a:rPr lang="en-US" b="1" dirty="0"/>
              <a:t>quorum</a:t>
            </a:r>
            <a:r>
              <a:rPr lang="en-US" dirty="0"/>
              <a:t> (subset) to agree</a:t>
            </a:r>
          </a:p>
          <a:p>
            <a:pPr marL="285750" indent="-285750">
              <a:buFont typeface="Courier New" panose="02070309020205020404" pitchFamily="49" charset="0"/>
              <a:buChar char="o"/>
            </a:pPr>
            <a:r>
              <a:rPr lang="en-US" dirty="0"/>
              <a:t>Different operations can use different quorums</a:t>
            </a:r>
          </a:p>
          <a:p>
            <a:pPr marL="285750" indent="-285750">
              <a:buFont typeface="Courier New" panose="02070309020205020404" pitchFamily="49" charset="0"/>
              <a:buChar char="o"/>
            </a:pPr>
            <a:r>
              <a:rPr lang="en-US" b="1" dirty="0"/>
              <a:t>Overlap ensures</a:t>
            </a:r>
            <a:r>
              <a:rPr lang="en-US" dirty="0"/>
              <a:t> consistency</a:t>
            </a:r>
          </a:p>
          <a:p>
            <a:r>
              <a:rPr lang="en-US" b="1" dirty="0"/>
              <a:t>Quorum Parameters:</a:t>
            </a:r>
            <a:endParaRPr lang="en-US" dirty="0"/>
          </a:p>
          <a:p>
            <a:pPr marL="285750" indent="-285750">
              <a:buFont typeface="Courier New" panose="02070309020205020404" pitchFamily="49" charset="0"/>
              <a:buChar char="o"/>
            </a:pPr>
            <a:r>
              <a:rPr lang="en-US" b="1" dirty="0"/>
              <a:t>N:</a:t>
            </a:r>
            <a:r>
              <a:rPr lang="en-US" dirty="0"/>
              <a:t> Total number of replicas</a:t>
            </a:r>
          </a:p>
          <a:p>
            <a:pPr marL="285750" indent="-285750">
              <a:buFont typeface="Courier New" panose="02070309020205020404" pitchFamily="49" charset="0"/>
              <a:buChar char="o"/>
            </a:pPr>
            <a:r>
              <a:rPr lang="en-US" b="1" dirty="0"/>
              <a:t>R:</a:t>
            </a:r>
            <a:r>
              <a:rPr lang="en-US" dirty="0"/>
              <a:t> Read quorum size (how many nodes must respond for read)</a:t>
            </a:r>
          </a:p>
          <a:p>
            <a:pPr marL="285750" indent="-285750">
              <a:buFont typeface="Courier New" panose="02070309020205020404" pitchFamily="49" charset="0"/>
              <a:buChar char="o"/>
            </a:pPr>
            <a:r>
              <a:rPr lang="en-US" b="1" dirty="0"/>
              <a:t>W:</a:t>
            </a:r>
            <a:r>
              <a:rPr lang="en-US" dirty="0"/>
              <a:t> Write quorum size (how many nodes must acknowledge write)</a:t>
            </a:r>
          </a:p>
          <a:p>
            <a:pPr marL="285750" indent="-285750">
              <a:buFont typeface="Courier New" panose="02070309020205020404" pitchFamily="49" charset="0"/>
              <a:buChar char="o"/>
            </a:pPr>
            <a:r>
              <a:rPr lang="en-US" b="1" dirty="0"/>
              <a:t>Q:</a:t>
            </a:r>
            <a:r>
              <a:rPr lang="en-US" dirty="0"/>
              <a:t> Quorum intersection property</a:t>
            </a:r>
          </a:p>
          <a:p>
            <a:pPr marL="285750" indent="-285750">
              <a:buFont typeface="Courier New" panose="02070309020205020404" pitchFamily="49" charset="0"/>
              <a:buChar char="o"/>
            </a:pPr>
            <a:endParaRPr lang="en-US" dirty="0"/>
          </a:p>
          <a:p>
            <a:r>
              <a:rPr lang="en-IN" dirty="0"/>
              <a:t>R + W &gt; N  (for strong consistency)</a:t>
            </a:r>
          </a:p>
          <a:p>
            <a:r>
              <a:rPr lang="pt-BR" b="1" dirty="0"/>
              <a:t>Majority Quorum (R=W=⌈(N+1)/2⌉): </a:t>
            </a:r>
            <a:r>
              <a:rPr lang="pt-BR" dirty="0"/>
              <a:t>Example: N=3 → R=2, W=2</a:t>
            </a:r>
          </a:p>
          <a:p>
            <a:endParaRPr lang="en-IN" dirty="0"/>
          </a:p>
          <a:p>
            <a:pPr marL="285750" indent="-285750">
              <a:buFont typeface="Courier New" panose="02070309020205020404" pitchFamily="49" charset="0"/>
              <a:buChar char="o"/>
            </a:pPr>
            <a:endParaRPr lang="en-US" dirty="0"/>
          </a:p>
        </p:txBody>
      </p:sp>
    </p:spTree>
    <p:extLst>
      <p:ext uri="{BB962C8B-B14F-4D97-AF65-F5344CB8AC3E}">
        <p14:creationId xmlns:p14="http://schemas.microsoft.com/office/powerpoint/2010/main" val="167147417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BDAA14-C4EB-1120-6490-2523F4D67A8C}"/>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5ADD4A4D-40A0-02E8-0886-7A1E6A1FC2D4}"/>
              </a:ext>
            </a:extLst>
          </p:cNvPr>
          <p:cNvSpPr txBox="1">
            <a:spLocks noGrp="1"/>
          </p:cNvSpPr>
          <p:nvPr>
            <p:ph type="title"/>
          </p:nvPr>
        </p:nvSpPr>
        <p:spPr>
          <a:prstGeom prst="rect">
            <a:avLst/>
          </a:prstGeom>
        </p:spPr>
        <p:txBody>
          <a:bodyPr vert="horz" wrap="square" lIns="0" tIns="17780" rIns="0" bIns="0" rtlCol="0">
            <a:spAutoFit/>
          </a:bodyPr>
          <a:lstStyle/>
          <a:p>
            <a:pPr marL="12700">
              <a:lnSpc>
                <a:spcPct val="100000"/>
              </a:lnSpc>
              <a:spcBef>
                <a:spcPts val="140"/>
              </a:spcBef>
            </a:pPr>
            <a:r>
              <a:rPr lang="en-IN" spc="-330" dirty="0"/>
              <a:t>Quorum Types</a:t>
            </a:r>
            <a:endParaRPr spc="-150" dirty="0"/>
          </a:p>
        </p:txBody>
      </p:sp>
      <p:sp>
        <p:nvSpPr>
          <p:cNvPr id="4" name="object 4">
            <a:extLst>
              <a:ext uri="{FF2B5EF4-FFF2-40B4-BE49-F238E27FC236}">
                <a16:creationId xmlns:a16="http://schemas.microsoft.com/office/drawing/2014/main" id="{015693C3-B3E6-4CFD-DA68-B43EFE692B37}"/>
              </a:ext>
            </a:extLst>
          </p:cNvPr>
          <p:cNvSpPr txBox="1"/>
          <p:nvPr/>
        </p:nvSpPr>
        <p:spPr>
          <a:xfrm>
            <a:off x="475248" y="1047750"/>
            <a:ext cx="8363952" cy="2782813"/>
          </a:xfrm>
          <a:prstGeom prst="rect">
            <a:avLst/>
          </a:prstGeom>
        </p:spPr>
        <p:txBody>
          <a:bodyPr vert="horz" wrap="square" lIns="0" tIns="12700" rIns="0" bIns="0" rtlCol="0">
            <a:spAutoFit/>
          </a:bodyPr>
          <a:lstStyle/>
          <a:p>
            <a:pPr marL="285750" indent="-285750">
              <a:buFont typeface="Wingdings" panose="05000000000000000000" pitchFamily="2" charset="2"/>
              <a:buChar char="v"/>
            </a:pPr>
            <a:r>
              <a:rPr lang="en-IN" b="1" dirty="0"/>
              <a:t>Simple Majority:</a:t>
            </a:r>
            <a:r>
              <a:rPr lang="en-IN" dirty="0"/>
              <a:t> ⌈(N+1)/2⌉</a:t>
            </a:r>
          </a:p>
          <a:p>
            <a:pPr marL="285750" indent="-285750">
              <a:buFont typeface="Wingdings" panose="05000000000000000000" pitchFamily="2" charset="2"/>
              <a:buChar char="v"/>
            </a:pPr>
            <a:r>
              <a:rPr lang="en-IN" b="1" dirty="0"/>
              <a:t>Weighted Quorum:</a:t>
            </a:r>
            <a:r>
              <a:rPr lang="en-IN" dirty="0"/>
              <a:t> Nodes have different weights/votes</a:t>
            </a:r>
          </a:p>
          <a:p>
            <a:pPr marL="285750" indent="-285750">
              <a:buFont typeface="Wingdings" panose="05000000000000000000" pitchFamily="2" charset="2"/>
              <a:buChar char="v"/>
            </a:pPr>
            <a:r>
              <a:rPr lang="en-IN" b="1" dirty="0"/>
              <a:t>Grid Quorum:</a:t>
            </a:r>
            <a:r>
              <a:rPr lang="en-IN" dirty="0"/>
              <a:t> Arrange nodes in grid, quorum = row + column</a:t>
            </a:r>
          </a:p>
          <a:p>
            <a:pPr marL="285750" indent="-285750">
              <a:buFont typeface="Wingdings" panose="05000000000000000000" pitchFamily="2" charset="2"/>
              <a:buChar char="v"/>
            </a:pPr>
            <a:r>
              <a:rPr lang="en-IN" b="1" dirty="0"/>
              <a:t>Hierarchical Quorum:</a:t>
            </a:r>
            <a:r>
              <a:rPr lang="en-IN" dirty="0"/>
              <a:t> Tree structure, quorum at each level</a:t>
            </a:r>
          </a:p>
          <a:p>
            <a:endParaRPr lang="en-IN" b="1" dirty="0"/>
          </a:p>
          <a:p>
            <a:r>
              <a:rPr lang="en-IN" b="1" dirty="0"/>
              <a:t>Use Cases:</a:t>
            </a:r>
            <a:endParaRPr lang="en-IN" dirty="0"/>
          </a:p>
          <a:p>
            <a:pPr marL="285750" indent="-285750">
              <a:buFont typeface="Courier New" panose="02070309020205020404" pitchFamily="49" charset="0"/>
              <a:buChar char="o"/>
            </a:pPr>
            <a:r>
              <a:rPr lang="en-IN" dirty="0"/>
              <a:t>Distributed Databases</a:t>
            </a:r>
          </a:p>
          <a:p>
            <a:pPr marL="285750" indent="-285750">
              <a:buFont typeface="Courier New" panose="02070309020205020404" pitchFamily="49" charset="0"/>
              <a:buChar char="o"/>
            </a:pPr>
            <a:r>
              <a:rPr lang="en-IN" dirty="0"/>
              <a:t>Distributed Locks</a:t>
            </a:r>
          </a:p>
          <a:p>
            <a:pPr marL="285750" indent="-285750">
              <a:buFont typeface="Courier New" panose="02070309020205020404" pitchFamily="49" charset="0"/>
              <a:buChar char="o"/>
            </a:pPr>
            <a:r>
              <a:rPr lang="en-IN" dirty="0"/>
              <a:t>Consensus Protocols</a:t>
            </a:r>
          </a:p>
          <a:p>
            <a:pPr marL="285750" indent="-285750">
              <a:buFont typeface="Courier New" panose="02070309020205020404" pitchFamily="49" charset="0"/>
              <a:buChar char="o"/>
            </a:pPr>
            <a:r>
              <a:rPr lang="en-IN" dirty="0"/>
              <a:t>Atomic Registers</a:t>
            </a:r>
          </a:p>
        </p:txBody>
      </p:sp>
    </p:spTree>
    <p:extLst>
      <p:ext uri="{BB962C8B-B14F-4D97-AF65-F5344CB8AC3E}">
        <p14:creationId xmlns:p14="http://schemas.microsoft.com/office/powerpoint/2010/main" val="334126996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488</TotalTime>
  <Words>7074</Words>
  <Application>Microsoft Office PowerPoint</Application>
  <PresentationFormat>On-screen Show (16:9)</PresentationFormat>
  <Paragraphs>493</Paragraphs>
  <Slides>22</Slides>
  <Notes>21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Arial</vt:lpstr>
      <vt:lpstr>Calibri</vt:lpstr>
      <vt:lpstr>Courier New</vt:lpstr>
      <vt:lpstr>quote-cjk-patch</vt:lpstr>
      <vt:lpstr>Wingdings</vt:lpstr>
      <vt:lpstr>Office Theme</vt:lpstr>
      <vt:lpstr>Mastering Distributed System Design</vt:lpstr>
      <vt:lpstr>What This Section Covers</vt:lpstr>
      <vt:lpstr>The CAP Theorem</vt:lpstr>
      <vt:lpstr>CAP Theorem in Practice</vt:lpstr>
      <vt:lpstr>PACELC Theorem</vt:lpstr>
      <vt:lpstr>FLP Theorem</vt:lpstr>
      <vt:lpstr>ACID Properties</vt:lpstr>
      <vt:lpstr>BASE Properties</vt:lpstr>
      <vt:lpstr>The Consensus Problem</vt:lpstr>
      <vt:lpstr>Paxos Algorithm</vt:lpstr>
      <vt:lpstr>Raft Algorithm</vt:lpstr>
      <vt:lpstr>Paxos vs Raft</vt:lpstr>
      <vt:lpstr>Gossip Protocol</vt:lpstr>
      <vt:lpstr>Write-Ahead Log (WAL)</vt:lpstr>
      <vt:lpstr>Consistent Hashing</vt:lpstr>
      <vt:lpstr>Bloom Filters</vt:lpstr>
      <vt:lpstr>HyperLogLog (HLL)</vt:lpstr>
      <vt:lpstr>Count-Min Sketch</vt:lpstr>
      <vt:lpstr>Checksums &amp; CRCs</vt:lpstr>
      <vt:lpstr>Vector Clocks</vt:lpstr>
      <vt:lpstr>Quorum Systems</vt:lpstr>
      <vt:lpstr>Quorum Types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System Design - Section 22</dc:title>
  <cp:lastModifiedBy>vikash chauhan</cp:lastModifiedBy>
  <cp:revision>338</cp:revision>
  <dcterms:created xsi:type="dcterms:W3CDTF">2026-01-01T13:02:46Z</dcterms:created>
  <dcterms:modified xsi:type="dcterms:W3CDTF">2026-01-03T13:09:34Z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2026-01-01T00:00:00Z</vt:filetime>
  </property>
  <property fmtid="{D5CDD505-2E9C-101B-9397-08002B2CF9AE}" pid="3" name="Creator">
    <vt:lpwstr>Google</vt:lpwstr>
  </property>
  <property fmtid="{D5CDD505-2E9C-101B-9397-08002B2CF9AE}" pid="4" name="LastSaved">
    <vt:filetime>2026-01-01T00:00:00Z</vt:filetime>
  </property>
  <property fmtid="{D5CDD505-2E9C-101B-9397-08002B2CF9AE}" pid="5" name="Producer">
    <vt:lpwstr>3-Heights(TM) PDF Security Shell 4.8.25.2 (http://www.pdf-tools.com)</vt:lpwstr>
  </property>
</Properties>
</file>