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69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9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689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81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97799"/>
                </a:lnTo>
                <a:close/>
              </a:path>
            </a:pathLst>
          </a:custGeom>
          <a:solidFill>
            <a:srgbClr val="4DB6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4" y="501589"/>
            <a:ext cx="8000365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0600" y="1247997"/>
            <a:ext cx="5864859" cy="3291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69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007711" y="3176893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 h="0">
                <a:moveTo>
                  <a:pt x="0" y="0"/>
                </a:moveTo>
                <a:lnTo>
                  <a:pt x="562198" y="0"/>
                </a:lnTo>
              </a:path>
            </a:pathLst>
          </a:custGeom>
          <a:ln w="76199">
            <a:solidFill>
              <a:srgbClr val="B3A7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75031" y="3158243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98" y="0"/>
                </a:lnTo>
              </a:path>
            </a:pathLst>
          </a:custGeom>
          <a:ln w="76199">
            <a:solidFill>
              <a:srgbClr val="B3A7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004142" y="1022022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40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04142" y="1174422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40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04148" y="4121491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0" y="0"/>
                </a:lnTo>
              </a:path>
            </a:pathLst>
          </a:custGeom>
          <a:ln w="76199">
            <a:solidFill>
              <a:srgbClr val="4DB6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04148" y="3969091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0" y="0"/>
                </a:lnTo>
              </a:path>
            </a:pathLst>
          </a:custGeom>
          <a:ln w="9524">
            <a:solidFill>
              <a:srgbClr val="4DB6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77547" y="1572764"/>
            <a:ext cx="4991100" cy="6902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350" spc="-330"/>
              <a:t>Mastering</a:t>
            </a:r>
            <a:r>
              <a:rPr dirty="0" sz="4350" spc="-80"/>
              <a:t> </a:t>
            </a:r>
            <a:r>
              <a:rPr dirty="0" sz="4350" spc="-330"/>
              <a:t>System</a:t>
            </a:r>
            <a:r>
              <a:rPr dirty="0" sz="4350" spc="-65"/>
              <a:t> </a:t>
            </a:r>
            <a:r>
              <a:rPr dirty="0" sz="4350" spc="-275"/>
              <a:t>Design</a:t>
            </a:r>
            <a:endParaRPr sz="4350"/>
          </a:p>
        </p:txBody>
      </p:sp>
      <p:sp>
        <p:nvSpPr>
          <p:cNvPr id="9" name="object 9" descr=""/>
          <p:cNvSpPr txBox="1"/>
          <p:nvPr/>
        </p:nvSpPr>
        <p:spPr>
          <a:xfrm>
            <a:off x="3110407" y="2382819"/>
            <a:ext cx="2924810" cy="919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1850" spc="-170" b="1">
                <a:solidFill>
                  <a:srgbClr val="EF6B00"/>
                </a:solidFill>
                <a:latin typeface="Calibri"/>
                <a:cs typeface="Calibri"/>
              </a:rPr>
              <a:t>From</a:t>
            </a:r>
            <a:r>
              <a:rPr dirty="0" sz="1850" spc="-15" b="1">
                <a:solidFill>
                  <a:srgbClr val="EF6B00"/>
                </a:solidFill>
                <a:latin typeface="Calibri"/>
                <a:cs typeface="Calibri"/>
              </a:rPr>
              <a:t> </a:t>
            </a:r>
            <a:r>
              <a:rPr dirty="0" sz="1850" spc="-110" b="1">
                <a:solidFill>
                  <a:srgbClr val="EF6B00"/>
                </a:solidFill>
                <a:latin typeface="Calibri"/>
                <a:cs typeface="Calibri"/>
              </a:rPr>
              <a:t>Basics</a:t>
            </a:r>
            <a:r>
              <a:rPr dirty="0" sz="1850" spc="-15" b="1">
                <a:solidFill>
                  <a:srgbClr val="EF6B00"/>
                </a:solidFill>
                <a:latin typeface="Calibri"/>
                <a:cs typeface="Calibri"/>
              </a:rPr>
              <a:t> </a:t>
            </a:r>
            <a:r>
              <a:rPr dirty="0" sz="1850" spc="-145" b="1">
                <a:solidFill>
                  <a:srgbClr val="EF6B00"/>
                </a:solidFill>
                <a:latin typeface="Calibri"/>
                <a:cs typeface="Calibri"/>
              </a:rPr>
              <a:t>to</a:t>
            </a:r>
            <a:r>
              <a:rPr dirty="0" sz="1850" spc="-35" b="1">
                <a:solidFill>
                  <a:srgbClr val="EF6B00"/>
                </a:solidFill>
                <a:latin typeface="Calibri"/>
                <a:cs typeface="Calibri"/>
              </a:rPr>
              <a:t> </a:t>
            </a:r>
            <a:r>
              <a:rPr dirty="0" sz="1850" spc="-114" b="1">
                <a:solidFill>
                  <a:srgbClr val="EF6B00"/>
                </a:solidFill>
                <a:latin typeface="Calibri"/>
                <a:cs typeface="Calibri"/>
              </a:rPr>
              <a:t>Cracking</a:t>
            </a:r>
            <a:r>
              <a:rPr dirty="0" sz="1850" spc="-10" b="1">
                <a:solidFill>
                  <a:srgbClr val="EF6B00"/>
                </a:solidFill>
                <a:latin typeface="Calibri"/>
                <a:cs typeface="Calibri"/>
              </a:rPr>
              <a:t> </a:t>
            </a:r>
            <a:r>
              <a:rPr dirty="0" sz="1850" spc="-105" b="1">
                <a:solidFill>
                  <a:srgbClr val="EF6B00"/>
                </a:solidFill>
                <a:latin typeface="Calibri"/>
                <a:cs typeface="Calibri"/>
              </a:rPr>
              <a:t>Interviews</a:t>
            </a:r>
            <a:endParaRPr sz="18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925"/>
              </a:spcBef>
            </a:pPr>
            <a:r>
              <a:rPr dirty="0" sz="2400">
                <a:solidFill>
                  <a:srgbClr val="695D46"/>
                </a:solidFill>
                <a:latin typeface="Arial"/>
                <a:cs typeface="Arial"/>
              </a:rPr>
              <a:t>Rahul</a:t>
            </a:r>
            <a:r>
              <a:rPr dirty="0" sz="2400" spc="-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695D46"/>
                </a:solidFill>
                <a:latin typeface="Arial"/>
                <a:cs typeface="Arial"/>
              </a:rPr>
              <a:t>Rajat</a:t>
            </a:r>
            <a:r>
              <a:rPr dirty="0" sz="2400" spc="-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695D46"/>
                </a:solidFill>
                <a:latin typeface="Arial"/>
                <a:cs typeface="Arial"/>
              </a:rPr>
              <a:t>Singh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60"/>
              <a:t> </a:t>
            </a:r>
            <a:r>
              <a:rPr dirty="0" spc="-90"/>
              <a:t>is</a:t>
            </a:r>
            <a:r>
              <a:rPr dirty="0" spc="-55"/>
              <a:t> </a:t>
            </a:r>
            <a:r>
              <a:rPr dirty="0" spc="-229"/>
              <a:t>System</a:t>
            </a:r>
            <a:r>
              <a:rPr dirty="0" spc="-55"/>
              <a:t> </a:t>
            </a:r>
            <a:r>
              <a:rPr dirty="0" spc="-165"/>
              <a:t>Design?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6451" y="1206844"/>
            <a:ext cx="4005579" cy="293116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368935" marR="205740" indent="-356870">
              <a:lnSpc>
                <a:spcPts val="1900"/>
              </a:lnSpc>
              <a:spcBef>
                <a:spcPts val="244"/>
              </a:spcBef>
              <a:buChar char="●"/>
              <a:tabLst>
                <a:tab pos="368935" algn="l"/>
              </a:tabLst>
            </a:pP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System</a:t>
            </a:r>
            <a:r>
              <a:rPr dirty="0" sz="165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Design</a:t>
            </a:r>
            <a:r>
              <a:rPr dirty="0" sz="165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is</a:t>
            </a:r>
            <a:r>
              <a:rPr dirty="0" sz="165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95D46"/>
                </a:solidFill>
                <a:latin typeface="Arial"/>
                <a:cs typeface="Arial"/>
              </a:rPr>
              <a:t>the</a:t>
            </a:r>
            <a:r>
              <a:rPr dirty="0" sz="165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process</a:t>
            </a:r>
            <a:r>
              <a:rPr dirty="0" sz="1650" spc="55">
                <a:solidFill>
                  <a:srgbClr val="695D46"/>
                </a:solidFill>
                <a:latin typeface="Arial"/>
                <a:cs typeface="Arial"/>
              </a:rPr>
              <a:t> of </a:t>
            </a:r>
            <a:r>
              <a:rPr dirty="0" sz="1650" spc="60">
                <a:solidFill>
                  <a:srgbClr val="695D46"/>
                </a:solidFill>
                <a:latin typeface="Arial"/>
                <a:cs typeface="Arial"/>
              </a:rPr>
              <a:t>defining</a:t>
            </a:r>
            <a:r>
              <a:rPr dirty="0" sz="1650" spc="-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95D46"/>
                </a:solidFill>
                <a:latin typeface="Arial"/>
                <a:cs typeface="Arial"/>
              </a:rPr>
              <a:t>the</a:t>
            </a:r>
            <a:r>
              <a:rPr dirty="0" sz="1650" spc="-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95D46"/>
                </a:solidFill>
                <a:latin typeface="Arial"/>
                <a:cs typeface="Arial"/>
              </a:rPr>
              <a:t>architecture, </a:t>
            </a:r>
            <a:r>
              <a:rPr dirty="0" sz="1650" spc="55">
                <a:solidFill>
                  <a:srgbClr val="695D46"/>
                </a:solidFill>
                <a:latin typeface="Arial"/>
                <a:cs typeface="Arial"/>
              </a:rPr>
              <a:t>components,</a:t>
            </a:r>
            <a:r>
              <a:rPr dirty="0" sz="1650" spc="-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95D46"/>
                </a:solidFill>
                <a:latin typeface="Arial"/>
                <a:cs typeface="Arial"/>
              </a:rPr>
              <a:t>modules,</a:t>
            </a:r>
            <a:r>
              <a:rPr dirty="0" sz="1650" spc="-10">
                <a:solidFill>
                  <a:srgbClr val="695D46"/>
                </a:solidFill>
                <a:latin typeface="Arial"/>
                <a:cs typeface="Arial"/>
              </a:rPr>
              <a:t> interfaces, </a:t>
            </a:r>
            <a:r>
              <a:rPr dirty="0" sz="1650" spc="6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65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95D46"/>
                </a:solidFill>
                <a:latin typeface="Arial"/>
                <a:cs typeface="Arial"/>
              </a:rPr>
              <a:t>data</a:t>
            </a:r>
            <a:r>
              <a:rPr dirty="0" sz="165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95D46"/>
                </a:solidFill>
                <a:latin typeface="Arial"/>
                <a:cs typeface="Arial"/>
              </a:rPr>
              <a:t>flow</a:t>
            </a:r>
            <a:r>
              <a:rPr dirty="0" sz="165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9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65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a</a:t>
            </a:r>
            <a:r>
              <a:rPr dirty="0" sz="165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system</a:t>
            </a:r>
            <a:r>
              <a:rPr dirty="0" sz="165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105">
                <a:solidFill>
                  <a:srgbClr val="695D46"/>
                </a:solidFill>
                <a:latin typeface="Arial"/>
                <a:cs typeface="Arial"/>
              </a:rPr>
              <a:t>to</a:t>
            </a:r>
            <a:r>
              <a:rPr dirty="0" sz="165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95D46"/>
                </a:solidFill>
                <a:latin typeface="Arial"/>
                <a:cs typeface="Arial"/>
              </a:rPr>
              <a:t>meet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specific</a:t>
            </a:r>
            <a:r>
              <a:rPr dirty="0" sz="1650" spc="1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95D46"/>
                </a:solidFill>
                <a:latin typeface="Arial"/>
                <a:cs typeface="Arial"/>
              </a:rPr>
              <a:t>requirements.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00"/>
              </a:lnSpc>
              <a:buChar char="●"/>
              <a:tabLst>
                <a:tab pos="368300" algn="l"/>
              </a:tabLst>
            </a:pPr>
            <a:r>
              <a:rPr dirty="0" sz="1650" spc="60">
                <a:solidFill>
                  <a:srgbClr val="695D46"/>
                </a:solidFill>
                <a:latin typeface="Arial"/>
                <a:cs typeface="Arial"/>
              </a:rPr>
              <a:t>It</a:t>
            </a:r>
            <a:r>
              <a:rPr dirty="0" sz="165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involves</a:t>
            </a:r>
            <a:r>
              <a:rPr dirty="0" sz="165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95D46"/>
                </a:solidFill>
                <a:latin typeface="Arial"/>
                <a:cs typeface="Arial"/>
              </a:rPr>
              <a:t>making</a:t>
            </a:r>
            <a:r>
              <a:rPr dirty="0" sz="165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high-</a:t>
            </a:r>
            <a:r>
              <a:rPr dirty="0" sz="1650" spc="-10">
                <a:solidFill>
                  <a:srgbClr val="695D46"/>
                </a:solidFill>
                <a:latin typeface="Arial"/>
                <a:cs typeface="Arial"/>
              </a:rPr>
              <a:t>level</a:t>
            </a:r>
            <a:endParaRPr sz="1650">
              <a:latin typeface="Arial"/>
              <a:cs typeface="Arial"/>
            </a:endParaRPr>
          </a:p>
          <a:p>
            <a:pPr marL="368935" marR="5080">
              <a:lnSpc>
                <a:spcPts val="1900"/>
              </a:lnSpc>
              <a:spcBef>
                <a:spcPts val="90"/>
              </a:spcBef>
            </a:pP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decisions</a:t>
            </a:r>
            <a:r>
              <a:rPr dirty="0" sz="165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75">
                <a:solidFill>
                  <a:srgbClr val="695D46"/>
                </a:solidFill>
                <a:latin typeface="Arial"/>
                <a:cs typeface="Arial"/>
              </a:rPr>
              <a:t>about</a:t>
            </a:r>
            <a:r>
              <a:rPr dirty="0" sz="1650" spc="1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scalability,</a:t>
            </a:r>
            <a:r>
              <a:rPr dirty="0" sz="1650" spc="1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95D46"/>
                </a:solidFill>
                <a:latin typeface="Arial"/>
                <a:cs typeface="Arial"/>
              </a:rPr>
              <a:t>reliability, </a:t>
            </a:r>
            <a:r>
              <a:rPr dirty="0" sz="1650" spc="60">
                <a:solidFill>
                  <a:srgbClr val="695D46"/>
                </a:solidFill>
                <a:latin typeface="Arial"/>
                <a:cs typeface="Arial"/>
              </a:rPr>
              <a:t>performance,</a:t>
            </a:r>
            <a:r>
              <a:rPr dirty="0" sz="1650" spc="-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650" spc="-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95D46"/>
                </a:solidFill>
                <a:latin typeface="Arial"/>
                <a:cs typeface="Arial"/>
              </a:rPr>
              <a:t>maintainability.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05"/>
              </a:lnSpc>
              <a:buChar char="●"/>
              <a:tabLst>
                <a:tab pos="368300" algn="l"/>
              </a:tabLst>
            </a:pPr>
            <a:r>
              <a:rPr dirty="0" sz="1650" spc="10">
                <a:solidFill>
                  <a:srgbClr val="695D46"/>
                </a:solidFill>
                <a:latin typeface="Arial"/>
                <a:cs typeface="Arial"/>
              </a:rPr>
              <a:t>Used</a:t>
            </a:r>
            <a:r>
              <a:rPr dirty="0" sz="165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95D46"/>
                </a:solidFill>
                <a:latin typeface="Arial"/>
                <a:cs typeface="Arial"/>
              </a:rPr>
              <a:t>in</a:t>
            </a:r>
            <a:r>
              <a:rPr dirty="0" sz="165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95D46"/>
                </a:solidFill>
                <a:latin typeface="Arial"/>
                <a:cs typeface="Arial"/>
              </a:rPr>
              <a:t>real-</a:t>
            </a:r>
            <a:r>
              <a:rPr dirty="0" sz="1650" spc="65">
                <a:solidFill>
                  <a:srgbClr val="695D46"/>
                </a:solidFill>
                <a:latin typeface="Arial"/>
                <a:cs typeface="Arial"/>
              </a:rPr>
              <a:t>world</a:t>
            </a:r>
            <a:r>
              <a:rPr dirty="0" sz="165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95D46"/>
                </a:solidFill>
                <a:latin typeface="Arial"/>
                <a:cs typeface="Arial"/>
              </a:rPr>
              <a:t>applications</a:t>
            </a:r>
            <a:r>
              <a:rPr dirty="0" sz="165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695D46"/>
                </a:solidFill>
                <a:latin typeface="Arial"/>
                <a:cs typeface="Arial"/>
              </a:rPr>
              <a:t>like</a:t>
            </a:r>
            <a:endParaRPr sz="1650">
              <a:latin typeface="Arial"/>
              <a:cs typeface="Arial"/>
            </a:endParaRPr>
          </a:p>
          <a:p>
            <a:pPr marL="368935" marR="97155">
              <a:lnSpc>
                <a:spcPts val="1900"/>
              </a:lnSpc>
              <a:spcBef>
                <a:spcPts val="85"/>
              </a:spcBef>
            </a:pP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designing</a:t>
            </a:r>
            <a:r>
              <a:rPr dirty="0" sz="165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scalable</a:t>
            </a:r>
            <a:r>
              <a:rPr dirty="0" sz="165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95D46"/>
                </a:solidFill>
                <a:latin typeface="Arial"/>
                <a:cs typeface="Arial"/>
              </a:rPr>
              <a:t>web</a:t>
            </a:r>
            <a:r>
              <a:rPr dirty="0" sz="165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95D46"/>
                </a:solidFill>
                <a:latin typeface="Arial"/>
                <a:cs typeface="Arial"/>
              </a:rPr>
              <a:t>apps, </a:t>
            </a:r>
            <a:r>
              <a:rPr dirty="0" sz="1650" spc="75">
                <a:solidFill>
                  <a:srgbClr val="695D46"/>
                </a:solidFill>
                <a:latin typeface="Arial"/>
                <a:cs typeface="Arial"/>
              </a:rPr>
              <a:t>distributed</a:t>
            </a:r>
            <a:r>
              <a:rPr dirty="0" sz="165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systems,</a:t>
            </a:r>
            <a:r>
              <a:rPr dirty="0" sz="165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95D46"/>
                </a:solidFill>
                <a:latin typeface="Arial"/>
                <a:cs typeface="Arial"/>
              </a:rPr>
              <a:t>databases,</a:t>
            </a:r>
            <a:r>
              <a:rPr dirty="0" sz="165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95D46"/>
                </a:solidFill>
                <a:latin typeface="Arial"/>
                <a:cs typeface="Arial"/>
              </a:rPr>
              <a:t>and </a:t>
            </a:r>
            <a:r>
              <a:rPr dirty="0" sz="1650" spc="55">
                <a:solidFill>
                  <a:srgbClr val="695D46"/>
                </a:solidFill>
                <a:latin typeface="Arial"/>
                <a:cs typeface="Arial"/>
              </a:rPr>
              <a:t>cloud</a:t>
            </a:r>
            <a:r>
              <a:rPr dirty="0" sz="1650" spc="-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95D46"/>
                </a:solidFill>
                <a:latin typeface="Arial"/>
                <a:cs typeface="Arial"/>
              </a:rPr>
              <a:t>infrastructures.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7665" y="1304822"/>
            <a:ext cx="4031516" cy="25534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70"/>
              <a:t>Why</a:t>
            </a:r>
            <a:r>
              <a:rPr dirty="0" spc="-150"/>
              <a:t> </a:t>
            </a:r>
            <a:r>
              <a:rPr dirty="0" spc="-90"/>
              <a:t>is</a:t>
            </a:r>
            <a:r>
              <a:rPr dirty="0" spc="-45"/>
              <a:t> </a:t>
            </a:r>
            <a:r>
              <a:rPr dirty="0" spc="-229"/>
              <a:t>System</a:t>
            </a:r>
            <a:r>
              <a:rPr dirty="0" spc="-45"/>
              <a:t> </a:t>
            </a:r>
            <a:r>
              <a:rPr dirty="0" spc="-185"/>
              <a:t>Design</a:t>
            </a:r>
            <a:r>
              <a:rPr dirty="0" spc="-50"/>
              <a:t> </a:t>
            </a:r>
            <a:r>
              <a:rPr dirty="0" spc="-215"/>
              <a:t>Important?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4" y="1296603"/>
            <a:ext cx="8329295" cy="283146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69265" indent="-345440">
              <a:lnSpc>
                <a:spcPct val="100000"/>
              </a:lnSpc>
              <a:spcBef>
                <a:spcPts val="405"/>
              </a:spcBef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Scalability</a:t>
            </a:r>
            <a:r>
              <a:rPr dirty="0" sz="15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95D46"/>
                </a:solidFill>
                <a:latin typeface="Arial"/>
                <a:cs typeface="Arial"/>
              </a:rPr>
              <a:t>&amp;</a:t>
            </a:r>
            <a:r>
              <a:rPr dirty="0" sz="15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Reliability</a:t>
            </a:r>
            <a:r>
              <a:rPr dirty="0" sz="15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5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Ensures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systems</a:t>
            </a:r>
            <a:r>
              <a:rPr dirty="0" sz="1500" spc="55">
                <a:solidFill>
                  <a:srgbClr val="695D46"/>
                </a:solidFill>
                <a:latin typeface="Arial"/>
                <a:cs typeface="Arial"/>
              </a:rPr>
              <a:t> handle millions </a:t>
            </a:r>
            <a:r>
              <a:rPr dirty="0" sz="1500" spc="85">
                <a:solidFill>
                  <a:srgbClr val="695D46"/>
                </a:solidFill>
                <a:latin typeface="Arial"/>
                <a:cs typeface="Arial"/>
              </a:rPr>
              <a:t>of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users</a:t>
            </a:r>
            <a:r>
              <a:rPr dirty="0" sz="15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90">
                <a:solidFill>
                  <a:srgbClr val="695D46"/>
                </a:solidFill>
                <a:latin typeface="Arial"/>
                <a:cs typeface="Arial"/>
              </a:rPr>
              <a:t>without</a:t>
            </a:r>
            <a:r>
              <a:rPr dirty="0" sz="15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failure.</a:t>
            </a:r>
            <a:endParaRPr sz="1500">
              <a:latin typeface="Arial"/>
              <a:cs typeface="Arial"/>
            </a:endParaRPr>
          </a:p>
          <a:p>
            <a:pPr marL="469265" marR="5080" indent="-346075">
              <a:lnSpc>
                <a:spcPct val="117300"/>
              </a:lnSpc>
              <a:buChar char="●"/>
              <a:tabLst>
                <a:tab pos="469265" algn="l"/>
              </a:tabLst>
            </a:pP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Architectural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Thinking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5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Goes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beyond</a:t>
            </a:r>
            <a:r>
              <a:rPr dirty="0" sz="15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coding;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involves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trade-</a:t>
            </a:r>
            <a:r>
              <a:rPr dirty="0" sz="1500" spc="55">
                <a:solidFill>
                  <a:srgbClr val="695D46"/>
                </a:solidFill>
                <a:latin typeface="Arial"/>
                <a:cs typeface="Arial"/>
              </a:rPr>
              <a:t>offs</a:t>
            </a:r>
            <a:r>
              <a:rPr dirty="0" sz="15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like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-95">
                <a:solidFill>
                  <a:srgbClr val="695D46"/>
                </a:solidFill>
                <a:latin typeface="Arial"/>
                <a:cs typeface="Arial"/>
              </a:rPr>
              <a:t>CAP</a:t>
            </a:r>
            <a:r>
              <a:rPr dirty="0" sz="15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theorem, </a:t>
            </a:r>
            <a:r>
              <a:rPr dirty="0" sz="1500" spc="-25">
                <a:solidFill>
                  <a:srgbClr val="695D46"/>
                </a:solidFill>
                <a:latin typeface="Arial"/>
                <a:cs typeface="Arial"/>
              </a:rPr>
              <a:t>SQL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vs.</a:t>
            </a:r>
            <a:r>
              <a:rPr dirty="0" sz="1500" spc="-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NoSQL.</a:t>
            </a:r>
            <a:endParaRPr sz="1500">
              <a:latin typeface="Arial"/>
              <a:cs typeface="Arial"/>
            </a:endParaRPr>
          </a:p>
          <a:p>
            <a:pPr marL="469265" indent="-345440">
              <a:lnSpc>
                <a:spcPct val="100000"/>
              </a:lnSpc>
              <a:spcBef>
                <a:spcPts val="310"/>
              </a:spcBef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Career</a:t>
            </a:r>
            <a:r>
              <a:rPr dirty="0" sz="15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75">
                <a:solidFill>
                  <a:srgbClr val="695D46"/>
                </a:solidFill>
                <a:latin typeface="Arial"/>
                <a:cs typeface="Arial"/>
              </a:rPr>
              <a:t>Growth</a:t>
            </a:r>
            <a:r>
              <a:rPr dirty="0" sz="15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5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Essential</a:t>
            </a:r>
            <a:r>
              <a:rPr dirty="0" sz="15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9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5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becoming</a:t>
            </a:r>
            <a:r>
              <a:rPr dirty="0" sz="15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a</a:t>
            </a:r>
            <a:r>
              <a:rPr dirty="0" sz="15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senior</a:t>
            </a:r>
            <a:r>
              <a:rPr dirty="0" sz="15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engineer</a:t>
            </a:r>
            <a:r>
              <a:rPr dirty="0" sz="15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95">
                <a:solidFill>
                  <a:srgbClr val="695D46"/>
                </a:solidFill>
                <a:latin typeface="Arial"/>
                <a:cs typeface="Arial"/>
              </a:rPr>
              <a:t>or</a:t>
            </a:r>
            <a:r>
              <a:rPr dirty="0" sz="15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architect.</a:t>
            </a:r>
            <a:endParaRPr sz="1500">
              <a:latin typeface="Arial"/>
              <a:cs typeface="Arial"/>
            </a:endParaRPr>
          </a:p>
          <a:p>
            <a:pPr marL="469265" marR="716915" indent="-346075">
              <a:lnSpc>
                <a:spcPct val="117300"/>
              </a:lnSpc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Real-World</a:t>
            </a:r>
            <a:r>
              <a:rPr dirty="0" sz="15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95D46"/>
                </a:solidFill>
                <a:latin typeface="Arial"/>
                <a:cs typeface="Arial"/>
              </a:rPr>
              <a:t>Problem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Solving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Helps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in</a:t>
            </a:r>
            <a:r>
              <a:rPr dirty="0" sz="15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building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actual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systems,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100">
                <a:solidFill>
                  <a:srgbClr val="695D46"/>
                </a:solidFill>
                <a:latin typeface="Arial"/>
                <a:cs typeface="Arial"/>
              </a:rPr>
              <a:t>not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just</a:t>
            </a:r>
            <a:r>
              <a:rPr dirty="0" sz="15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clearing interviews.</a:t>
            </a:r>
            <a:endParaRPr sz="1500">
              <a:latin typeface="Arial"/>
              <a:cs typeface="Arial"/>
            </a:endParaRPr>
          </a:p>
          <a:p>
            <a:pPr marL="469265" indent="-345440">
              <a:lnSpc>
                <a:spcPct val="100000"/>
              </a:lnSpc>
              <a:spcBef>
                <a:spcPts val="310"/>
              </a:spcBef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Trade-Offs</a:t>
            </a:r>
            <a:r>
              <a:rPr dirty="0" sz="1500" spc="110">
                <a:solidFill>
                  <a:srgbClr val="695D46"/>
                </a:solidFill>
                <a:latin typeface="Arial"/>
                <a:cs typeface="Arial"/>
              </a:rPr>
              <a:t> &amp;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Decision</a:t>
            </a:r>
            <a:r>
              <a:rPr dirty="0" sz="15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Making</a:t>
            </a:r>
            <a:r>
              <a:rPr dirty="0" sz="15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5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Balances</a:t>
            </a:r>
            <a:r>
              <a:rPr dirty="0" sz="15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scalability,</a:t>
            </a:r>
            <a:r>
              <a:rPr dirty="0" sz="15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cost,</a:t>
            </a:r>
            <a:r>
              <a:rPr dirty="0" sz="15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speed,</a:t>
            </a:r>
            <a:r>
              <a:rPr dirty="0" sz="15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5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complexity.</a:t>
            </a:r>
            <a:endParaRPr sz="1500">
              <a:latin typeface="Arial"/>
              <a:cs typeface="Arial"/>
            </a:endParaRPr>
          </a:p>
          <a:p>
            <a:pPr marL="469265" indent="-34544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Future-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Proofing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Prevents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95D46"/>
                </a:solidFill>
                <a:latin typeface="Arial"/>
                <a:cs typeface="Arial"/>
              </a:rPr>
              <a:t>bottlenecks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 and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95D46"/>
                </a:solidFill>
                <a:latin typeface="Arial"/>
                <a:cs typeface="Arial"/>
              </a:rPr>
              <a:t>allows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95D46"/>
                </a:solidFill>
                <a:latin typeface="Arial"/>
                <a:cs typeface="Arial"/>
              </a:rPr>
              <a:t>smooth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95D46"/>
                </a:solidFill>
                <a:latin typeface="Arial"/>
                <a:cs typeface="Arial"/>
              </a:rPr>
              <a:t>evolution </a:t>
            </a:r>
            <a:r>
              <a:rPr dirty="0" sz="1500" spc="85">
                <a:solidFill>
                  <a:srgbClr val="695D46"/>
                </a:solidFill>
                <a:latin typeface="Arial"/>
                <a:cs typeface="Arial"/>
              </a:rPr>
              <a:t>of</a:t>
            </a:r>
            <a:r>
              <a:rPr dirty="0" sz="15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95D46"/>
                </a:solidFill>
                <a:latin typeface="Arial"/>
                <a:cs typeface="Arial"/>
              </a:rPr>
              <a:t>software.</a:t>
            </a:r>
            <a:endParaRPr sz="1500">
              <a:latin typeface="Arial"/>
              <a:cs typeface="Arial"/>
            </a:endParaRPr>
          </a:p>
          <a:p>
            <a:pPr marL="12700" marR="41275">
              <a:lnSpc>
                <a:spcPct val="119500"/>
              </a:lnSpc>
              <a:spcBef>
                <a:spcPts val="1330"/>
              </a:spcBef>
            </a:pPr>
            <a:r>
              <a:rPr dirty="0" sz="900" spc="-20">
                <a:solidFill>
                  <a:srgbClr val="695D46"/>
                </a:solidFill>
                <a:latin typeface="Arial Black"/>
                <a:cs typeface="Arial Black"/>
              </a:rPr>
              <a:t>Note</a:t>
            </a:r>
            <a:r>
              <a:rPr dirty="0" sz="900" spc="-20">
                <a:solidFill>
                  <a:srgbClr val="695D46"/>
                </a:solidFill>
                <a:latin typeface="Arial"/>
                <a:cs typeface="Arial"/>
              </a:rPr>
              <a:t>:</a:t>
            </a:r>
            <a:r>
              <a:rPr dirty="0" sz="9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Many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learners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approach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system</a:t>
            </a:r>
            <a:r>
              <a:rPr dirty="0" sz="9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design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just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65">
                <a:solidFill>
                  <a:srgbClr val="695D46"/>
                </a:solidFill>
                <a:latin typeface="Arial"/>
                <a:cs typeface="Arial"/>
              </a:rPr>
              <a:t>to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crack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interviews,</a:t>
            </a:r>
            <a:r>
              <a:rPr dirty="0" sz="9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70">
                <a:solidFill>
                  <a:srgbClr val="695D46"/>
                </a:solidFill>
                <a:latin typeface="Arial"/>
                <a:cs typeface="Arial"/>
              </a:rPr>
              <a:t>but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50">
                <a:solidFill>
                  <a:srgbClr val="695D46"/>
                </a:solidFill>
                <a:latin typeface="Arial"/>
                <a:cs typeface="Arial"/>
              </a:rPr>
              <a:t>in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reality,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understanding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system</a:t>
            </a:r>
            <a:r>
              <a:rPr dirty="0" sz="9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design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is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a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critical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skill</a:t>
            </a:r>
            <a:r>
              <a:rPr dirty="0" sz="900" spc="1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60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95D46"/>
                </a:solidFill>
                <a:latin typeface="Arial"/>
                <a:cs typeface="Arial"/>
              </a:rPr>
              <a:t>building</a:t>
            </a:r>
            <a:r>
              <a:rPr dirty="0" sz="900" spc="1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695D46"/>
                </a:solidFill>
                <a:latin typeface="Arial"/>
                <a:cs typeface="Arial"/>
              </a:rPr>
              <a:t>scalable,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reliable,</a:t>
            </a:r>
            <a:r>
              <a:rPr dirty="0" sz="9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5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efficient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software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695D46"/>
                </a:solidFill>
                <a:latin typeface="Arial"/>
                <a:cs typeface="Arial"/>
              </a:rPr>
              <a:t>systems.</a:t>
            </a:r>
            <a:r>
              <a:rPr dirty="0" sz="9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If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you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deeply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understand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system</a:t>
            </a:r>
            <a:r>
              <a:rPr dirty="0" sz="9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design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principles,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interviews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will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naturally</a:t>
            </a:r>
            <a:r>
              <a:rPr dirty="0" sz="9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become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easier—but</a:t>
            </a:r>
            <a:r>
              <a:rPr dirty="0" sz="9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40">
                <a:solidFill>
                  <a:srgbClr val="695D46"/>
                </a:solidFill>
                <a:latin typeface="Arial"/>
                <a:cs typeface="Arial"/>
              </a:rPr>
              <a:t>more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importantly,</a:t>
            </a:r>
            <a:r>
              <a:rPr dirty="0" sz="9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you'll</a:t>
            </a:r>
            <a:r>
              <a:rPr dirty="0" sz="9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be</a:t>
            </a:r>
            <a:r>
              <a:rPr dirty="0" sz="9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able</a:t>
            </a:r>
            <a:r>
              <a:rPr dirty="0" sz="900" spc="65">
                <a:solidFill>
                  <a:srgbClr val="695D46"/>
                </a:solidFill>
                <a:latin typeface="Arial"/>
                <a:cs typeface="Arial"/>
              </a:rPr>
              <a:t> to</a:t>
            </a:r>
            <a:r>
              <a:rPr dirty="0" sz="9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architect</a:t>
            </a:r>
            <a:r>
              <a:rPr dirty="0" sz="9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real-world</a:t>
            </a:r>
            <a:r>
              <a:rPr dirty="0" sz="9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695D46"/>
                </a:solidFill>
                <a:latin typeface="Arial"/>
                <a:cs typeface="Arial"/>
              </a:rPr>
              <a:t>solutions</a:t>
            </a:r>
            <a:r>
              <a:rPr dirty="0" sz="9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695D46"/>
                </a:solidFill>
                <a:latin typeface="Arial"/>
                <a:cs typeface="Arial"/>
              </a:rPr>
              <a:t>effectively.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90"/>
              <a:t>The</a:t>
            </a:r>
            <a:r>
              <a:rPr dirty="0" spc="-35"/>
              <a:t> </a:t>
            </a:r>
            <a:r>
              <a:rPr dirty="0" spc="-204"/>
              <a:t>Evolution</a:t>
            </a:r>
            <a:r>
              <a:rPr dirty="0" spc="-30"/>
              <a:t> </a:t>
            </a:r>
            <a:r>
              <a:rPr dirty="0" spc="-250"/>
              <a:t>of</a:t>
            </a:r>
            <a:r>
              <a:rPr dirty="0" spc="-30"/>
              <a:t> </a:t>
            </a:r>
            <a:r>
              <a:rPr dirty="0" spc="-229"/>
              <a:t>System</a:t>
            </a:r>
            <a:r>
              <a:rPr dirty="0" spc="-30"/>
              <a:t> </a:t>
            </a:r>
            <a:r>
              <a:rPr dirty="0" spc="-185"/>
              <a:t>Design</a:t>
            </a:r>
            <a:r>
              <a:rPr dirty="0" spc="-70"/>
              <a:t> </a:t>
            </a:r>
            <a:r>
              <a:rPr dirty="0" spc="-275"/>
              <a:t>Over</a:t>
            </a:r>
            <a:r>
              <a:rPr dirty="0" spc="-30"/>
              <a:t> </a:t>
            </a:r>
            <a:r>
              <a:rPr dirty="0" spc="-229"/>
              <a:t>the</a:t>
            </a:r>
            <a:r>
              <a:rPr dirty="0" spc="-30"/>
              <a:t> </a:t>
            </a:r>
            <a:r>
              <a:rPr dirty="0" spc="-135"/>
              <a:t>Last</a:t>
            </a:r>
            <a:r>
              <a:rPr dirty="0" spc="-30"/>
              <a:t> </a:t>
            </a:r>
            <a:r>
              <a:rPr dirty="0" spc="-90"/>
              <a:t>25</a:t>
            </a:r>
            <a:r>
              <a:rPr dirty="0" spc="-120"/>
              <a:t> </a:t>
            </a:r>
            <a:r>
              <a:rPr dirty="0" spc="-185"/>
              <a:t>Years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27025" indent="-314325">
              <a:lnSpc>
                <a:spcPts val="1300"/>
              </a:lnSpc>
              <a:spcBef>
                <a:spcPts val="125"/>
              </a:spcBef>
              <a:buChar char="●"/>
              <a:tabLst>
                <a:tab pos="327025" algn="l"/>
              </a:tabLst>
            </a:pPr>
            <a:r>
              <a:rPr dirty="0"/>
              <a:t>1995-2005:</a:t>
            </a:r>
            <a:r>
              <a:rPr dirty="0" spc="60"/>
              <a:t> </a:t>
            </a:r>
            <a:r>
              <a:rPr dirty="0"/>
              <a:t>Early</a:t>
            </a:r>
            <a:r>
              <a:rPr dirty="0" spc="55"/>
              <a:t> </a:t>
            </a:r>
            <a:r>
              <a:rPr dirty="0" spc="50"/>
              <a:t>Monolithic</a:t>
            </a:r>
            <a:r>
              <a:rPr dirty="0" spc="65"/>
              <a:t> </a:t>
            </a:r>
            <a:r>
              <a:rPr dirty="0"/>
              <a:t>Web</a:t>
            </a:r>
            <a:r>
              <a:rPr dirty="0" spc="55"/>
              <a:t> </a:t>
            </a:r>
            <a:r>
              <a:rPr dirty="0" spc="-10"/>
              <a:t>Applications</a:t>
            </a: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LAMP</a:t>
            </a:r>
            <a:r>
              <a:rPr dirty="0" sz="11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stack</a:t>
            </a:r>
            <a:r>
              <a:rPr dirty="0" sz="11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(Linux,</a:t>
            </a:r>
            <a:r>
              <a:rPr dirty="0" sz="11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Apache,</a:t>
            </a:r>
            <a:r>
              <a:rPr dirty="0" sz="11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MySQL,</a:t>
            </a:r>
            <a:r>
              <a:rPr dirty="0" sz="1100" spc="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695D46"/>
                </a:solidFill>
                <a:latin typeface="Arial"/>
                <a:cs typeface="Arial"/>
              </a:rPr>
              <a:t>PHP)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45">
                <a:solidFill>
                  <a:srgbClr val="695D46"/>
                </a:solidFill>
                <a:latin typeface="Arial"/>
                <a:cs typeface="Arial"/>
              </a:rPr>
              <a:t>dominated</a:t>
            </a:r>
            <a:endParaRPr sz="1100">
              <a:latin typeface="Arial"/>
              <a:cs typeface="Arial"/>
            </a:endParaRP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Stateless</a:t>
            </a:r>
            <a:r>
              <a:rPr dirty="0" sz="11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servers,</a:t>
            </a:r>
            <a:r>
              <a:rPr dirty="0" sz="11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single-node</a:t>
            </a:r>
            <a:r>
              <a:rPr dirty="0" sz="11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databases,</a:t>
            </a:r>
            <a:r>
              <a:rPr dirty="0" sz="11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basic</a:t>
            </a:r>
            <a:r>
              <a:rPr dirty="0" sz="11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695D46"/>
                </a:solidFill>
                <a:latin typeface="Arial"/>
                <a:cs typeface="Arial"/>
              </a:rPr>
              <a:t>MVC</a:t>
            </a:r>
            <a:r>
              <a:rPr dirty="0" sz="11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architectures</a:t>
            </a:r>
            <a:endParaRPr sz="1100">
              <a:latin typeface="Arial"/>
              <a:cs typeface="Arial"/>
            </a:endParaRP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Server-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side</a:t>
            </a:r>
            <a:r>
              <a:rPr dirty="0" sz="11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rendering,</a:t>
            </a:r>
            <a:r>
              <a:rPr dirty="0" sz="11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no</a:t>
            </a:r>
            <a:r>
              <a:rPr dirty="0" sz="11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real-time</a:t>
            </a:r>
            <a:r>
              <a:rPr dirty="0" sz="11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features</a:t>
            </a:r>
            <a:endParaRPr sz="1100">
              <a:latin typeface="Arial"/>
              <a:cs typeface="Arial"/>
            </a:endParaRPr>
          </a:p>
          <a:p>
            <a:pPr marL="327025" indent="-314325">
              <a:lnSpc>
                <a:spcPts val="1280"/>
              </a:lnSpc>
              <a:buChar char="●"/>
              <a:tabLst>
                <a:tab pos="327025" algn="l"/>
              </a:tabLst>
            </a:pPr>
            <a:r>
              <a:rPr dirty="0"/>
              <a:t>2005-2010:</a:t>
            </a:r>
            <a:r>
              <a:rPr dirty="0" spc="145"/>
              <a:t> </a:t>
            </a:r>
            <a:r>
              <a:rPr dirty="0"/>
              <a:t>Scaling</a:t>
            </a:r>
            <a:r>
              <a:rPr dirty="0" spc="135"/>
              <a:t> </a:t>
            </a:r>
            <a:r>
              <a:rPr dirty="0"/>
              <a:t>Challenges</a:t>
            </a:r>
            <a:r>
              <a:rPr dirty="0" spc="145"/>
              <a:t> </a:t>
            </a:r>
            <a:r>
              <a:rPr dirty="0" spc="80"/>
              <a:t>&amp;</a:t>
            </a:r>
            <a:r>
              <a:rPr dirty="0" spc="150"/>
              <a:t> </a:t>
            </a:r>
            <a:r>
              <a:rPr dirty="0"/>
              <a:t>Distributed</a:t>
            </a:r>
            <a:r>
              <a:rPr dirty="0" spc="135"/>
              <a:t> </a:t>
            </a:r>
            <a:r>
              <a:rPr dirty="0" spc="-10"/>
              <a:t>Systems</a:t>
            </a: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Social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media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80">
                <a:solidFill>
                  <a:srgbClr val="695D46"/>
                </a:solidFill>
                <a:latin typeface="Arial"/>
                <a:cs typeface="Arial"/>
              </a:rPr>
              <a:t>&amp;</a:t>
            </a:r>
            <a:r>
              <a:rPr dirty="0" sz="11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e-commerce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drove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55">
                <a:solidFill>
                  <a:srgbClr val="695D46"/>
                </a:solidFill>
                <a:latin typeface="Arial"/>
                <a:cs typeface="Arial"/>
              </a:rPr>
              <a:t>demand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70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better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 performance</a:t>
            </a:r>
            <a:endParaRPr sz="1100">
              <a:latin typeface="Arial"/>
              <a:cs typeface="Arial"/>
            </a:endParaRP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 spc="55">
                <a:solidFill>
                  <a:srgbClr val="695D46"/>
                </a:solidFill>
                <a:latin typeface="Arial"/>
                <a:cs typeface="Arial"/>
              </a:rPr>
              <a:t>Introduction</a:t>
            </a:r>
            <a:r>
              <a:rPr dirty="0" sz="1100" spc="65">
                <a:solidFill>
                  <a:srgbClr val="695D46"/>
                </a:solidFill>
                <a:latin typeface="Arial"/>
                <a:cs typeface="Arial"/>
              </a:rPr>
              <a:t> of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caching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(Memcached,</a:t>
            </a:r>
            <a:r>
              <a:rPr dirty="0" sz="11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Redis),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CDNs,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database</a:t>
            </a:r>
            <a:r>
              <a:rPr dirty="0" sz="11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replication</a:t>
            </a:r>
            <a:endParaRPr sz="1100">
              <a:latin typeface="Arial"/>
              <a:cs typeface="Arial"/>
            </a:endParaRP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Horizontal</a:t>
            </a:r>
            <a:r>
              <a:rPr dirty="0" sz="11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scaling</a:t>
            </a: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80">
                <a:solidFill>
                  <a:srgbClr val="695D46"/>
                </a:solidFill>
                <a:latin typeface="Arial"/>
                <a:cs typeface="Arial"/>
              </a:rPr>
              <a:t>&amp;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load</a:t>
            </a: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balancing</a:t>
            </a: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became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standard</a:t>
            </a:r>
            <a:endParaRPr sz="1100">
              <a:latin typeface="Arial"/>
              <a:cs typeface="Arial"/>
            </a:endParaRPr>
          </a:p>
          <a:p>
            <a:pPr marL="327025" indent="-314325">
              <a:lnSpc>
                <a:spcPts val="1280"/>
              </a:lnSpc>
              <a:buChar char="●"/>
              <a:tabLst>
                <a:tab pos="327025" algn="l"/>
              </a:tabLst>
            </a:pPr>
            <a:r>
              <a:rPr dirty="0"/>
              <a:t>2010-2015:</a:t>
            </a:r>
            <a:r>
              <a:rPr dirty="0" spc="95"/>
              <a:t> </a:t>
            </a:r>
            <a:r>
              <a:rPr dirty="0"/>
              <a:t>The</a:t>
            </a:r>
            <a:r>
              <a:rPr dirty="0" spc="95"/>
              <a:t> </a:t>
            </a:r>
            <a:r>
              <a:rPr dirty="0"/>
              <a:t>Cloud</a:t>
            </a:r>
            <a:r>
              <a:rPr dirty="0" spc="85"/>
              <a:t> </a:t>
            </a:r>
            <a:r>
              <a:rPr dirty="0" spc="-10"/>
              <a:t>Revolution</a:t>
            </a: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 spc="-50">
                <a:solidFill>
                  <a:srgbClr val="695D46"/>
                </a:solidFill>
                <a:latin typeface="Arial"/>
                <a:cs typeface="Arial"/>
              </a:rPr>
              <a:t>AWS,</a:t>
            </a:r>
            <a:r>
              <a:rPr dirty="0" sz="11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Azure,</a:t>
            </a:r>
            <a:r>
              <a:rPr dirty="0" sz="11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70">
                <a:solidFill>
                  <a:srgbClr val="695D46"/>
                </a:solidFill>
                <a:latin typeface="Arial"/>
                <a:cs typeface="Arial"/>
              </a:rPr>
              <a:t>GCP</a:t>
            </a:r>
            <a:r>
              <a:rPr dirty="0" sz="11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enabled</a:t>
            </a:r>
            <a:r>
              <a:rPr dirty="0" sz="11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on-</a:t>
            </a:r>
            <a:r>
              <a:rPr dirty="0" sz="1100" spc="55">
                <a:solidFill>
                  <a:srgbClr val="695D46"/>
                </a:solidFill>
                <a:latin typeface="Arial"/>
                <a:cs typeface="Arial"/>
              </a:rPr>
              <a:t>demand</a:t>
            </a:r>
            <a:r>
              <a:rPr dirty="0" sz="1100" spc="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infrastructure</a:t>
            </a:r>
            <a:r>
              <a:rPr dirty="0" sz="11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scalability</a:t>
            </a:r>
            <a:endParaRPr sz="1100">
              <a:latin typeface="Arial"/>
              <a:cs typeface="Arial"/>
            </a:endParaRP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Shift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75">
                <a:solidFill>
                  <a:srgbClr val="695D46"/>
                </a:solidFill>
                <a:latin typeface="Arial"/>
                <a:cs typeface="Arial"/>
              </a:rPr>
              <a:t>to</a:t>
            </a:r>
            <a:r>
              <a:rPr dirty="0" sz="11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virtualized</a:t>
            </a:r>
            <a:r>
              <a:rPr dirty="0" sz="11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80">
                <a:solidFill>
                  <a:srgbClr val="695D46"/>
                </a:solidFill>
                <a:latin typeface="Arial"/>
                <a:cs typeface="Arial"/>
              </a:rPr>
              <a:t>&amp;</a:t>
            </a:r>
            <a:r>
              <a:rPr dirty="0" sz="1100" spc="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containerized</a:t>
            </a:r>
            <a:r>
              <a:rPr dirty="0" sz="11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deployments</a:t>
            </a:r>
            <a:endParaRPr sz="1100">
              <a:latin typeface="Arial"/>
              <a:cs typeface="Arial"/>
            </a:endParaRP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NoSQL</a:t>
            </a:r>
            <a:r>
              <a:rPr dirty="0" sz="11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databases</a:t>
            </a:r>
            <a:r>
              <a:rPr dirty="0" sz="11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(MongoDB,</a:t>
            </a:r>
            <a:r>
              <a:rPr dirty="0" sz="11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Cassandra)</a:t>
            </a:r>
            <a:r>
              <a:rPr dirty="0" sz="11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gained</a:t>
            </a:r>
            <a:r>
              <a:rPr dirty="0" sz="11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popularity</a:t>
            </a:r>
            <a:endParaRPr sz="1100">
              <a:latin typeface="Arial"/>
              <a:cs typeface="Arial"/>
            </a:endParaRPr>
          </a:p>
          <a:p>
            <a:pPr algn="r" marL="314325" marR="1896110" indent="-314325">
              <a:lnSpc>
                <a:spcPts val="1280"/>
              </a:lnSpc>
              <a:buChar char="●"/>
              <a:tabLst>
                <a:tab pos="314325" algn="l"/>
              </a:tabLst>
            </a:pPr>
            <a:r>
              <a:rPr dirty="0" spc="10"/>
              <a:t>2015-2020:</a:t>
            </a:r>
            <a:r>
              <a:rPr dirty="0" spc="90"/>
              <a:t> </a:t>
            </a:r>
            <a:r>
              <a:rPr dirty="0" spc="10"/>
              <a:t>Microservices</a:t>
            </a:r>
            <a:r>
              <a:rPr dirty="0" spc="95"/>
              <a:t> </a:t>
            </a:r>
            <a:r>
              <a:rPr dirty="0" spc="80"/>
              <a:t>&amp;</a:t>
            </a:r>
            <a:r>
              <a:rPr dirty="0" spc="95"/>
              <a:t> </a:t>
            </a:r>
            <a:r>
              <a:rPr dirty="0" spc="10"/>
              <a:t>Event-Driven</a:t>
            </a:r>
            <a:r>
              <a:rPr dirty="0" spc="95"/>
              <a:t> </a:t>
            </a:r>
            <a:r>
              <a:rPr dirty="0" spc="-10"/>
              <a:t>Architectures</a:t>
            </a:r>
          </a:p>
          <a:p>
            <a:pPr algn="r" lvl="1" marL="314325" marR="1958339" indent="-314325">
              <a:lnSpc>
                <a:spcPts val="1280"/>
              </a:lnSpc>
              <a:buChar char="○"/>
              <a:tabLst>
                <a:tab pos="314325" algn="l"/>
              </a:tabLst>
            </a:pP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Monoliths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evolved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 into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microservices</a:t>
            </a:r>
            <a:r>
              <a:rPr dirty="0" sz="11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70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1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agility</a:t>
            </a:r>
            <a:endParaRPr sz="1100">
              <a:latin typeface="Arial"/>
              <a:cs typeface="Arial"/>
            </a:endParaRP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 spc="-20">
                <a:solidFill>
                  <a:srgbClr val="695D46"/>
                </a:solidFill>
                <a:latin typeface="Arial"/>
                <a:cs typeface="Arial"/>
              </a:rPr>
              <a:t>API</a:t>
            </a:r>
            <a:r>
              <a:rPr dirty="0" sz="11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gateways,</a:t>
            </a:r>
            <a:r>
              <a:rPr dirty="0" sz="11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service</a:t>
            </a:r>
            <a:r>
              <a:rPr dirty="0" sz="11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meshes,</a:t>
            </a:r>
            <a:r>
              <a:rPr dirty="0" sz="11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event-driven</a:t>
            </a:r>
            <a:r>
              <a:rPr dirty="0" sz="11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systems</a:t>
            </a:r>
            <a:r>
              <a:rPr dirty="0" sz="11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(Kafka,</a:t>
            </a:r>
            <a:r>
              <a:rPr dirty="0" sz="11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RabbitMQ)</a:t>
            </a:r>
            <a:endParaRPr sz="1100">
              <a:latin typeface="Arial"/>
              <a:cs typeface="Arial"/>
            </a:endParaRP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CI/CD</a:t>
            </a:r>
            <a:r>
              <a:rPr dirty="0" sz="1100" spc="2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pipelines</a:t>
            </a:r>
            <a:r>
              <a:rPr dirty="0" sz="1100" spc="2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streamlined</a:t>
            </a:r>
            <a:r>
              <a:rPr dirty="0" sz="1100" spc="27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software</a:t>
            </a:r>
            <a:r>
              <a:rPr dirty="0" sz="1100" spc="2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delivery</a:t>
            </a:r>
            <a:endParaRPr sz="1100">
              <a:latin typeface="Arial"/>
              <a:cs typeface="Arial"/>
            </a:endParaRPr>
          </a:p>
          <a:p>
            <a:pPr marL="327025" indent="-314325">
              <a:lnSpc>
                <a:spcPts val="1280"/>
              </a:lnSpc>
              <a:buChar char="●"/>
              <a:tabLst>
                <a:tab pos="327025" algn="l"/>
              </a:tabLst>
            </a:pPr>
            <a:r>
              <a:rPr dirty="0"/>
              <a:t>2020-Present:</a:t>
            </a:r>
            <a:r>
              <a:rPr dirty="0" spc="70"/>
              <a:t> </a:t>
            </a:r>
            <a:r>
              <a:rPr dirty="0"/>
              <a:t>Real-Time,</a:t>
            </a:r>
            <a:r>
              <a:rPr dirty="0" spc="70"/>
              <a:t> </a:t>
            </a:r>
            <a:r>
              <a:rPr dirty="0"/>
              <a:t>AI-Driven</a:t>
            </a:r>
            <a:r>
              <a:rPr dirty="0" spc="75"/>
              <a:t> </a:t>
            </a:r>
            <a:r>
              <a:rPr dirty="0" spc="80"/>
              <a:t>&amp;</a:t>
            </a:r>
            <a:r>
              <a:rPr dirty="0" spc="70"/>
              <a:t> </a:t>
            </a:r>
            <a:r>
              <a:rPr dirty="0"/>
              <a:t>Edge</a:t>
            </a:r>
            <a:r>
              <a:rPr dirty="0" spc="75"/>
              <a:t> </a:t>
            </a:r>
            <a:r>
              <a:rPr dirty="0" spc="-10"/>
              <a:t>Computing</a:t>
            </a: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>
                <a:solidFill>
                  <a:srgbClr val="695D46"/>
                </a:solidFill>
                <a:latin typeface="Arial"/>
                <a:cs typeface="Arial"/>
              </a:rPr>
              <a:t>Focus</a:t>
            </a:r>
            <a:r>
              <a:rPr dirty="0" sz="11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on</a:t>
            </a:r>
            <a:r>
              <a:rPr dirty="0" sz="11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low-latency</a:t>
            </a:r>
            <a:r>
              <a:rPr dirty="0" sz="11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(streaming,</a:t>
            </a:r>
            <a:r>
              <a:rPr dirty="0" sz="11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AI-driven</a:t>
            </a:r>
            <a:r>
              <a:rPr dirty="0" sz="11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recommendations)</a:t>
            </a:r>
            <a:endParaRPr sz="1100">
              <a:latin typeface="Arial"/>
              <a:cs typeface="Arial"/>
            </a:endParaRPr>
          </a:p>
          <a:p>
            <a:pPr lvl="1" marL="784225" indent="-314960">
              <a:lnSpc>
                <a:spcPts val="1280"/>
              </a:lnSpc>
              <a:buChar char="○"/>
              <a:tabLst>
                <a:tab pos="784225" algn="l"/>
              </a:tabLst>
            </a:pP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Serverless</a:t>
            </a:r>
            <a:r>
              <a:rPr dirty="0" sz="11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computing,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Kubernetes,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1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95D46"/>
                </a:solidFill>
                <a:latin typeface="Arial"/>
                <a:cs typeface="Arial"/>
              </a:rPr>
              <a:t>edge</a:t>
            </a:r>
            <a:r>
              <a:rPr dirty="0" sz="11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computing</a:t>
            </a:r>
            <a:r>
              <a:rPr dirty="0" sz="11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growth</a:t>
            </a:r>
            <a:endParaRPr sz="1100">
              <a:latin typeface="Arial"/>
              <a:cs typeface="Arial"/>
            </a:endParaRPr>
          </a:p>
          <a:p>
            <a:pPr lvl="1" marL="784225" indent="-314960">
              <a:lnSpc>
                <a:spcPts val="1300"/>
              </a:lnSpc>
              <a:buChar char="○"/>
              <a:tabLst>
                <a:tab pos="784225" algn="l"/>
              </a:tabLst>
            </a:pP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Increased</a:t>
            </a:r>
            <a:r>
              <a:rPr dirty="0" sz="11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emphasis</a:t>
            </a:r>
            <a:r>
              <a:rPr dirty="0" sz="1100" spc="114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695D46"/>
                </a:solidFill>
                <a:latin typeface="Arial"/>
                <a:cs typeface="Arial"/>
              </a:rPr>
              <a:t>on</a:t>
            </a:r>
            <a:r>
              <a:rPr dirty="0" sz="11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security,</a:t>
            </a:r>
            <a:r>
              <a:rPr dirty="0" sz="11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95D46"/>
                </a:solidFill>
                <a:latin typeface="Arial"/>
                <a:cs typeface="Arial"/>
              </a:rPr>
              <a:t>compliance,</a:t>
            </a:r>
            <a:r>
              <a:rPr dirty="0" sz="11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1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95D46"/>
                </a:solidFill>
                <a:latin typeface="Arial"/>
                <a:cs typeface="Arial"/>
              </a:rPr>
              <a:t>observability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70"/>
              <a:t>How</a:t>
            </a:r>
            <a:r>
              <a:rPr dirty="0" spc="-215"/>
              <a:t> </a:t>
            </a:r>
            <a:r>
              <a:rPr dirty="0" spc="-140"/>
              <a:t>This</a:t>
            </a:r>
            <a:r>
              <a:rPr dirty="0" spc="-85"/>
              <a:t> </a:t>
            </a:r>
            <a:r>
              <a:rPr dirty="0" spc="-245"/>
              <a:t>Course</a:t>
            </a:r>
            <a:r>
              <a:rPr dirty="0" spc="-50"/>
              <a:t> </a:t>
            </a:r>
            <a:r>
              <a:rPr dirty="0" spc="-90"/>
              <a:t>is</a:t>
            </a:r>
            <a:r>
              <a:rPr dirty="0" spc="-50"/>
              <a:t> </a:t>
            </a:r>
            <a:r>
              <a:rPr dirty="0" spc="-204"/>
              <a:t>Structured?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6351" y="1321635"/>
            <a:ext cx="7989570" cy="270446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75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65">
                <a:solidFill>
                  <a:srgbClr val="695D46"/>
                </a:solidFill>
                <a:latin typeface="Arial Black"/>
                <a:cs typeface="Arial Black"/>
              </a:rPr>
              <a:t>Introduction</a:t>
            </a:r>
            <a:r>
              <a:rPr dirty="0" sz="1400" spc="1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Overview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of</a:t>
            </a:r>
            <a:r>
              <a:rPr dirty="0" sz="14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system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design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its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real-world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95D46"/>
                </a:solidFill>
                <a:latin typeface="Arial"/>
                <a:cs typeface="Arial"/>
              </a:rPr>
              <a:t>importance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80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114">
                <a:solidFill>
                  <a:srgbClr val="695D46"/>
                </a:solidFill>
                <a:latin typeface="Arial Black"/>
                <a:cs typeface="Arial Black"/>
              </a:rPr>
              <a:t>System</a:t>
            </a:r>
            <a:r>
              <a:rPr dirty="0" sz="1400" spc="6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105">
                <a:solidFill>
                  <a:srgbClr val="695D46"/>
                </a:solidFill>
                <a:latin typeface="Arial Black"/>
                <a:cs typeface="Arial Black"/>
              </a:rPr>
              <a:t>Design</a:t>
            </a:r>
            <a:r>
              <a:rPr dirty="0" sz="1400" spc="6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695D46"/>
                </a:solidFill>
                <a:latin typeface="Arial Black"/>
                <a:cs typeface="Arial Black"/>
              </a:rPr>
              <a:t>Fundamentals</a:t>
            </a:r>
            <a:r>
              <a:rPr dirty="0" sz="1400" spc="8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Core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concepts,</a:t>
            </a:r>
            <a:r>
              <a:rPr dirty="0" sz="1400" spc="1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architecture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patterns,</a:t>
            </a:r>
            <a:r>
              <a:rPr dirty="0" sz="1400" spc="1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15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trade-</a:t>
            </a:r>
            <a:r>
              <a:rPr dirty="0" sz="1400" spc="-20">
                <a:solidFill>
                  <a:srgbClr val="695D46"/>
                </a:solidFill>
                <a:latin typeface="Arial"/>
                <a:cs typeface="Arial"/>
              </a:rPr>
              <a:t>offs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80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100">
                <a:solidFill>
                  <a:srgbClr val="695D46"/>
                </a:solidFill>
                <a:latin typeface="Arial Black"/>
                <a:cs typeface="Arial Black"/>
              </a:rPr>
              <a:t>Scalability</a:t>
            </a:r>
            <a:r>
              <a:rPr dirty="0" sz="1400" spc="5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Handling</a:t>
            </a:r>
            <a:r>
              <a:rPr dirty="0" sz="14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growing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traffic,</a:t>
            </a:r>
            <a:r>
              <a:rPr dirty="0" sz="14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load</a:t>
            </a:r>
            <a:r>
              <a:rPr dirty="0" sz="14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balancing,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caching,</a:t>
            </a:r>
            <a:r>
              <a:rPr dirty="0" sz="14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database</a:t>
            </a:r>
            <a:r>
              <a:rPr dirty="0" sz="1400" spc="12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sharding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75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114">
                <a:solidFill>
                  <a:srgbClr val="695D46"/>
                </a:solidFill>
                <a:latin typeface="Arial Black"/>
                <a:cs typeface="Arial Black"/>
              </a:rPr>
              <a:t>Storage</a:t>
            </a:r>
            <a:r>
              <a:rPr dirty="0" sz="1400" spc="-6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SQL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vs.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95D46"/>
                </a:solidFill>
                <a:latin typeface="Arial"/>
                <a:cs typeface="Arial"/>
              </a:rPr>
              <a:t>NoSQL,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distributed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databases,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data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partitioning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strategies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80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90">
                <a:solidFill>
                  <a:srgbClr val="695D46"/>
                </a:solidFill>
                <a:latin typeface="Arial Black"/>
                <a:cs typeface="Arial Black"/>
              </a:rPr>
              <a:t>Performance</a:t>
            </a:r>
            <a:r>
              <a:rPr dirty="0" sz="1400" spc="1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Optimizing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latency,</a:t>
            </a:r>
            <a:r>
              <a:rPr dirty="0" sz="1400" spc="9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throughput,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8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efficiency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75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75">
                <a:solidFill>
                  <a:srgbClr val="695D46"/>
                </a:solidFill>
                <a:latin typeface="Arial Black"/>
                <a:cs typeface="Arial Black"/>
              </a:rPr>
              <a:t>Reliability</a:t>
            </a:r>
            <a:r>
              <a:rPr dirty="0" sz="1400" spc="4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Ensuring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95D46"/>
                </a:solidFill>
                <a:latin typeface="Arial"/>
                <a:cs typeface="Arial"/>
              </a:rPr>
              <a:t>fault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tolerance,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high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availability,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disaster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recovery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80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100">
                <a:solidFill>
                  <a:srgbClr val="695D46"/>
                </a:solidFill>
                <a:latin typeface="Arial Black"/>
                <a:cs typeface="Arial Black"/>
              </a:rPr>
              <a:t>Security</a:t>
            </a:r>
            <a:r>
              <a:rPr dirty="0" sz="1400" spc="11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Authentication,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authorization,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data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protection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best</a:t>
            </a:r>
            <a:r>
              <a:rPr dirty="0" sz="1400" spc="18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practices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75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75">
                <a:solidFill>
                  <a:srgbClr val="695D46"/>
                </a:solidFill>
                <a:latin typeface="Arial Black"/>
                <a:cs typeface="Arial Black"/>
              </a:rPr>
              <a:t>Putting</a:t>
            </a:r>
            <a:r>
              <a:rPr dirty="0" sz="1400" spc="1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695D46"/>
                </a:solidFill>
                <a:latin typeface="Arial Black"/>
                <a:cs typeface="Arial Black"/>
              </a:rPr>
              <a:t>It</a:t>
            </a:r>
            <a:r>
              <a:rPr dirty="0" sz="1400" spc="1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695D46"/>
                </a:solidFill>
                <a:latin typeface="Arial Black"/>
                <a:cs typeface="Arial Black"/>
              </a:rPr>
              <a:t>All</a:t>
            </a:r>
            <a:r>
              <a:rPr dirty="0" sz="1400" spc="1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95">
                <a:solidFill>
                  <a:srgbClr val="695D46"/>
                </a:solidFill>
                <a:latin typeface="Arial Black"/>
                <a:cs typeface="Arial Black"/>
              </a:rPr>
              <a:t>Together</a:t>
            </a:r>
            <a:r>
              <a:rPr dirty="0" sz="1400" spc="3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Combining</a:t>
            </a:r>
            <a:r>
              <a:rPr dirty="0" sz="14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principles</a:t>
            </a:r>
            <a:r>
              <a:rPr dirty="0" sz="14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to</a:t>
            </a:r>
            <a:r>
              <a:rPr dirty="0" sz="14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design</a:t>
            </a:r>
            <a:r>
              <a:rPr dirty="0" sz="14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real-world</a:t>
            </a:r>
            <a:r>
              <a:rPr dirty="0" sz="14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80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95">
                <a:solidFill>
                  <a:srgbClr val="695D46"/>
                </a:solidFill>
                <a:latin typeface="Arial Black"/>
                <a:cs typeface="Arial Black"/>
              </a:rPr>
              <a:t>Approach</a:t>
            </a:r>
            <a:r>
              <a:rPr dirty="0" sz="1400" spc="4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35">
                <a:solidFill>
                  <a:srgbClr val="695D46"/>
                </a:solidFill>
                <a:latin typeface="Arial Black"/>
                <a:cs typeface="Arial Black"/>
              </a:rPr>
              <a:t>for</a:t>
            </a:r>
            <a:r>
              <a:rPr dirty="0" sz="1400" spc="4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114">
                <a:solidFill>
                  <a:srgbClr val="695D46"/>
                </a:solidFill>
                <a:latin typeface="Arial Black"/>
                <a:cs typeface="Arial Black"/>
              </a:rPr>
              <a:t>System</a:t>
            </a:r>
            <a:r>
              <a:rPr dirty="0" sz="1400" spc="4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105">
                <a:solidFill>
                  <a:srgbClr val="695D46"/>
                </a:solidFill>
                <a:latin typeface="Arial Black"/>
                <a:cs typeface="Arial Black"/>
              </a:rPr>
              <a:t>Design</a:t>
            </a:r>
            <a:r>
              <a:rPr dirty="0" sz="1400" spc="6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Frameworks</a:t>
            </a:r>
            <a:r>
              <a:rPr dirty="0" sz="14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methodologies</a:t>
            </a:r>
            <a:r>
              <a:rPr dirty="0" sz="14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for</a:t>
            </a:r>
            <a:r>
              <a:rPr dirty="0" sz="1400" spc="12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structuring</a:t>
            </a:r>
            <a:r>
              <a:rPr dirty="0" sz="1400" spc="1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solutions</a:t>
            </a:r>
            <a:endParaRPr sz="1400">
              <a:latin typeface="Arial"/>
              <a:cs typeface="Arial"/>
            </a:endParaRPr>
          </a:p>
          <a:p>
            <a:pPr marL="347980" marR="5080" indent="-335915">
              <a:lnSpc>
                <a:spcPct val="104600"/>
              </a:lnSpc>
              <a:buFont typeface="Arial"/>
              <a:buChar char="●"/>
              <a:tabLst>
                <a:tab pos="347980" algn="l"/>
              </a:tabLst>
            </a:pPr>
            <a:r>
              <a:rPr dirty="0" sz="1400" spc="-155">
                <a:solidFill>
                  <a:srgbClr val="695D46"/>
                </a:solidFill>
                <a:latin typeface="Arial Black"/>
                <a:cs typeface="Arial Black"/>
              </a:rPr>
              <a:t>Case</a:t>
            </a:r>
            <a:r>
              <a:rPr dirty="0" sz="1400" spc="2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110">
                <a:solidFill>
                  <a:srgbClr val="695D46"/>
                </a:solidFill>
                <a:latin typeface="Arial Black"/>
                <a:cs typeface="Arial Black"/>
              </a:rPr>
              <a:t>Studies</a:t>
            </a:r>
            <a:r>
              <a:rPr dirty="0" sz="1400" spc="35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Deep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dives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into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real-world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architectures</a:t>
            </a:r>
            <a:r>
              <a:rPr dirty="0" sz="14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95D46"/>
                </a:solidFill>
                <a:latin typeface="Arial"/>
                <a:cs typeface="Arial"/>
              </a:rPr>
              <a:t>of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companies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like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Netflix,</a:t>
            </a:r>
            <a:r>
              <a:rPr dirty="0" sz="14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WhatsApp,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and</a:t>
            </a:r>
            <a:r>
              <a:rPr dirty="0" sz="1400" spc="9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95D46"/>
                </a:solidFill>
                <a:latin typeface="Arial"/>
                <a:cs typeface="Arial"/>
              </a:rPr>
              <a:t>Uber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75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75">
                <a:solidFill>
                  <a:srgbClr val="695D46"/>
                </a:solidFill>
                <a:latin typeface="Arial Black"/>
                <a:cs typeface="Arial Black"/>
              </a:rPr>
              <a:t>Interview</a:t>
            </a:r>
            <a:r>
              <a:rPr dirty="0" sz="1400" spc="-7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120">
                <a:solidFill>
                  <a:srgbClr val="695D46"/>
                </a:solidFill>
                <a:latin typeface="Arial Black"/>
                <a:cs typeface="Arial Black"/>
              </a:rPr>
              <a:t>Tips</a:t>
            </a:r>
            <a:r>
              <a:rPr dirty="0" sz="1400" spc="-60">
                <a:solidFill>
                  <a:srgbClr val="695D46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695D46"/>
                </a:solidFill>
                <a:latin typeface="Arial"/>
                <a:cs typeface="Arial"/>
              </a:rPr>
              <a:t>–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Strategies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95D46"/>
                </a:solidFill>
                <a:latin typeface="Arial"/>
                <a:cs typeface="Arial"/>
              </a:rPr>
              <a:t>to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excel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95D46"/>
                </a:solidFill>
                <a:latin typeface="Arial"/>
                <a:cs typeface="Arial"/>
              </a:rPr>
              <a:t>in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system</a:t>
            </a:r>
            <a:r>
              <a:rPr dirty="0" sz="14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95D46"/>
                </a:solidFill>
                <a:latin typeface="Arial"/>
                <a:cs typeface="Arial"/>
              </a:rPr>
              <a:t>design</a:t>
            </a:r>
            <a:r>
              <a:rPr dirty="0" sz="14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95D46"/>
                </a:solidFill>
                <a:latin typeface="Arial"/>
                <a:cs typeface="Arial"/>
              </a:rPr>
              <a:t>interviews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724" y="4166149"/>
            <a:ext cx="382079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40">
                <a:solidFill>
                  <a:srgbClr val="695D46"/>
                </a:solidFill>
                <a:latin typeface="Arial Black"/>
                <a:cs typeface="Arial Black"/>
              </a:rPr>
              <a:t>Note</a:t>
            </a:r>
            <a:r>
              <a:rPr dirty="0" sz="850" spc="-40">
                <a:solidFill>
                  <a:srgbClr val="695D46"/>
                </a:solidFill>
                <a:latin typeface="Arial"/>
                <a:cs typeface="Arial"/>
              </a:rPr>
              <a:t>:</a:t>
            </a:r>
            <a:r>
              <a:rPr dirty="0" sz="85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695D46"/>
                </a:solidFill>
                <a:latin typeface="Arial"/>
                <a:cs typeface="Arial"/>
              </a:rPr>
              <a:t>Each</a:t>
            </a:r>
            <a:r>
              <a:rPr dirty="0" sz="85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95D46"/>
                </a:solidFill>
                <a:latin typeface="Arial"/>
                <a:cs typeface="Arial"/>
              </a:rPr>
              <a:t>section</a:t>
            </a:r>
            <a:r>
              <a:rPr dirty="0" sz="85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95D46"/>
                </a:solidFill>
                <a:latin typeface="Arial"/>
                <a:cs typeface="Arial"/>
              </a:rPr>
              <a:t>consists</a:t>
            </a:r>
            <a:r>
              <a:rPr dirty="0" sz="85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95D46"/>
                </a:solidFill>
                <a:latin typeface="Arial"/>
                <a:cs typeface="Arial"/>
              </a:rPr>
              <a:t>of</a:t>
            </a:r>
            <a:r>
              <a:rPr dirty="0" sz="85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95D46"/>
                </a:solidFill>
                <a:latin typeface="Arial"/>
                <a:cs typeface="Arial"/>
              </a:rPr>
              <a:t>multiple</a:t>
            </a:r>
            <a:r>
              <a:rPr dirty="0" sz="85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95D46"/>
                </a:solidFill>
                <a:latin typeface="Arial"/>
                <a:cs typeface="Arial"/>
              </a:rPr>
              <a:t>lessons,</a:t>
            </a:r>
            <a:r>
              <a:rPr dirty="0" sz="85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95D46"/>
                </a:solidFill>
                <a:latin typeface="Arial"/>
                <a:cs typeface="Arial"/>
              </a:rPr>
              <a:t>covering</a:t>
            </a:r>
            <a:r>
              <a:rPr dirty="0" sz="85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95D46"/>
                </a:solidFill>
                <a:latin typeface="Arial"/>
                <a:cs typeface="Arial"/>
              </a:rPr>
              <a:t>concepts</a:t>
            </a:r>
            <a:r>
              <a:rPr dirty="0" sz="85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95D46"/>
                </a:solidFill>
                <a:latin typeface="Arial"/>
                <a:cs typeface="Arial"/>
              </a:rPr>
              <a:t>in</a:t>
            </a:r>
            <a:r>
              <a:rPr dirty="0" sz="85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695D46"/>
                </a:solidFill>
                <a:latin typeface="Arial"/>
                <a:cs typeface="Arial"/>
              </a:rPr>
              <a:t>depth.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70"/>
              <a:t>How</a:t>
            </a:r>
            <a:r>
              <a:rPr dirty="0" spc="-105"/>
              <a:t> </a:t>
            </a:r>
            <a:r>
              <a:rPr dirty="0" spc="-235"/>
              <a:t>to</a:t>
            </a:r>
            <a:r>
              <a:rPr dirty="0" spc="-35"/>
              <a:t> </a:t>
            </a:r>
            <a:r>
              <a:rPr dirty="0" spc="-210"/>
              <a:t>Navigate</a:t>
            </a:r>
            <a:r>
              <a:rPr dirty="0" spc="-140"/>
              <a:t> This</a:t>
            </a:r>
            <a:r>
              <a:rPr dirty="0" spc="-75"/>
              <a:t> </a:t>
            </a:r>
            <a:r>
              <a:rPr dirty="0" spc="-245"/>
              <a:t>Course</a:t>
            </a:r>
            <a:r>
              <a:rPr dirty="0" spc="-40"/>
              <a:t> </a:t>
            </a:r>
            <a:r>
              <a:rPr dirty="0" spc="-150"/>
              <a:t>Effectively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248" y="1289060"/>
            <a:ext cx="6534150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Start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95D46"/>
                </a:solidFill>
                <a:latin typeface="Arial"/>
                <a:cs typeface="Arial"/>
              </a:rPr>
              <a:t>with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Fundamentals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—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95D46"/>
                </a:solidFill>
                <a:latin typeface="Arial"/>
                <a:cs typeface="Arial"/>
              </a:rPr>
              <a:t>build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95D46"/>
                </a:solidFill>
                <a:latin typeface="Arial"/>
                <a:cs typeface="Arial"/>
              </a:rPr>
              <a:t>depth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95D46"/>
                </a:solidFill>
                <a:latin typeface="Arial"/>
                <a:cs typeface="Arial"/>
              </a:rPr>
              <a:t>&amp;</a:t>
            </a:r>
            <a:r>
              <a:rPr dirty="0" sz="1800" spc="4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clarity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50">
                <a:solidFill>
                  <a:srgbClr val="695D46"/>
                </a:solidFill>
                <a:latin typeface="Arial"/>
                <a:cs typeface="Arial"/>
              </a:rPr>
              <a:t>Case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Studies</a:t>
            </a:r>
            <a:r>
              <a:rPr dirty="0" sz="18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—</a:t>
            </a:r>
            <a:r>
              <a:rPr dirty="0" sz="18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simulate</a:t>
            </a:r>
            <a:r>
              <a:rPr dirty="0" sz="18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real</a:t>
            </a:r>
            <a:r>
              <a:rPr dirty="0" sz="1800" spc="1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interview</a:t>
            </a:r>
            <a:r>
              <a:rPr dirty="0" sz="1800" spc="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discussions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Use</a:t>
            </a:r>
            <a:r>
              <a:rPr dirty="0" sz="18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95D46"/>
                </a:solidFill>
                <a:latin typeface="Arial"/>
                <a:cs typeface="Arial"/>
              </a:rPr>
              <a:t>the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4-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Step</a:t>
            </a:r>
            <a:r>
              <a:rPr dirty="0" sz="18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Design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Framework</a:t>
            </a:r>
            <a:r>
              <a:rPr dirty="0" sz="1800" spc="3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to</a:t>
            </a:r>
            <a:r>
              <a:rPr dirty="0" sz="18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stay</a:t>
            </a:r>
            <a:r>
              <a:rPr dirty="0" sz="1800" spc="3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structured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Don’t</a:t>
            </a:r>
            <a:r>
              <a:rPr dirty="0" sz="1800" spc="10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skip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details</a:t>
            </a:r>
            <a:r>
              <a:rPr dirty="0" sz="18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—</a:t>
            </a:r>
            <a:r>
              <a:rPr dirty="0" sz="1800" spc="11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pause,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research,</a:t>
            </a:r>
            <a:r>
              <a:rPr dirty="0" sz="1800" spc="10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95D46"/>
                </a:solidFill>
                <a:latin typeface="Arial"/>
                <a:cs typeface="Arial"/>
              </a:rPr>
              <a:t>resume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Topics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are</a:t>
            </a: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95D46"/>
                </a:solidFill>
                <a:latin typeface="Arial"/>
                <a:cs typeface="Arial"/>
              </a:rPr>
              <a:t>interconnected</a:t>
            </a:r>
            <a:r>
              <a:rPr dirty="0" sz="1800" spc="5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—</a:t>
            </a: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revisit</a:t>
            </a: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95D46"/>
                </a:solidFill>
                <a:latin typeface="Arial"/>
                <a:cs typeface="Arial"/>
              </a:rPr>
              <a:t>the</a:t>
            </a: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course</a:t>
            </a:r>
            <a:r>
              <a:rPr dirty="0" sz="1800" spc="6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95D46"/>
                </a:solidFill>
                <a:latin typeface="Arial"/>
                <a:cs typeface="Arial"/>
              </a:rPr>
              <a:t>once</a:t>
            </a:r>
            <a:r>
              <a:rPr dirty="0" sz="1800" spc="65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95D46"/>
                </a:solidFill>
                <a:latin typeface="Arial"/>
                <a:cs typeface="Arial"/>
              </a:rPr>
              <a:t>again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1</dc:title>
  <dcterms:created xsi:type="dcterms:W3CDTF">2026-01-01T13:08:05Z</dcterms:created>
  <dcterms:modified xsi:type="dcterms:W3CDTF">2026-01-01T13:08:05Z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2026-01-01T00:00:00Z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2026-01-01T00:00:00Z</vt:filetime>
  </property>
  <property fmtid="{D5CDD505-2E9C-101B-9397-08002B2CF9AE}" pid="5" name="Producer">
    <vt:lpwstr>3-Heights(TM) PDF Security Shell 4.8.25.2 (http://www.pdf-tools.com)</vt:lpwstr>
  </property>
</Properties>
</file>