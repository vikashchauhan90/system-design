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11" y="3176893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 h="0">
                <a:moveTo>
                  <a:pt x="0" y="0"/>
                </a:moveTo>
                <a:lnTo>
                  <a:pt x="562198" y="0"/>
                </a:lnTo>
              </a:path>
            </a:pathLst>
          </a:custGeom>
          <a:ln w="76199">
            <a:solidFill>
              <a:srgbClr val="B3A7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75031" y="3158243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 h="0">
                <a:moveTo>
                  <a:pt x="0" y="0"/>
                </a:moveTo>
                <a:lnTo>
                  <a:pt x="562198" y="0"/>
                </a:lnTo>
              </a:path>
            </a:pathLst>
          </a:custGeom>
          <a:ln w="76199">
            <a:solidFill>
              <a:srgbClr val="B3A7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04142" y="1022022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40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04142" y="1174422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40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004148" y="4121491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0" y="0"/>
                </a:lnTo>
              </a:path>
            </a:pathLst>
          </a:custGeom>
          <a:ln w="76199">
            <a:solidFill>
              <a:srgbClr val="4DB6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004148" y="3969091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0" y="0"/>
                </a:lnTo>
              </a:path>
            </a:pathLst>
          </a:custGeom>
          <a:ln w="9524">
            <a:solidFill>
              <a:srgbClr val="4DB6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75352" y="1815086"/>
            <a:ext cx="4993295" cy="690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69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69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689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81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81" y="0"/>
                </a:lnTo>
                <a:lnTo>
                  <a:pt x="9143981" y="97799"/>
                </a:lnTo>
                <a:close/>
              </a:path>
            </a:pathLst>
          </a:custGeom>
          <a:solidFill>
            <a:srgbClr val="4DB6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8097" y="425399"/>
            <a:ext cx="6419816" cy="45997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689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81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81" y="0"/>
                </a:lnTo>
                <a:lnTo>
                  <a:pt x="9143981" y="97799"/>
                </a:lnTo>
                <a:close/>
              </a:path>
            </a:pathLst>
          </a:custGeom>
          <a:solidFill>
            <a:srgbClr val="4DB6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4" y="501589"/>
            <a:ext cx="486156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1273" y="1333256"/>
            <a:ext cx="5205730" cy="300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69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10"/>
              </a:spcBef>
            </a:pPr>
            <a:r>
              <a:rPr dirty="0" sz="4350" spc="-330"/>
              <a:t>Mastering</a:t>
            </a:r>
            <a:r>
              <a:rPr dirty="0" sz="4350" spc="-80"/>
              <a:t> </a:t>
            </a:r>
            <a:r>
              <a:rPr dirty="0" sz="4350" spc="-330"/>
              <a:t>System</a:t>
            </a:r>
            <a:r>
              <a:rPr dirty="0" sz="4350" spc="-65"/>
              <a:t> </a:t>
            </a:r>
            <a:r>
              <a:rPr dirty="0" sz="4350" spc="-275"/>
              <a:t>Design</a:t>
            </a:r>
            <a:endParaRPr sz="4350"/>
          </a:p>
        </p:txBody>
      </p:sp>
      <p:sp>
        <p:nvSpPr>
          <p:cNvPr id="3" name="object 3" descr=""/>
          <p:cNvSpPr txBox="1"/>
          <p:nvPr/>
        </p:nvSpPr>
        <p:spPr>
          <a:xfrm>
            <a:off x="1218341" y="2624935"/>
            <a:ext cx="670179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695D46"/>
                </a:solidFill>
                <a:latin typeface="Arial"/>
                <a:cs typeface="Arial"/>
              </a:rPr>
              <a:t>Design</a:t>
            </a:r>
            <a:r>
              <a:rPr dirty="0" sz="19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695D46"/>
                </a:solidFill>
                <a:latin typeface="Arial"/>
                <a:cs typeface="Arial"/>
              </a:rPr>
              <a:t>an</a:t>
            </a:r>
            <a:r>
              <a:rPr dirty="0" sz="19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695D46"/>
                </a:solidFill>
                <a:latin typeface="Arial"/>
                <a:cs typeface="Arial"/>
              </a:rPr>
              <a:t>E-Commerce</a:t>
            </a:r>
            <a:r>
              <a:rPr dirty="0" sz="19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695D46"/>
                </a:solidFill>
                <a:latin typeface="Arial"/>
                <a:cs typeface="Arial"/>
              </a:rPr>
              <a:t>Marketplace</a:t>
            </a:r>
            <a:r>
              <a:rPr dirty="0" sz="19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900" spc="65">
                <a:solidFill>
                  <a:srgbClr val="695D46"/>
                </a:solidFill>
                <a:latin typeface="Arial"/>
                <a:cs typeface="Arial"/>
              </a:rPr>
              <a:t>Platform</a:t>
            </a:r>
            <a:r>
              <a:rPr dirty="0" sz="19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695D46"/>
                </a:solidFill>
                <a:latin typeface="Arial"/>
                <a:cs typeface="Arial"/>
              </a:rPr>
              <a:t>(aka</a:t>
            </a:r>
            <a:r>
              <a:rPr dirty="0" sz="19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695D46"/>
                </a:solidFill>
                <a:latin typeface="Arial"/>
                <a:cs typeface="Arial"/>
              </a:rPr>
              <a:t>Amazon)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6063" y="4862190"/>
            <a:ext cx="3571908" cy="173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30"/>
              <a:t>What</a:t>
            </a:r>
            <a:r>
              <a:rPr dirty="0" spc="-170"/>
              <a:t> </a:t>
            </a:r>
            <a:r>
              <a:rPr dirty="0" spc="-250"/>
              <a:t>Are</a:t>
            </a:r>
            <a:r>
              <a:rPr dirty="0" spc="-120"/>
              <a:t> </a:t>
            </a:r>
            <a:r>
              <a:rPr dirty="0" spc="-490"/>
              <a:t>We</a:t>
            </a:r>
            <a:r>
              <a:rPr dirty="0" spc="-55"/>
              <a:t> </a:t>
            </a:r>
            <a:r>
              <a:rPr dirty="0" spc="-150"/>
              <a:t>Building?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75248" y="1289060"/>
            <a:ext cx="4732020" cy="2268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2667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A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multi-</a:t>
            </a:r>
            <a:r>
              <a:rPr dirty="0" sz="1800" spc="75">
                <a:solidFill>
                  <a:srgbClr val="695D46"/>
                </a:solidFill>
                <a:latin typeface="Arial"/>
                <a:cs typeface="Arial"/>
              </a:rPr>
              <a:t>vendor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e-commerce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95D46"/>
                </a:solidFill>
                <a:latin typeface="Arial"/>
                <a:cs typeface="Arial"/>
              </a:rPr>
              <a:t>platform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95D46"/>
                </a:solidFill>
                <a:latin typeface="Arial"/>
                <a:cs typeface="Arial"/>
              </a:rPr>
              <a:t>for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buyers</a:t>
            </a:r>
            <a:r>
              <a:rPr dirty="0" sz="18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8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sellers.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Core</a:t>
            </a:r>
            <a:r>
              <a:rPr dirty="0" sz="1800" spc="-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functionalities: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Browse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search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products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Manage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inventory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product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listings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Handle</a:t>
            </a:r>
            <a:r>
              <a:rPr dirty="0" sz="14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shopping</a:t>
            </a:r>
            <a:r>
              <a:rPr dirty="0" sz="14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cart</a:t>
            </a:r>
            <a:r>
              <a:rPr dirty="0" sz="14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secure</a:t>
            </a:r>
            <a:r>
              <a:rPr dirty="0" sz="14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checkout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Process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payments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detect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fraud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 spc="70">
                <a:solidFill>
                  <a:srgbClr val="695D46"/>
                </a:solidFill>
                <a:latin typeface="Arial"/>
                <a:cs typeface="Arial"/>
              </a:rPr>
              <a:t>Must</a:t>
            </a: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be</a:t>
            </a:r>
            <a:r>
              <a:rPr dirty="0" sz="18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scalable,</a:t>
            </a:r>
            <a:r>
              <a:rPr dirty="0" sz="1800" spc="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secure,</a:t>
            </a:r>
            <a:r>
              <a:rPr dirty="0" sz="1800" spc="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consistent.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3437" y="1680071"/>
            <a:ext cx="2133595" cy="69532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77162" y="2680483"/>
            <a:ext cx="2535719" cy="828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6063" y="4862190"/>
            <a:ext cx="3571908" cy="173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04"/>
              <a:t>Functional</a:t>
            </a:r>
            <a:r>
              <a:rPr dirty="0" spc="35"/>
              <a:t> </a:t>
            </a:r>
            <a:r>
              <a:rPr dirty="0" spc="-225"/>
              <a:t>Requirements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75248" y="1316491"/>
            <a:ext cx="7242809" cy="300736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04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User</a:t>
            </a:r>
            <a:r>
              <a:rPr dirty="0" sz="18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Registration</a:t>
            </a:r>
            <a:r>
              <a:rPr dirty="0" sz="18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95D46"/>
                </a:solidFill>
                <a:latin typeface="Arial"/>
                <a:cs typeface="Arial"/>
              </a:rPr>
              <a:t>&amp;</a:t>
            </a:r>
            <a:r>
              <a:rPr dirty="0" sz="18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Authentication</a:t>
            </a:r>
            <a:r>
              <a:rPr dirty="0" sz="18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(Buyers/Sellers)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10"/>
              </a:spcBef>
              <a:buChar char="●"/>
              <a:tabLst>
                <a:tab pos="379095" algn="l"/>
              </a:tabLst>
            </a:pP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Product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Catalog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Management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5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Inventory</a:t>
            </a:r>
            <a:r>
              <a:rPr dirty="0" sz="18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Consistency</a:t>
            </a:r>
            <a:r>
              <a:rPr dirty="0" sz="18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95D46"/>
                </a:solidFill>
                <a:latin typeface="Arial"/>
                <a:cs typeface="Arial"/>
              </a:rPr>
              <a:t>during</a:t>
            </a:r>
            <a:r>
              <a:rPr dirty="0" sz="18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Checkout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1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Shopping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Cart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and </a:t>
            </a:r>
            <a:r>
              <a:rPr dirty="0" sz="1800" spc="65">
                <a:solidFill>
                  <a:srgbClr val="695D46"/>
                </a:solidFill>
                <a:latin typeface="Arial"/>
                <a:cs typeface="Arial"/>
              </a:rPr>
              <a:t>Order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Management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1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Secure</a:t>
            </a:r>
            <a:r>
              <a:rPr dirty="0" sz="18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Payment</a:t>
            </a:r>
            <a:r>
              <a:rPr dirty="0" sz="18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Processing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Basic</a:t>
            </a:r>
            <a:r>
              <a:rPr dirty="0" sz="18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Fraud</a:t>
            </a:r>
            <a:r>
              <a:rPr dirty="0" sz="18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Detection</a:t>
            </a:r>
            <a:r>
              <a:rPr dirty="0" sz="18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8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Alerts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1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Seller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Dashboard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95D46"/>
                </a:solidFill>
                <a:latin typeface="Arial"/>
                <a:cs typeface="Arial"/>
              </a:rPr>
              <a:t>(sales,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products,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payouts)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Users: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2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Buyers: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Search,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browse,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add 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to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cart,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pay,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track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orders.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Sellers:</a:t>
            </a:r>
            <a:r>
              <a:rPr dirty="0" sz="1400" spc="1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List</a:t>
            </a:r>
            <a:r>
              <a:rPr dirty="0" sz="1400" spc="1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products,</a:t>
            </a:r>
            <a:r>
              <a:rPr dirty="0" sz="1400" spc="1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manage</a:t>
            </a:r>
            <a:r>
              <a:rPr dirty="0" sz="1400" spc="1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stock,</a:t>
            </a:r>
            <a:r>
              <a:rPr dirty="0" sz="1400" spc="1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handle</a:t>
            </a:r>
            <a:r>
              <a:rPr dirty="0" sz="1400" spc="1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orders,</a:t>
            </a:r>
            <a:r>
              <a:rPr dirty="0" sz="1400" spc="1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track</a:t>
            </a:r>
            <a:r>
              <a:rPr dirty="0" sz="1400" spc="1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earnings.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 spc="30">
                <a:solidFill>
                  <a:srgbClr val="695D46"/>
                </a:solidFill>
                <a:latin typeface="Arial"/>
                <a:cs typeface="Arial"/>
              </a:rPr>
              <a:t>Administrators: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Moderate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30">
                <a:solidFill>
                  <a:srgbClr val="695D46"/>
                </a:solidFill>
                <a:latin typeface="Arial"/>
                <a:cs typeface="Arial"/>
              </a:rPr>
              <a:t>content, 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monitor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platform</a:t>
            </a:r>
            <a:r>
              <a:rPr dirty="0" sz="1400" spc="30">
                <a:solidFill>
                  <a:srgbClr val="695D46"/>
                </a:solidFill>
                <a:latin typeface="Arial"/>
                <a:cs typeface="Arial"/>
              </a:rPr>
              <a:t> health,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30">
                <a:solidFill>
                  <a:srgbClr val="695D46"/>
                </a:solidFill>
                <a:latin typeface="Arial"/>
                <a:cs typeface="Arial"/>
              </a:rPr>
              <a:t>resolve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disputes.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6063" y="4862190"/>
            <a:ext cx="3571908" cy="173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35"/>
              <a:t>Non-</a:t>
            </a:r>
            <a:r>
              <a:rPr dirty="0" spc="-204"/>
              <a:t>Functional</a:t>
            </a:r>
            <a:r>
              <a:rPr dirty="0" spc="65"/>
              <a:t> </a:t>
            </a:r>
            <a:r>
              <a:rPr dirty="0" spc="-229"/>
              <a:t>Requirements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1349077"/>
            <a:ext cx="241826" cy="22760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1742878"/>
            <a:ext cx="241826" cy="22760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96014" y="2282144"/>
            <a:ext cx="142875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>
                <a:solidFill>
                  <a:srgbClr val="69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2308966"/>
            <a:ext cx="241826" cy="22760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79281" y="2507451"/>
            <a:ext cx="116839" cy="3790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400"/>
              </a:lnSpc>
              <a:spcBef>
                <a:spcPts val="90"/>
              </a:spcBef>
            </a:pPr>
            <a:r>
              <a:rPr dirty="0" sz="1200" spc="-50">
                <a:solidFill>
                  <a:srgbClr val="69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dirty="0" sz="1200" spc="-50">
                <a:solidFill>
                  <a:srgbClr val="69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96014" y="2848232"/>
            <a:ext cx="142875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>
                <a:solidFill>
                  <a:srgbClr val="69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2875055"/>
            <a:ext cx="241826" cy="227602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979281" y="3073539"/>
            <a:ext cx="116839" cy="3790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400"/>
              </a:lnSpc>
              <a:spcBef>
                <a:spcPts val="90"/>
              </a:spcBef>
            </a:pPr>
            <a:r>
              <a:rPr dirty="0" sz="1200" spc="-50">
                <a:solidFill>
                  <a:srgbClr val="69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dirty="0" sz="1200" spc="-50">
                <a:solidFill>
                  <a:srgbClr val="69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3441144"/>
            <a:ext cx="241826" cy="227602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979281" y="3639628"/>
            <a:ext cx="116839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50">
                <a:solidFill>
                  <a:srgbClr val="69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96014" y="3414321"/>
            <a:ext cx="142875" cy="652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>
                <a:solidFill>
                  <a:srgbClr val="69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1500" spc="-50">
                <a:solidFill>
                  <a:srgbClr val="69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3834944"/>
            <a:ext cx="241826" cy="227602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496014" y="1322252"/>
            <a:ext cx="5948045" cy="30905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650240" indent="-637540">
              <a:lnSpc>
                <a:spcPts val="1764"/>
              </a:lnSpc>
              <a:spcBef>
                <a:spcPts val="130"/>
              </a:spcBef>
              <a:buChar char="●"/>
              <a:tabLst>
                <a:tab pos="650240" algn="l"/>
              </a:tabLst>
            </a:pPr>
            <a:r>
              <a:rPr dirty="0" sz="1500" spc="-10">
                <a:solidFill>
                  <a:srgbClr val="695D46"/>
                </a:solidFill>
                <a:latin typeface="Arial"/>
                <a:cs typeface="Arial"/>
              </a:rPr>
              <a:t>Performance: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ts val="1370"/>
              </a:lnSpc>
              <a:buChar char="○"/>
              <a:tabLst>
                <a:tab pos="815340" algn="l"/>
              </a:tabLst>
            </a:pPr>
            <a:r>
              <a:rPr dirty="0" sz="1200" spc="-20">
                <a:solidFill>
                  <a:srgbClr val="695D46"/>
                </a:solidFill>
                <a:latin typeface="Arial"/>
                <a:cs typeface="Arial"/>
              </a:rPr>
              <a:t>Fast</a:t>
            </a:r>
            <a:r>
              <a:rPr dirty="0" sz="12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45">
                <a:solidFill>
                  <a:srgbClr val="695D46"/>
                </a:solidFill>
                <a:latin typeface="Arial"/>
                <a:cs typeface="Arial"/>
              </a:rPr>
              <a:t>product</a:t>
            </a:r>
            <a:r>
              <a:rPr dirty="0" sz="12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search</a:t>
            </a:r>
            <a:r>
              <a:rPr dirty="0" sz="12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2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browsing</a:t>
            </a:r>
            <a:r>
              <a:rPr dirty="0" sz="12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695D46"/>
                </a:solidFill>
                <a:latin typeface="Arial"/>
                <a:cs typeface="Arial"/>
              </a:rPr>
              <a:t>(&lt;</a:t>
            </a:r>
            <a:r>
              <a:rPr dirty="0" sz="12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300ms</a:t>
            </a:r>
            <a:r>
              <a:rPr dirty="0" sz="12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latency</a:t>
            </a:r>
            <a:r>
              <a:rPr dirty="0" sz="1200" spc="60">
                <a:solidFill>
                  <a:srgbClr val="695D46"/>
                </a:solidFill>
                <a:latin typeface="Arial"/>
                <a:cs typeface="Arial"/>
              </a:rPr>
              <a:t> for</a:t>
            </a:r>
            <a:r>
              <a:rPr dirty="0" sz="12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common</a:t>
            </a:r>
            <a:r>
              <a:rPr dirty="0" sz="12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queries)</a:t>
            </a:r>
            <a:endParaRPr sz="1200">
              <a:latin typeface="Arial"/>
              <a:cs typeface="Arial"/>
            </a:endParaRPr>
          </a:p>
          <a:p>
            <a:pPr marL="650240" indent="-637540">
              <a:lnSpc>
                <a:spcPts val="1730"/>
              </a:lnSpc>
              <a:buChar char="●"/>
              <a:tabLst>
                <a:tab pos="650240" algn="l"/>
              </a:tabLst>
            </a:pPr>
            <a:r>
              <a:rPr dirty="0" sz="1500" spc="-10">
                <a:solidFill>
                  <a:srgbClr val="695D46"/>
                </a:solidFill>
                <a:latin typeface="Arial"/>
                <a:cs typeface="Arial"/>
              </a:rPr>
              <a:t>Scalability: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Handle</a:t>
            </a:r>
            <a:r>
              <a:rPr dirty="0" sz="12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initial</a:t>
            </a:r>
            <a:r>
              <a:rPr dirty="0" sz="12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load</a:t>
            </a:r>
            <a:r>
              <a:rPr dirty="0" sz="12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95D46"/>
                </a:solidFill>
                <a:latin typeface="Arial"/>
                <a:cs typeface="Arial"/>
              </a:rPr>
              <a:t>of</a:t>
            </a:r>
            <a:r>
              <a:rPr dirty="0" sz="12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~10,000</a:t>
            </a:r>
            <a:r>
              <a:rPr dirty="0" sz="12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concurrent</a:t>
            </a:r>
            <a:r>
              <a:rPr dirty="0" sz="12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users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Elastic</a:t>
            </a:r>
            <a:r>
              <a:rPr dirty="0" sz="12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growth</a:t>
            </a:r>
            <a:r>
              <a:rPr dirty="0" sz="12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as</a:t>
            </a:r>
            <a:r>
              <a:rPr dirty="0" sz="12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user</a:t>
            </a:r>
            <a:r>
              <a:rPr dirty="0" sz="12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base</a:t>
            </a:r>
            <a:r>
              <a:rPr dirty="0" sz="12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expands</a:t>
            </a:r>
            <a:endParaRPr sz="1200">
              <a:latin typeface="Arial"/>
              <a:cs typeface="Arial"/>
            </a:endParaRPr>
          </a:p>
          <a:p>
            <a:pPr marL="650240">
              <a:lnSpc>
                <a:spcPts val="1730"/>
              </a:lnSpc>
            </a:pPr>
            <a:r>
              <a:rPr dirty="0" sz="1500" spc="-10">
                <a:solidFill>
                  <a:srgbClr val="695D46"/>
                </a:solidFill>
                <a:latin typeface="Arial"/>
                <a:cs typeface="Arial"/>
              </a:rPr>
              <a:t>Availability:</a:t>
            </a:r>
            <a:endParaRPr sz="1500">
              <a:latin typeface="Arial"/>
              <a:cs typeface="Arial"/>
            </a:endParaRPr>
          </a:p>
          <a:p>
            <a:pPr marL="815340">
              <a:lnSpc>
                <a:spcPts val="1365"/>
              </a:lnSpc>
            </a:pP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99.9%</a:t>
            </a:r>
            <a:r>
              <a:rPr dirty="0" sz="1200" spc="-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55">
                <a:solidFill>
                  <a:srgbClr val="695D46"/>
                </a:solidFill>
                <a:latin typeface="Arial"/>
                <a:cs typeface="Arial"/>
              </a:rPr>
              <a:t>uptime</a:t>
            </a:r>
            <a:r>
              <a:rPr dirty="0" sz="1200" spc="-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target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360"/>
              </a:lnSpc>
            </a:pP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Fault-tolerant</a:t>
            </a:r>
            <a:r>
              <a:rPr dirty="0" sz="12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core</a:t>
            </a:r>
            <a:r>
              <a:rPr dirty="0" sz="12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services</a:t>
            </a:r>
            <a:r>
              <a:rPr dirty="0" sz="12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(catalog,</a:t>
            </a:r>
            <a:r>
              <a:rPr dirty="0" sz="12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cart,</a:t>
            </a:r>
            <a:r>
              <a:rPr dirty="0" sz="12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checkout)</a:t>
            </a:r>
            <a:endParaRPr sz="1200">
              <a:latin typeface="Arial"/>
              <a:cs typeface="Arial"/>
            </a:endParaRPr>
          </a:p>
          <a:p>
            <a:pPr marL="650240">
              <a:lnSpc>
                <a:spcPts val="1730"/>
              </a:lnSpc>
            </a:pPr>
            <a:r>
              <a:rPr dirty="0" sz="1500" spc="-10">
                <a:solidFill>
                  <a:srgbClr val="695D46"/>
                </a:solidFill>
                <a:latin typeface="Arial"/>
                <a:cs typeface="Arial"/>
              </a:rPr>
              <a:t>Security:</a:t>
            </a:r>
            <a:endParaRPr sz="1500">
              <a:latin typeface="Arial"/>
              <a:cs typeface="Arial"/>
            </a:endParaRPr>
          </a:p>
          <a:p>
            <a:pPr marL="815340">
              <a:lnSpc>
                <a:spcPts val="1365"/>
              </a:lnSpc>
            </a:pP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Secure</a:t>
            </a:r>
            <a:r>
              <a:rPr dirty="0" sz="1200" spc="1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user</a:t>
            </a:r>
            <a:r>
              <a:rPr dirty="0" sz="12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authentication</a:t>
            </a:r>
            <a:r>
              <a:rPr dirty="0" sz="12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(OAuth2/JWT)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360"/>
              </a:lnSpc>
            </a:pP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Secure</a:t>
            </a:r>
            <a:r>
              <a:rPr dirty="0" sz="12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payment</a:t>
            </a:r>
            <a:r>
              <a:rPr dirty="0" sz="12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processing</a:t>
            </a:r>
            <a:r>
              <a:rPr dirty="0" sz="12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75">
                <a:solidFill>
                  <a:srgbClr val="695D46"/>
                </a:solidFill>
                <a:latin typeface="Arial"/>
                <a:cs typeface="Arial"/>
              </a:rPr>
              <a:t>(PCI-</a:t>
            </a:r>
            <a:r>
              <a:rPr dirty="0" sz="1200" spc="-100">
                <a:solidFill>
                  <a:srgbClr val="695D46"/>
                </a:solidFill>
                <a:latin typeface="Arial"/>
                <a:cs typeface="Arial"/>
              </a:rPr>
              <a:t>DSS</a:t>
            </a:r>
            <a:r>
              <a:rPr dirty="0" sz="12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compliance</a:t>
            </a:r>
            <a:r>
              <a:rPr dirty="0" sz="12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best</a:t>
            </a:r>
            <a:r>
              <a:rPr dirty="0" sz="12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practices)</a:t>
            </a:r>
            <a:endParaRPr sz="1200">
              <a:latin typeface="Arial"/>
              <a:cs typeface="Arial"/>
            </a:endParaRPr>
          </a:p>
          <a:p>
            <a:pPr marL="650240">
              <a:lnSpc>
                <a:spcPts val="1730"/>
              </a:lnSpc>
            </a:pPr>
            <a:r>
              <a:rPr dirty="0" sz="1500" spc="-10">
                <a:solidFill>
                  <a:srgbClr val="695D46"/>
                </a:solidFill>
                <a:latin typeface="Arial"/>
                <a:cs typeface="Arial"/>
              </a:rPr>
              <a:t>Consistency:</a:t>
            </a:r>
            <a:endParaRPr sz="1500">
              <a:latin typeface="Arial"/>
              <a:cs typeface="Arial"/>
            </a:endParaRPr>
          </a:p>
          <a:p>
            <a:pPr marL="815340">
              <a:lnSpc>
                <a:spcPts val="1370"/>
              </a:lnSpc>
            </a:pP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Strong</a:t>
            </a:r>
            <a:r>
              <a:rPr dirty="0" sz="12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consistency</a:t>
            </a:r>
            <a:r>
              <a:rPr dirty="0" sz="12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60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2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inventory</a:t>
            </a:r>
            <a:r>
              <a:rPr dirty="0" sz="12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updates</a:t>
            </a:r>
            <a:r>
              <a:rPr dirty="0" sz="12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during</a:t>
            </a:r>
            <a:r>
              <a:rPr dirty="0" sz="12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checkout</a:t>
            </a:r>
            <a:endParaRPr sz="1200">
              <a:latin typeface="Arial"/>
              <a:cs typeface="Arial"/>
            </a:endParaRPr>
          </a:p>
          <a:p>
            <a:pPr marL="650240">
              <a:lnSpc>
                <a:spcPts val="1730"/>
              </a:lnSpc>
            </a:pPr>
            <a:r>
              <a:rPr dirty="0" sz="1500" spc="40">
                <a:solidFill>
                  <a:srgbClr val="695D46"/>
                </a:solidFill>
                <a:latin typeface="Arial"/>
                <a:cs typeface="Arial"/>
              </a:rPr>
              <a:t>Maintainability: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dirty="0" sz="1200" spc="45">
                <a:solidFill>
                  <a:srgbClr val="695D46"/>
                </a:solidFill>
                <a:latin typeface="Arial"/>
                <a:cs typeface="Arial"/>
              </a:rPr>
              <a:t>Modular</a:t>
            </a:r>
            <a:r>
              <a:rPr dirty="0" sz="12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service</a:t>
            </a:r>
            <a:r>
              <a:rPr dirty="0" sz="12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design</a:t>
            </a:r>
            <a:r>
              <a:rPr dirty="0" sz="12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695D46"/>
                </a:solidFill>
                <a:latin typeface="Arial"/>
                <a:cs typeface="Arial"/>
              </a:rPr>
              <a:t>(e.g.,</a:t>
            </a:r>
            <a:r>
              <a:rPr dirty="0" sz="12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catalog</a:t>
            </a:r>
            <a:r>
              <a:rPr dirty="0" sz="12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service,</a:t>
            </a:r>
            <a:r>
              <a:rPr dirty="0" sz="12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payment</a:t>
            </a:r>
            <a:r>
              <a:rPr dirty="0" sz="12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service)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400"/>
              </a:lnSpc>
              <a:buChar char="○"/>
              <a:tabLst>
                <a:tab pos="815340" algn="l"/>
              </a:tabLst>
            </a:pPr>
            <a:r>
              <a:rPr dirty="0" sz="1200" spc="-55">
                <a:solidFill>
                  <a:srgbClr val="695D46"/>
                </a:solidFill>
                <a:latin typeface="Arial"/>
                <a:cs typeface="Arial"/>
              </a:rPr>
              <a:t>Easy</a:t>
            </a:r>
            <a:r>
              <a:rPr dirty="0" sz="12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onboarding</a:t>
            </a:r>
            <a:r>
              <a:rPr dirty="0" sz="12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95D46"/>
                </a:solidFill>
                <a:latin typeface="Arial"/>
                <a:cs typeface="Arial"/>
              </a:rPr>
              <a:t>of</a:t>
            </a:r>
            <a:r>
              <a:rPr dirty="0" sz="12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new</a:t>
            </a:r>
            <a:r>
              <a:rPr dirty="0" sz="12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sellers</a:t>
            </a:r>
            <a:r>
              <a:rPr dirty="0" sz="12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2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products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6063" y="4862190"/>
            <a:ext cx="3571908" cy="173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35"/>
              <a:t>Key</a:t>
            </a:r>
            <a:r>
              <a:rPr dirty="0" spc="-140"/>
              <a:t> </a:t>
            </a:r>
            <a:r>
              <a:rPr dirty="0" spc="-229"/>
              <a:t>System</a:t>
            </a:r>
            <a:r>
              <a:rPr dirty="0" spc="-35"/>
              <a:t> </a:t>
            </a:r>
            <a:r>
              <a:rPr dirty="0" spc="-185"/>
              <a:t>Design</a:t>
            </a:r>
            <a:r>
              <a:rPr dirty="0" spc="-75"/>
              <a:t> </a:t>
            </a:r>
            <a:r>
              <a:rPr dirty="0" spc="-155"/>
              <a:t>Challenges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75248" y="1289060"/>
            <a:ext cx="7894955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Inventory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Accuracy: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Prevent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overselling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95D46"/>
                </a:solidFill>
                <a:latin typeface="Arial"/>
                <a:cs typeface="Arial"/>
              </a:rPr>
              <a:t>at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high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scale.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High</a:t>
            </a:r>
            <a:r>
              <a:rPr dirty="0" sz="18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Availability:</a:t>
            </a:r>
            <a:r>
              <a:rPr dirty="0" sz="18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Handle</a:t>
            </a:r>
            <a:r>
              <a:rPr dirty="0" sz="18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millions</a:t>
            </a:r>
            <a:r>
              <a:rPr dirty="0" sz="18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95D46"/>
                </a:solidFill>
                <a:latin typeface="Arial"/>
                <a:cs typeface="Arial"/>
              </a:rPr>
              <a:t>of</a:t>
            </a:r>
            <a:r>
              <a:rPr dirty="0" sz="18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buyers</a:t>
            </a:r>
            <a:r>
              <a:rPr dirty="0" sz="18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8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sellers</a:t>
            </a:r>
            <a:r>
              <a:rPr dirty="0" sz="18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online.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Secure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Payments: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Ensure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data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security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prevent 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fraud.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System</a:t>
            </a:r>
            <a:r>
              <a:rPr dirty="0" sz="1800" spc="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Scalability:</a:t>
            </a:r>
            <a:r>
              <a:rPr dirty="0" sz="1800" spc="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Grow</a:t>
            </a:r>
            <a:r>
              <a:rPr dirty="0" sz="1800" spc="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seamlessly</a:t>
            </a:r>
            <a:r>
              <a:rPr dirty="0" sz="1800" spc="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as</a:t>
            </a: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user</a:t>
            </a:r>
            <a:r>
              <a:rPr dirty="0" sz="1800" spc="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base</a:t>
            </a: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increases.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Efficient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Search: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Support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quick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95D46"/>
                </a:solidFill>
                <a:latin typeface="Arial"/>
                <a:cs typeface="Arial"/>
              </a:rPr>
              <a:t>product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browsing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across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huge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catalogs.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6063" y="4862190"/>
            <a:ext cx="3571908" cy="173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40"/>
              <a:t>Assumptions</a:t>
            </a:r>
            <a:r>
              <a:rPr dirty="0" spc="-20"/>
              <a:t> </a:t>
            </a:r>
            <a:r>
              <a:rPr dirty="0" spc="-270"/>
              <a:t>and</a:t>
            </a:r>
            <a:r>
              <a:rPr dirty="0" spc="-60"/>
              <a:t> </a:t>
            </a:r>
            <a:r>
              <a:rPr dirty="0" spc="-195"/>
              <a:t>Constraints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1348455"/>
            <a:ext cx="284633" cy="26789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75248" y="2593296"/>
            <a:ext cx="163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695D46"/>
                </a:solidFill>
                <a:latin typeface="Arial"/>
                <a:cs typeface="Arial"/>
              </a:rPr>
              <a:t>●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2622512"/>
            <a:ext cx="284633" cy="26789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75248" y="1319235"/>
            <a:ext cx="8092440" cy="2994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22630" indent="-709930">
              <a:lnSpc>
                <a:spcPts val="2125"/>
              </a:lnSpc>
              <a:spcBef>
                <a:spcPts val="100"/>
              </a:spcBef>
              <a:buChar char="●"/>
              <a:tabLst>
                <a:tab pos="722630" algn="l"/>
              </a:tabLst>
            </a:pP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Assumptions: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Users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have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stable</a:t>
            </a:r>
            <a:r>
              <a:rPr dirty="0" sz="14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internet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95D46"/>
                </a:solidFill>
                <a:latin typeface="Arial"/>
                <a:cs typeface="Arial"/>
              </a:rPr>
              <a:t>access</a:t>
            </a:r>
            <a:r>
              <a:rPr dirty="0" sz="14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(no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oﬄine</a:t>
            </a:r>
            <a:r>
              <a:rPr dirty="0" sz="14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mode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required).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External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95D46"/>
                </a:solidFill>
                <a:latin typeface="Arial"/>
                <a:cs typeface="Arial"/>
              </a:rPr>
              <a:t>payment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gateway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95D46"/>
                </a:solidFill>
                <a:latin typeface="Arial"/>
                <a:cs typeface="Arial"/>
              </a:rPr>
              <a:t>(e.g.,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Stripe,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Razorpay)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will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handle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95D46"/>
                </a:solidFill>
                <a:latin typeface="Arial"/>
                <a:cs typeface="Arial"/>
              </a:rPr>
              <a:t>payment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processing.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No</a:t>
            </a:r>
            <a:r>
              <a:rPr dirty="0" sz="14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warehouse</a:t>
            </a:r>
            <a:r>
              <a:rPr dirty="0" sz="14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or</a:t>
            </a:r>
            <a:r>
              <a:rPr dirty="0" sz="14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logistics</a:t>
            </a:r>
            <a:r>
              <a:rPr dirty="0" sz="14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management</a:t>
            </a:r>
            <a:r>
              <a:rPr dirty="0" sz="14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initially</a:t>
            </a:r>
            <a:r>
              <a:rPr dirty="0" sz="14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—</a:t>
            </a:r>
            <a:r>
              <a:rPr dirty="0" sz="14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sellers</a:t>
            </a:r>
            <a:r>
              <a:rPr dirty="0" sz="14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handle</a:t>
            </a:r>
            <a:r>
              <a:rPr dirty="0" sz="14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shipping.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Product</a:t>
            </a:r>
            <a:r>
              <a:rPr dirty="0" sz="14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catalog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size</a:t>
            </a:r>
            <a:r>
              <a:rPr dirty="0" sz="14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is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manageable</a:t>
            </a:r>
            <a:r>
              <a:rPr dirty="0" sz="14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(~500K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products</a:t>
            </a:r>
            <a:r>
              <a:rPr dirty="0" sz="14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initially).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80"/>
              </a:lnSpc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Fraud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detection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is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basic,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rule-based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(no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ML-based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advanced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detection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yet).</a:t>
            </a:r>
            <a:endParaRPr sz="1400">
              <a:latin typeface="Arial"/>
              <a:cs typeface="Arial"/>
            </a:endParaRPr>
          </a:p>
          <a:p>
            <a:pPr marL="722630">
              <a:lnSpc>
                <a:spcPts val="2065"/>
              </a:lnSpc>
            </a:pP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Constraints: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 spc="-40">
                <a:solidFill>
                  <a:srgbClr val="695D46"/>
                </a:solidFill>
                <a:latin typeface="Arial"/>
                <a:cs typeface="Arial"/>
              </a:rPr>
              <a:t>MVP</a:t>
            </a:r>
            <a:r>
              <a:rPr dirty="0" sz="1400" spc="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must</a:t>
            </a:r>
            <a:r>
              <a:rPr dirty="0" sz="1400" spc="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launch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within</a:t>
            </a:r>
            <a:r>
              <a:rPr dirty="0" sz="1400" spc="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3–4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95D46"/>
                </a:solidFill>
                <a:latin typeface="Arial"/>
                <a:cs typeface="Arial"/>
              </a:rPr>
              <a:t>months.</a:t>
            </a:r>
            <a:endParaRPr sz="1400">
              <a:latin typeface="Arial"/>
              <a:cs typeface="Arial"/>
            </a:endParaRPr>
          </a:p>
          <a:p>
            <a:pPr lvl="1" marL="836294" marR="5080" indent="-336550">
              <a:lnSpc>
                <a:spcPts val="1600"/>
              </a:lnSpc>
              <a:spcBef>
                <a:spcPts val="7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Budget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constraints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limit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infrastructure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choices</a:t>
            </a:r>
            <a:r>
              <a:rPr dirty="0" sz="14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95D46"/>
                </a:solidFill>
                <a:latin typeface="Arial"/>
                <a:cs typeface="Arial"/>
              </a:rPr>
              <a:t>(e.g.,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cloud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services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preferred</a:t>
            </a:r>
            <a:r>
              <a:rPr dirty="0" sz="14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over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heavy 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on-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prem</a:t>
            </a:r>
            <a:r>
              <a:rPr dirty="0" sz="1400" spc="-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setups).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Minimal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695D46"/>
                </a:solidFill>
                <a:latin typeface="Arial"/>
                <a:cs typeface="Arial"/>
              </a:rPr>
              <a:t>DevOps/SRE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support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—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systems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must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be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simple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to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operate.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dirty="0" sz="1400" spc="45">
                <a:solidFill>
                  <a:srgbClr val="695D46"/>
                </a:solidFill>
                <a:latin typeface="Arial"/>
                <a:cs typeface="Arial"/>
              </a:rPr>
              <a:t>Limited</a:t>
            </a:r>
            <a:r>
              <a:rPr dirty="0" sz="14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95D46"/>
                </a:solidFill>
                <a:latin typeface="Arial"/>
                <a:cs typeface="Arial"/>
              </a:rPr>
              <a:t>personalization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(search</a:t>
            </a:r>
            <a:r>
              <a:rPr dirty="0" sz="1400" spc="20">
                <a:solidFill>
                  <a:srgbClr val="695D46"/>
                </a:solidFill>
                <a:latin typeface="Arial"/>
                <a:cs typeface="Arial"/>
              </a:rPr>
              <a:t> is keyword-based,</a:t>
            </a:r>
            <a:r>
              <a:rPr dirty="0" sz="14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no</a:t>
            </a:r>
            <a:r>
              <a:rPr dirty="0" sz="1400" spc="20">
                <a:solidFill>
                  <a:srgbClr val="695D46"/>
                </a:solidFill>
                <a:latin typeface="Arial"/>
                <a:cs typeface="Arial"/>
              </a:rPr>
              <a:t> ML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recommendations).</a:t>
            </a:r>
            <a:endParaRPr sz="1400">
              <a:latin typeface="Arial"/>
              <a:cs typeface="Arial"/>
            </a:endParaRPr>
          </a:p>
          <a:p>
            <a:pPr lvl="1" marL="836294" marR="212725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Regulatory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compliance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must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be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ensured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payments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80">
                <a:solidFill>
                  <a:srgbClr val="695D46"/>
                </a:solidFill>
                <a:latin typeface="Arial"/>
                <a:cs typeface="Arial"/>
              </a:rPr>
              <a:t>(PCI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25">
                <a:solidFill>
                  <a:srgbClr val="695D46"/>
                </a:solidFill>
                <a:latin typeface="Arial"/>
                <a:cs typeface="Arial"/>
              </a:rPr>
              <a:t>DSS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basics,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90">
                <a:solidFill>
                  <a:srgbClr val="695D46"/>
                </a:solidFill>
                <a:latin typeface="Arial"/>
                <a:cs typeface="Arial"/>
              </a:rPr>
              <a:t>GDPR</a:t>
            </a:r>
            <a:r>
              <a:rPr dirty="0" sz="14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95D46"/>
                </a:solidFill>
                <a:latin typeface="Arial"/>
                <a:cs typeface="Arial"/>
              </a:rPr>
              <a:t>user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data).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4314" y="4832240"/>
            <a:ext cx="3838883" cy="1779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70"/>
              <a:t>Scale</a:t>
            </a:r>
            <a:r>
              <a:rPr dirty="0" spc="-30"/>
              <a:t> </a:t>
            </a:r>
            <a:r>
              <a:rPr dirty="0" spc="-190"/>
              <a:t>Estimations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75248" y="1289060"/>
            <a:ext cx="7808595" cy="191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Users: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~1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95D46"/>
                </a:solidFill>
                <a:latin typeface="Arial"/>
                <a:cs typeface="Arial"/>
              </a:rPr>
              <a:t>Million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registered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users;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~10,000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daily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active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users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695D46"/>
                </a:solidFill>
                <a:latin typeface="Arial"/>
                <a:cs typeface="Arial"/>
              </a:rPr>
              <a:t>(DAUs)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at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launch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Traffic:</a:t>
            </a:r>
            <a:r>
              <a:rPr dirty="0" sz="18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Peak</a:t>
            </a:r>
            <a:r>
              <a:rPr dirty="0" sz="18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~100</a:t>
            </a:r>
            <a:r>
              <a:rPr dirty="0" sz="1800" spc="1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requests/second</a:t>
            </a:r>
            <a:r>
              <a:rPr dirty="0" sz="1800" spc="1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95D46"/>
                </a:solidFill>
                <a:latin typeface="Arial"/>
                <a:cs typeface="Arial"/>
              </a:rPr>
              <a:t>during</a:t>
            </a:r>
            <a:r>
              <a:rPr dirty="0" sz="18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sales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Product</a:t>
            </a:r>
            <a:r>
              <a:rPr dirty="0" sz="1800" spc="-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Catalog:</a:t>
            </a:r>
            <a:r>
              <a:rPr dirty="0" sz="1800" spc="-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~500,000</a:t>
            </a:r>
            <a:r>
              <a:rPr dirty="0" sz="1800" spc="-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products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Orders:</a:t>
            </a:r>
            <a:r>
              <a:rPr dirty="0" sz="18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~1,000</a:t>
            </a:r>
            <a:r>
              <a:rPr dirty="0" sz="18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orders/day</a:t>
            </a:r>
            <a:r>
              <a:rPr dirty="0" sz="18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initially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Sellers: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 ~5,000</a:t>
            </a:r>
            <a:r>
              <a:rPr dirty="0" sz="1800" spc="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active</a:t>
            </a: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sellers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4314" y="4832240"/>
            <a:ext cx="3838883" cy="1779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60"/>
              <a:t>Critical</a:t>
            </a:r>
            <a:r>
              <a:rPr dirty="0" spc="-20"/>
              <a:t> </a:t>
            </a:r>
            <a:r>
              <a:rPr dirty="0" spc="-229"/>
              <a:t>System</a:t>
            </a:r>
            <a:r>
              <a:rPr dirty="0" spc="-15"/>
              <a:t> </a:t>
            </a:r>
            <a:r>
              <a:rPr dirty="0" spc="-185"/>
              <a:t>Bottlenecks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75248" y="1289060"/>
            <a:ext cx="8078470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Search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Browsing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Latency: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Need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fast,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scalable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95D46"/>
                </a:solidFill>
                <a:latin typeface="Arial"/>
                <a:cs typeface="Arial"/>
              </a:rPr>
              <a:t>product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search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Inventory</a:t>
            </a:r>
            <a:r>
              <a:rPr dirty="0" sz="18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Consistency:</a:t>
            </a:r>
            <a:r>
              <a:rPr dirty="0" sz="18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Prevent</a:t>
            </a:r>
            <a:r>
              <a:rPr dirty="0" sz="18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overselling</a:t>
            </a:r>
            <a:r>
              <a:rPr dirty="0" sz="18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95D46"/>
                </a:solidFill>
                <a:latin typeface="Arial"/>
                <a:cs typeface="Arial"/>
              </a:rPr>
              <a:t>during</a:t>
            </a:r>
            <a:r>
              <a:rPr dirty="0" sz="18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flash</a:t>
            </a:r>
            <a:r>
              <a:rPr dirty="0" sz="18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sales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Checkout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8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Payment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Flows: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Ensure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reliability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95D46"/>
                </a:solidFill>
                <a:latin typeface="Arial"/>
                <a:cs typeface="Arial"/>
              </a:rPr>
              <a:t>under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peak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traffic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Database</a:t>
            </a:r>
            <a:r>
              <a:rPr dirty="0" sz="1800" spc="1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Hotspots:</a:t>
            </a:r>
            <a:r>
              <a:rPr dirty="0" sz="18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Popular</a:t>
            </a:r>
            <a:r>
              <a:rPr dirty="0" sz="18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products</a:t>
            </a:r>
            <a:r>
              <a:rPr dirty="0" sz="1800" spc="1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causing</a:t>
            </a:r>
            <a:r>
              <a:rPr dirty="0" sz="18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heavy</a:t>
            </a:r>
            <a:r>
              <a:rPr dirty="0" sz="18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reads/writes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Fraud/Payment</a:t>
            </a:r>
            <a:r>
              <a:rPr dirty="0" sz="1800" spc="1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Errors:</a:t>
            </a:r>
            <a:r>
              <a:rPr dirty="0" sz="1800" spc="1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Detect</a:t>
            </a:r>
            <a:r>
              <a:rPr dirty="0" sz="1800" spc="1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800" spc="1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handle</a:t>
            </a:r>
            <a:r>
              <a:rPr dirty="0" sz="1800" spc="1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95D46"/>
                </a:solidFill>
                <a:latin typeface="Arial"/>
                <a:cs typeface="Arial"/>
              </a:rPr>
              <a:t>abnormal</a:t>
            </a:r>
            <a:r>
              <a:rPr dirty="0" sz="1800" spc="1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transactions</a:t>
            </a:r>
            <a:r>
              <a:rPr dirty="0" sz="1800" spc="1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quickly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040" y="4844990"/>
            <a:ext cx="4287890" cy="196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60"/>
              <a:t>Core</a:t>
            </a:r>
            <a:r>
              <a:rPr dirty="0" spc="-20"/>
              <a:t> </a:t>
            </a:r>
            <a:r>
              <a:rPr dirty="0" spc="-190"/>
              <a:t>Services</a:t>
            </a:r>
            <a:r>
              <a:rPr dirty="0" spc="-15"/>
              <a:t> </a:t>
            </a:r>
            <a:r>
              <a:rPr dirty="0" spc="-280"/>
              <a:t>Breakdown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75248" y="1289060"/>
            <a:ext cx="7907655" cy="223393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135">
                <a:solidFill>
                  <a:srgbClr val="695D46"/>
                </a:solidFill>
                <a:latin typeface="Arial Black"/>
                <a:cs typeface="Arial Black"/>
              </a:rPr>
              <a:t>User</a:t>
            </a:r>
            <a:r>
              <a:rPr dirty="0" sz="1800" spc="-7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55">
                <a:solidFill>
                  <a:srgbClr val="695D46"/>
                </a:solidFill>
                <a:latin typeface="Arial Black"/>
                <a:cs typeface="Arial Black"/>
              </a:rPr>
              <a:t>Service</a:t>
            </a:r>
            <a:r>
              <a:rPr dirty="0" sz="1800" spc="-5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0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Manage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registration,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login,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authentication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100">
                <a:solidFill>
                  <a:srgbClr val="695D46"/>
                </a:solidFill>
                <a:latin typeface="Arial Black"/>
                <a:cs typeface="Arial Black"/>
              </a:rPr>
              <a:t>Product</a:t>
            </a:r>
            <a:r>
              <a:rPr dirty="0" sz="1800" spc="-6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30">
                <a:solidFill>
                  <a:srgbClr val="695D46"/>
                </a:solidFill>
                <a:latin typeface="Arial Black"/>
                <a:cs typeface="Arial Black"/>
              </a:rPr>
              <a:t>Catalog</a:t>
            </a:r>
            <a:r>
              <a:rPr dirty="0" sz="1800" spc="-6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55">
                <a:solidFill>
                  <a:srgbClr val="695D46"/>
                </a:solidFill>
                <a:latin typeface="Arial Black"/>
                <a:cs typeface="Arial Black"/>
              </a:rPr>
              <a:t>Service</a:t>
            </a:r>
            <a:r>
              <a:rPr dirty="0" sz="1800" spc="-3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0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Manage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95D46"/>
                </a:solidFill>
                <a:latin typeface="Arial"/>
                <a:cs typeface="Arial"/>
              </a:rPr>
              <a:t>product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listings,</a:t>
            </a:r>
            <a:r>
              <a:rPr dirty="0" sz="18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search,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categories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75">
                <a:solidFill>
                  <a:srgbClr val="695D46"/>
                </a:solidFill>
                <a:latin typeface="Arial Black"/>
                <a:cs typeface="Arial Black"/>
              </a:rPr>
              <a:t>Inventory</a:t>
            </a:r>
            <a:r>
              <a:rPr dirty="0" sz="1800" spc="-5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55">
                <a:solidFill>
                  <a:srgbClr val="695D46"/>
                </a:solidFill>
                <a:latin typeface="Arial Black"/>
                <a:cs typeface="Arial Black"/>
              </a:rPr>
              <a:t>Service</a:t>
            </a:r>
            <a:r>
              <a:rPr dirty="0" sz="1800" spc="-2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0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Track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stock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levels,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handle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stock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reservations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65">
                <a:solidFill>
                  <a:srgbClr val="695D46"/>
                </a:solidFill>
                <a:latin typeface="Arial Black"/>
                <a:cs typeface="Arial Black"/>
              </a:rPr>
              <a:t>Order</a:t>
            </a:r>
            <a:r>
              <a:rPr dirty="0" sz="1800" spc="-4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00">
                <a:solidFill>
                  <a:srgbClr val="695D46"/>
                </a:solidFill>
                <a:latin typeface="Arial Black"/>
                <a:cs typeface="Arial Black"/>
              </a:rPr>
              <a:t>Management</a:t>
            </a:r>
            <a:r>
              <a:rPr dirty="0" sz="1800" spc="-4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55">
                <a:solidFill>
                  <a:srgbClr val="695D46"/>
                </a:solidFill>
                <a:latin typeface="Arial Black"/>
                <a:cs typeface="Arial Black"/>
              </a:rPr>
              <a:t>Service</a:t>
            </a:r>
            <a:r>
              <a:rPr dirty="0" sz="1800" spc="-3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0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Manage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cart,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checkout,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95D46"/>
                </a:solidFill>
                <a:latin typeface="Arial"/>
                <a:cs typeface="Arial"/>
              </a:rPr>
              <a:t>order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lifecycle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95">
                <a:solidFill>
                  <a:srgbClr val="695D46"/>
                </a:solidFill>
                <a:latin typeface="Arial Black"/>
                <a:cs typeface="Arial Black"/>
              </a:rPr>
              <a:t>Payment</a:t>
            </a:r>
            <a:r>
              <a:rPr dirty="0" sz="1800" spc="-4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55">
                <a:solidFill>
                  <a:srgbClr val="695D46"/>
                </a:solidFill>
                <a:latin typeface="Arial Black"/>
                <a:cs typeface="Arial Black"/>
              </a:rPr>
              <a:t>Service</a:t>
            </a:r>
            <a:r>
              <a:rPr dirty="0" sz="1800" spc="-3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0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Handle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payment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processing,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retries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80">
                <a:solidFill>
                  <a:srgbClr val="695D46"/>
                </a:solidFill>
                <a:latin typeface="Arial Black"/>
                <a:cs typeface="Arial Black"/>
              </a:rPr>
              <a:t>Notification</a:t>
            </a:r>
            <a:r>
              <a:rPr dirty="0" sz="1800" spc="-11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55">
                <a:solidFill>
                  <a:srgbClr val="695D46"/>
                </a:solidFill>
                <a:latin typeface="Arial Black"/>
                <a:cs typeface="Arial Black"/>
              </a:rPr>
              <a:t>Service</a:t>
            </a:r>
            <a:r>
              <a:rPr dirty="0" sz="1800" spc="-9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0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800" spc="-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Send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email/SMS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notifications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85">
                <a:solidFill>
                  <a:srgbClr val="695D46"/>
                </a:solidFill>
                <a:latin typeface="Arial Black"/>
                <a:cs typeface="Arial Black"/>
              </a:rPr>
              <a:t>Admin</a:t>
            </a:r>
            <a:r>
              <a:rPr dirty="0" sz="1800" spc="-114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55">
                <a:solidFill>
                  <a:srgbClr val="695D46"/>
                </a:solidFill>
                <a:latin typeface="Arial Black"/>
                <a:cs typeface="Arial Black"/>
              </a:rPr>
              <a:t>Service</a:t>
            </a:r>
            <a:r>
              <a:rPr dirty="0" sz="1800" spc="-10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800" spc="-10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Seller/product</a:t>
            </a:r>
            <a:r>
              <a:rPr dirty="0" sz="1800" spc="-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moderation,</a:t>
            </a:r>
            <a:r>
              <a:rPr dirty="0" sz="1800" spc="-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95D46"/>
                </a:solidFill>
                <a:latin typeface="Arial"/>
                <a:cs typeface="Arial"/>
              </a:rPr>
              <a:t>platform</a:t>
            </a:r>
            <a:r>
              <a:rPr dirty="0" sz="1800" spc="-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controls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040" y="4844990"/>
            <a:ext cx="4287890" cy="196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95"/>
              <a:t>Service</a:t>
            </a:r>
            <a:r>
              <a:rPr dirty="0" spc="-145"/>
              <a:t> </a:t>
            </a:r>
            <a:r>
              <a:rPr dirty="0" spc="-180"/>
              <a:t>APIs</a:t>
            </a:r>
            <a:r>
              <a:rPr dirty="0" spc="-25"/>
              <a:t> </a:t>
            </a:r>
            <a:r>
              <a:rPr dirty="0" spc="-270"/>
              <a:t>and</a:t>
            </a:r>
            <a:r>
              <a:rPr dirty="0" spc="-30"/>
              <a:t> </a:t>
            </a:r>
            <a:r>
              <a:rPr dirty="0" spc="-165"/>
              <a:t>Responsibilities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4" y="4072139"/>
            <a:ext cx="284633" cy="26789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75248" y="1309961"/>
            <a:ext cx="5871845" cy="303276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User</a:t>
            </a:r>
            <a:r>
              <a:rPr dirty="0" sz="1800" spc="-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Service</a:t>
            </a:r>
            <a:r>
              <a:rPr dirty="0" sz="1800" spc="-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95D46"/>
                </a:solidFill>
                <a:latin typeface="Arial"/>
                <a:cs typeface="Arial"/>
              </a:rPr>
              <a:t>APIs:</a:t>
            </a:r>
            <a:endParaRPr sz="1800">
              <a:latin typeface="Arial"/>
              <a:cs typeface="Arial"/>
            </a:endParaRPr>
          </a:p>
          <a:p>
            <a:pPr lvl="1" marL="836294" indent="-374015">
              <a:lnSpc>
                <a:spcPct val="100000"/>
              </a:lnSpc>
              <a:spcBef>
                <a:spcPts val="120"/>
              </a:spcBef>
              <a:buAutoNum type="alphaLcPeriod"/>
              <a:tabLst>
                <a:tab pos="836294" algn="l"/>
              </a:tabLst>
            </a:pPr>
            <a:r>
              <a:rPr dirty="0" sz="1400" spc="-95">
                <a:solidFill>
                  <a:srgbClr val="695D46"/>
                </a:solidFill>
                <a:latin typeface="Arial"/>
                <a:cs typeface="Arial"/>
              </a:rPr>
              <a:t>POST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/register,</a:t>
            </a:r>
            <a:r>
              <a:rPr dirty="0" sz="14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695D46"/>
                </a:solidFill>
                <a:latin typeface="Arial"/>
                <a:cs typeface="Arial"/>
              </a:rPr>
              <a:t>POST</a:t>
            </a:r>
            <a:r>
              <a:rPr dirty="0" sz="14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/login,</a:t>
            </a:r>
            <a:r>
              <a:rPr dirty="0" sz="14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14">
                <a:solidFill>
                  <a:srgbClr val="695D46"/>
                </a:solidFill>
                <a:latin typeface="Arial"/>
                <a:cs typeface="Arial"/>
              </a:rPr>
              <a:t>GET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/profile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Catalog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 APIs:</a:t>
            </a:r>
            <a:endParaRPr sz="1800">
              <a:latin typeface="Arial"/>
              <a:cs typeface="Arial"/>
            </a:endParaRPr>
          </a:p>
          <a:p>
            <a:pPr lvl="1" marL="836294" indent="-374015">
              <a:lnSpc>
                <a:spcPct val="100000"/>
              </a:lnSpc>
              <a:spcBef>
                <a:spcPts val="125"/>
              </a:spcBef>
              <a:buAutoNum type="alphaLcPeriod"/>
              <a:tabLst>
                <a:tab pos="836294" algn="l"/>
              </a:tabLst>
            </a:pPr>
            <a:r>
              <a:rPr dirty="0" sz="1400" spc="-114">
                <a:solidFill>
                  <a:srgbClr val="695D46"/>
                </a:solidFill>
                <a:latin typeface="Arial"/>
                <a:cs typeface="Arial"/>
              </a:rPr>
              <a:t>GET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/products,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14">
                <a:solidFill>
                  <a:srgbClr val="695D46"/>
                </a:solidFill>
                <a:latin typeface="Arial"/>
                <a:cs typeface="Arial"/>
              </a:rPr>
              <a:t>GET</a:t>
            </a:r>
            <a:r>
              <a:rPr dirty="0" sz="1400" spc="-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/products/{id},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695D46"/>
                </a:solidFill>
                <a:latin typeface="Arial"/>
                <a:cs typeface="Arial"/>
              </a:rPr>
              <a:t>POST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95D46"/>
                </a:solidFill>
                <a:latin typeface="Arial"/>
                <a:cs typeface="Arial"/>
              </a:rPr>
              <a:t>/products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65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Inventory</a:t>
            </a:r>
            <a:r>
              <a:rPr dirty="0" sz="1800" spc="-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95D46"/>
                </a:solidFill>
                <a:latin typeface="Arial"/>
                <a:cs typeface="Arial"/>
              </a:rPr>
              <a:t>APIs:</a:t>
            </a:r>
            <a:endParaRPr sz="1800">
              <a:latin typeface="Arial"/>
              <a:cs typeface="Arial"/>
            </a:endParaRPr>
          </a:p>
          <a:p>
            <a:pPr lvl="1" marL="836294" indent="-374015">
              <a:lnSpc>
                <a:spcPct val="100000"/>
              </a:lnSpc>
              <a:spcBef>
                <a:spcPts val="125"/>
              </a:spcBef>
              <a:buAutoNum type="alphaLcPeriod"/>
              <a:tabLst>
                <a:tab pos="836294" algn="l"/>
              </a:tabLst>
            </a:pPr>
            <a:r>
              <a:rPr dirty="0" sz="1400" spc="-114">
                <a:solidFill>
                  <a:srgbClr val="695D46"/>
                </a:solidFill>
                <a:latin typeface="Arial"/>
                <a:cs typeface="Arial"/>
              </a:rPr>
              <a:t>GET</a:t>
            </a:r>
            <a:r>
              <a:rPr dirty="0" sz="14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/inventory/{productId},</a:t>
            </a:r>
            <a:r>
              <a:rPr dirty="0" sz="14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695D46"/>
                </a:solidFill>
                <a:latin typeface="Arial"/>
                <a:cs typeface="Arial"/>
              </a:rPr>
              <a:t>POST</a:t>
            </a:r>
            <a:r>
              <a:rPr dirty="0" sz="14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/reserve-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stock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dirty="0" sz="1800" spc="65">
                <a:solidFill>
                  <a:srgbClr val="695D46"/>
                </a:solidFill>
                <a:latin typeface="Arial"/>
                <a:cs typeface="Arial"/>
              </a:rPr>
              <a:t>Order</a:t>
            </a:r>
            <a:r>
              <a:rPr dirty="0" sz="1800" spc="-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APIs:</a:t>
            </a:r>
            <a:endParaRPr sz="1800">
              <a:latin typeface="Arial"/>
              <a:cs typeface="Arial"/>
            </a:endParaRPr>
          </a:p>
          <a:p>
            <a:pPr lvl="1" marL="836294" indent="-374015">
              <a:lnSpc>
                <a:spcPct val="100000"/>
              </a:lnSpc>
              <a:spcBef>
                <a:spcPts val="125"/>
              </a:spcBef>
              <a:buAutoNum type="alphaLcPeriod"/>
              <a:tabLst>
                <a:tab pos="836294" algn="l"/>
              </a:tabLst>
            </a:pPr>
            <a:r>
              <a:rPr dirty="0" sz="1400" spc="-95">
                <a:solidFill>
                  <a:srgbClr val="695D46"/>
                </a:solidFill>
                <a:latin typeface="Arial"/>
                <a:cs typeface="Arial"/>
              </a:rPr>
              <a:t>POST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/cart/add,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695D46"/>
                </a:solidFill>
                <a:latin typeface="Arial"/>
                <a:cs typeface="Arial"/>
              </a:rPr>
              <a:t>POST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/checkout,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14">
                <a:solidFill>
                  <a:srgbClr val="695D46"/>
                </a:solidFill>
                <a:latin typeface="Arial"/>
                <a:cs typeface="Arial"/>
              </a:rPr>
              <a:t>GET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/order/{orderId}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6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Payment</a:t>
            </a:r>
            <a:r>
              <a:rPr dirty="0" sz="1800" spc="2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APIs:</a:t>
            </a:r>
            <a:endParaRPr sz="1800">
              <a:latin typeface="Arial"/>
              <a:cs typeface="Arial"/>
            </a:endParaRPr>
          </a:p>
          <a:p>
            <a:pPr lvl="1" marL="836294" indent="-374015">
              <a:lnSpc>
                <a:spcPct val="100000"/>
              </a:lnSpc>
              <a:spcBef>
                <a:spcPts val="125"/>
              </a:spcBef>
              <a:buAutoNum type="alphaLcPeriod"/>
              <a:tabLst>
                <a:tab pos="836294" algn="l"/>
              </a:tabLst>
            </a:pPr>
            <a:r>
              <a:rPr dirty="0" sz="1400" spc="-95">
                <a:solidFill>
                  <a:srgbClr val="695D46"/>
                </a:solidFill>
                <a:latin typeface="Arial"/>
                <a:cs typeface="Arial"/>
              </a:rPr>
              <a:t>POST</a:t>
            </a:r>
            <a:r>
              <a:rPr dirty="0" sz="1400" spc="2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/payments/initiate,</a:t>
            </a:r>
            <a:r>
              <a:rPr dirty="0" sz="1400" spc="3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695D46"/>
                </a:solidFill>
                <a:latin typeface="Arial"/>
                <a:cs typeface="Arial"/>
              </a:rPr>
              <a:t>POST</a:t>
            </a:r>
            <a:r>
              <a:rPr dirty="0" sz="1400" spc="3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/payments/verify</a:t>
            </a:r>
            <a:endParaRPr sz="14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1270"/>
              </a:spcBef>
            </a:pPr>
            <a:r>
              <a:rPr dirty="0" sz="1800" spc="-55">
                <a:solidFill>
                  <a:srgbClr val="695D46"/>
                </a:solidFill>
                <a:latin typeface="Arial"/>
                <a:cs typeface="Arial"/>
              </a:rPr>
              <a:t>APIs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should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be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695D46"/>
                </a:solidFill>
                <a:latin typeface="Arial"/>
                <a:cs typeface="Arial"/>
              </a:rPr>
              <a:t>RESTful,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stateless,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versioned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(v1).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040" y="4844990"/>
            <a:ext cx="4287890" cy="196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95"/>
              <a:t>Service</a:t>
            </a:r>
            <a:r>
              <a:rPr dirty="0" spc="-60"/>
              <a:t> </a:t>
            </a:r>
            <a:r>
              <a:rPr dirty="0" spc="-265"/>
              <a:t>Communication</a:t>
            </a:r>
            <a:r>
              <a:rPr dirty="0" spc="-130"/>
              <a:t> </a:t>
            </a:r>
            <a:r>
              <a:rPr dirty="0" spc="-270"/>
              <a:t>Approach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4" y="2878849"/>
            <a:ext cx="284633" cy="26789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84724" y="1274691"/>
            <a:ext cx="7632065" cy="219075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Synchronous</a:t>
            </a:r>
            <a:r>
              <a:rPr dirty="0" sz="1800" spc="1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695D46"/>
                </a:solidFill>
                <a:latin typeface="Arial"/>
                <a:cs typeface="Arial"/>
              </a:rPr>
              <a:t>(HTTP</a:t>
            </a:r>
            <a:r>
              <a:rPr dirty="0" sz="1800" spc="1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REST):</a:t>
            </a:r>
            <a:endParaRPr sz="1800">
              <a:latin typeface="Arial"/>
              <a:cs typeface="Arial"/>
            </a:endParaRPr>
          </a:p>
          <a:p>
            <a:pPr lvl="1" marL="926465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926465" algn="l"/>
              </a:tabLst>
            </a:pP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User,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Product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Catalog,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Inventory,</a:t>
            </a:r>
            <a:r>
              <a:rPr dirty="0" sz="14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Orders,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Payments</a:t>
            </a:r>
            <a:endParaRPr sz="14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Asynchronous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(Events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via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Message</a:t>
            </a:r>
            <a:r>
              <a:rPr dirty="0" sz="18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Queue):</a:t>
            </a:r>
            <a:endParaRPr sz="1800">
              <a:latin typeface="Arial"/>
              <a:cs typeface="Arial"/>
            </a:endParaRPr>
          </a:p>
          <a:p>
            <a:pPr lvl="1" marL="926465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926465" algn="l"/>
              </a:tabLst>
            </a:pP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Order</a:t>
            </a:r>
            <a:r>
              <a:rPr dirty="0" sz="14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Placed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→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Inventory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Update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→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Notification</a:t>
            </a:r>
            <a:endParaRPr sz="1400">
              <a:latin typeface="Arial"/>
              <a:cs typeface="Arial"/>
            </a:endParaRPr>
          </a:p>
          <a:p>
            <a:pPr lvl="1" marL="926465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926465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Payment</a:t>
            </a:r>
            <a:r>
              <a:rPr dirty="0" sz="14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695D46"/>
                </a:solidFill>
                <a:latin typeface="Arial"/>
                <a:cs typeface="Arial"/>
              </a:rPr>
              <a:t>Success</a:t>
            </a:r>
            <a:r>
              <a:rPr dirty="0" sz="14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→</a:t>
            </a:r>
            <a:r>
              <a:rPr dirty="0" sz="14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Order</a:t>
            </a:r>
            <a:r>
              <a:rPr dirty="0" sz="14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Confirmation</a:t>
            </a:r>
            <a:r>
              <a:rPr dirty="0" sz="14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→</a:t>
            </a:r>
            <a:r>
              <a:rPr dirty="0" sz="14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Notify</a:t>
            </a:r>
            <a:r>
              <a:rPr dirty="0" sz="14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Seller</a:t>
            </a:r>
            <a:endParaRPr sz="1400">
              <a:latin typeface="Arial"/>
              <a:cs typeface="Arial"/>
            </a:endParaRPr>
          </a:p>
          <a:p>
            <a:pPr marL="12700" marR="5080" indent="343535">
              <a:lnSpc>
                <a:spcPct val="114999"/>
              </a:lnSpc>
              <a:spcBef>
                <a:spcPts val="1110"/>
              </a:spcBef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Use</a:t>
            </a:r>
            <a:r>
              <a:rPr dirty="0" sz="1800" spc="1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event-driven</a:t>
            </a:r>
            <a:r>
              <a:rPr dirty="0" sz="18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async</a:t>
            </a:r>
            <a:r>
              <a:rPr dirty="0" sz="18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flows</a:t>
            </a:r>
            <a:r>
              <a:rPr dirty="0" sz="18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800" spc="1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critical</a:t>
            </a:r>
            <a:r>
              <a:rPr dirty="0" sz="1800" spc="1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95D46"/>
                </a:solidFill>
                <a:latin typeface="Arial"/>
                <a:cs typeface="Arial"/>
              </a:rPr>
              <a:t>but</a:t>
            </a:r>
            <a:r>
              <a:rPr dirty="0" sz="18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non-blocking</a:t>
            </a:r>
            <a:r>
              <a:rPr dirty="0" sz="1800" spc="1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operations </a:t>
            </a:r>
            <a:r>
              <a:rPr dirty="0" sz="1800" spc="-30">
                <a:solidFill>
                  <a:srgbClr val="695D46"/>
                </a:solidFill>
                <a:latin typeface="Arial"/>
                <a:cs typeface="Arial"/>
              </a:rPr>
              <a:t>(e.g.,</a:t>
            </a:r>
            <a:r>
              <a:rPr dirty="0" sz="18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stock</a:t>
            </a:r>
            <a:r>
              <a:rPr dirty="0" sz="18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updates,</a:t>
            </a:r>
            <a:r>
              <a:rPr dirty="0" sz="18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sending</a:t>
            </a:r>
            <a:r>
              <a:rPr dirty="0" sz="18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emails).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040" y="4844990"/>
            <a:ext cx="4287890" cy="196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40"/>
              <a:t>Database</a:t>
            </a:r>
            <a:r>
              <a:rPr dirty="0" spc="-25"/>
              <a:t> </a:t>
            </a:r>
            <a:r>
              <a:rPr dirty="0" spc="-270"/>
              <a:t>and</a:t>
            </a:r>
            <a:r>
              <a:rPr dirty="0" spc="-25"/>
              <a:t> </a:t>
            </a:r>
            <a:r>
              <a:rPr dirty="0" spc="-195"/>
              <a:t>Storage</a:t>
            </a:r>
            <a:r>
              <a:rPr dirty="0" spc="-70"/>
              <a:t> </a:t>
            </a:r>
            <a:r>
              <a:rPr dirty="0" spc="-185"/>
              <a:t>Choices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4" y="3813650"/>
            <a:ext cx="189755" cy="17859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4" y="4158073"/>
            <a:ext cx="189755" cy="178593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har char="●"/>
              <a:tabLst>
                <a:tab pos="332740" algn="l"/>
              </a:tabLst>
            </a:pPr>
            <a:r>
              <a:rPr dirty="0"/>
              <a:t>User</a:t>
            </a:r>
            <a:r>
              <a:rPr dirty="0" spc="35"/>
              <a:t> </a:t>
            </a:r>
            <a:r>
              <a:rPr dirty="0" spc="-20"/>
              <a:t>Data</a:t>
            </a:r>
          </a:p>
          <a:p>
            <a:pPr lvl="1" marL="789940" indent="-320675">
              <a:lnSpc>
                <a:spcPct val="100000"/>
              </a:lnSpc>
              <a:spcBef>
                <a:spcPts val="70"/>
              </a:spcBef>
              <a:buChar char="○"/>
              <a:tabLst>
                <a:tab pos="789940" algn="l"/>
              </a:tabLst>
            </a:pP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Relational</a:t>
            </a:r>
            <a:r>
              <a:rPr dirty="0" sz="12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DB</a:t>
            </a:r>
            <a:r>
              <a:rPr dirty="0" sz="12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695D46"/>
                </a:solidFill>
                <a:latin typeface="Arial"/>
                <a:cs typeface="Arial"/>
              </a:rPr>
              <a:t>(e.g.,</a:t>
            </a:r>
            <a:r>
              <a:rPr dirty="0" sz="12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95D46"/>
                </a:solidFill>
                <a:latin typeface="Arial"/>
                <a:cs typeface="Arial"/>
              </a:rPr>
              <a:t>PostgreSQL,</a:t>
            </a:r>
            <a:r>
              <a:rPr dirty="0" sz="12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2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strong</a:t>
            </a:r>
            <a:r>
              <a:rPr dirty="0" sz="12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consistency)</a:t>
            </a:r>
            <a:endParaRPr sz="12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0"/>
              </a:spcBef>
              <a:buChar char="●"/>
              <a:tabLst>
                <a:tab pos="332740" algn="l"/>
              </a:tabLst>
            </a:pPr>
            <a:r>
              <a:rPr dirty="0"/>
              <a:t>Product</a:t>
            </a:r>
            <a:r>
              <a:rPr dirty="0" spc="190"/>
              <a:t> </a:t>
            </a:r>
            <a:r>
              <a:rPr dirty="0" spc="-10"/>
              <a:t>Catalog</a:t>
            </a:r>
          </a:p>
          <a:p>
            <a:pPr lvl="1" marL="789940" indent="-320675">
              <a:lnSpc>
                <a:spcPct val="100000"/>
              </a:lnSpc>
              <a:spcBef>
                <a:spcPts val="75"/>
              </a:spcBef>
              <a:buChar char="○"/>
              <a:tabLst>
                <a:tab pos="789940" algn="l"/>
              </a:tabLst>
            </a:pP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Search-optimized</a:t>
            </a:r>
            <a:r>
              <a:rPr dirty="0" sz="12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DB</a:t>
            </a:r>
            <a:r>
              <a:rPr dirty="0" sz="12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695D46"/>
                </a:solidFill>
                <a:latin typeface="Arial"/>
                <a:cs typeface="Arial"/>
              </a:rPr>
              <a:t>(e.g.,</a:t>
            </a:r>
            <a:r>
              <a:rPr dirty="0" sz="12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Elasticsearch</a:t>
            </a:r>
            <a:r>
              <a:rPr dirty="0" sz="12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+</a:t>
            </a:r>
            <a:r>
              <a:rPr dirty="0" sz="12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PostgreSQL</a:t>
            </a:r>
            <a:r>
              <a:rPr dirty="0" sz="12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backup)</a:t>
            </a:r>
            <a:endParaRPr sz="12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0"/>
              </a:spcBef>
              <a:buChar char="●"/>
              <a:tabLst>
                <a:tab pos="332740" algn="l"/>
              </a:tabLst>
            </a:pPr>
            <a:r>
              <a:rPr dirty="0" spc="10"/>
              <a:t>Inventory</a:t>
            </a:r>
            <a:r>
              <a:rPr dirty="0" spc="235"/>
              <a:t> </a:t>
            </a:r>
            <a:r>
              <a:rPr dirty="0" spc="-20"/>
              <a:t>Data</a:t>
            </a:r>
          </a:p>
          <a:p>
            <a:pPr lvl="1" marL="789940" indent="-320675">
              <a:lnSpc>
                <a:spcPct val="100000"/>
              </a:lnSpc>
              <a:spcBef>
                <a:spcPts val="75"/>
              </a:spcBef>
              <a:buChar char="○"/>
              <a:tabLst>
                <a:tab pos="789940" algn="l"/>
              </a:tabLst>
            </a:pP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Relational</a:t>
            </a:r>
            <a:r>
              <a:rPr dirty="0" sz="12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DB</a:t>
            </a:r>
            <a:r>
              <a:rPr dirty="0" sz="12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695D46"/>
                </a:solidFill>
                <a:latin typeface="Arial"/>
                <a:cs typeface="Arial"/>
              </a:rPr>
              <a:t>(e.g.,</a:t>
            </a:r>
            <a:r>
              <a:rPr dirty="0" sz="12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95D46"/>
                </a:solidFill>
                <a:latin typeface="Arial"/>
                <a:cs typeface="Arial"/>
              </a:rPr>
              <a:t>PostgreSQL,</a:t>
            </a:r>
            <a:r>
              <a:rPr dirty="0" sz="12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strict</a:t>
            </a:r>
            <a:r>
              <a:rPr dirty="0" sz="12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consistency</a:t>
            </a:r>
            <a:r>
              <a:rPr dirty="0" sz="12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60">
                <a:solidFill>
                  <a:srgbClr val="695D46"/>
                </a:solidFill>
                <a:latin typeface="Arial"/>
                <a:cs typeface="Arial"/>
              </a:rPr>
              <a:t>on</a:t>
            </a:r>
            <a:r>
              <a:rPr dirty="0" sz="12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stock)</a:t>
            </a:r>
            <a:endParaRPr sz="12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0"/>
              </a:spcBef>
              <a:buChar char="●"/>
              <a:tabLst>
                <a:tab pos="332740" algn="l"/>
              </a:tabLst>
            </a:pPr>
            <a:r>
              <a:rPr dirty="0"/>
              <a:t>Order</a:t>
            </a:r>
            <a:r>
              <a:rPr dirty="0" spc="200"/>
              <a:t> </a:t>
            </a:r>
            <a:r>
              <a:rPr dirty="0" spc="-20"/>
              <a:t>Data</a:t>
            </a:r>
          </a:p>
          <a:p>
            <a:pPr lvl="1" marL="789940" indent="-320675">
              <a:lnSpc>
                <a:spcPct val="100000"/>
              </a:lnSpc>
              <a:spcBef>
                <a:spcPts val="70"/>
              </a:spcBef>
              <a:buChar char="○"/>
              <a:tabLst>
                <a:tab pos="789940" algn="l"/>
              </a:tabLst>
            </a:pP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Relational</a:t>
            </a:r>
            <a:r>
              <a:rPr dirty="0" sz="12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DB</a:t>
            </a:r>
            <a:r>
              <a:rPr dirty="0" sz="12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95D46"/>
                </a:solidFill>
                <a:latin typeface="Arial"/>
                <a:cs typeface="Arial"/>
              </a:rPr>
              <a:t>(PostgreSQL,</a:t>
            </a:r>
            <a:r>
              <a:rPr dirty="0" sz="12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transactional)</a:t>
            </a:r>
            <a:endParaRPr sz="12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5"/>
              </a:spcBef>
              <a:buChar char="●"/>
              <a:tabLst>
                <a:tab pos="332740" algn="l"/>
              </a:tabLst>
            </a:pPr>
            <a:r>
              <a:rPr dirty="0"/>
              <a:t>Payment</a:t>
            </a:r>
            <a:r>
              <a:rPr dirty="0" spc="130"/>
              <a:t> </a:t>
            </a:r>
            <a:r>
              <a:rPr dirty="0" spc="-10"/>
              <a:t>Records</a:t>
            </a:r>
          </a:p>
          <a:p>
            <a:pPr lvl="1" marL="789940" indent="-320675">
              <a:lnSpc>
                <a:spcPct val="100000"/>
              </a:lnSpc>
              <a:spcBef>
                <a:spcPts val="70"/>
              </a:spcBef>
              <a:buChar char="○"/>
              <a:tabLst>
                <a:tab pos="789940" algn="l"/>
              </a:tabLst>
            </a:pP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Relational</a:t>
            </a:r>
            <a:r>
              <a:rPr dirty="0" sz="12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DB</a:t>
            </a:r>
            <a:r>
              <a:rPr dirty="0" sz="12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95D46"/>
                </a:solidFill>
                <a:latin typeface="Arial"/>
                <a:cs typeface="Arial"/>
              </a:rPr>
              <a:t>(PostgreSQL,</a:t>
            </a:r>
            <a:r>
              <a:rPr dirty="0" sz="12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encrypted</a:t>
            </a:r>
            <a:r>
              <a:rPr dirty="0" sz="12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fields)</a:t>
            </a:r>
            <a:endParaRPr sz="12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5"/>
              </a:spcBef>
              <a:buChar char="●"/>
              <a:tabLst>
                <a:tab pos="332740" algn="l"/>
              </a:tabLst>
            </a:pPr>
            <a:r>
              <a:rPr dirty="0"/>
              <a:t>Logs</a:t>
            </a:r>
            <a:r>
              <a:rPr dirty="0" spc="15"/>
              <a:t> </a:t>
            </a:r>
            <a:r>
              <a:rPr dirty="0"/>
              <a:t>and</a:t>
            </a:r>
            <a:r>
              <a:rPr dirty="0" spc="20"/>
              <a:t> </a:t>
            </a:r>
            <a:r>
              <a:rPr dirty="0" spc="-10"/>
              <a:t>Events</a:t>
            </a:r>
          </a:p>
          <a:p>
            <a:pPr lvl="1" marL="789940" indent="-320675">
              <a:lnSpc>
                <a:spcPct val="100000"/>
              </a:lnSpc>
              <a:spcBef>
                <a:spcPts val="70"/>
              </a:spcBef>
              <a:buChar char="○"/>
              <a:tabLst>
                <a:tab pos="789940" algn="l"/>
              </a:tabLst>
            </a:pP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Object</a:t>
            </a: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95D46"/>
                </a:solidFill>
                <a:latin typeface="Arial"/>
                <a:cs typeface="Arial"/>
              </a:rPr>
              <a:t>Storage</a:t>
            </a: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695D46"/>
                </a:solidFill>
                <a:latin typeface="Arial"/>
                <a:cs typeface="Arial"/>
              </a:rPr>
              <a:t>(e.g.,</a:t>
            </a: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695D46"/>
                </a:solidFill>
                <a:latin typeface="Arial"/>
                <a:cs typeface="Arial"/>
              </a:rPr>
              <a:t>AWS</a:t>
            </a:r>
            <a:r>
              <a:rPr dirty="0" sz="12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75">
                <a:solidFill>
                  <a:srgbClr val="695D46"/>
                </a:solidFill>
                <a:latin typeface="Arial"/>
                <a:cs typeface="Arial"/>
              </a:rPr>
              <a:t>S3</a:t>
            </a: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70">
                <a:solidFill>
                  <a:srgbClr val="695D46"/>
                </a:solidFill>
                <a:latin typeface="Arial"/>
                <a:cs typeface="Arial"/>
              </a:rPr>
              <a:t>or</a:t>
            </a:r>
            <a:r>
              <a:rPr dirty="0" sz="12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95D46"/>
                </a:solidFill>
                <a:latin typeface="Arial"/>
                <a:cs typeface="Arial"/>
              </a:rPr>
              <a:t>similar)</a:t>
            </a:r>
            <a:endParaRPr sz="1200">
              <a:latin typeface="Arial"/>
              <a:cs typeface="Arial"/>
            </a:endParaRPr>
          </a:p>
          <a:p>
            <a:pPr marL="104775">
              <a:lnSpc>
                <a:spcPct val="100000"/>
              </a:lnSpc>
              <a:spcBef>
                <a:spcPts val="1270"/>
              </a:spcBef>
            </a:pPr>
            <a:r>
              <a:rPr dirty="0"/>
              <a:t>Relational</a:t>
            </a:r>
            <a:r>
              <a:rPr dirty="0" spc="95"/>
              <a:t> </a:t>
            </a:r>
            <a:r>
              <a:rPr dirty="0"/>
              <a:t>databases</a:t>
            </a:r>
            <a:r>
              <a:rPr dirty="0" spc="95"/>
              <a:t> </a:t>
            </a:r>
            <a:r>
              <a:rPr dirty="0" spc="65"/>
              <a:t>for</a:t>
            </a:r>
            <a:r>
              <a:rPr dirty="0" spc="95"/>
              <a:t> </a:t>
            </a:r>
            <a:r>
              <a:rPr dirty="0"/>
              <a:t>critical</a:t>
            </a:r>
            <a:r>
              <a:rPr dirty="0" spc="95"/>
              <a:t> </a:t>
            </a:r>
            <a:r>
              <a:rPr dirty="0"/>
              <a:t>business</a:t>
            </a:r>
            <a:r>
              <a:rPr dirty="0" spc="100"/>
              <a:t> </a:t>
            </a:r>
            <a:r>
              <a:rPr dirty="0" spc="-10"/>
              <a:t>data.</a:t>
            </a:r>
          </a:p>
          <a:p>
            <a:pPr marL="104775">
              <a:lnSpc>
                <a:spcPct val="100000"/>
              </a:lnSpc>
              <a:spcBef>
                <a:spcPts val="1275"/>
              </a:spcBef>
            </a:pPr>
            <a:r>
              <a:rPr dirty="0" spc="-10"/>
              <a:t>ElasticSearch</a:t>
            </a:r>
            <a:r>
              <a:rPr dirty="0" spc="25"/>
              <a:t> </a:t>
            </a:r>
            <a:r>
              <a:rPr dirty="0" spc="70"/>
              <a:t>or</a:t>
            </a:r>
            <a:r>
              <a:rPr dirty="0" spc="25"/>
              <a:t> </a:t>
            </a:r>
            <a:r>
              <a:rPr dirty="0"/>
              <a:t>Redisearch</a:t>
            </a:r>
            <a:r>
              <a:rPr dirty="0" spc="25"/>
              <a:t> </a:t>
            </a:r>
            <a:r>
              <a:rPr dirty="0" spc="65"/>
              <a:t>for</a:t>
            </a:r>
            <a:r>
              <a:rPr dirty="0" spc="25"/>
              <a:t> </a:t>
            </a:r>
            <a:r>
              <a:rPr dirty="0"/>
              <a:t>fast</a:t>
            </a:r>
            <a:r>
              <a:rPr dirty="0" spc="30"/>
              <a:t> </a:t>
            </a:r>
            <a:r>
              <a:rPr dirty="0" spc="50"/>
              <a:t>product</a:t>
            </a:r>
            <a:r>
              <a:rPr dirty="0" spc="25"/>
              <a:t> </a:t>
            </a:r>
            <a:r>
              <a:rPr dirty="0"/>
              <a:t>search</a:t>
            </a:r>
            <a:r>
              <a:rPr dirty="0" spc="25"/>
              <a:t> </a:t>
            </a:r>
            <a:r>
              <a:rPr dirty="0" spc="-10"/>
              <a:t>indexing.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040" y="4844990"/>
            <a:ext cx="4287890" cy="196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04"/>
              <a:t>Caching</a:t>
            </a:r>
            <a:r>
              <a:rPr dirty="0" spc="-20"/>
              <a:t> </a:t>
            </a:r>
            <a:r>
              <a:rPr dirty="0" spc="-270"/>
              <a:t>and</a:t>
            </a:r>
            <a:r>
              <a:rPr dirty="0" spc="-65"/>
              <a:t> </a:t>
            </a:r>
            <a:r>
              <a:rPr dirty="0" spc="-229"/>
              <a:t>Ǫueueing</a:t>
            </a:r>
            <a:r>
              <a:rPr dirty="0" spc="-15"/>
              <a:t> </a:t>
            </a:r>
            <a:r>
              <a:rPr dirty="0" spc="-160"/>
              <a:t>Strategy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1359428"/>
            <a:ext cx="284633" cy="26789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75248" y="2381765"/>
            <a:ext cx="163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695D46"/>
                </a:solidFill>
                <a:latin typeface="Arial"/>
                <a:cs typeface="Arial"/>
              </a:rPr>
              <a:t>●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2410982"/>
            <a:ext cx="284633" cy="26789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4" y="3614939"/>
            <a:ext cx="284633" cy="26789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4" y="4082806"/>
            <a:ext cx="284633" cy="26789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75248" y="1274691"/>
            <a:ext cx="6714490" cy="307911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722630" indent="-709930">
              <a:lnSpc>
                <a:spcPct val="100000"/>
              </a:lnSpc>
              <a:spcBef>
                <a:spcPts val="535"/>
              </a:spcBef>
              <a:buChar char="●"/>
              <a:tabLst>
                <a:tab pos="722630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Caching</a:t>
            </a:r>
            <a:r>
              <a:rPr dirty="0" sz="1800" spc="-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(using</a:t>
            </a:r>
            <a:r>
              <a:rPr dirty="0" sz="1800" spc="-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Redis):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Frequently</a:t>
            </a:r>
            <a:r>
              <a:rPr dirty="0" sz="14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accessed</a:t>
            </a:r>
            <a:r>
              <a:rPr dirty="0" sz="14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product</a:t>
            </a:r>
            <a:r>
              <a:rPr dirty="0" sz="14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data</a:t>
            </a:r>
            <a:r>
              <a:rPr dirty="0" sz="14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(popular</a:t>
            </a:r>
            <a:r>
              <a:rPr dirty="0" sz="14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products,</a:t>
            </a:r>
            <a:r>
              <a:rPr dirty="0" sz="14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categories)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User</a:t>
            </a:r>
            <a:r>
              <a:rPr dirty="0" sz="14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session</a:t>
            </a:r>
            <a:r>
              <a:rPr dirty="0" sz="14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tokens</a:t>
            </a:r>
            <a:r>
              <a:rPr dirty="0" sz="14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(if</a:t>
            </a:r>
            <a:r>
              <a:rPr dirty="0" sz="14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server-side</a:t>
            </a:r>
            <a:r>
              <a:rPr dirty="0" sz="14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sessions)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Stock</a:t>
            </a:r>
            <a:r>
              <a:rPr dirty="0" sz="14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levels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(read-heavy</a:t>
            </a:r>
            <a:r>
              <a:rPr dirty="0" sz="14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optimization)</a:t>
            </a:r>
            <a:endParaRPr sz="1400">
              <a:latin typeface="Arial"/>
              <a:cs typeface="Arial"/>
            </a:endParaRPr>
          </a:p>
          <a:p>
            <a:pPr marL="722630">
              <a:lnSpc>
                <a:spcPct val="100000"/>
              </a:lnSpc>
              <a:spcBef>
                <a:spcPts val="235"/>
              </a:spcBef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Queues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(using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Kafka/SQS/RabbitMQ):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Order</a:t>
            </a:r>
            <a:r>
              <a:rPr dirty="0" sz="14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placement</a:t>
            </a:r>
            <a:r>
              <a:rPr dirty="0" sz="14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events</a:t>
            </a:r>
            <a:r>
              <a:rPr dirty="0" sz="14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→</a:t>
            </a:r>
            <a:r>
              <a:rPr dirty="0" sz="14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trigger</a:t>
            </a:r>
            <a:r>
              <a:rPr dirty="0" sz="14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inventory</a:t>
            </a:r>
            <a:r>
              <a:rPr dirty="0" sz="14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95D46"/>
                </a:solidFill>
                <a:latin typeface="Arial"/>
                <a:cs typeface="Arial"/>
              </a:rPr>
              <a:t>update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Payment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95D46"/>
                </a:solidFill>
                <a:latin typeface="Arial"/>
                <a:cs typeface="Arial"/>
              </a:rPr>
              <a:t>success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events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→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trigger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order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 confirmation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notifications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Asynchronous</a:t>
            </a:r>
            <a:r>
              <a:rPr dirty="0" sz="1400" spc="1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notification</a:t>
            </a:r>
            <a:r>
              <a:rPr dirty="0" sz="1400" spc="1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dispatch</a:t>
            </a:r>
            <a:r>
              <a:rPr dirty="0" sz="1400" spc="1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(emails/SMS)</a:t>
            </a:r>
            <a:endParaRPr sz="14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1435"/>
              </a:spcBef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Caching</a:t>
            </a:r>
            <a:r>
              <a:rPr dirty="0" sz="1800" spc="-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=</a:t>
            </a:r>
            <a:r>
              <a:rPr dirty="0" sz="1800" spc="-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Speed</a:t>
            </a:r>
            <a:r>
              <a:rPr dirty="0" sz="1800" spc="-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695D46"/>
                </a:solidFill>
                <a:latin typeface="Arial"/>
                <a:cs typeface="Arial"/>
              </a:rPr>
              <a:t>up</a:t>
            </a:r>
            <a:r>
              <a:rPr dirty="0" sz="1800" spc="-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reads;</a:t>
            </a:r>
            <a:endParaRPr sz="18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1525"/>
              </a:spcBef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Queues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=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Decouple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heavy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async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tasks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695D46"/>
                </a:solidFill>
                <a:latin typeface="Arial"/>
                <a:cs typeface="Arial"/>
              </a:rPr>
              <a:t>from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real-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time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flows.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3239" y="4844515"/>
            <a:ext cx="4130741" cy="191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75"/>
              <a:t>Strategic</a:t>
            </a:r>
            <a:r>
              <a:rPr dirty="0" spc="-220"/>
              <a:t> </a:t>
            </a:r>
            <a:r>
              <a:rPr dirty="0" spc="-285"/>
              <a:t>Tech</a:t>
            </a:r>
            <a:r>
              <a:rPr dirty="0" spc="-60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 spc="-195"/>
              <a:t>Infra</a:t>
            </a:r>
            <a:r>
              <a:rPr dirty="0" spc="-60"/>
              <a:t> </a:t>
            </a:r>
            <a:r>
              <a:rPr dirty="0" spc="-160"/>
              <a:t>Decisions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1348835"/>
            <a:ext cx="263137" cy="24765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1964873"/>
            <a:ext cx="263137" cy="24765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71191" y="2181972"/>
            <a:ext cx="12509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solidFill>
                  <a:srgbClr val="695D46"/>
                </a:solidFill>
                <a:latin typeface="Arial"/>
                <a:cs typeface="Arial"/>
              </a:rPr>
              <a:t>○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2393418"/>
            <a:ext cx="263137" cy="24765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71191" y="2610520"/>
            <a:ext cx="12509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solidFill>
                  <a:srgbClr val="695D46"/>
                </a:solidFill>
                <a:latin typeface="Arial"/>
                <a:cs typeface="Arial"/>
              </a:rPr>
              <a:t>○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2821966"/>
            <a:ext cx="263137" cy="24765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71191" y="3039068"/>
            <a:ext cx="12509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solidFill>
                  <a:srgbClr val="695D46"/>
                </a:solidFill>
                <a:latin typeface="Arial"/>
                <a:cs typeface="Arial"/>
              </a:rPr>
              <a:t>○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3250513"/>
            <a:ext cx="263137" cy="24765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971191" y="3467616"/>
            <a:ext cx="12509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solidFill>
                  <a:srgbClr val="695D46"/>
                </a:solidFill>
                <a:latin typeface="Arial"/>
                <a:cs typeface="Arial"/>
              </a:rPr>
              <a:t>○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3679061"/>
            <a:ext cx="263137" cy="24765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971191" y="3896164"/>
            <a:ext cx="12509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solidFill>
                  <a:srgbClr val="695D46"/>
                </a:solidFill>
                <a:latin typeface="Arial"/>
                <a:cs typeface="Arial"/>
              </a:rPr>
              <a:t>○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5676" y="1936781"/>
            <a:ext cx="153670" cy="242189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650" spc="-50">
                <a:solidFill>
                  <a:srgbClr val="695D46"/>
                </a:solidFill>
                <a:latin typeface="Arial"/>
                <a:cs typeface="Arial"/>
              </a:rPr>
              <a:t>●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1650" spc="-50">
                <a:solidFill>
                  <a:srgbClr val="695D46"/>
                </a:solidFill>
                <a:latin typeface="Arial"/>
                <a:cs typeface="Arial"/>
              </a:rPr>
              <a:t>●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dirty="0" sz="1650" spc="-50">
                <a:solidFill>
                  <a:srgbClr val="695D46"/>
                </a:solidFill>
                <a:latin typeface="Arial"/>
                <a:cs typeface="Arial"/>
              </a:rPr>
              <a:t>●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1650" spc="-50">
                <a:solidFill>
                  <a:srgbClr val="695D46"/>
                </a:solidFill>
                <a:latin typeface="Arial"/>
                <a:cs typeface="Arial"/>
              </a:rPr>
              <a:t>●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1650" spc="-50">
                <a:solidFill>
                  <a:srgbClr val="695D46"/>
                </a:solidFill>
                <a:latin typeface="Arial"/>
                <a:cs typeface="Arial"/>
              </a:rPr>
              <a:t>●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1650" spc="-50">
                <a:solidFill>
                  <a:srgbClr val="695D46"/>
                </a:solidFill>
                <a:latin typeface="Arial"/>
                <a:cs typeface="Arial"/>
              </a:rPr>
              <a:t>●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3" y="4107609"/>
            <a:ext cx="263137" cy="247659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485676" y="1320744"/>
            <a:ext cx="8185784" cy="341439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686435" indent="-673735">
              <a:lnSpc>
                <a:spcPts val="1945"/>
              </a:lnSpc>
              <a:spcBef>
                <a:spcPts val="115"/>
              </a:spcBef>
              <a:buChar char="●"/>
              <a:tabLst>
                <a:tab pos="686435" algn="l"/>
              </a:tabLst>
            </a:pP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Database</a:t>
            </a:r>
            <a:r>
              <a:rPr dirty="0" sz="1650" spc="2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95D46"/>
                </a:solidFill>
                <a:latin typeface="Arial"/>
                <a:cs typeface="Arial"/>
              </a:rPr>
              <a:t>Choice:</a:t>
            </a:r>
            <a:endParaRPr sz="1650">
              <a:latin typeface="Arial"/>
              <a:cs typeface="Arial"/>
            </a:endParaRPr>
          </a:p>
          <a:p>
            <a:pPr lvl="1" marL="825500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dirty="0" sz="1300" spc="-20">
                <a:solidFill>
                  <a:srgbClr val="695D46"/>
                </a:solidFill>
                <a:latin typeface="Arial"/>
                <a:cs typeface="Arial"/>
              </a:rPr>
              <a:t>PostgreSQL</a:t>
            </a:r>
            <a:r>
              <a:rPr dirty="0" sz="13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3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core</a:t>
            </a:r>
            <a:r>
              <a:rPr dirty="0" sz="13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transactional</a:t>
            </a:r>
            <a:r>
              <a:rPr dirty="0" sz="13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695D46"/>
                </a:solidFill>
                <a:latin typeface="Arial"/>
                <a:cs typeface="Arial"/>
              </a:rPr>
              <a:t>data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0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Elasticsearch</a:t>
            </a:r>
            <a:r>
              <a:rPr dirty="0" sz="1300" spc="-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300" spc="-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95D46"/>
                </a:solidFill>
                <a:latin typeface="Arial"/>
                <a:cs typeface="Arial"/>
              </a:rPr>
              <a:t>product</a:t>
            </a:r>
            <a:r>
              <a:rPr dirty="0" sz="1300" spc="-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search</a:t>
            </a:r>
            <a:r>
              <a:rPr dirty="0" sz="1300" spc="-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95D46"/>
                </a:solidFill>
                <a:latin typeface="Arial"/>
                <a:cs typeface="Arial"/>
              </a:rPr>
              <a:t>indexing</a:t>
            </a:r>
            <a:endParaRPr sz="1300">
              <a:latin typeface="Arial"/>
              <a:cs typeface="Arial"/>
            </a:endParaRPr>
          </a:p>
          <a:p>
            <a:pPr marL="686435">
              <a:lnSpc>
                <a:spcPts val="1895"/>
              </a:lnSpc>
            </a:pP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Caching </a:t>
            </a:r>
            <a:r>
              <a:rPr dirty="0" sz="1650" spc="-10">
                <a:solidFill>
                  <a:srgbClr val="695D46"/>
                </a:solidFill>
                <a:latin typeface="Arial"/>
                <a:cs typeface="Arial"/>
              </a:rPr>
              <a:t>Layer:</a:t>
            </a:r>
            <a:endParaRPr sz="1650">
              <a:latin typeface="Arial"/>
              <a:cs typeface="Arial"/>
            </a:endParaRPr>
          </a:p>
          <a:p>
            <a:pPr marL="826135">
              <a:lnSpc>
                <a:spcPts val="1475"/>
              </a:lnSpc>
            </a:pPr>
            <a:r>
              <a:rPr dirty="0" sz="1300" spc="-10">
                <a:solidFill>
                  <a:srgbClr val="695D46"/>
                </a:solidFill>
                <a:latin typeface="Arial"/>
                <a:cs typeface="Arial"/>
              </a:rPr>
              <a:t>Redis</a:t>
            </a:r>
            <a:r>
              <a:rPr dirty="0" sz="13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3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95D46"/>
                </a:solidFill>
                <a:latin typeface="Arial"/>
                <a:cs typeface="Arial"/>
              </a:rPr>
              <a:t>product</a:t>
            </a:r>
            <a:r>
              <a:rPr dirty="0" sz="13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caching,</a:t>
            </a:r>
            <a:r>
              <a:rPr dirty="0" sz="13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session</a:t>
            </a:r>
            <a:r>
              <a:rPr dirty="0" sz="13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management,</a:t>
            </a:r>
            <a:r>
              <a:rPr dirty="0" sz="13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3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stock-level</a:t>
            </a:r>
            <a:r>
              <a:rPr dirty="0" sz="13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fast</a:t>
            </a:r>
            <a:r>
              <a:rPr dirty="0" sz="13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95D46"/>
                </a:solidFill>
                <a:latin typeface="Arial"/>
                <a:cs typeface="Arial"/>
              </a:rPr>
              <a:t>reads</a:t>
            </a:r>
            <a:endParaRPr sz="1300">
              <a:latin typeface="Arial"/>
              <a:cs typeface="Arial"/>
            </a:endParaRPr>
          </a:p>
          <a:p>
            <a:pPr marL="686435">
              <a:lnSpc>
                <a:spcPts val="1895"/>
              </a:lnSpc>
            </a:pP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Message</a:t>
            </a:r>
            <a:r>
              <a:rPr dirty="0" sz="1650" spc="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95D46"/>
                </a:solidFill>
                <a:latin typeface="Arial"/>
                <a:cs typeface="Arial"/>
              </a:rPr>
              <a:t>Queues:</a:t>
            </a:r>
            <a:endParaRPr sz="1650">
              <a:latin typeface="Arial"/>
              <a:cs typeface="Arial"/>
            </a:endParaRPr>
          </a:p>
          <a:p>
            <a:pPr marL="826135">
              <a:lnSpc>
                <a:spcPts val="1475"/>
              </a:lnSpc>
            </a:pP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Kafka</a:t>
            </a:r>
            <a:r>
              <a:rPr dirty="0" sz="13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(preferred)</a:t>
            </a:r>
            <a:r>
              <a:rPr dirty="0" sz="13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95D46"/>
                </a:solidFill>
                <a:latin typeface="Arial"/>
                <a:cs typeface="Arial"/>
              </a:rPr>
              <a:t>or</a:t>
            </a:r>
            <a:r>
              <a:rPr dirty="0" sz="13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90">
                <a:solidFill>
                  <a:srgbClr val="695D46"/>
                </a:solidFill>
                <a:latin typeface="Arial"/>
                <a:cs typeface="Arial"/>
              </a:rPr>
              <a:t>AWS</a:t>
            </a:r>
            <a:r>
              <a:rPr dirty="0" sz="13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120">
                <a:solidFill>
                  <a:srgbClr val="695D46"/>
                </a:solidFill>
                <a:latin typeface="Arial"/>
                <a:cs typeface="Arial"/>
              </a:rPr>
              <a:t>SQS</a:t>
            </a:r>
            <a:r>
              <a:rPr dirty="0" sz="13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3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async</a:t>
            </a:r>
            <a:r>
              <a:rPr dirty="0" sz="13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event-driven</a:t>
            </a:r>
            <a:r>
              <a:rPr dirty="0" sz="13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95D46"/>
                </a:solidFill>
                <a:latin typeface="Arial"/>
                <a:cs typeface="Arial"/>
              </a:rPr>
              <a:t>flows</a:t>
            </a:r>
            <a:endParaRPr sz="1300">
              <a:latin typeface="Arial"/>
              <a:cs typeface="Arial"/>
            </a:endParaRPr>
          </a:p>
          <a:p>
            <a:pPr marL="686435">
              <a:lnSpc>
                <a:spcPts val="1895"/>
              </a:lnSpc>
            </a:pPr>
            <a:r>
              <a:rPr dirty="0" sz="1650" spc="-10">
                <a:solidFill>
                  <a:srgbClr val="695D46"/>
                </a:solidFill>
                <a:latin typeface="Arial"/>
                <a:cs typeface="Arial"/>
              </a:rPr>
              <a:t>Hosting/Cloud:</a:t>
            </a:r>
            <a:endParaRPr sz="1650">
              <a:latin typeface="Arial"/>
              <a:cs typeface="Arial"/>
            </a:endParaRPr>
          </a:p>
          <a:p>
            <a:pPr marL="826135">
              <a:lnSpc>
                <a:spcPts val="1475"/>
              </a:lnSpc>
            </a:pPr>
            <a:r>
              <a:rPr dirty="0" sz="1300" spc="-90">
                <a:solidFill>
                  <a:srgbClr val="695D46"/>
                </a:solidFill>
                <a:latin typeface="Arial"/>
                <a:cs typeface="Arial"/>
              </a:rPr>
              <a:t>AWS</a:t>
            </a:r>
            <a:r>
              <a:rPr dirty="0" sz="13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110">
                <a:solidFill>
                  <a:srgbClr val="695D46"/>
                </a:solidFill>
                <a:latin typeface="Arial"/>
                <a:cs typeface="Arial"/>
              </a:rPr>
              <a:t>/</a:t>
            </a:r>
            <a:r>
              <a:rPr dirty="0" sz="13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105">
                <a:solidFill>
                  <a:srgbClr val="695D46"/>
                </a:solidFill>
                <a:latin typeface="Arial"/>
                <a:cs typeface="Arial"/>
              </a:rPr>
              <a:t>GCP</a:t>
            </a:r>
            <a:r>
              <a:rPr dirty="0" sz="13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110">
                <a:solidFill>
                  <a:srgbClr val="695D46"/>
                </a:solidFill>
                <a:latin typeface="Arial"/>
                <a:cs typeface="Arial"/>
              </a:rPr>
              <a:t>/</a:t>
            </a:r>
            <a:r>
              <a:rPr dirty="0" sz="13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Azure</a:t>
            </a:r>
            <a:r>
              <a:rPr dirty="0" sz="13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managed</a:t>
            </a:r>
            <a:r>
              <a:rPr dirty="0" sz="13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services</a:t>
            </a:r>
            <a:r>
              <a:rPr dirty="0" sz="13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(focus</a:t>
            </a:r>
            <a:r>
              <a:rPr dirty="0" sz="13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95D46"/>
                </a:solidFill>
                <a:latin typeface="Arial"/>
                <a:cs typeface="Arial"/>
              </a:rPr>
              <a:t>on</a:t>
            </a:r>
            <a:r>
              <a:rPr dirty="0" sz="13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managed</a:t>
            </a:r>
            <a:r>
              <a:rPr dirty="0" sz="13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695D46"/>
                </a:solidFill>
                <a:latin typeface="Arial"/>
                <a:cs typeface="Arial"/>
              </a:rPr>
              <a:t>DBs,</a:t>
            </a:r>
            <a:r>
              <a:rPr dirty="0" sz="13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object</a:t>
            </a:r>
            <a:r>
              <a:rPr dirty="0" sz="13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storage,</a:t>
            </a:r>
            <a:r>
              <a:rPr dirty="0" sz="13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serverless</a:t>
            </a:r>
            <a:r>
              <a:rPr dirty="0" sz="13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95D46"/>
                </a:solidFill>
                <a:latin typeface="Arial"/>
                <a:cs typeface="Arial"/>
              </a:rPr>
              <a:t>queues)</a:t>
            </a:r>
            <a:endParaRPr sz="1300">
              <a:latin typeface="Arial"/>
              <a:cs typeface="Arial"/>
            </a:endParaRPr>
          </a:p>
          <a:p>
            <a:pPr marL="686435">
              <a:lnSpc>
                <a:spcPts val="1895"/>
              </a:lnSpc>
            </a:pPr>
            <a:r>
              <a:rPr dirty="0" sz="1650" spc="60">
                <a:solidFill>
                  <a:srgbClr val="695D46"/>
                </a:solidFill>
                <a:latin typeface="Arial"/>
                <a:cs typeface="Arial"/>
              </a:rPr>
              <a:t>Authentication</a:t>
            </a:r>
            <a:r>
              <a:rPr dirty="0" sz="1650" spc="-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110">
                <a:solidFill>
                  <a:srgbClr val="695D46"/>
                </a:solidFill>
                <a:latin typeface="Arial"/>
                <a:cs typeface="Arial"/>
              </a:rPr>
              <a:t>&amp;</a:t>
            </a:r>
            <a:r>
              <a:rPr dirty="0" sz="1650" spc="-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95D46"/>
                </a:solidFill>
                <a:latin typeface="Arial"/>
                <a:cs typeface="Arial"/>
              </a:rPr>
              <a:t>Authorization:</a:t>
            </a:r>
            <a:endParaRPr sz="1650">
              <a:latin typeface="Arial"/>
              <a:cs typeface="Arial"/>
            </a:endParaRPr>
          </a:p>
          <a:p>
            <a:pPr marL="826135">
              <a:lnSpc>
                <a:spcPts val="1475"/>
              </a:lnSpc>
            </a:pP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OAuth</a:t>
            </a:r>
            <a:r>
              <a:rPr dirty="0" sz="13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2.0</a:t>
            </a:r>
            <a:r>
              <a:rPr dirty="0" sz="13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110">
                <a:solidFill>
                  <a:srgbClr val="695D46"/>
                </a:solidFill>
                <a:latin typeface="Arial"/>
                <a:cs typeface="Arial"/>
              </a:rPr>
              <a:t>/</a:t>
            </a:r>
            <a:r>
              <a:rPr dirty="0" sz="13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OpenID</a:t>
            </a:r>
            <a:r>
              <a:rPr dirty="0" sz="13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Connect;</a:t>
            </a:r>
            <a:r>
              <a:rPr dirty="0" sz="13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155">
                <a:solidFill>
                  <a:srgbClr val="695D46"/>
                </a:solidFill>
                <a:latin typeface="Arial"/>
                <a:cs typeface="Arial"/>
              </a:rPr>
              <a:t>JWT</a:t>
            </a:r>
            <a:r>
              <a:rPr dirty="0" sz="13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tokens</a:t>
            </a:r>
            <a:r>
              <a:rPr dirty="0" sz="13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3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user</a:t>
            </a:r>
            <a:r>
              <a:rPr dirty="0" sz="13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95D46"/>
                </a:solidFill>
                <a:latin typeface="Arial"/>
                <a:cs typeface="Arial"/>
              </a:rPr>
              <a:t>sessions</a:t>
            </a:r>
            <a:endParaRPr sz="1300">
              <a:latin typeface="Arial"/>
              <a:cs typeface="Arial"/>
            </a:endParaRPr>
          </a:p>
          <a:p>
            <a:pPr marL="686435">
              <a:lnSpc>
                <a:spcPts val="1895"/>
              </a:lnSpc>
            </a:pP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Payment</a:t>
            </a:r>
            <a:r>
              <a:rPr dirty="0" sz="1650" spc="2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95D46"/>
                </a:solidFill>
                <a:latin typeface="Arial"/>
                <a:cs typeface="Arial"/>
              </a:rPr>
              <a:t>Integration:</a:t>
            </a:r>
            <a:endParaRPr sz="1650">
              <a:latin typeface="Arial"/>
              <a:cs typeface="Arial"/>
            </a:endParaRPr>
          </a:p>
          <a:p>
            <a:pPr marL="826135">
              <a:lnSpc>
                <a:spcPts val="1475"/>
              </a:lnSpc>
            </a:pP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External</a:t>
            </a:r>
            <a:r>
              <a:rPr dirty="0" sz="13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gateway</a:t>
            </a:r>
            <a:r>
              <a:rPr dirty="0" sz="13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like</a:t>
            </a:r>
            <a:r>
              <a:rPr dirty="0" sz="13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Stripe</a:t>
            </a:r>
            <a:r>
              <a:rPr dirty="0" sz="13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95D46"/>
                </a:solidFill>
                <a:latin typeface="Arial"/>
                <a:cs typeface="Arial"/>
              </a:rPr>
              <a:t>or</a:t>
            </a:r>
            <a:r>
              <a:rPr dirty="0" sz="13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Razorpay</a:t>
            </a:r>
            <a:r>
              <a:rPr dirty="0" sz="13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(focus</a:t>
            </a:r>
            <a:r>
              <a:rPr dirty="0" sz="13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95D46"/>
                </a:solidFill>
                <a:latin typeface="Arial"/>
                <a:cs typeface="Arial"/>
              </a:rPr>
              <a:t>on</a:t>
            </a:r>
            <a:r>
              <a:rPr dirty="0" sz="13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80">
                <a:solidFill>
                  <a:srgbClr val="695D46"/>
                </a:solidFill>
                <a:latin typeface="Arial"/>
                <a:cs typeface="Arial"/>
              </a:rPr>
              <a:t>PCI</a:t>
            </a:r>
            <a:r>
              <a:rPr dirty="0" sz="13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95D46"/>
                </a:solidFill>
                <a:latin typeface="Arial"/>
                <a:cs typeface="Arial"/>
              </a:rPr>
              <a:t>compliance)</a:t>
            </a:r>
            <a:endParaRPr sz="1300">
              <a:latin typeface="Arial"/>
              <a:cs typeface="Arial"/>
            </a:endParaRPr>
          </a:p>
          <a:p>
            <a:pPr marL="686435">
              <a:lnSpc>
                <a:spcPts val="1895"/>
              </a:lnSpc>
            </a:pP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System</a:t>
            </a:r>
            <a:r>
              <a:rPr dirty="0" sz="165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40">
                <a:solidFill>
                  <a:srgbClr val="695D46"/>
                </a:solidFill>
                <a:latin typeface="Arial"/>
                <a:cs typeface="Arial"/>
              </a:rPr>
              <a:t>Communication:</a:t>
            </a:r>
            <a:endParaRPr sz="1650">
              <a:latin typeface="Arial"/>
              <a:cs typeface="Arial"/>
            </a:endParaRPr>
          </a:p>
          <a:p>
            <a:pPr lvl="1" marL="825500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dirty="0" sz="1300" spc="-150">
                <a:solidFill>
                  <a:srgbClr val="695D46"/>
                </a:solidFill>
                <a:latin typeface="Arial"/>
                <a:cs typeface="Arial"/>
              </a:rPr>
              <a:t>REST</a:t>
            </a:r>
            <a:r>
              <a:rPr dirty="0" sz="13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45">
                <a:solidFill>
                  <a:srgbClr val="695D46"/>
                </a:solidFill>
                <a:latin typeface="Arial"/>
                <a:cs typeface="Arial"/>
              </a:rPr>
              <a:t>APIs</a:t>
            </a:r>
            <a:r>
              <a:rPr dirty="0" sz="13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3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95D46"/>
                </a:solidFill>
                <a:latin typeface="Arial"/>
                <a:cs typeface="Arial"/>
              </a:rPr>
              <a:t>synchronous</a:t>
            </a:r>
            <a:r>
              <a:rPr dirty="0" sz="13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95D46"/>
                </a:solidFill>
                <a:latin typeface="Arial"/>
                <a:cs typeface="Arial"/>
              </a:rPr>
              <a:t>flows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520"/>
              </a:lnSpc>
              <a:buChar char="○"/>
              <a:tabLst>
                <a:tab pos="825500" algn="l"/>
              </a:tabLst>
            </a:pPr>
            <a:r>
              <a:rPr dirty="0" sz="1300" spc="10">
                <a:solidFill>
                  <a:srgbClr val="695D46"/>
                </a:solidFill>
                <a:latin typeface="Arial"/>
                <a:cs typeface="Arial"/>
              </a:rPr>
              <a:t>Event-driven</a:t>
            </a:r>
            <a:r>
              <a:rPr dirty="0" sz="13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95D46"/>
                </a:solidFill>
                <a:latin typeface="Arial"/>
                <a:cs typeface="Arial"/>
              </a:rPr>
              <a:t>architecture</a:t>
            </a:r>
            <a:r>
              <a:rPr dirty="0" sz="13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3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95D46"/>
                </a:solidFill>
                <a:latin typeface="Arial"/>
                <a:cs typeface="Arial"/>
              </a:rPr>
              <a:t>critical</a:t>
            </a:r>
            <a:r>
              <a:rPr dirty="0" sz="13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95D46"/>
                </a:solidFill>
                <a:latin typeface="Arial"/>
                <a:cs typeface="Arial"/>
              </a:rPr>
              <a:t>async</a:t>
            </a:r>
            <a:r>
              <a:rPr dirty="0" sz="13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95D46"/>
                </a:solidFill>
                <a:latin typeface="Arial"/>
                <a:cs typeface="Arial"/>
              </a:rPr>
              <a:t>processes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4724" y="64693"/>
            <a:ext cx="2932430" cy="2755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00" spc="-90" b="1">
                <a:solidFill>
                  <a:srgbClr val="EF6B00"/>
                </a:solidFill>
                <a:latin typeface="Calibri"/>
                <a:cs typeface="Calibri"/>
              </a:rPr>
              <a:t>The</a:t>
            </a:r>
            <a:r>
              <a:rPr dirty="0" sz="1600" spc="-5" b="1">
                <a:solidFill>
                  <a:srgbClr val="EF6B00"/>
                </a:solidFill>
                <a:latin typeface="Calibri"/>
                <a:cs typeface="Calibri"/>
              </a:rPr>
              <a:t> </a:t>
            </a:r>
            <a:r>
              <a:rPr dirty="0" sz="1600" spc="-70" b="1">
                <a:solidFill>
                  <a:srgbClr val="EF6B00"/>
                </a:solidFill>
                <a:latin typeface="Calibri"/>
                <a:cs typeface="Calibri"/>
              </a:rPr>
              <a:t>Final</a:t>
            </a:r>
            <a:r>
              <a:rPr dirty="0" sz="1600" b="1">
                <a:solidFill>
                  <a:srgbClr val="EF6B00"/>
                </a:solidFill>
                <a:latin typeface="Calibri"/>
                <a:cs typeface="Calibri"/>
              </a:rPr>
              <a:t> </a:t>
            </a:r>
            <a:r>
              <a:rPr dirty="0" sz="1600" spc="-90" b="1">
                <a:solidFill>
                  <a:srgbClr val="EF6B00"/>
                </a:solidFill>
                <a:latin typeface="Calibri"/>
                <a:cs typeface="Calibri"/>
              </a:rPr>
              <a:t>Design</a:t>
            </a:r>
            <a:r>
              <a:rPr dirty="0" sz="1600" spc="-65" b="1">
                <a:solidFill>
                  <a:srgbClr val="EF6B0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EF6B00"/>
                </a:solidFill>
                <a:latin typeface="Calibri"/>
                <a:cs typeface="Calibri"/>
              </a:rPr>
              <a:t>-</a:t>
            </a:r>
            <a:r>
              <a:rPr dirty="0" sz="1600" spc="-120" b="1">
                <a:solidFill>
                  <a:srgbClr val="EF6B00"/>
                </a:solidFill>
                <a:latin typeface="Calibri"/>
                <a:cs typeface="Calibri"/>
              </a:rPr>
              <a:t> </a:t>
            </a:r>
            <a:r>
              <a:rPr dirty="0" sz="1600" spc="-140" b="1">
                <a:solidFill>
                  <a:srgbClr val="EF6B00"/>
                </a:solidFill>
                <a:latin typeface="Calibri"/>
                <a:cs typeface="Calibri"/>
              </a:rPr>
              <a:t>ECommerce</a:t>
            </a:r>
            <a:r>
              <a:rPr dirty="0" sz="1600" b="1">
                <a:solidFill>
                  <a:srgbClr val="EF6B00"/>
                </a:solidFill>
                <a:latin typeface="Calibri"/>
                <a:cs typeface="Calibri"/>
              </a:rPr>
              <a:t> </a:t>
            </a:r>
            <a:r>
              <a:rPr dirty="0" sz="1600" spc="-80" b="1">
                <a:solidFill>
                  <a:srgbClr val="EF6B00"/>
                </a:solidFill>
                <a:latin typeface="Calibri"/>
                <a:cs typeface="Calibri"/>
              </a:rPr>
              <a:t>Platform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 - Section 22</dc:title>
  <dcterms:created xsi:type="dcterms:W3CDTF">2026-01-01T13:02:46Z</dcterms:created>
  <dcterms:modified xsi:type="dcterms:W3CDTF">2026-01-01T13:02:46Z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2026-01-01T00:00:00Z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2026-01-01T00:00:00Z</vt:filetime>
  </property>
  <property fmtid="{D5CDD505-2E9C-101B-9397-08002B2CF9AE}" pid="5" name="Producer">
    <vt:lpwstr>3-Heights(TM) PDF Security Shell 4.8.25.2 (http://www.pdf-tools.com)</vt:lpwstr>
  </property>
</Properties>
</file>